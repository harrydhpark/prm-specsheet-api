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1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2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3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3" r:id="rId2"/>
    <p:sldMasterId id="2147483675" r:id="rId3"/>
  </p:sldMasterIdLst>
  <p:notesMasterIdLst>
    <p:notesMasterId r:id="rId21"/>
  </p:notesMasterIdLst>
  <p:sldIdLst>
    <p:sldId id="260" r:id="rId4"/>
    <p:sldId id="2147481528" r:id="rId5"/>
    <p:sldId id="615" r:id="rId6"/>
    <p:sldId id="347" r:id="rId7"/>
    <p:sldId id="261" r:id="rId8"/>
    <p:sldId id="318" r:id="rId9"/>
    <p:sldId id="2147481667" r:id="rId10"/>
    <p:sldId id="2147481520" r:id="rId11"/>
    <p:sldId id="2147481523" r:id="rId12"/>
    <p:sldId id="2147481522" r:id="rId13"/>
    <p:sldId id="2147481525" r:id="rId14"/>
    <p:sldId id="2147481668" r:id="rId15"/>
    <p:sldId id="2147481694" r:id="rId16"/>
    <p:sldId id="2147481697" r:id="rId17"/>
    <p:sldId id="2147481677" r:id="rId18"/>
    <p:sldId id="2147481681" r:id="rId19"/>
    <p:sldId id="2147481701" r:id="rId2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전체 PRM" id="{28FAFFC5-F716-4EEB-A2A6-CEC161339A9F}">
          <p14:sldIdLst>
            <p14:sldId id="260"/>
            <p14:sldId id="2147481528"/>
          </p14:sldIdLst>
        </p14:section>
        <p14:section name="유첨" id="{3F16FF61-C147-476E-8A18-5AACAB80ADA5}">
          <p14:sldIdLst>
            <p14:sldId id="615"/>
            <p14:sldId id="347"/>
            <p14:sldId id="261"/>
            <p14:sldId id="318"/>
            <p14:sldId id="2147481667"/>
            <p14:sldId id="2147481520"/>
            <p14:sldId id="2147481523"/>
            <p14:sldId id="2147481522"/>
            <p14:sldId id="2147481525"/>
            <p14:sldId id="2147481668"/>
            <p14:sldId id="2147481694"/>
            <p14:sldId id="2147481697"/>
            <p14:sldId id="2147481677"/>
            <p14:sldId id="2147481681"/>
            <p14:sldId id="214748170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D9D9"/>
    <a:srgbClr val="1E78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5394" autoAdjust="0"/>
  </p:normalViewPr>
  <p:slideViewPr>
    <p:cSldViewPr snapToGrid="0">
      <p:cViewPr varScale="1">
        <p:scale>
          <a:sx n="107" d="100"/>
          <a:sy n="107" d="100"/>
        </p:scale>
        <p:origin x="34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F1C018-8A8F-4FF0-BBBB-A50C6D81F3D6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16A9CD-4C0D-4BC5-BCC1-A38C1A5B89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00895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16A9CD-4C0D-4BC5-BCC1-A38C1A5B898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00378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16A9CD-4C0D-4BC5-BCC1-A38C1A5B8982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27569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6B32F2-B5DA-C062-3AD1-5F40BEE10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3579A69-8276-DC77-A2AC-9A2AEB02EE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CE2649D-1CF9-21EF-45B4-F37DEB846B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b="1" dirty="0"/>
              <a:t>MINI</a:t>
            </a:r>
            <a:r>
              <a:rPr lang="ko-KR" altLang="en-US" b="1" dirty="0"/>
              <a:t>로 </a:t>
            </a:r>
            <a:r>
              <a:rPr lang="ko-KR" altLang="en-US" b="1" dirty="0" err="1"/>
              <a:t>갈때</a:t>
            </a:r>
            <a:r>
              <a:rPr lang="ko-KR" altLang="en-US" b="1" dirty="0"/>
              <a:t> 휘도 조금 낮아지고</a:t>
            </a:r>
            <a:r>
              <a:rPr lang="en-US" altLang="ko-KR" b="1" dirty="0"/>
              <a:t>, ATS </a:t>
            </a:r>
            <a:r>
              <a:rPr lang="ko-KR" altLang="en-US" b="1" dirty="0" err="1"/>
              <a:t>늦어짐</a:t>
            </a:r>
            <a:r>
              <a:rPr lang="ko-KR" altLang="en-US" b="1" dirty="0"/>
              <a:t> </a:t>
            </a:r>
            <a:endParaRPr lang="en-US" altLang="ko-KR" b="1" dirty="0"/>
          </a:p>
          <a:p>
            <a:endParaRPr lang="ko-KR" altLang="en-US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5BEFD94-9C1F-8B31-9880-79F32797E87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14A146A-8075-4508-85BB-212CAE7EBBF4}" type="slidenum"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99947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74CE7A-0CB4-14AF-21C3-D9C95F5C9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18D19C7-3A4F-F0BE-0E04-83533E2A7A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E664D54-3587-C718-58E8-4C590A4893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DC33FA7-D8ED-562F-871F-D05F698536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6E22C4-CE59-4F74-BF80-FA62FB8A2680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799793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E5091-A9EA-41CB-96EE-67B233A32083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FB860-C62F-4890-BEF6-42D64ECE64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46361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E5091-A9EA-41CB-96EE-67B233A32083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FB860-C62F-4890-BEF6-42D64ECE64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76871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E5091-A9EA-41CB-96EE-67B233A32083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FB860-C62F-4890-BEF6-42D64ECE64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76490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E5091-A9EA-41CB-96EE-67B233A32083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FB860-C62F-4890-BEF6-42D64ECE64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98005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E5091-A9EA-41CB-96EE-67B233A32083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FB860-C62F-4890-BEF6-42D64ECE64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20024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E5091-A9EA-41CB-96EE-67B233A32083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FB860-C62F-4890-BEF6-42D64ECE64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30016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E5091-A9EA-41CB-96EE-67B233A32083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FB860-C62F-4890-BEF6-42D64ECE64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95207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E5091-A9EA-41CB-96EE-67B233A32083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FB860-C62F-4890-BEF6-42D64ECE64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56951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E5091-A9EA-41CB-96EE-67B233A32083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FB860-C62F-4890-BEF6-42D64ECE64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3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E5091-A9EA-41CB-96EE-67B233A32083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FB860-C62F-4890-BEF6-42D64ECE64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88648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E5091-A9EA-41CB-96EE-67B233A32083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FB860-C62F-4890-BEF6-42D64ECE64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81798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35638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914400" y="2130437"/>
            <a:ext cx="10363200" cy="14700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609600" y="6356362"/>
            <a:ext cx="2844800" cy="365125"/>
          </a:xfrm>
          <a:prstGeom prst="rect">
            <a:avLst/>
          </a:prstGeom>
        </p:spPr>
        <p:txBody>
          <a:bodyPr/>
          <a:lstStyle/>
          <a:p>
            <a:fld id="{2BB7F5D0-C0C8-4112-ACE4-23E1096E14E7}" type="datetimeFigureOut">
              <a:rPr lang="ko-KR" altLang="en-US">
                <a:solidFill>
                  <a:prstClr val="black">
                    <a:tint val="75000"/>
                  </a:prstClr>
                </a:solidFill>
              </a:rPr>
              <a:pPr/>
              <a:t>2026-04-29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165600" y="6356362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737600" y="6356362"/>
            <a:ext cx="2844800" cy="365125"/>
          </a:xfrm>
          <a:prstGeom prst="rect">
            <a:avLst/>
          </a:prstGeom>
        </p:spPr>
        <p:txBody>
          <a:bodyPr/>
          <a:lstStyle/>
          <a:p>
            <a:fld id="{B558C8F3-4D43-495F-A064-D60D04B896DE}" type="slidenum">
              <a:rPr lang="ko-KR" altLang="en-US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60886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2B1BF-BABD-4674-AC7D-7F0E44C2797C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2026-04-29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8B8DE-F7ED-4701-9529-050614846722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09021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2B1BF-BABD-4674-AC7D-7F0E44C2797C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2026-04-29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8B8DE-F7ED-4701-9529-050614846722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60306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2B1BF-BABD-4674-AC7D-7F0E44C2797C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2026-04-29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8B8DE-F7ED-4701-9529-050614846722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27072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2B1BF-BABD-4674-AC7D-7F0E44C2797C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2026-04-29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8B8DE-F7ED-4701-9529-050614846722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106059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2B1BF-BABD-4674-AC7D-7F0E44C2797C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2026-04-29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8B8DE-F7ED-4701-9529-050614846722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241487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2B1BF-BABD-4674-AC7D-7F0E44C2797C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2026-04-29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8B8DE-F7ED-4701-9529-050614846722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190282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2B1BF-BABD-4674-AC7D-7F0E44C2797C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2026-04-29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8B8DE-F7ED-4701-9529-050614846722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208824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2B1BF-BABD-4674-AC7D-7F0E44C2797C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2026-04-29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8B8DE-F7ED-4701-9529-050614846722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0349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2B1BF-BABD-4674-AC7D-7F0E44C2797C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2026-04-29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8B8DE-F7ED-4701-9529-050614846722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04544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2B1BF-BABD-4674-AC7D-7F0E44C2797C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2026-04-29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8B8DE-F7ED-4701-9529-050614846722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036409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2B1BF-BABD-4674-AC7D-7F0E44C2797C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2026-04-29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8B8DE-F7ED-4701-9529-050614846722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619014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09185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6E5091-A9EA-41CB-96EE-67B233A32083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AFB860-C62F-4890-BEF6-42D64ECE6432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직선 연결선 7">
            <a:extLst>
              <a:ext uri="{FF2B5EF4-FFF2-40B4-BE49-F238E27FC236}">
                <a16:creationId xmlns:a16="http://schemas.microsoft.com/office/drawing/2014/main" id="{3959789E-1396-4E3D-AAD6-3123B61C9B94}"/>
              </a:ext>
            </a:extLst>
          </p:cNvPr>
          <p:cNvSpPr/>
          <p:nvPr userDrawn="1"/>
        </p:nvSpPr>
        <p:spPr>
          <a:xfrm>
            <a:off x="306100" y="490742"/>
            <a:ext cx="11579801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45719" rIns="45719"/>
          <a:lstStyle/>
          <a:p>
            <a:endParaRPr>
              <a:solidFill>
                <a:srgbClr val="000000"/>
              </a:solidFill>
            </a:endParaRPr>
          </a:p>
        </p:txBody>
      </p:sp>
      <p:sp>
        <p:nvSpPr>
          <p:cNvPr id="8" name="MSIPCMContentMarking" descr="{&quot;HashCode&quot;:-1860332160,&quot;Placement&quot;:&quot;Header&quot;,&quot;Top&quot;:0.0,&quot;Left&quot;:413.954651,&quot;SlideWidth&quot;:960,&quot;SlideHeight&quot;:540}"/>
          <p:cNvSpPr txBox="1"/>
          <p:nvPr userDrawn="1"/>
        </p:nvSpPr>
        <p:spPr>
          <a:xfrm>
            <a:off x="5257224" y="0"/>
            <a:ext cx="1677551" cy="2965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altLang="ko-KR" sz="1200">
                <a:solidFill>
                  <a:srgbClr val="000000"/>
                </a:solidFill>
                <a:latin typeface="Calibri" panose="020F0502020204030204" pitchFamily="34" charset="0"/>
              </a:rPr>
              <a:t>LGE Internal Use Only</a:t>
            </a:r>
            <a:endParaRPr lang="ko-KR" altLang="en-US" sz="12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01567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선 연결선 7">
            <a:extLst>
              <a:ext uri="{FF2B5EF4-FFF2-40B4-BE49-F238E27FC236}">
                <a16:creationId xmlns:a16="http://schemas.microsoft.com/office/drawing/2014/main" id="{3959789E-1396-4E3D-AAD6-3123B61C9B94}"/>
              </a:ext>
            </a:extLst>
          </p:cNvPr>
          <p:cNvSpPr/>
          <p:nvPr userDrawn="1"/>
        </p:nvSpPr>
        <p:spPr>
          <a:xfrm>
            <a:off x="306100" y="490742"/>
            <a:ext cx="11579801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45719" rIns="45719"/>
          <a:lstStyle/>
          <a:p>
            <a:endParaRPr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91665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198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395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592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789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36549" indent="-336549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38183" indent="-279399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36644" indent="-223837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592254" indent="-222249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49451" indent="-223837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06649" indent="-223837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63845" indent="-223837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1043" indent="-223837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78240" indent="-223837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395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198" algn="l" defTabSz="914395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395" algn="l" defTabSz="914395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592" algn="l" defTabSz="914395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789" algn="l" defTabSz="914395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987" algn="l" defTabSz="914395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3184" algn="l" defTabSz="914395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200382" algn="l" defTabSz="914395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7579" algn="l" defTabSz="914395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62B1BF-BABD-4674-AC7D-7F0E44C2797C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2026-04-29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C8B8DE-F7ED-4701-9529-050614846722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직선 연결선 7">
            <a:extLst>
              <a:ext uri="{FF2B5EF4-FFF2-40B4-BE49-F238E27FC236}">
                <a16:creationId xmlns:a16="http://schemas.microsoft.com/office/drawing/2014/main" id="{3959789E-1396-4E3D-AAD6-3123B61C9B94}"/>
              </a:ext>
            </a:extLst>
          </p:cNvPr>
          <p:cNvSpPr/>
          <p:nvPr userDrawn="1"/>
        </p:nvSpPr>
        <p:spPr>
          <a:xfrm>
            <a:off x="306100" y="490742"/>
            <a:ext cx="11579801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45719" rIns="45719"/>
          <a:lstStyle/>
          <a:p>
            <a:endParaRPr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32228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slide" Target="slide4.xml"/><Relationship Id="rId18" Type="http://schemas.openxmlformats.org/officeDocument/2006/relationships/slide" Target="slide6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notesSlide" Target="../notesSlides/notesSlide1.xml"/><Relationship Id="rId17" Type="http://schemas.openxmlformats.org/officeDocument/2006/relationships/slide" Target="slide5.xml"/><Relationship Id="rId2" Type="http://schemas.openxmlformats.org/officeDocument/2006/relationships/tags" Target="../tags/tag2.xml"/><Relationship Id="rId16" Type="http://schemas.openxmlformats.org/officeDocument/2006/relationships/slide" Target="slide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slideLayout" Target="../slideLayouts/slideLayout7.xml"/><Relationship Id="rId5" Type="http://schemas.openxmlformats.org/officeDocument/2006/relationships/tags" Target="../tags/tag5.xml"/><Relationship Id="rId15" Type="http://schemas.openxmlformats.org/officeDocument/2006/relationships/slide" Target="slide7.xml"/><Relationship Id="rId10" Type="http://schemas.openxmlformats.org/officeDocument/2006/relationships/tags" Target="../tags/tag10.xml"/><Relationship Id="rId19" Type="http://schemas.openxmlformats.org/officeDocument/2006/relationships/slide" Target="slide8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slide" Target="slide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7" Type="http://schemas.openxmlformats.org/officeDocument/2006/relationships/slide" Target="slide1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slide" Target="slide1.xml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4" Type="http://schemas.openxmlformats.org/officeDocument/2006/relationships/slide" Target="slid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4" Type="http://schemas.openxmlformats.org/officeDocument/2006/relationships/slide" Target="slide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8.png"/><Relationship Id="rId11" Type="http://schemas.openxmlformats.org/officeDocument/2006/relationships/slide" Target="slide1.xml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slide" Target="slide1.xml"/><Relationship Id="rId3" Type="http://schemas.openxmlformats.org/officeDocument/2006/relationships/image" Target="../media/image9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slide" Target="slide1.xml"/><Relationship Id="rId3" Type="http://schemas.openxmlformats.org/officeDocument/2006/relationships/image" Target="../media/image13.png"/><Relationship Id="rId7" Type="http://schemas.openxmlformats.org/officeDocument/2006/relationships/image" Target="../media/image18.png"/><Relationship Id="rId12" Type="http://schemas.openxmlformats.org/officeDocument/2006/relationships/image" Target="../media/image2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17.png"/><Relationship Id="rId11" Type="http://schemas.openxmlformats.org/officeDocument/2006/relationships/image" Target="../media/image14.png"/><Relationship Id="rId5" Type="http://schemas.openxmlformats.org/officeDocument/2006/relationships/image" Target="../media/image16.png"/><Relationship Id="rId10" Type="http://schemas.openxmlformats.org/officeDocument/2006/relationships/image" Target="../media/image7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slide" Target="slide1.xml"/><Relationship Id="rId3" Type="http://schemas.openxmlformats.org/officeDocument/2006/relationships/image" Target="../media/image13.png"/><Relationship Id="rId7" Type="http://schemas.openxmlformats.org/officeDocument/2006/relationships/image" Target="../media/image18.png"/><Relationship Id="rId12" Type="http://schemas.openxmlformats.org/officeDocument/2006/relationships/image" Target="../media/image2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17.png"/><Relationship Id="rId11" Type="http://schemas.openxmlformats.org/officeDocument/2006/relationships/image" Target="../media/image14.png"/><Relationship Id="rId5" Type="http://schemas.openxmlformats.org/officeDocument/2006/relationships/image" Target="../media/image16.png"/><Relationship Id="rId10" Type="http://schemas.openxmlformats.org/officeDocument/2006/relationships/image" Target="../media/image7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43" name="그룹 1642">
            <a:extLst>
              <a:ext uri="{FF2B5EF4-FFF2-40B4-BE49-F238E27FC236}">
                <a16:creationId xmlns:a16="http://schemas.microsoft.com/office/drawing/2014/main" id="{E9B3F8D2-0044-F57D-62EB-267E93621DF4}"/>
              </a:ext>
            </a:extLst>
          </p:cNvPr>
          <p:cNvGrpSpPr/>
          <p:nvPr/>
        </p:nvGrpSpPr>
        <p:grpSpPr>
          <a:xfrm>
            <a:off x="3172952" y="5416297"/>
            <a:ext cx="2289148" cy="149120"/>
            <a:chOff x="3167102" y="5755280"/>
            <a:chExt cx="2289148" cy="149120"/>
          </a:xfrm>
        </p:grpSpPr>
        <p:sp>
          <p:nvSpPr>
            <p:cNvPr id="1356" name="Rectangle 3936">
              <a:extLst>
                <a:ext uri="{FF2B5EF4-FFF2-40B4-BE49-F238E27FC236}">
                  <a16:creationId xmlns:a16="http://schemas.microsoft.com/office/drawing/2014/main" id="{1DBA86C5-7647-FBA5-392D-270AB813C5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7102" y="5757840"/>
              <a:ext cx="720000" cy="144000"/>
            </a:xfrm>
            <a:prstGeom prst="rect">
              <a:avLst/>
            </a:prstGeom>
            <a:solidFill>
              <a:srgbClr val="CC3300"/>
            </a:solidFill>
            <a:ln w="3175" cap="flat" cmpd="sng" algn="ctr">
              <a:solidFill>
                <a:srgbClr val="FFFFFF">
                  <a:lumMod val="50000"/>
                </a:srgbClr>
              </a:solidFill>
              <a:prstDash val="solid"/>
            </a:ln>
            <a:effectLst/>
          </p:spPr>
          <p:txBody>
            <a:bodyPr wrap="none" lIns="0" tIns="45714" rIns="72000" bIns="45714"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 Narrow"/>
                  <a:ea typeface="LG스마트체2.0 Regular"/>
                  <a:cs typeface="+mn-cs"/>
                </a:rPr>
                <a:t>QNED72B</a:t>
              </a:r>
            </a:p>
          </p:txBody>
        </p:sp>
        <p:sp>
          <p:nvSpPr>
            <p:cNvPr id="1523" name="모서리가 둥근 직사각형 364">
              <a:extLst>
                <a:ext uri="{FF2B5EF4-FFF2-40B4-BE49-F238E27FC236}">
                  <a16:creationId xmlns:a16="http://schemas.microsoft.com/office/drawing/2014/main" id="{8C2E1957-9F35-14D8-1360-F68564343232}"/>
                </a:ext>
              </a:extLst>
            </p:cNvPr>
            <p:cNvSpPr/>
            <p:nvPr/>
          </p:nvSpPr>
          <p:spPr bwMode="auto">
            <a:xfrm>
              <a:off x="4608411" y="5755280"/>
              <a:ext cx="133200" cy="149120"/>
            </a:xfrm>
            <a:prstGeom prst="roundRect">
              <a:avLst/>
            </a:prstGeom>
            <a:solidFill>
              <a:srgbClr val="FFFFFF"/>
            </a:solidFill>
            <a:ln w="6350" algn="ctr">
              <a:solidFill>
                <a:srgbClr val="C00000"/>
              </a:solidFill>
              <a:prstDash val="solid"/>
              <a:round/>
              <a:headEnd/>
              <a:tailEnd/>
            </a:ln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 Narrow"/>
                  <a:ea typeface="LG스마트체 Regular" panose="020B0600000101010101" pitchFamily="50" charset="-127"/>
                  <a:cs typeface="Arial" panose="020B0604020202020204" pitchFamily="34" charset="0"/>
                </a:rPr>
                <a:t>75</a:t>
              </a:r>
              <a:endPara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555" name="모서리가 둥근 직사각형 375">
              <a:extLst>
                <a:ext uri="{FF2B5EF4-FFF2-40B4-BE49-F238E27FC236}">
                  <a16:creationId xmlns:a16="http://schemas.microsoft.com/office/drawing/2014/main" id="{A66AC582-564B-4E5B-0A14-F4D1971FCC96}"/>
                </a:ext>
              </a:extLst>
            </p:cNvPr>
            <p:cNvSpPr/>
            <p:nvPr/>
          </p:nvSpPr>
          <p:spPr bwMode="auto">
            <a:xfrm>
              <a:off x="5323050" y="5755280"/>
              <a:ext cx="133200" cy="149120"/>
            </a:xfrm>
            <a:prstGeom prst="roundRect">
              <a:avLst/>
            </a:prstGeom>
            <a:solidFill>
              <a:srgbClr val="FFFFFF"/>
            </a:solidFill>
            <a:ln w="6350" algn="ctr">
              <a:solidFill>
                <a:srgbClr val="C00000"/>
              </a:solidFill>
              <a:prstDash val="solid"/>
              <a:round/>
              <a:headEnd/>
              <a:tailEnd/>
            </a:ln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 Narrow"/>
                  <a:ea typeface="LG스마트체 Regular" panose="020B0600000101010101" pitchFamily="50" charset="-127"/>
                  <a:cs typeface="Arial" panose="020B0604020202020204" pitchFamily="34" charset="0"/>
                </a:rPr>
                <a:t>43</a:t>
              </a:r>
              <a:endPara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571" name="모서리가 둥근 직사각형 376">
              <a:extLst>
                <a:ext uri="{FF2B5EF4-FFF2-40B4-BE49-F238E27FC236}">
                  <a16:creationId xmlns:a16="http://schemas.microsoft.com/office/drawing/2014/main" id="{FA2E1248-644F-3100-A520-26422A79F142}"/>
                </a:ext>
              </a:extLst>
            </p:cNvPr>
            <p:cNvSpPr/>
            <p:nvPr/>
          </p:nvSpPr>
          <p:spPr bwMode="auto">
            <a:xfrm>
              <a:off x="5139795" y="5755280"/>
              <a:ext cx="133200" cy="149120"/>
            </a:xfrm>
            <a:prstGeom prst="roundRect">
              <a:avLst/>
            </a:prstGeom>
            <a:solidFill>
              <a:srgbClr val="FFFFFF"/>
            </a:solidFill>
            <a:ln w="6350" algn="ctr">
              <a:solidFill>
                <a:srgbClr val="C00000"/>
              </a:solidFill>
              <a:prstDash val="solid"/>
              <a:round/>
              <a:headEnd/>
              <a:tailEnd/>
            </a:ln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 Narrow"/>
                  <a:ea typeface="LG스마트체 Regular" panose="020B0600000101010101" pitchFamily="50" charset="-127"/>
                  <a:cs typeface="Arial" panose="020B0604020202020204" pitchFamily="34" charset="0"/>
                </a:rPr>
                <a:t>50</a:t>
              </a:r>
              <a:endPara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601" name="모서리가 둥근 직사각형 377">
              <a:extLst>
                <a:ext uri="{FF2B5EF4-FFF2-40B4-BE49-F238E27FC236}">
                  <a16:creationId xmlns:a16="http://schemas.microsoft.com/office/drawing/2014/main" id="{1D6FEA51-90ED-DF78-C236-AF89C6D22EDF}"/>
                </a:ext>
              </a:extLst>
            </p:cNvPr>
            <p:cNvSpPr/>
            <p:nvPr/>
          </p:nvSpPr>
          <p:spPr bwMode="auto">
            <a:xfrm>
              <a:off x="4787071" y="5755280"/>
              <a:ext cx="133200" cy="149120"/>
            </a:xfrm>
            <a:prstGeom prst="roundRect">
              <a:avLst/>
            </a:prstGeom>
            <a:solidFill>
              <a:srgbClr val="FFFFFF"/>
            </a:solidFill>
            <a:ln w="6350" algn="ctr">
              <a:solidFill>
                <a:srgbClr val="C00000"/>
              </a:solidFill>
              <a:prstDash val="solid"/>
              <a:round/>
              <a:headEnd/>
              <a:tailEnd/>
            </a:ln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 Narrow"/>
                  <a:ea typeface="LG스마트체 Regular" panose="020B0600000101010101" pitchFamily="50" charset="-127"/>
                  <a:cs typeface="Arial" panose="020B0604020202020204" pitchFamily="34" charset="0"/>
                </a:rPr>
                <a:t>65</a:t>
              </a:r>
              <a:endPara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702" name="모서리가 둥근 직사각형 378">
              <a:extLst>
                <a:ext uri="{FF2B5EF4-FFF2-40B4-BE49-F238E27FC236}">
                  <a16:creationId xmlns:a16="http://schemas.microsoft.com/office/drawing/2014/main" id="{A3FD79B3-44AE-8144-E0FE-F1593D24ECAD}"/>
                </a:ext>
              </a:extLst>
            </p:cNvPr>
            <p:cNvSpPr/>
            <p:nvPr/>
          </p:nvSpPr>
          <p:spPr bwMode="auto">
            <a:xfrm>
              <a:off x="4965731" y="5755280"/>
              <a:ext cx="133200" cy="149120"/>
            </a:xfrm>
            <a:prstGeom prst="roundRect">
              <a:avLst/>
            </a:prstGeom>
            <a:solidFill>
              <a:srgbClr val="FFFFFF"/>
            </a:solidFill>
            <a:ln w="6350" algn="ctr">
              <a:solidFill>
                <a:srgbClr val="C00000"/>
              </a:solidFill>
              <a:prstDash val="solid"/>
              <a:round/>
              <a:headEnd/>
              <a:tailEnd/>
            </a:ln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 Narrow"/>
                  <a:ea typeface="LG스마트체 Regular" panose="020B0600000101010101" pitchFamily="50" charset="-127"/>
                  <a:cs typeface="Arial" panose="020B0604020202020204" pitchFamily="34" charset="0"/>
                </a:rPr>
                <a:t>55</a:t>
              </a:r>
              <a:endPara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20" name="모서리가 둥근 직사각형 365">
              <a:extLst>
                <a:ext uri="{FF2B5EF4-FFF2-40B4-BE49-F238E27FC236}">
                  <a16:creationId xmlns:a16="http://schemas.microsoft.com/office/drawing/2014/main" id="{3A999B10-5F5F-86C6-D17B-E0F3C15C9049}"/>
                </a:ext>
              </a:extLst>
            </p:cNvPr>
            <p:cNvSpPr/>
            <p:nvPr/>
          </p:nvSpPr>
          <p:spPr bwMode="auto">
            <a:xfrm>
              <a:off x="4438145" y="5755280"/>
              <a:ext cx="133200" cy="149120"/>
            </a:xfrm>
            <a:prstGeom prst="roundRect">
              <a:avLst/>
            </a:prstGeom>
            <a:solidFill>
              <a:srgbClr val="FFFFFF"/>
            </a:solidFill>
            <a:ln w="6350" algn="ctr">
              <a:solidFill>
                <a:srgbClr val="C00000"/>
              </a:solidFill>
              <a:prstDash val="solid"/>
              <a:round/>
              <a:headEnd/>
              <a:tailEnd/>
            </a:ln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 Narrow"/>
                  <a:ea typeface="LG스마트체 Regular" panose="020B0600000101010101" pitchFamily="50" charset="-127"/>
                  <a:cs typeface="Arial" panose="020B0604020202020204" pitchFamily="34" charset="0"/>
                </a:rPr>
                <a:t>8</a:t>
              </a:r>
              <a:r>
                <a:rPr kumimoji="0" lang="en-US" altLang="ko-KR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 Narrow"/>
                  <a:ea typeface="LG스마트체 Regular" panose="020B0600000101010101" pitchFamily="50" charset="-127"/>
                  <a:cs typeface="Arial" panose="020B0604020202020204" pitchFamily="34" charset="0"/>
                </a:rPr>
                <a:t>5</a:t>
              </a:r>
              <a:endPara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endParaRPr>
            </a:p>
          </p:txBody>
        </p:sp>
      </p:grpSp>
      <p:sp>
        <p:nvSpPr>
          <p:cNvPr id="2" name="TextBox 1"/>
          <p:cNvSpPr txBox="1">
            <a:spLocks noChangeArrowheads="1"/>
          </p:cNvSpPr>
          <p:nvPr/>
        </p:nvSpPr>
        <p:spPr bwMode="auto">
          <a:xfrm>
            <a:off x="293657" y="72162"/>
            <a:ext cx="3969146" cy="4000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91336" tIns="45671" rIns="91336" bIns="45671">
            <a:spAutoFit/>
          </a:bodyPr>
          <a:lstStyle>
            <a:defPPr>
              <a:defRPr lang="ko-KR"/>
            </a:defPPr>
            <a:lvl1pPr marL="342651" indent="-342651" defTabSz="913739" eaLnBrk="0" hangingPunct="0">
              <a:defRPr sz="2000" b="1">
                <a:solidFill>
                  <a:prstClr val="black">
                    <a:lumMod val="95000"/>
                    <a:lumOff val="5000"/>
                  </a:prstClr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defRPr>
            </a:lvl1pPr>
          </a:lstStyle>
          <a:p>
            <a:pPr marL="342651" marR="0" lvl="0" indent="-342651" algn="l" defTabSz="913739" rtl="0" eaLnBrk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/>
                <a:ea typeface="LG스마트체 Regular" pitchFamily="50" charset="-127"/>
                <a:cs typeface="Arial" pitchFamily="34" charset="0"/>
              </a:rPr>
              <a:t>1. 26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/>
                <a:ea typeface="LG스마트체 Regular" pitchFamily="50" charset="-127"/>
                <a:cs typeface="Arial" pitchFamily="34" charset="0"/>
              </a:rPr>
              <a:t>년 유럽 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/>
                <a:ea typeface="LG스마트체 Regular" pitchFamily="50" charset="-127"/>
                <a:cs typeface="Arial" pitchFamily="34" charset="0"/>
              </a:rPr>
              <a:t>TV PRM 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/>
                <a:ea typeface="LG스마트체 Regular" pitchFamily="50" charset="-127"/>
                <a:cs typeface="Arial" pitchFamily="34" charset="0"/>
              </a:rPr>
              <a:t>운영안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/>
                <a:ea typeface="맑은 고딕" panose="020B0503020000020004" pitchFamily="50" charset="-127"/>
                <a:cs typeface="Arial" pitchFamily="34" charset="0"/>
              </a:rPr>
              <a:t>(3/24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/>
                <a:ea typeface="맑은 고딕" panose="020B0503020000020004" pitchFamily="50" charset="-127"/>
                <a:cs typeface="Arial" pitchFamily="34" charset="0"/>
              </a:rPr>
              <a:t>업데이트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/>
                <a:ea typeface="맑은 고딕" panose="020B0503020000020004" pitchFamily="50" charset="-127"/>
                <a:cs typeface="Arial" pitchFamily="34" charset="0"/>
              </a:rPr>
              <a:t>)</a:t>
            </a:r>
          </a:p>
        </p:txBody>
      </p:sp>
      <p:sp>
        <p:nvSpPr>
          <p:cNvPr id="1325" name="직사각형 128">
            <a:extLst>
              <a:ext uri="{FF2B5EF4-FFF2-40B4-BE49-F238E27FC236}">
                <a16:creationId xmlns:a16="http://schemas.microsoft.com/office/drawing/2014/main" id="{3D6CCE90-838E-AD3E-52CC-B461DADA3292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16222" y="2572415"/>
            <a:ext cx="391672" cy="3302819"/>
          </a:xfrm>
          <a:prstGeom prst="roundRect">
            <a:avLst>
              <a:gd name="adj" fmla="val 9786"/>
            </a:avLst>
          </a:prstGeom>
          <a:solidFill>
            <a:sysClr val="window" lastClr="FFFFFF"/>
          </a:solidFill>
          <a:ln w="6350">
            <a:solidFill>
              <a:srgbClr val="231F2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2.0 Regular"/>
                <a:cs typeface="Arial" panose="020B0604020202020204" pitchFamily="34" charset="0"/>
              </a:rPr>
              <a:t>MRGB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2.0 Regular"/>
                <a:cs typeface="Arial" panose="020B0604020202020204" pitchFamily="34" charset="0"/>
              </a:rPr>
              <a:t>/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2.0 Regular"/>
                <a:cs typeface="Arial" panose="020B0604020202020204" pitchFamily="34" charset="0"/>
              </a:rPr>
              <a:t>QNED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2.0 Regular"/>
                <a:cs typeface="Arial" panose="020B0604020202020204" pitchFamily="34" charset="0"/>
              </a:rPr>
              <a:t>/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2.0 Regular"/>
                <a:cs typeface="Arial" panose="020B0604020202020204" pitchFamily="34" charset="0"/>
              </a:rPr>
              <a:t>NANO</a:t>
            </a:r>
            <a:endParaRPr kumimoji="0" lang="ko-KR" altLang="en-US" sz="1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LG스마트체2.0 Regular"/>
              <a:cs typeface="Arial" panose="020B0604020202020204" pitchFamily="34" charset="0"/>
            </a:endParaRPr>
          </a:p>
        </p:txBody>
      </p:sp>
      <p:sp>
        <p:nvSpPr>
          <p:cNvPr id="1326" name="직사각형 128">
            <a:extLst>
              <a:ext uri="{FF2B5EF4-FFF2-40B4-BE49-F238E27FC236}">
                <a16:creationId xmlns:a16="http://schemas.microsoft.com/office/drawing/2014/main" id="{05C44DED-83ED-409B-EB74-27CC0CCFB058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05841" y="783972"/>
            <a:ext cx="391672" cy="1761464"/>
          </a:xfrm>
          <a:prstGeom prst="roundRect">
            <a:avLst>
              <a:gd name="adj" fmla="val 9786"/>
            </a:avLst>
          </a:prstGeom>
          <a:solidFill>
            <a:sysClr val="window" lastClr="FFFFFF"/>
          </a:solidFill>
          <a:ln w="6350">
            <a:solidFill>
              <a:srgbClr val="231F2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2.0 Regular"/>
                <a:cs typeface="Arial" panose="020B0604020202020204" pitchFamily="34" charset="0"/>
              </a:rPr>
              <a:t>OLED</a:t>
            </a:r>
            <a:endParaRPr kumimoji="0" lang="ko-KR" altLang="en-US" sz="1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LG스마트체2.0 Regular"/>
              <a:cs typeface="Arial" panose="020B0604020202020204" pitchFamily="34" charset="0"/>
            </a:endParaRPr>
          </a:p>
        </p:txBody>
      </p:sp>
      <p:sp>
        <p:nvSpPr>
          <p:cNvPr id="1328" name="Rectangle 7">
            <a:extLst>
              <a:ext uri="{FF2B5EF4-FFF2-40B4-BE49-F238E27FC236}">
                <a16:creationId xmlns:a16="http://schemas.microsoft.com/office/drawing/2014/main" id="{D4557820-4778-C51C-5E3B-2E70EA2493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58335" y="645685"/>
            <a:ext cx="3121688" cy="2881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 anchor="ctr" anchorCtr="1">
            <a:spAutoFit/>
          </a:bodyPr>
          <a:lstStyle/>
          <a:p>
            <a:pPr marL="0" marR="0" lvl="0" indent="0" algn="ctr" defTabSz="89535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20000"/>
              <a:buFontTx/>
              <a:buNone/>
              <a:tabLst/>
              <a:defRPr/>
            </a:pP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2.0 Regular"/>
                <a:cs typeface="Arial" panose="020B0604020202020204" pitchFamily="34" charset="0"/>
              </a:rPr>
              <a:t>유럽 </a:t>
            </a: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2.0 Regular"/>
                <a:cs typeface="Arial" panose="020B0604020202020204" pitchFamily="34" charset="0"/>
              </a:rPr>
              <a:t>26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2.0 Regular"/>
                <a:cs typeface="Arial" panose="020B0604020202020204" pitchFamily="34" charset="0"/>
              </a:rPr>
              <a:t>년 </a:t>
            </a: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2.0 Regular"/>
                <a:cs typeface="Arial" panose="020B0604020202020204" pitchFamily="34" charset="0"/>
              </a:rPr>
              <a:t>PRM </a:t>
            </a: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2.0 Regular"/>
                <a:cs typeface="Arial" panose="020B0604020202020204" pitchFamily="34" charset="0"/>
              </a:rPr>
              <a:t>운영안</a:t>
            </a:r>
            <a:endParaRPr kumimoji="1" lang="en-US" altLang="ko-KR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2.0 Regular"/>
              <a:cs typeface="Arial" panose="020B0604020202020204" pitchFamily="34" charset="0"/>
            </a:endParaRPr>
          </a:p>
        </p:txBody>
      </p:sp>
      <p:sp>
        <p:nvSpPr>
          <p:cNvPr id="1329" name="Line 46">
            <a:extLst>
              <a:ext uri="{FF2B5EF4-FFF2-40B4-BE49-F238E27FC236}">
                <a16:creationId xmlns:a16="http://schemas.microsoft.com/office/drawing/2014/main" id="{2FA679C9-8180-AF13-3B14-828841CB95DB}"/>
              </a:ext>
            </a:extLst>
          </p:cNvPr>
          <p:cNvSpPr>
            <a:spLocks noChangeShapeType="1"/>
          </p:cNvSpPr>
          <p:nvPr/>
        </p:nvSpPr>
        <p:spPr bwMode="auto">
          <a:xfrm>
            <a:off x="6266965" y="920866"/>
            <a:ext cx="5104427" cy="0"/>
          </a:xfrm>
          <a:prstGeom prst="line">
            <a:avLst/>
          </a:prstGeom>
          <a:noFill/>
          <a:ln w="31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800" b="0" i="0" u="sng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Narrow"/>
              <a:ea typeface="LG스마트체2.0 Regular"/>
              <a:cs typeface="Arial" panose="020B0604020202020204" pitchFamily="34" charset="0"/>
            </a:endParaRPr>
          </a:p>
        </p:txBody>
      </p:sp>
      <p:sp>
        <p:nvSpPr>
          <p:cNvPr id="1330" name="Rectangle 7">
            <a:extLst>
              <a:ext uri="{FF2B5EF4-FFF2-40B4-BE49-F238E27FC236}">
                <a16:creationId xmlns:a16="http://schemas.microsoft.com/office/drawing/2014/main" id="{A251DDCA-BABE-4948-A0E0-A8F33E3818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0333" y="486026"/>
            <a:ext cx="1504866" cy="2419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 anchor="ctr" anchorCtr="1">
            <a:spAutoFit/>
          </a:bodyPr>
          <a:lstStyle/>
          <a:p>
            <a:pPr marL="0" marR="0" lvl="0" indent="0" algn="l" defTabSz="89535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20000"/>
              <a:buFontTx/>
              <a:buNone/>
              <a:tabLst/>
              <a:defRPr/>
            </a:pPr>
            <a:r>
              <a:rPr kumimoji="1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/>
                <a:cs typeface="Arial" panose="020B0604020202020204" pitchFamily="34" charset="0"/>
              </a:rPr>
              <a:t>’26</a:t>
            </a:r>
            <a:r>
              <a:rPr kumimoji="1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/>
                <a:cs typeface="Arial" panose="020B0604020202020204" pitchFamily="34" charset="0"/>
              </a:rPr>
              <a:t>년</a:t>
            </a:r>
            <a:endParaRPr kumimoji="1" lang="en-US" altLang="ko-KR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/>
              <a:cs typeface="Arial" panose="020B0604020202020204" pitchFamily="34" charset="0"/>
            </a:endParaRPr>
          </a:p>
        </p:txBody>
      </p:sp>
      <p:sp>
        <p:nvSpPr>
          <p:cNvPr id="1331" name="Line 46">
            <a:extLst>
              <a:ext uri="{FF2B5EF4-FFF2-40B4-BE49-F238E27FC236}">
                <a16:creationId xmlns:a16="http://schemas.microsoft.com/office/drawing/2014/main" id="{73C2AF0D-424E-7653-2FB7-6C0A056B00BF}"/>
              </a:ext>
            </a:extLst>
          </p:cNvPr>
          <p:cNvSpPr>
            <a:spLocks noChangeShapeType="1"/>
          </p:cNvSpPr>
          <p:nvPr/>
        </p:nvSpPr>
        <p:spPr bwMode="auto">
          <a:xfrm>
            <a:off x="639898" y="719079"/>
            <a:ext cx="2340000" cy="0"/>
          </a:xfrm>
          <a:prstGeom prst="line">
            <a:avLst/>
          </a:prstGeom>
          <a:noFill/>
          <a:ln w="31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800" b="0" i="0" u="sng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Narrow"/>
              <a:ea typeface="LG스마트체 Regular"/>
              <a:cs typeface="Arial" panose="020B0604020202020204" pitchFamily="34" charset="0"/>
            </a:endParaRPr>
          </a:p>
        </p:txBody>
      </p:sp>
      <p:sp>
        <p:nvSpPr>
          <p:cNvPr id="1332" name="Rectangle 7">
            <a:extLst>
              <a:ext uri="{FF2B5EF4-FFF2-40B4-BE49-F238E27FC236}">
                <a16:creationId xmlns:a16="http://schemas.microsoft.com/office/drawing/2014/main" id="{3F4BBEC8-5B32-5D0A-7969-5C9118B130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9759" y="482026"/>
            <a:ext cx="1504866" cy="2419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 anchor="ctr" anchorCtr="1">
            <a:spAutoFit/>
          </a:bodyPr>
          <a:lstStyle/>
          <a:p>
            <a:pPr marL="0" marR="0" lvl="0" indent="0" algn="l" defTabSz="89535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20000"/>
              <a:buFontTx/>
              <a:buNone/>
              <a:tabLst/>
              <a:defRPr/>
            </a:pPr>
            <a:r>
              <a:rPr kumimoji="1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/>
                <a:cs typeface="Arial" panose="020B0604020202020204" pitchFamily="34" charset="0"/>
              </a:rPr>
              <a:t>’25</a:t>
            </a:r>
            <a:r>
              <a:rPr kumimoji="1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/>
                <a:cs typeface="Arial" panose="020B0604020202020204" pitchFamily="34" charset="0"/>
              </a:rPr>
              <a:t>년</a:t>
            </a:r>
            <a:endParaRPr kumimoji="1" lang="en-US" altLang="ko-KR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/>
              <a:cs typeface="Arial" panose="020B0604020202020204" pitchFamily="34" charset="0"/>
            </a:endParaRPr>
          </a:p>
        </p:txBody>
      </p:sp>
      <p:sp>
        <p:nvSpPr>
          <p:cNvPr id="1333" name="모서리가 둥근 직사각형 1332">
            <a:extLst>
              <a:ext uri="{FF2B5EF4-FFF2-40B4-BE49-F238E27FC236}">
                <a16:creationId xmlns:a16="http://schemas.microsoft.com/office/drawing/2014/main" id="{98975AEC-255B-EF8E-DDD5-E079576E19FB}"/>
              </a:ext>
            </a:extLst>
          </p:cNvPr>
          <p:cNvSpPr/>
          <p:nvPr/>
        </p:nvSpPr>
        <p:spPr bwMode="auto">
          <a:xfrm>
            <a:off x="9739491" y="126767"/>
            <a:ext cx="108000" cy="108000"/>
          </a:xfrm>
          <a:prstGeom prst="roundRect">
            <a:avLst/>
          </a:prstGeom>
          <a:solidFill>
            <a:srgbClr val="FFFFFF"/>
          </a:solidFill>
          <a:ln w="6350" algn="ctr">
            <a:solidFill>
              <a:srgbClr val="C00000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334" name="TextBox 1333">
            <a:extLst>
              <a:ext uri="{FF2B5EF4-FFF2-40B4-BE49-F238E27FC236}">
                <a16:creationId xmlns:a16="http://schemas.microsoft.com/office/drawing/2014/main" id="{9654170C-DBD8-1208-003A-F2BD9E81FA71}"/>
              </a:ext>
            </a:extLst>
          </p:cNvPr>
          <p:cNvSpPr txBox="1"/>
          <p:nvPr/>
        </p:nvSpPr>
        <p:spPr>
          <a:xfrm>
            <a:off x="9887453" y="124919"/>
            <a:ext cx="838371" cy="111697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</a:ln>
          <a:effectLst/>
        </p:spPr>
        <p:txBody>
          <a:bodyPr wrap="none" lIns="0" tIns="0" rIns="0" bIns="0" rtlCol="0" anchor="ctr">
            <a:spAutoFit/>
          </a:bodyPr>
          <a:lstStyle>
            <a:defPPr>
              <a:defRPr lang="ko-KR"/>
            </a:defPPr>
            <a:lvl1pPr marL="182563" indent="-182563" fontAlgn="base">
              <a:spcBef>
                <a:spcPct val="0"/>
              </a:spcBef>
              <a:spcAft>
                <a:spcPct val="0"/>
              </a:spcAft>
              <a:defRPr kumimoji="1" sz="800" b="0">
                <a:solidFill>
                  <a:srgbClr val="006600"/>
                </a:solidFill>
                <a:latin typeface="Arial Narrow" panose="020B0606020202030204" pitchFamily="34" charset="0"/>
                <a:ea typeface="돋움" pitchFamily="50" charset="-127"/>
                <a:cs typeface="Arial" pitchFamily="34" charset="0"/>
              </a:defRPr>
            </a:lvl1pPr>
          </a:lstStyle>
          <a:p>
            <a:pPr marL="182563" marR="0" lvl="0" indent="-182563" algn="l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itchFamily="34" charset="0"/>
              </a:rPr>
              <a:t>신규 디자인 </a:t>
            </a:r>
            <a:r>
              <a:rPr kumimoji="1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itchFamily="34" charset="0"/>
              </a:rPr>
              <a:t>(Tool)</a:t>
            </a:r>
            <a:r>
              <a:rPr kumimoji="1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itchFamily="34" charset="0"/>
              </a:rPr>
              <a:t> </a:t>
            </a:r>
            <a:endParaRPr kumimoji="1" lang="en-US" altLang="ko-KR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itchFamily="34" charset="0"/>
            </a:endParaRPr>
          </a:p>
        </p:txBody>
      </p:sp>
      <p:sp>
        <p:nvSpPr>
          <p:cNvPr id="1335" name="모서리가 둥근 직사각형 530">
            <a:extLst>
              <a:ext uri="{FF2B5EF4-FFF2-40B4-BE49-F238E27FC236}">
                <a16:creationId xmlns:a16="http://schemas.microsoft.com/office/drawing/2014/main" id="{27148F78-D016-1ECA-E7BA-01A172CAD5DE}"/>
              </a:ext>
            </a:extLst>
          </p:cNvPr>
          <p:cNvSpPr/>
          <p:nvPr/>
        </p:nvSpPr>
        <p:spPr bwMode="auto">
          <a:xfrm>
            <a:off x="10753786" y="126767"/>
            <a:ext cx="108000" cy="108000"/>
          </a:xfrm>
          <a:prstGeom prst="roundRect">
            <a:avLst/>
          </a:prstGeom>
          <a:solidFill>
            <a:srgbClr val="FFFFFF"/>
          </a:solidFill>
          <a:ln w="9525" algn="ctr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2.0 Regular"/>
              <a:cs typeface="Arial" panose="020B0604020202020204" pitchFamily="34" charset="0"/>
            </a:endParaRPr>
          </a:p>
        </p:txBody>
      </p:sp>
      <p:sp>
        <p:nvSpPr>
          <p:cNvPr id="1336" name="TextBox 1335">
            <a:extLst>
              <a:ext uri="{FF2B5EF4-FFF2-40B4-BE49-F238E27FC236}">
                <a16:creationId xmlns:a16="http://schemas.microsoft.com/office/drawing/2014/main" id="{62995073-71CE-F139-10DF-0F58A7C2F752}"/>
              </a:ext>
            </a:extLst>
          </p:cNvPr>
          <p:cNvSpPr txBox="1"/>
          <p:nvPr/>
        </p:nvSpPr>
        <p:spPr>
          <a:xfrm>
            <a:off x="10898069" y="124919"/>
            <a:ext cx="1000274" cy="111697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</a:ln>
          <a:effectLst/>
        </p:spPr>
        <p:txBody>
          <a:bodyPr wrap="none" lIns="0" tIns="0" rIns="0" bIns="0" rtlCol="0" anchor="ctr">
            <a:spAutoFit/>
          </a:bodyPr>
          <a:lstStyle>
            <a:defPPr>
              <a:defRPr lang="ko-KR"/>
            </a:defPPr>
            <a:lvl1pPr marL="182563" indent="-182563" fontAlgn="base">
              <a:spcBef>
                <a:spcPct val="0"/>
              </a:spcBef>
              <a:spcAft>
                <a:spcPct val="0"/>
              </a:spcAft>
              <a:defRPr kumimoji="1" sz="800" b="0">
                <a:solidFill>
                  <a:srgbClr val="006600"/>
                </a:solidFill>
                <a:latin typeface="Arial Narrow" panose="020B0606020202030204" pitchFamily="34" charset="0"/>
                <a:ea typeface="돋움" pitchFamily="50" charset="-127"/>
                <a:cs typeface="Arial" pitchFamily="34" charset="0"/>
              </a:defRPr>
            </a:lvl1pPr>
          </a:lstStyle>
          <a:p>
            <a:pPr marL="182563" marR="0" lvl="0" indent="-182563" algn="l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기존 디자인 신규 컨셉</a:t>
            </a:r>
            <a:endParaRPr kumimoji="1" lang="en-US" altLang="ko-KR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</p:txBody>
      </p:sp>
      <p:sp>
        <p:nvSpPr>
          <p:cNvPr id="1337" name="모서리가 둥근 직사각형 533">
            <a:extLst>
              <a:ext uri="{FF2B5EF4-FFF2-40B4-BE49-F238E27FC236}">
                <a16:creationId xmlns:a16="http://schemas.microsoft.com/office/drawing/2014/main" id="{5F786409-0826-3F4D-7730-F08862878D4E}"/>
              </a:ext>
            </a:extLst>
          </p:cNvPr>
          <p:cNvSpPr/>
          <p:nvPr/>
        </p:nvSpPr>
        <p:spPr bwMode="auto">
          <a:xfrm>
            <a:off x="8818381" y="291390"/>
            <a:ext cx="108000" cy="108000"/>
          </a:xfrm>
          <a:prstGeom prst="roundRect">
            <a:avLst/>
          </a:prstGeom>
          <a:solidFill>
            <a:srgbClr val="FFFFFF">
              <a:lumMod val="75000"/>
            </a:srgbClr>
          </a:solidFill>
          <a:ln w="3175" cap="flat" cmpd="sng" algn="ctr">
            <a:solidFill>
              <a:srgbClr val="000000"/>
            </a:solidFill>
            <a:prstDash val="solid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2.0 Regular"/>
              <a:cs typeface="Arial" panose="020B0604020202020204" pitchFamily="34" charset="0"/>
            </a:endParaRPr>
          </a:p>
        </p:txBody>
      </p:sp>
      <p:sp>
        <p:nvSpPr>
          <p:cNvPr id="1338" name="TextBox 1337">
            <a:extLst>
              <a:ext uri="{FF2B5EF4-FFF2-40B4-BE49-F238E27FC236}">
                <a16:creationId xmlns:a16="http://schemas.microsoft.com/office/drawing/2014/main" id="{8304BED7-2F8D-F755-0F62-4490B8692C47}"/>
              </a:ext>
            </a:extLst>
          </p:cNvPr>
          <p:cNvSpPr txBox="1"/>
          <p:nvPr/>
        </p:nvSpPr>
        <p:spPr>
          <a:xfrm>
            <a:off x="8979923" y="289990"/>
            <a:ext cx="378309" cy="110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</a:ln>
          <a:effectLst/>
        </p:spPr>
        <p:txBody>
          <a:bodyPr wrap="none" lIns="0" tIns="0" rIns="0" bIns="0" rtlCol="0" anchor="ctr">
            <a:spAutoFit/>
          </a:bodyPr>
          <a:lstStyle>
            <a:defPPr>
              <a:defRPr lang="ko-KR"/>
            </a:defPPr>
            <a:lvl1pPr marL="182563" indent="-182563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kumimoji="1" sz="1100" b="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defRPr>
            </a:lvl1pPr>
          </a:lstStyle>
          <a:p>
            <a:pPr marL="182563" marR="0" lvl="0" indent="-182563" algn="l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/>
                <a:cs typeface="Arial" pitchFamily="34" charset="0"/>
              </a:rPr>
              <a:t>Tool C/O</a:t>
            </a:r>
          </a:p>
        </p:txBody>
      </p:sp>
      <p:sp>
        <p:nvSpPr>
          <p:cNvPr id="1339" name="TextBox 1338">
            <a:extLst>
              <a:ext uri="{FF2B5EF4-FFF2-40B4-BE49-F238E27FC236}">
                <a16:creationId xmlns:a16="http://schemas.microsoft.com/office/drawing/2014/main" id="{B5C360A6-9386-F271-1552-3A83FD6F90A7}"/>
              </a:ext>
            </a:extLst>
          </p:cNvPr>
          <p:cNvSpPr txBox="1"/>
          <p:nvPr/>
        </p:nvSpPr>
        <p:spPr>
          <a:xfrm>
            <a:off x="9585721" y="253190"/>
            <a:ext cx="2371409" cy="18440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wrap="none" lIns="36000" tIns="36000" rIns="36000" bIns="36000" rtlCol="0" anchor="ctr">
            <a:spAutoFit/>
          </a:bodyPr>
          <a:lstStyle>
            <a:defPPr>
              <a:defRPr lang="ko-KR"/>
            </a:defPPr>
            <a:lvl1pPr marL="182563" indent="-182563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kumimoji="1" sz="1100" b="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defRPr>
            </a:lvl1pPr>
          </a:lstStyle>
          <a:p>
            <a:pPr marL="182563" marR="0" lvl="0" indent="-182563" algn="l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C/O : </a:t>
            </a:r>
            <a:r>
              <a:rPr kumimoji="1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전년도</a:t>
            </a:r>
            <a:r>
              <a:rPr kumimoji="1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 </a:t>
            </a:r>
            <a:r>
              <a:rPr kumimoji="1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모델 지속 운영</a:t>
            </a:r>
            <a:r>
              <a:rPr kumimoji="1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, </a:t>
            </a:r>
            <a:r>
              <a:rPr kumimoji="1" lang="ko-KR" altLang="en-US" sz="9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롱캐리</a:t>
            </a:r>
            <a:r>
              <a:rPr kumimoji="1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 </a:t>
            </a:r>
            <a:r>
              <a:rPr kumimoji="1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: 2</a:t>
            </a:r>
            <a:r>
              <a:rPr kumimoji="1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년 이상 운영</a:t>
            </a:r>
            <a:endParaRPr kumimoji="1" lang="en-US" altLang="ko-KR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</p:txBody>
      </p:sp>
      <p:sp>
        <p:nvSpPr>
          <p:cNvPr id="1340" name="모서리가 둥근 직사각형 530">
            <a:extLst>
              <a:ext uri="{FF2B5EF4-FFF2-40B4-BE49-F238E27FC236}">
                <a16:creationId xmlns:a16="http://schemas.microsoft.com/office/drawing/2014/main" id="{D3459AE3-D12C-2DE3-593C-D2E0FB31BD09}"/>
              </a:ext>
            </a:extLst>
          </p:cNvPr>
          <p:cNvSpPr/>
          <p:nvPr/>
        </p:nvSpPr>
        <p:spPr bwMode="auto">
          <a:xfrm>
            <a:off x="9458679" y="291390"/>
            <a:ext cx="108000" cy="108000"/>
          </a:xfrm>
          <a:prstGeom prst="roundRect">
            <a:avLst/>
          </a:prstGeom>
          <a:noFill/>
          <a:ln w="3175" cap="flat" cmpd="sng" algn="ctr">
            <a:solidFill>
              <a:srgbClr val="000000"/>
            </a:solidFill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341" name="TextBox 1340">
            <a:extLst>
              <a:ext uri="{FF2B5EF4-FFF2-40B4-BE49-F238E27FC236}">
                <a16:creationId xmlns:a16="http://schemas.microsoft.com/office/drawing/2014/main" id="{EEF51D71-80C9-AFDA-43B8-1B0C287236B1}"/>
              </a:ext>
            </a:extLst>
          </p:cNvPr>
          <p:cNvSpPr txBox="1"/>
          <p:nvPr/>
        </p:nvSpPr>
        <p:spPr>
          <a:xfrm>
            <a:off x="2712516" y="3077635"/>
            <a:ext cx="464871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itchFamily="34" charset="0"/>
              </a:rPr>
              <a:t>QNED8F</a:t>
            </a:r>
            <a:b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itchFamily="34" charset="0"/>
              </a:rPr>
            </a:b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itchFamily="34" charset="0"/>
              </a:rPr>
              <a:t>(50”, 120Hz)</a:t>
            </a:r>
          </a:p>
        </p:txBody>
      </p:sp>
      <p:sp>
        <p:nvSpPr>
          <p:cNvPr id="1351" name="Rectangle 3936">
            <a:extLst>
              <a:ext uri="{FF2B5EF4-FFF2-40B4-BE49-F238E27FC236}">
                <a16:creationId xmlns:a16="http://schemas.microsoft.com/office/drawing/2014/main" id="{C6C6A7B9-FCE6-E9A1-9171-7D386C78B0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7102" y="2572414"/>
            <a:ext cx="720000" cy="149120"/>
          </a:xfrm>
          <a:prstGeom prst="rect">
            <a:avLst/>
          </a:prstGeom>
          <a:solidFill>
            <a:srgbClr val="00B050"/>
          </a:solidFill>
          <a:ln w="3175" cap="flat" cmpd="sng" algn="ctr">
            <a:solidFill>
              <a:srgbClr val="FFFFFF">
                <a:lumMod val="50000"/>
              </a:srgbClr>
            </a:solidFill>
            <a:prstDash val="solid"/>
          </a:ln>
          <a:effectLst/>
        </p:spPr>
        <p:txBody>
          <a:bodyPr wrap="none" lIns="0" tIns="45714" rIns="0" bIns="45714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/>
                <a:ea typeface="LG스마트체2.0 Regular"/>
                <a:cs typeface="+mn-cs"/>
              </a:rPr>
              <a:t>MRGB96B</a:t>
            </a:r>
          </a:p>
        </p:txBody>
      </p:sp>
      <p:sp>
        <p:nvSpPr>
          <p:cNvPr id="1354" name="Line 46">
            <a:extLst>
              <a:ext uri="{FF2B5EF4-FFF2-40B4-BE49-F238E27FC236}">
                <a16:creationId xmlns:a16="http://schemas.microsoft.com/office/drawing/2014/main" id="{E16FAFF5-08B1-4592-67E0-105DBB579FD0}"/>
              </a:ext>
            </a:extLst>
          </p:cNvPr>
          <p:cNvSpPr>
            <a:spLocks noChangeShapeType="1"/>
          </p:cNvSpPr>
          <p:nvPr/>
        </p:nvSpPr>
        <p:spPr bwMode="auto">
          <a:xfrm>
            <a:off x="3141184" y="691369"/>
            <a:ext cx="2340000" cy="0"/>
          </a:xfrm>
          <a:prstGeom prst="line">
            <a:avLst/>
          </a:prstGeom>
          <a:noFill/>
          <a:ln w="31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800" b="0" i="0" u="sng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Narrow"/>
              <a:ea typeface="LG스마트체 Regular"/>
              <a:cs typeface="Arial" panose="020B0604020202020204" pitchFamily="34" charset="0"/>
            </a:endParaRPr>
          </a:p>
        </p:txBody>
      </p:sp>
      <p:sp>
        <p:nvSpPr>
          <p:cNvPr id="1355" name="Rectangle 3936">
            <a:extLst>
              <a:ext uri="{FF2B5EF4-FFF2-40B4-BE49-F238E27FC236}">
                <a16:creationId xmlns:a16="http://schemas.microsoft.com/office/drawing/2014/main" id="{77C74007-C410-F1BC-FDC8-BCCE94DA35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994" y="4819713"/>
            <a:ext cx="720000" cy="149120"/>
          </a:xfrm>
          <a:prstGeom prst="rect">
            <a:avLst/>
          </a:prstGeom>
          <a:solidFill>
            <a:srgbClr val="CC3300"/>
          </a:solidFill>
          <a:ln w="3175" cap="flat" cmpd="sng" algn="ctr">
            <a:solidFill>
              <a:srgbClr val="FFFFFF">
                <a:lumMod val="50000"/>
              </a:srgbClr>
            </a:solidFill>
            <a:prstDash val="solid"/>
          </a:ln>
          <a:effectLst/>
        </p:spPr>
        <p:txBody>
          <a:bodyPr wrap="none" lIns="0" tIns="45714" rIns="72000" bIns="45714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/>
                <a:ea typeface="LG스마트체2.0 Regular"/>
                <a:cs typeface="+mn-cs"/>
              </a:rPr>
              <a:t>QNED7EA</a:t>
            </a:r>
            <a:endParaRPr kumimoji="0" lang="en-US" altLang="ko-KR" sz="9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arrow"/>
              <a:ea typeface="LG스마트체2.0 Regular"/>
              <a:cs typeface="+mn-cs"/>
            </a:endParaRPr>
          </a:p>
        </p:txBody>
      </p:sp>
      <p:sp>
        <p:nvSpPr>
          <p:cNvPr id="1357" name="Rectangle 3936">
            <a:extLst>
              <a:ext uri="{FF2B5EF4-FFF2-40B4-BE49-F238E27FC236}">
                <a16:creationId xmlns:a16="http://schemas.microsoft.com/office/drawing/2014/main" id="{EE83ABBD-6EA8-E9D6-F4D8-3EA2BA3BD0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994" y="4650772"/>
            <a:ext cx="720000" cy="149120"/>
          </a:xfrm>
          <a:prstGeom prst="rect">
            <a:avLst/>
          </a:prstGeom>
          <a:solidFill>
            <a:srgbClr val="CC3300"/>
          </a:solidFill>
          <a:ln w="3175" cap="flat" cmpd="sng" algn="ctr">
            <a:solidFill>
              <a:srgbClr val="FFFFFF">
                <a:lumMod val="50000"/>
              </a:srgbClr>
            </a:solidFill>
            <a:prstDash val="solid"/>
          </a:ln>
          <a:effectLst/>
        </p:spPr>
        <p:txBody>
          <a:bodyPr wrap="none" lIns="0" tIns="45714" rIns="0" bIns="45714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/>
                <a:ea typeface="LG스마트체2.0 Regular"/>
                <a:cs typeface="+mn-cs"/>
              </a:rPr>
              <a:t>QNED70A</a:t>
            </a:r>
          </a:p>
        </p:txBody>
      </p:sp>
      <p:sp>
        <p:nvSpPr>
          <p:cNvPr id="1359" name="Rectangle 3936">
            <a:extLst>
              <a:ext uri="{FF2B5EF4-FFF2-40B4-BE49-F238E27FC236}">
                <a16:creationId xmlns:a16="http://schemas.microsoft.com/office/drawing/2014/main" id="{6CDE95EE-3A07-8EEF-4078-5002A300E3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994" y="4481832"/>
            <a:ext cx="720000" cy="149120"/>
          </a:xfrm>
          <a:prstGeom prst="rect">
            <a:avLst/>
          </a:prstGeom>
          <a:solidFill>
            <a:srgbClr val="CC3300"/>
          </a:solidFill>
          <a:ln w="3175" cap="flat" cmpd="sng" algn="ctr">
            <a:solidFill>
              <a:srgbClr val="FFFFFF">
                <a:lumMod val="50000"/>
              </a:srgbClr>
            </a:solidFill>
            <a:prstDash val="solid"/>
          </a:ln>
          <a:effectLst/>
        </p:spPr>
        <p:txBody>
          <a:bodyPr wrap="none" lIns="0" tIns="45714" rIns="72000" bIns="45714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/>
                <a:ea typeface="LG스마트체2.0 Regular"/>
                <a:cs typeface="+mn-cs"/>
              </a:rPr>
              <a:t>QNED8EA</a:t>
            </a:r>
            <a:endParaRPr kumimoji="0" lang="en-US" altLang="ko-KR" sz="9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arrow"/>
              <a:ea typeface="LG스마트체2.0 Regular"/>
              <a:cs typeface="+mn-cs"/>
            </a:endParaRPr>
          </a:p>
        </p:txBody>
      </p:sp>
      <p:sp>
        <p:nvSpPr>
          <p:cNvPr id="1360" name="Rectangle 3936">
            <a:extLst>
              <a:ext uri="{FF2B5EF4-FFF2-40B4-BE49-F238E27FC236}">
                <a16:creationId xmlns:a16="http://schemas.microsoft.com/office/drawing/2014/main" id="{FD48FF18-D3E8-91AC-8C3B-0D9FC6907E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7102" y="5253633"/>
            <a:ext cx="720000" cy="144000"/>
          </a:xfrm>
          <a:prstGeom prst="rect">
            <a:avLst/>
          </a:prstGeom>
          <a:solidFill>
            <a:srgbClr val="CC3300"/>
          </a:solidFill>
          <a:ln w="3175" cap="flat" cmpd="sng" algn="ctr">
            <a:solidFill>
              <a:srgbClr val="FFFFFF">
                <a:lumMod val="50000"/>
              </a:srgbClr>
            </a:solidFill>
            <a:prstDash val="solid"/>
          </a:ln>
          <a:effectLst/>
        </p:spPr>
        <p:txBody>
          <a:bodyPr wrap="none" lIns="0" tIns="45714" rIns="72000" bIns="45714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/>
                <a:ea typeface="LG스마트체2.0 Regular"/>
                <a:cs typeface="+mn-cs"/>
              </a:rPr>
              <a:t>QNED71B</a:t>
            </a:r>
          </a:p>
        </p:txBody>
      </p:sp>
      <p:sp>
        <p:nvSpPr>
          <p:cNvPr id="1361" name="Rectangle 3936">
            <a:extLst>
              <a:ext uri="{FF2B5EF4-FFF2-40B4-BE49-F238E27FC236}">
                <a16:creationId xmlns:a16="http://schemas.microsoft.com/office/drawing/2014/main" id="{6384BA05-347E-8669-99B5-2E12A343F8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994" y="4312892"/>
            <a:ext cx="720000" cy="149120"/>
          </a:xfrm>
          <a:prstGeom prst="rect">
            <a:avLst/>
          </a:prstGeom>
          <a:solidFill>
            <a:srgbClr val="CC3300"/>
          </a:solidFill>
          <a:ln w="3175" cap="flat" cmpd="sng" algn="ctr">
            <a:solidFill>
              <a:srgbClr val="FFFFFF">
                <a:lumMod val="50000"/>
              </a:srgbClr>
            </a:solidFill>
            <a:prstDash val="solid"/>
          </a:ln>
          <a:effectLst/>
        </p:spPr>
        <p:txBody>
          <a:bodyPr wrap="none" lIns="0" tIns="45714" rIns="72000" bIns="45714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/>
                <a:ea typeface="LG스마트체2.0 Regular"/>
                <a:cs typeface="+mn-cs"/>
              </a:rPr>
              <a:t>QNED81A</a:t>
            </a:r>
            <a:endParaRPr kumimoji="0" lang="en-US" altLang="ko-KR" sz="9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arrow"/>
              <a:ea typeface="LG스마트체2.0 Regular"/>
              <a:cs typeface="+mn-cs"/>
            </a:endParaRPr>
          </a:p>
        </p:txBody>
      </p:sp>
      <p:sp>
        <p:nvSpPr>
          <p:cNvPr id="1362" name="Rectangle 3936">
            <a:extLst>
              <a:ext uri="{FF2B5EF4-FFF2-40B4-BE49-F238E27FC236}">
                <a16:creationId xmlns:a16="http://schemas.microsoft.com/office/drawing/2014/main" id="{EDEBFBAE-940D-96C9-515B-CD3F267A6F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7102" y="5096254"/>
            <a:ext cx="720000" cy="149120"/>
          </a:xfrm>
          <a:prstGeom prst="rect">
            <a:avLst/>
          </a:prstGeom>
          <a:solidFill>
            <a:srgbClr val="CC3300"/>
          </a:solidFill>
          <a:ln w="3175" cap="flat" cmpd="sng" algn="ctr">
            <a:solidFill>
              <a:srgbClr val="FFFFFF">
                <a:lumMod val="50000"/>
              </a:srgbClr>
            </a:solidFill>
            <a:prstDash val="solid"/>
          </a:ln>
          <a:effectLst/>
        </p:spPr>
        <p:txBody>
          <a:bodyPr wrap="none" lIns="0" tIns="45714" rIns="0" bIns="45714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/>
                <a:ea typeface="LG스마트체2.0 Regular"/>
                <a:cs typeface="+mn-cs"/>
              </a:rPr>
              <a:t>QNED70B</a:t>
            </a:r>
          </a:p>
        </p:txBody>
      </p:sp>
      <p:sp>
        <p:nvSpPr>
          <p:cNvPr id="1363" name="Rectangle 3936">
            <a:extLst>
              <a:ext uri="{FF2B5EF4-FFF2-40B4-BE49-F238E27FC236}">
                <a16:creationId xmlns:a16="http://schemas.microsoft.com/office/drawing/2014/main" id="{B163AD99-999A-09BC-0E5F-D68010EFEB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994" y="4143952"/>
            <a:ext cx="720000" cy="149120"/>
          </a:xfrm>
          <a:prstGeom prst="rect">
            <a:avLst/>
          </a:prstGeom>
          <a:solidFill>
            <a:srgbClr val="CC3300"/>
          </a:solidFill>
          <a:ln w="3175" cap="flat" cmpd="sng" algn="ctr">
            <a:solidFill>
              <a:srgbClr val="FFFFFF">
                <a:lumMod val="50000"/>
              </a:srgbClr>
            </a:solidFill>
            <a:prstDash val="solid"/>
          </a:ln>
          <a:effectLst/>
        </p:spPr>
        <p:txBody>
          <a:bodyPr wrap="none" lIns="0" tIns="45714" rIns="0" bIns="45714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/>
                <a:ea typeface="LG스마트체2.0 Regular"/>
                <a:cs typeface="+mn-cs"/>
              </a:rPr>
              <a:t>QNED80A</a:t>
            </a:r>
          </a:p>
        </p:txBody>
      </p:sp>
      <p:sp>
        <p:nvSpPr>
          <p:cNvPr id="1364" name="Rectangle 3936">
            <a:extLst>
              <a:ext uri="{FF2B5EF4-FFF2-40B4-BE49-F238E27FC236}">
                <a16:creationId xmlns:a16="http://schemas.microsoft.com/office/drawing/2014/main" id="{78445AB9-286C-A495-F309-09A92790AE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7102" y="4931878"/>
            <a:ext cx="720000" cy="149120"/>
          </a:xfrm>
          <a:prstGeom prst="rect">
            <a:avLst/>
          </a:prstGeom>
          <a:solidFill>
            <a:srgbClr val="CC3300"/>
          </a:solidFill>
          <a:ln w="3175" cap="flat" cmpd="sng" algn="ctr">
            <a:solidFill>
              <a:srgbClr val="FFFFFF">
                <a:lumMod val="50000"/>
              </a:srgbClr>
            </a:solidFill>
            <a:prstDash val="solid"/>
          </a:ln>
          <a:effectLst/>
        </p:spPr>
        <p:txBody>
          <a:bodyPr wrap="none" lIns="0" tIns="45714" rIns="72000" bIns="45714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/>
                <a:ea typeface="LG스마트체2.0 Regular"/>
                <a:cs typeface="+mn-cs"/>
              </a:rPr>
              <a:t>QNED81B</a:t>
            </a:r>
          </a:p>
        </p:txBody>
      </p:sp>
      <p:sp>
        <p:nvSpPr>
          <p:cNvPr id="1365" name="Rectangle 3936">
            <a:extLst>
              <a:ext uri="{FF2B5EF4-FFF2-40B4-BE49-F238E27FC236}">
                <a16:creationId xmlns:a16="http://schemas.microsoft.com/office/drawing/2014/main" id="{43DDF07D-8FF4-63F7-23F8-55187B03E3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994" y="3983721"/>
            <a:ext cx="720000" cy="149120"/>
          </a:xfrm>
          <a:prstGeom prst="rect">
            <a:avLst/>
          </a:prstGeom>
          <a:solidFill>
            <a:srgbClr val="CC3300"/>
          </a:solidFill>
          <a:ln w="3175" cap="flat" cmpd="sng" algn="ctr">
            <a:solidFill>
              <a:srgbClr val="FFFFFF">
                <a:lumMod val="50000"/>
              </a:srgbClr>
            </a:solidFill>
            <a:prstDash val="solid"/>
          </a:ln>
          <a:effectLst/>
        </p:spPr>
        <p:txBody>
          <a:bodyPr wrap="none" lIns="0" tIns="45714" rIns="72000" bIns="45714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/>
                <a:ea typeface="LG스마트체2.0 Regular"/>
                <a:cs typeface="+mn-cs"/>
              </a:rPr>
              <a:t>QNED84A</a:t>
            </a:r>
            <a:endParaRPr kumimoji="0" lang="en-US" altLang="ko-KR" sz="9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arrow"/>
              <a:ea typeface="LG스마트체2.0 Regular"/>
              <a:cs typeface="+mn-cs"/>
            </a:endParaRPr>
          </a:p>
        </p:txBody>
      </p:sp>
      <p:sp>
        <p:nvSpPr>
          <p:cNvPr id="1366" name="Rectangle 3936">
            <a:extLst>
              <a:ext uri="{FF2B5EF4-FFF2-40B4-BE49-F238E27FC236}">
                <a16:creationId xmlns:a16="http://schemas.microsoft.com/office/drawing/2014/main" id="{47E278BC-CB21-2AA2-3C01-0710E7D9E3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7102" y="4596571"/>
            <a:ext cx="720000" cy="149120"/>
          </a:xfrm>
          <a:prstGeom prst="rect">
            <a:avLst/>
          </a:prstGeom>
          <a:solidFill>
            <a:srgbClr val="CC3300"/>
          </a:solidFill>
          <a:ln w="3175" cap="flat" cmpd="sng" algn="ctr">
            <a:solidFill>
              <a:srgbClr val="FFFFFF">
                <a:lumMod val="50000"/>
              </a:srgbClr>
            </a:solidFill>
            <a:prstDash val="solid"/>
          </a:ln>
          <a:effectLst/>
        </p:spPr>
        <p:txBody>
          <a:bodyPr wrap="none" lIns="0" tIns="45714" rIns="0" bIns="45714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/>
                <a:ea typeface="LG스마트체2.0 Regular"/>
                <a:cs typeface="+mn-cs"/>
              </a:rPr>
              <a:t>QNED80B</a:t>
            </a:r>
          </a:p>
        </p:txBody>
      </p:sp>
      <p:sp>
        <p:nvSpPr>
          <p:cNvPr id="1367" name="Rectangle 3936">
            <a:extLst>
              <a:ext uri="{FF2B5EF4-FFF2-40B4-BE49-F238E27FC236}">
                <a16:creationId xmlns:a16="http://schemas.microsoft.com/office/drawing/2014/main" id="{8620EC9B-6240-6C60-D922-7AA3F0AF8A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994" y="3814781"/>
            <a:ext cx="720000" cy="149120"/>
          </a:xfrm>
          <a:prstGeom prst="rect">
            <a:avLst/>
          </a:prstGeom>
          <a:solidFill>
            <a:srgbClr val="CC3300"/>
          </a:solidFill>
          <a:ln w="3175" cap="flat" cmpd="sng" algn="ctr">
            <a:solidFill>
              <a:srgbClr val="FFFFFF">
                <a:lumMod val="50000"/>
              </a:srgbClr>
            </a:solidFill>
            <a:prstDash val="solid"/>
          </a:ln>
          <a:effectLst/>
        </p:spPr>
        <p:txBody>
          <a:bodyPr wrap="none" lIns="0" tIns="45714" rIns="0" bIns="45714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/>
                <a:ea typeface="LG스마트체2.0 Regular"/>
                <a:cs typeface="+mn-cs"/>
              </a:rPr>
              <a:t>QNED82A</a:t>
            </a:r>
          </a:p>
        </p:txBody>
      </p:sp>
      <p:sp>
        <p:nvSpPr>
          <p:cNvPr id="1368" name="Rectangle 3936">
            <a:extLst>
              <a:ext uri="{FF2B5EF4-FFF2-40B4-BE49-F238E27FC236}">
                <a16:creationId xmlns:a16="http://schemas.microsoft.com/office/drawing/2014/main" id="{1D2F35AB-FBAA-FBDD-5271-E8457EAF1D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7102" y="4266992"/>
            <a:ext cx="720000" cy="149120"/>
          </a:xfrm>
          <a:prstGeom prst="rect">
            <a:avLst/>
          </a:prstGeom>
          <a:solidFill>
            <a:srgbClr val="CC3300"/>
          </a:solidFill>
          <a:ln w="3175" cap="flat" cmpd="sng" algn="ctr">
            <a:solidFill>
              <a:srgbClr val="FFFFFF">
                <a:lumMod val="50000"/>
              </a:srgbClr>
            </a:solidFill>
            <a:prstDash val="solid"/>
          </a:ln>
          <a:effectLst/>
        </p:spPr>
        <p:txBody>
          <a:bodyPr wrap="none" lIns="0" tIns="45714" rIns="72000" bIns="45714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/>
                <a:ea typeface="LG스마트체2.0 Regular"/>
                <a:cs typeface="+mn-cs"/>
              </a:rPr>
              <a:t>QNED83B</a:t>
            </a:r>
          </a:p>
        </p:txBody>
      </p:sp>
      <p:sp>
        <p:nvSpPr>
          <p:cNvPr id="1369" name="Rectangle 3936">
            <a:extLst>
              <a:ext uri="{FF2B5EF4-FFF2-40B4-BE49-F238E27FC236}">
                <a16:creationId xmlns:a16="http://schemas.microsoft.com/office/drawing/2014/main" id="{0CECA337-18BB-C8BB-CD1E-3F5E8187BB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994" y="3645841"/>
            <a:ext cx="720000" cy="149120"/>
          </a:xfrm>
          <a:prstGeom prst="rect">
            <a:avLst/>
          </a:prstGeom>
          <a:solidFill>
            <a:srgbClr val="CC3300"/>
          </a:solidFill>
          <a:ln w="3175" cap="flat" cmpd="sng" algn="ctr">
            <a:solidFill>
              <a:srgbClr val="FFFFFF">
                <a:lumMod val="50000"/>
              </a:srgbClr>
            </a:solidFill>
            <a:prstDash val="solid"/>
          </a:ln>
          <a:effectLst/>
        </p:spPr>
        <p:txBody>
          <a:bodyPr wrap="none" lIns="0" tIns="45714" rIns="72000" bIns="45714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/>
                <a:ea typeface="LG스마트체2.0 Regular"/>
                <a:cs typeface="+mn-cs"/>
              </a:rPr>
              <a:t>QNED87A</a:t>
            </a:r>
            <a:endParaRPr kumimoji="0" lang="en-US" altLang="ko-KR" sz="9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arrow"/>
              <a:ea typeface="LG스마트체2.0 Regular"/>
              <a:cs typeface="+mn-cs"/>
            </a:endParaRPr>
          </a:p>
        </p:txBody>
      </p:sp>
      <p:sp>
        <p:nvSpPr>
          <p:cNvPr id="1370" name="Rectangle 3936">
            <a:extLst>
              <a:ext uri="{FF2B5EF4-FFF2-40B4-BE49-F238E27FC236}">
                <a16:creationId xmlns:a16="http://schemas.microsoft.com/office/drawing/2014/main" id="{2DEBCE16-3119-76F1-1AB6-2F59501FC6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7102" y="4098052"/>
            <a:ext cx="720000" cy="149120"/>
          </a:xfrm>
          <a:prstGeom prst="rect">
            <a:avLst/>
          </a:prstGeom>
          <a:solidFill>
            <a:srgbClr val="CC3300"/>
          </a:solidFill>
          <a:ln w="3175" cap="flat" cmpd="sng" algn="ctr">
            <a:solidFill>
              <a:srgbClr val="FFFFFF">
                <a:lumMod val="50000"/>
              </a:srgbClr>
            </a:solidFill>
            <a:prstDash val="solid"/>
          </a:ln>
          <a:effectLst/>
        </p:spPr>
        <p:txBody>
          <a:bodyPr wrap="none" lIns="0" tIns="45714" rIns="0" bIns="45714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/>
                <a:ea typeface="LG스마트체2.0 Regular"/>
                <a:cs typeface="+mn-cs"/>
              </a:rPr>
              <a:t>QNED82B</a:t>
            </a:r>
          </a:p>
        </p:txBody>
      </p:sp>
      <p:sp>
        <p:nvSpPr>
          <p:cNvPr id="1371" name="Rectangle 3936">
            <a:extLst>
              <a:ext uri="{FF2B5EF4-FFF2-40B4-BE49-F238E27FC236}">
                <a16:creationId xmlns:a16="http://schemas.microsoft.com/office/drawing/2014/main" id="{836336CC-2E70-9101-B0B5-3BCAD983BC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994" y="3476901"/>
            <a:ext cx="720000" cy="149120"/>
          </a:xfrm>
          <a:prstGeom prst="rect">
            <a:avLst/>
          </a:prstGeom>
          <a:solidFill>
            <a:srgbClr val="CC3300"/>
          </a:solidFill>
          <a:ln w="3175" cap="flat" cmpd="sng" algn="ctr">
            <a:solidFill>
              <a:srgbClr val="FFFFFF">
                <a:lumMod val="50000"/>
              </a:srgbClr>
            </a:solidFill>
            <a:prstDash val="solid"/>
          </a:ln>
          <a:effectLst/>
        </p:spPr>
        <p:txBody>
          <a:bodyPr wrap="none" lIns="0" tIns="45714" rIns="72000" bIns="45714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/>
                <a:ea typeface="LG스마트체2.0 Regular"/>
                <a:cs typeface="+mn-cs"/>
              </a:rPr>
              <a:t>QNED86A</a:t>
            </a:r>
            <a:endParaRPr kumimoji="0" lang="en-US" altLang="ko-KR" sz="9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arrow"/>
              <a:ea typeface="LG스마트체2.0 Regular"/>
              <a:cs typeface="+mn-cs"/>
            </a:endParaRPr>
          </a:p>
        </p:txBody>
      </p:sp>
      <p:sp>
        <p:nvSpPr>
          <p:cNvPr id="1372" name="Rectangle 3936">
            <a:extLst>
              <a:ext uri="{FF2B5EF4-FFF2-40B4-BE49-F238E27FC236}">
                <a16:creationId xmlns:a16="http://schemas.microsoft.com/office/drawing/2014/main" id="{055EF430-2CC6-1226-7EFF-D70AB71299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7102" y="3937821"/>
            <a:ext cx="720000" cy="149120"/>
          </a:xfrm>
          <a:prstGeom prst="rect">
            <a:avLst/>
          </a:prstGeom>
          <a:solidFill>
            <a:srgbClr val="CC3300"/>
          </a:solidFill>
          <a:ln w="3175" cap="flat" cmpd="sng" algn="ctr">
            <a:solidFill>
              <a:srgbClr val="FFFFFF">
                <a:lumMod val="50000"/>
              </a:srgbClr>
            </a:solidFill>
            <a:prstDash val="solid"/>
          </a:ln>
          <a:effectLst/>
        </p:spPr>
        <p:txBody>
          <a:bodyPr wrap="none" lIns="0" tIns="45714" rIns="72000" bIns="45714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/>
                <a:ea typeface="LG스마트체2.0 Regular"/>
                <a:cs typeface="+mn-cs"/>
              </a:rPr>
              <a:t>QNED87B</a:t>
            </a:r>
          </a:p>
        </p:txBody>
      </p:sp>
      <p:sp>
        <p:nvSpPr>
          <p:cNvPr id="1373" name="Rectangle 3936">
            <a:extLst>
              <a:ext uri="{FF2B5EF4-FFF2-40B4-BE49-F238E27FC236}">
                <a16:creationId xmlns:a16="http://schemas.microsoft.com/office/drawing/2014/main" id="{D734A1FA-859A-85E0-BE0B-DA40CC4892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994" y="3316670"/>
            <a:ext cx="720000" cy="149120"/>
          </a:xfrm>
          <a:prstGeom prst="rect">
            <a:avLst/>
          </a:prstGeom>
          <a:solidFill>
            <a:srgbClr val="CC3300"/>
          </a:solidFill>
          <a:ln w="3175" cap="flat" cmpd="sng" algn="ctr">
            <a:solidFill>
              <a:srgbClr val="FFFFFF">
                <a:lumMod val="50000"/>
              </a:srgbClr>
            </a:solidFill>
            <a:prstDash val="solid"/>
          </a:ln>
          <a:effectLst/>
        </p:spPr>
        <p:txBody>
          <a:bodyPr wrap="none" lIns="0" tIns="45714" rIns="0" bIns="45714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/>
                <a:ea typeface="LG스마트체2.0 Regular"/>
                <a:cs typeface="+mn-cs"/>
              </a:rPr>
              <a:t>QNED85A</a:t>
            </a:r>
          </a:p>
        </p:txBody>
      </p:sp>
      <p:sp>
        <p:nvSpPr>
          <p:cNvPr id="1374" name="Rectangle 3936">
            <a:extLst>
              <a:ext uri="{FF2B5EF4-FFF2-40B4-BE49-F238E27FC236}">
                <a16:creationId xmlns:a16="http://schemas.microsoft.com/office/drawing/2014/main" id="{419BBB68-DA93-9C67-D4B0-86DF43AB0F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7102" y="3768881"/>
            <a:ext cx="720000" cy="149120"/>
          </a:xfrm>
          <a:prstGeom prst="rect">
            <a:avLst/>
          </a:prstGeom>
          <a:solidFill>
            <a:srgbClr val="CC3300"/>
          </a:solidFill>
          <a:ln w="3175" cap="flat" cmpd="sng" algn="ctr">
            <a:solidFill>
              <a:srgbClr val="FFFFFF">
                <a:lumMod val="50000"/>
              </a:srgbClr>
            </a:solidFill>
            <a:prstDash val="solid"/>
          </a:ln>
          <a:effectLst/>
        </p:spPr>
        <p:txBody>
          <a:bodyPr wrap="none" lIns="0" tIns="45714" rIns="72000" bIns="45714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/>
                <a:ea typeface="LG스마트체2.0 Regular"/>
                <a:cs typeface="+mn-cs"/>
              </a:rPr>
              <a:t>QNED86B</a:t>
            </a:r>
          </a:p>
        </p:txBody>
      </p:sp>
      <p:sp>
        <p:nvSpPr>
          <p:cNvPr id="1375" name="Rectangle 3936">
            <a:extLst>
              <a:ext uri="{FF2B5EF4-FFF2-40B4-BE49-F238E27FC236}">
                <a16:creationId xmlns:a16="http://schemas.microsoft.com/office/drawing/2014/main" id="{594D4F93-40AF-DD2A-0DE8-54174700C2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994" y="3147730"/>
            <a:ext cx="720000" cy="149120"/>
          </a:xfrm>
          <a:prstGeom prst="rect">
            <a:avLst/>
          </a:prstGeom>
          <a:solidFill>
            <a:srgbClr val="CC3300"/>
          </a:solidFill>
          <a:ln w="3175" cap="flat" cmpd="sng" algn="ctr">
            <a:solidFill>
              <a:srgbClr val="FFFFFF">
                <a:lumMod val="50000"/>
              </a:srgbClr>
            </a:solidFill>
            <a:prstDash val="solid"/>
          </a:ln>
          <a:effectLst/>
        </p:spPr>
        <p:txBody>
          <a:bodyPr wrap="none" lIns="0" tIns="45714" rIns="0" bIns="45714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/>
                <a:ea typeface="LG스마트체2.0 Regular"/>
                <a:cs typeface="+mn-cs"/>
              </a:rPr>
              <a:t>QNED92A</a:t>
            </a:r>
          </a:p>
        </p:txBody>
      </p:sp>
      <p:sp>
        <p:nvSpPr>
          <p:cNvPr id="1376" name="Rectangle 3936">
            <a:extLst>
              <a:ext uri="{FF2B5EF4-FFF2-40B4-BE49-F238E27FC236}">
                <a16:creationId xmlns:a16="http://schemas.microsoft.com/office/drawing/2014/main" id="{CCB5B66E-DE6B-1174-1EFE-77E2D3A6A3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7102" y="3599941"/>
            <a:ext cx="720000" cy="149120"/>
          </a:xfrm>
          <a:prstGeom prst="rect">
            <a:avLst/>
          </a:prstGeom>
          <a:solidFill>
            <a:srgbClr val="CC3300"/>
          </a:solidFill>
          <a:ln w="3175" cap="flat" cmpd="sng" algn="ctr">
            <a:solidFill>
              <a:srgbClr val="FFFFFF">
                <a:lumMod val="50000"/>
              </a:srgbClr>
            </a:solidFill>
            <a:prstDash val="solid"/>
          </a:ln>
          <a:effectLst/>
        </p:spPr>
        <p:txBody>
          <a:bodyPr wrap="none" lIns="0" tIns="45714" rIns="0" bIns="45714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/>
                <a:ea typeface="LG스마트체2.0 Regular"/>
                <a:cs typeface="+mn-cs"/>
              </a:rPr>
              <a:t>QNED85B</a:t>
            </a:r>
          </a:p>
        </p:txBody>
      </p:sp>
      <p:sp>
        <p:nvSpPr>
          <p:cNvPr id="1377" name="Rectangle 3936">
            <a:extLst>
              <a:ext uri="{FF2B5EF4-FFF2-40B4-BE49-F238E27FC236}">
                <a16:creationId xmlns:a16="http://schemas.microsoft.com/office/drawing/2014/main" id="{8DDA76C7-AC4E-129E-914B-790520D75D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994" y="2970081"/>
            <a:ext cx="720000" cy="149120"/>
          </a:xfrm>
          <a:prstGeom prst="rect">
            <a:avLst/>
          </a:prstGeom>
          <a:solidFill>
            <a:srgbClr val="CC3300"/>
          </a:solidFill>
          <a:ln w="3175" cap="flat" cmpd="sng" algn="ctr">
            <a:solidFill>
              <a:srgbClr val="FFFFFF">
                <a:lumMod val="50000"/>
              </a:srgbClr>
            </a:solidFill>
            <a:prstDash val="solid"/>
          </a:ln>
          <a:effectLst/>
        </p:spPr>
        <p:txBody>
          <a:bodyPr wrap="none" lIns="0" tIns="45714" rIns="0" bIns="45714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/>
                <a:ea typeface="LG스마트체2.0 Regular"/>
                <a:cs typeface="+mn-cs"/>
              </a:rPr>
              <a:t>QNED93A</a:t>
            </a:r>
          </a:p>
        </p:txBody>
      </p:sp>
      <p:sp>
        <p:nvSpPr>
          <p:cNvPr id="1378" name="Rectangle 3936">
            <a:extLst>
              <a:ext uri="{FF2B5EF4-FFF2-40B4-BE49-F238E27FC236}">
                <a16:creationId xmlns:a16="http://schemas.microsoft.com/office/drawing/2014/main" id="{E661E7FA-E271-A260-9718-C99C5A7D8C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7102" y="3431001"/>
            <a:ext cx="720000" cy="149120"/>
          </a:xfrm>
          <a:prstGeom prst="rect">
            <a:avLst/>
          </a:prstGeom>
          <a:solidFill>
            <a:srgbClr val="CC3300"/>
          </a:solidFill>
          <a:ln w="3175" cap="flat" cmpd="sng" algn="ctr">
            <a:solidFill>
              <a:srgbClr val="FFFFFF">
                <a:lumMod val="50000"/>
              </a:srgbClr>
            </a:solidFill>
            <a:prstDash val="solid"/>
          </a:ln>
          <a:effectLst/>
        </p:spPr>
        <p:txBody>
          <a:bodyPr wrap="none" lIns="0" tIns="45714" rIns="0" bIns="45714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/>
                <a:ea typeface="LG스마트체2.0 Regular"/>
                <a:cs typeface="+mn-cs"/>
              </a:rPr>
              <a:t>QNED93B</a:t>
            </a:r>
          </a:p>
        </p:txBody>
      </p:sp>
      <p:sp>
        <p:nvSpPr>
          <p:cNvPr id="1379" name="Rectangle 3936">
            <a:extLst>
              <a:ext uri="{FF2B5EF4-FFF2-40B4-BE49-F238E27FC236}">
                <a16:creationId xmlns:a16="http://schemas.microsoft.com/office/drawing/2014/main" id="{1BC12069-81C9-1843-B17D-F08CC8CEE9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994" y="2792432"/>
            <a:ext cx="720000" cy="149120"/>
          </a:xfrm>
          <a:prstGeom prst="rect">
            <a:avLst/>
          </a:prstGeom>
          <a:solidFill>
            <a:srgbClr val="CC3300"/>
          </a:solidFill>
          <a:ln w="3175" cap="flat" cmpd="sng" algn="ctr">
            <a:solidFill>
              <a:srgbClr val="FFFFFF">
                <a:lumMod val="50000"/>
              </a:srgbClr>
            </a:solidFill>
            <a:prstDash val="solid"/>
          </a:ln>
          <a:effectLst/>
        </p:spPr>
        <p:txBody>
          <a:bodyPr wrap="none" lIns="0" tIns="45714" rIns="0" bIns="45714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/>
                <a:ea typeface="LG스마트체2.0 Regular"/>
                <a:cs typeface="+mn-cs"/>
              </a:rPr>
              <a:t>QNED9MA</a:t>
            </a:r>
          </a:p>
        </p:txBody>
      </p:sp>
      <p:sp>
        <p:nvSpPr>
          <p:cNvPr id="1380" name="Rectangle 3936">
            <a:extLst>
              <a:ext uri="{FF2B5EF4-FFF2-40B4-BE49-F238E27FC236}">
                <a16:creationId xmlns:a16="http://schemas.microsoft.com/office/drawing/2014/main" id="{874E08C6-A4AE-58AB-EC57-A2F4CE23A3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7102" y="3270770"/>
            <a:ext cx="720000" cy="149120"/>
          </a:xfrm>
          <a:prstGeom prst="rect">
            <a:avLst/>
          </a:prstGeom>
          <a:solidFill>
            <a:srgbClr val="00B050"/>
          </a:solidFill>
          <a:ln w="3175" cap="flat" cmpd="sng" algn="ctr">
            <a:noFill/>
            <a:prstDash val="solid"/>
          </a:ln>
          <a:effectLst/>
        </p:spPr>
        <p:txBody>
          <a:bodyPr wrap="none" lIns="0" tIns="45714" rIns="72000" bIns="45714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Arial Narrow"/>
                <a:ea typeface="LG스마트체2.0 Regular"/>
                <a:cs typeface="+mn-cs"/>
              </a:rPr>
              <a:t>MRGB88B</a:t>
            </a:r>
          </a:p>
        </p:txBody>
      </p:sp>
      <p:sp>
        <p:nvSpPr>
          <p:cNvPr id="1381" name="Rectangle 3936">
            <a:extLst>
              <a:ext uri="{FF2B5EF4-FFF2-40B4-BE49-F238E27FC236}">
                <a16:creationId xmlns:a16="http://schemas.microsoft.com/office/drawing/2014/main" id="{75BE9A5A-A408-0545-39BB-933B77D0D1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994" y="2614783"/>
            <a:ext cx="720000" cy="149120"/>
          </a:xfrm>
          <a:prstGeom prst="rect">
            <a:avLst/>
          </a:prstGeom>
          <a:solidFill>
            <a:srgbClr val="CC3300"/>
          </a:solidFill>
          <a:ln w="3175" cap="flat" cmpd="sng" algn="ctr">
            <a:solidFill>
              <a:srgbClr val="FFFFFF">
                <a:lumMod val="50000"/>
              </a:srgbClr>
            </a:solidFill>
            <a:prstDash val="solid"/>
          </a:ln>
          <a:effectLst/>
        </p:spPr>
        <p:txBody>
          <a:bodyPr wrap="none" lIns="0" tIns="45714" rIns="0" bIns="45714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/>
                <a:ea typeface="LG스마트체2.0 Regular"/>
                <a:cs typeface="+mn-cs"/>
              </a:rPr>
              <a:t>QNED99T</a:t>
            </a:r>
          </a:p>
        </p:txBody>
      </p:sp>
      <p:sp>
        <p:nvSpPr>
          <p:cNvPr id="1382" name="Rectangle 3936">
            <a:extLst>
              <a:ext uri="{FF2B5EF4-FFF2-40B4-BE49-F238E27FC236}">
                <a16:creationId xmlns:a16="http://schemas.microsoft.com/office/drawing/2014/main" id="{2F89B40A-5F48-D620-1243-9F2988DD5E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7102" y="2750063"/>
            <a:ext cx="720000" cy="149120"/>
          </a:xfrm>
          <a:prstGeom prst="rect">
            <a:avLst/>
          </a:prstGeom>
          <a:solidFill>
            <a:srgbClr val="00B050"/>
          </a:solidFill>
          <a:ln w="3175" cap="flat" cmpd="sng" algn="ctr">
            <a:solidFill>
              <a:srgbClr val="FFFFFF">
                <a:lumMod val="50000"/>
              </a:srgbClr>
            </a:solidFill>
            <a:prstDash val="solid"/>
          </a:ln>
          <a:effectLst/>
        </p:spPr>
        <p:txBody>
          <a:bodyPr wrap="none" lIns="0" tIns="45714" rIns="0" bIns="45714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/>
                <a:ea typeface="LG스마트체2.0 Regular"/>
                <a:cs typeface="+mn-cs"/>
              </a:rPr>
              <a:t>MRGB9MB</a:t>
            </a:r>
          </a:p>
        </p:txBody>
      </p:sp>
      <p:sp>
        <p:nvSpPr>
          <p:cNvPr id="1383" name="TextBox 1382">
            <a:extLst>
              <a:ext uri="{FF2B5EF4-FFF2-40B4-BE49-F238E27FC236}">
                <a16:creationId xmlns:a16="http://schemas.microsoft.com/office/drawing/2014/main" id="{4EE767F4-1600-ECE7-9794-0C689825BF7A}"/>
              </a:ext>
            </a:extLst>
          </p:cNvPr>
          <p:cNvSpPr txBox="1"/>
          <p:nvPr/>
        </p:nvSpPr>
        <p:spPr>
          <a:xfrm>
            <a:off x="566997" y="2625265"/>
            <a:ext cx="115416" cy="128156"/>
          </a:xfrm>
          <a:prstGeom prst="rect">
            <a:avLst/>
          </a:prstGeom>
          <a:solidFill>
            <a:srgbClr val="FFFFFF">
              <a:lumMod val="75000"/>
            </a:srgbClr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>
            <a:defPPr>
              <a:defRPr lang="ko-KR"/>
            </a:defPPr>
            <a:lvl1pPr algn="ctr" defTabSz="914400" latinLnBrk="0">
              <a:defRPr sz="900" kern="0">
                <a:solidFill>
                  <a:srgbClr val="0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panose="020B0604020202020204" pitchFamily="34" charset="0"/>
              </a:rPr>
              <a:t>8K</a:t>
            </a:r>
            <a:endParaRPr kumimoji="0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384" name="모서리가 둥근 직사각형 364">
            <a:extLst>
              <a:ext uri="{FF2B5EF4-FFF2-40B4-BE49-F238E27FC236}">
                <a16:creationId xmlns:a16="http://schemas.microsoft.com/office/drawing/2014/main" id="{3E697DCE-0363-7D33-F785-78A234CA1409}"/>
              </a:ext>
            </a:extLst>
          </p:cNvPr>
          <p:cNvSpPr/>
          <p:nvPr/>
        </p:nvSpPr>
        <p:spPr bwMode="auto">
          <a:xfrm>
            <a:off x="2157847" y="4818694"/>
            <a:ext cx="133200" cy="149120"/>
          </a:xfrm>
          <a:prstGeom prst="roundRect">
            <a:avLst/>
          </a:prstGeom>
          <a:solidFill>
            <a:srgbClr val="FFFFFF">
              <a:lumMod val="75000"/>
            </a:srgbClr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75</a:t>
            </a:r>
            <a:endParaRPr kumimoji="0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385" name="모서리가 둥근 직사각형 364">
            <a:extLst>
              <a:ext uri="{FF2B5EF4-FFF2-40B4-BE49-F238E27FC236}">
                <a16:creationId xmlns:a16="http://schemas.microsoft.com/office/drawing/2014/main" id="{D2C3A906-5329-4B30-1A79-AF1ABC6E667E}"/>
              </a:ext>
            </a:extLst>
          </p:cNvPr>
          <p:cNvSpPr/>
          <p:nvPr/>
        </p:nvSpPr>
        <p:spPr bwMode="auto">
          <a:xfrm>
            <a:off x="2157849" y="4481832"/>
            <a:ext cx="133200" cy="149120"/>
          </a:xfrm>
          <a:prstGeom prst="roundRect">
            <a:avLst/>
          </a:prstGeom>
          <a:solidFill>
            <a:srgbClr val="FFFFFF">
              <a:lumMod val="75000"/>
            </a:srgbClr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75</a:t>
            </a:r>
            <a:endParaRPr kumimoji="0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386" name="모서리가 둥근 직사각형 364">
            <a:extLst>
              <a:ext uri="{FF2B5EF4-FFF2-40B4-BE49-F238E27FC236}">
                <a16:creationId xmlns:a16="http://schemas.microsoft.com/office/drawing/2014/main" id="{2534C00C-577E-51C6-7F1C-78C1D732D38E}"/>
              </a:ext>
            </a:extLst>
          </p:cNvPr>
          <p:cNvSpPr/>
          <p:nvPr/>
        </p:nvSpPr>
        <p:spPr bwMode="auto">
          <a:xfrm>
            <a:off x="2157849" y="4312892"/>
            <a:ext cx="133200" cy="149120"/>
          </a:xfrm>
          <a:prstGeom prst="roundRect">
            <a:avLst/>
          </a:prstGeom>
          <a:solidFill>
            <a:srgbClr val="FFFFFF">
              <a:lumMod val="75000"/>
            </a:srgbClr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75</a:t>
            </a:r>
            <a:endParaRPr kumimoji="0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387" name="모서리가 둥근 직사각형 364">
            <a:extLst>
              <a:ext uri="{FF2B5EF4-FFF2-40B4-BE49-F238E27FC236}">
                <a16:creationId xmlns:a16="http://schemas.microsoft.com/office/drawing/2014/main" id="{A0D711CC-80E7-0B9B-1384-6B8750AEB7FC}"/>
              </a:ext>
            </a:extLst>
          </p:cNvPr>
          <p:cNvSpPr/>
          <p:nvPr/>
        </p:nvSpPr>
        <p:spPr bwMode="auto">
          <a:xfrm>
            <a:off x="2157849" y="4143952"/>
            <a:ext cx="133200" cy="149120"/>
          </a:xfrm>
          <a:prstGeom prst="roundRect">
            <a:avLst/>
          </a:prstGeom>
          <a:solidFill>
            <a:srgbClr val="FFFFFF">
              <a:lumMod val="75000"/>
            </a:srgbClr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75</a:t>
            </a:r>
            <a:endParaRPr kumimoji="0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388" name="모서리가 둥근 직사각형 364">
            <a:extLst>
              <a:ext uri="{FF2B5EF4-FFF2-40B4-BE49-F238E27FC236}">
                <a16:creationId xmlns:a16="http://schemas.microsoft.com/office/drawing/2014/main" id="{8052EFA2-24B1-25E4-551A-2F1CA330185F}"/>
              </a:ext>
            </a:extLst>
          </p:cNvPr>
          <p:cNvSpPr/>
          <p:nvPr/>
        </p:nvSpPr>
        <p:spPr bwMode="auto">
          <a:xfrm>
            <a:off x="2157849" y="3983721"/>
            <a:ext cx="133200" cy="149120"/>
          </a:xfrm>
          <a:prstGeom prst="roundRect">
            <a:avLst/>
          </a:prstGeom>
          <a:solidFill>
            <a:srgbClr val="FFFFFF">
              <a:lumMod val="75000"/>
            </a:srgbClr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75</a:t>
            </a:r>
            <a:endParaRPr kumimoji="0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389" name="모서리가 둥근 직사각형 364">
            <a:extLst>
              <a:ext uri="{FF2B5EF4-FFF2-40B4-BE49-F238E27FC236}">
                <a16:creationId xmlns:a16="http://schemas.microsoft.com/office/drawing/2014/main" id="{22AA91C9-C12B-ABA6-DFE2-0F005A4BA407}"/>
              </a:ext>
            </a:extLst>
          </p:cNvPr>
          <p:cNvSpPr/>
          <p:nvPr/>
        </p:nvSpPr>
        <p:spPr bwMode="auto">
          <a:xfrm>
            <a:off x="2157849" y="3814781"/>
            <a:ext cx="133200" cy="149120"/>
          </a:xfrm>
          <a:prstGeom prst="roundRect">
            <a:avLst/>
          </a:prstGeom>
          <a:solidFill>
            <a:srgbClr val="FFFFFF">
              <a:lumMod val="75000"/>
            </a:srgbClr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75</a:t>
            </a:r>
            <a:endParaRPr kumimoji="0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390" name="모서리가 둥근 직사각형 364">
            <a:extLst>
              <a:ext uri="{FF2B5EF4-FFF2-40B4-BE49-F238E27FC236}">
                <a16:creationId xmlns:a16="http://schemas.microsoft.com/office/drawing/2014/main" id="{EFC41E89-AFF1-AD85-A10F-511A1309232A}"/>
              </a:ext>
            </a:extLst>
          </p:cNvPr>
          <p:cNvSpPr/>
          <p:nvPr/>
        </p:nvSpPr>
        <p:spPr bwMode="auto">
          <a:xfrm>
            <a:off x="2157849" y="3645841"/>
            <a:ext cx="133200" cy="149120"/>
          </a:xfrm>
          <a:prstGeom prst="roundRect">
            <a:avLst/>
          </a:prstGeom>
          <a:solidFill>
            <a:srgbClr val="FFFFFF">
              <a:lumMod val="75000"/>
            </a:srgbClr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75</a:t>
            </a:r>
            <a:endParaRPr kumimoji="0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391" name="모서리가 둥근 직사각형 364">
            <a:extLst>
              <a:ext uri="{FF2B5EF4-FFF2-40B4-BE49-F238E27FC236}">
                <a16:creationId xmlns:a16="http://schemas.microsoft.com/office/drawing/2014/main" id="{04DB0541-75EA-30F6-4A73-5B2D958FDFDA}"/>
              </a:ext>
            </a:extLst>
          </p:cNvPr>
          <p:cNvSpPr/>
          <p:nvPr/>
        </p:nvSpPr>
        <p:spPr bwMode="auto">
          <a:xfrm>
            <a:off x="2157849" y="3476901"/>
            <a:ext cx="133200" cy="149120"/>
          </a:xfrm>
          <a:prstGeom prst="roundRect">
            <a:avLst/>
          </a:prstGeom>
          <a:solidFill>
            <a:srgbClr val="FFFFFF">
              <a:lumMod val="75000"/>
            </a:srgbClr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75</a:t>
            </a:r>
            <a:endParaRPr kumimoji="0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392" name="모서리가 둥근 직사각형 364">
            <a:extLst>
              <a:ext uri="{FF2B5EF4-FFF2-40B4-BE49-F238E27FC236}">
                <a16:creationId xmlns:a16="http://schemas.microsoft.com/office/drawing/2014/main" id="{950BF756-1B68-4AE3-7D0C-B9772AAF0E02}"/>
              </a:ext>
            </a:extLst>
          </p:cNvPr>
          <p:cNvSpPr/>
          <p:nvPr/>
        </p:nvSpPr>
        <p:spPr bwMode="auto">
          <a:xfrm>
            <a:off x="2157849" y="3316670"/>
            <a:ext cx="133200" cy="149120"/>
          </a:xfrm>
          <a:prstGeom prst="roundRect">
            <a:avLst/>
          </a:prstGeom>
          <a:solidFill>
            <a:srgbClr val="FFFFFF">
              <a:lumMod val="75000"/>
            </a:srgbClr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75</a:t>
            </a:r>
            <a:endParaRPr kumimoji="0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393" name="모서리가 둥근 직사각형 364">
            <a:extLst>
              <a:ext uri="{FF2B5EF4-FFF2-40B4-BE49-F238E27FC236}">
                <a16:creationId xmlns:a16="http://schemas.microsoft.com/office/drawing/2014/main" id="{107FEF8E-0A82-3F6D-12AA-CA8D700AB9C3}"/>
              </a:ext>
            </a:extLst>
          </p:cNvPr>
          <p:cNvSpPr/>
          <p:nvPr/>
        </p:nvSpPr>
        <p:spPr bwMode="auto">
          <a:xfrm>
            <a:off x="2157849" y="3147730"/>
            <a:ext cx="133200" cy="149120"/>
          </a:xfrm>
          <a:prstGeom prst="roundRect">
            <a:avLst/>
          </a:prstGeom>
          <a:solidFill>
            <a:srgbClr val="FFFFFF">
              <a:lumMod val="75000"/>
            </a:srgbClr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75</a:t>
            </a:r>
            <a:endParaRPr kumimoji="0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394" name="모서리가 둥근 직사각형 364">
            <a:extLst>
              <a:ext uri="{FF2B5EF4-FFF2-40B4-BE49-F238E27FC236}">
                <a16:creationId xmlns:a16="http://schemas.microsoft.com/office/drawing/2014/main" id="{87129274-58AB-F47D-E376-7DAB02753B0A}"/>
              </a:ext>
            </a:extLst>
          </p:cNvPr>
          <p:cNvSpPr/>
          <p:nvPr/>
        </p:nvSpPr>
        <p:spPr bwMode="auto">
          <a:xfrm>
            <a:off x="2157849" y="2970081"/>
            <a:ext cx="133200" cy="149120"/>
          </a:xfrm>
          <a:prstGeom prst="roundRect">
            <a:avLst/>
          </a:prstGeom>
          <a:solidFill>
            <a:srgbClr val="FFFFFF">
              <a:lumMod val="75000"/>
            </a:srgbClr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75</a:t>
            </a:r>
            <a:endParaRPr kumimoji="0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395" name="모서리가 둥근 직사각형 364">
            <a:extLst>
              <a:ext uri="{FF2B5EF4-FFF2-40B4-BE49-F238E27FC236}">
                <a16:creationId xmlns:a16="http://schemas.microsoft.com/office/drawing/2014/main" id="{5375CAE8-FB9B-C39A-28C8-D552097724EA}"/>
              </a:ext>
            </a:extLst>
          </p:cNvPr>
          <p:cNvSpPr/>
          <p:nvPr/>
        </p:nvSpPr>
        <p:spPr bwMode="auto">
          <a:xfrm>
            <a:off x="2157849" y="2792432"/>
            <a:ext cx="133200" cy="149120"/>
          </a:xfrm>
          <a:prstGeom prst="roundRect">
            <a:avLst/>
          </a:prstGeom>
          <a:solidFill>
            <a:srgbClr val="FFFFFF">
              <a:lumMod val="75000"/>
            </a:srgbClr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75</a:t>
            </a:r>
            <a:endParaRPr kumimoji="0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396" name="모서리가 둥근 직사각형 364">
            <a:extLst>
              <a:ext uri="{FF2B5EF4-FFF2-40B4-BE49-F238E27FC236}">
                <a16:creationId xmlns:a16="http://schemas.microsoft.com/office/drawing/2014/main" id="{1A43A8C1-BEFD-F541-ACBC-5CA9AB42DF6E}"/>
              </a:ext>
            </a:extLst>
          </p:cNvPr>
          <p:cNvSpPr/>
          <p:nvPr/>
        </p:nvSpPr>
        <p:spPr bwMode="auto">
          <a:xfrm>
            <a:off x="2157849" y="2614783"/>
            <a:ext cx="133200" cy="149120"/>
          </a:xfrm>
          <a:prstGeom prst="roundRect">
            <a:avLst/>
          </a:prstGeom>
          <a:solidFill>
            <a:srgbClr val="FFFFFF">
              <a:lumMod val="75000"/>
            </a:srgbClr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75</a:t>
            </a:r>
            <a:endParaRPr kumimoji="0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397" name="Rectangle 3936">
            <a:extLst>
              <a:ext uri="{FF2B5EF4-FFF2-40B4-BE49-F238E27FC236}">
                <a16:creationId xmlns:a16="http://schemas.microsoft.com/office/drawing/2014/main" id="{B200C813-7D33-A784-9CCC-3D8C3E0665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994" y="1000113"/>
            <a:ext cx="720000" cy="149120"/>
          </a:xfrm>
          <a:prstGeom prst="rect">
            <a:avLst/>
          </a:prstGeom>
          <a:solidFill>
            <a:srgbClr val="000000"/>
          </a:solidFill>
          <a:ln w="3175" cap="flat" cmpd="sng" algn="ctr">
            <a:solidFill>
              <a:srgbClr val="FFFFFF">
                <a:lumMod val="50000"/>
              </a:srgbClr>
            </a:solidFill>
            <a:prstDash val="solid"/>
          </a:ln>
          <a:effectLst/>
        </p:spPr>
        <p:txBody>
          <a:bodyPr wrap="none" lIns="91429" tIns="45714" rIns="91429" bIns="45714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/>
                <a:ea typeface="LG스마트체2.0 Regular"/>
                <a:cs typeface="+mn-cs"/>
              </a:rPr>
              <a:t>Z3</a:t>
            </a:r>
          </a:p>
        </p:txBody>
      </p:sp>
      <p:sp>
        <p:nvSpPr>
          <p:cNvPr id="1398" name="TextBox 1397">
            <a:extLst>
              <a:ext uri="{FF2B5EF4-FFF2-40B4-BE49-F238E27FC236}">
                <a16:creationId xmlns:a16="http://schemas.microsoft.com/office/drawing/2014/main" id="{31F2CB4D-960E-31E5-A305-54B1DD312902}"/>
              </a:ext>
            </a:extLst>
          </p:cNvPr>
          <p:cNvSpPr txBox="1"/>
          <p:nvPr/>
        </p:nvSpPr>
        <p:spPr>
          <a:xfrm>
            <a:off x="561789" y="1010595"/>
            <a:ext cx="115416" cy="128156"/>
          </a:xfrm>
          <a:prstGeom prst="rect">
            <a:avLst/>
          </a:prstGeom>
          <a:solidFill>
            <a:srgbClr val="FFFFFF">
              <a:lumMod val="75000"/>
            </a:srgbClr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>
            <a:defPPr>
              <a:defRPr lang="ko-KR"/>
            </a:defPPr>
            <a:lvl1pPr algn="ctr" defTabSz="914400" latinLnBrk="0">
              <a:defRPr sz="900" kern="0">
                <a:solidFill>
                  <a:srgbClr val="0000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panose="020B0604020202020204" pitchFamily="34" charset="0"/>
              </a:rPr>
              <a:t>8K</a:t>
            </a:r>
            <a:endParaRPr kumimoji="0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399" name="모서리가 둥근 직사각형 364">
            <a:extLst>
              <a:ext uri="{FF2B5EF4-FFF2-40B4-BE49-F238E27FC236}">
                <a16:creationId xmlns:a16="http://schemas.microsoft.com/office/drawing/2014/main" id="{F600EA42-5B4D-22AF-C6E7-0DEF7CE68670}"/>
              </a:ext>
            </a:extLst>
          </p:cNvPr>
          <p:cNvSpPr/>
          <p:nvPr/>
        </p:nvSpPr>
        <p:spPr bwMode="auto">
          <a:xfrm>
            <a:off x="2157849" y="1000113"/>
            <a:ext cx="133200" cy="149120"/>
          </a:xfrm>
          <a:prstGeom prst="roundRect">
            <a:avLst/>
          </a:prstGeom>
          <a:noFill/>
          <a:ln w="3175" cap="flat" cmpd="sng" algn="ctr">
            <a:solidFill>
              <a:srgbClr val="000000"/>
            </a:solidFill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77</a:t>
            </a:r>
            <a:endParaRPr kumimoji="0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400" name="모서리가 둥근 직사각형 365">
            <a:extLst>
              <a:ext uri="{FF2B5EF4-FFF2-40B4-BE49-F238E27FC236}">
                <a16:creationId xmlns:a16="http://schemas.microsoft.com/office/drawing/2014/main" id="{3EDDB50F-CB53-8C8A-230C-FD260427EAC7}"/>
              </a:ext>
            </a:extLst>
          </p:cNvPr>
          <p:cNvSpPr/>
          <p:nvPr/>
        </p:nvSpPr>
        <p:spPr bwMode="auto">
          <a:xfrm>
            <a:off x="1970483" y="1000113"/>
            <a:ext cx="133200" cy="149120"/>
          </a:xfrm>
          <a:prstGeom prst="roundRect">
            <a:avLst/>
          </a:prstGeom>
          <a:noFill/>
          <a:ln w="3175" cap="flat" cmpd="sng" algn="ctr">
            <a:solidFill>
              <a:srgbClr val="000000"/>
            </a:solidFill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88</a:t>
            </a:r>
            <a:endParaRPr kumimoji="0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401" name="모서리가 둥근 직사각형 365">
            <a:extLst>
              <a:ext uri="{FF2B5EF4-FFF2-40B4-BE49-F238E27FC236}">
                <a16:creationId xmlns:a16="http://schemas.microsoft.com/office/drawing/2014/main" id="{52073A0B-2B4A-6557-4C5C-E6AEE95E7A3C}"/>
              </a:ext>
            </a:extLst>
          </p:cNvPr>
          <p:cNvSpPr/>
          <p:nvPr/>
        </p:nvSpPr>
        <p:spPr bwMode="auto">
          <a:xfrm>
            <a:off x="1970483" y="4815163"/>
            <a:ext cx="133200" cy="149120"/>
          </a:xfrm>
          <a:prstGeom prst="roundRect">
            <a:avLst/>
          </a:prstGeom>
          <a:solidFill>
            <a:srgbClr val="FFFFFF">
              <a:lumMod val="75000"/>
            </a:srgbClr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86</a:t>
            </a:r>
            <a:endParaRPr kumimoji="0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402" name="모서리가 둥근 직사각형 365">
            <a:extLst>
              <a:ext uri="{FF2B5EF4-FFF2-40B4-BE49-F238E27FC236}">
                <a16:creationId xmlns:a16="http://schemas.microsoft.com/office/drawing/2014/main" id="{6151C3A8-413D-444A-B628-C5CAA899DAF5}"/>
              </a:ext>
            </a:extLst>
          </p:cNvPr>
          <p:cNvSpPr/>
          <p:nvPr/>
        </p:nvSpPr>
        <p:spPr bwMode="auto">
          <a:xfrm>
            <a:off x="1970483" y="4478301"/>
            <a:ext cx="133200" cy="149120"/>
          </a:xfrm>
          <a:prstGeom prst="roundRect">
            <a:avLst/>
          </a:prstGeom>
          <a:solidFill>
            <a:srgbClr val="FFFFFF">
              <a:lumMod val="75000"/>
            </a:srgbClr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86</a:t>
            </a:r>
            <a:endParaRPr kumimoji="0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403" name="모서리가 둥근 직사각형 365">
            <a:extLst>
              <a:ext uri="{FF2B5EF4-FFF2-40B4-BE49-F238E27FC236}">
                <a16:creationId xmlns:a16="http://schemas.microsoft.com/office/drawing/2014/main" id="{0EA508B4-921B-371E-428A-AD7EB19331B4}"/>
              </a:ext>
            </a:extLst>
          </p:cNvPr>
          <p:cNvSpPr/>
          <p:nvPr/>
        </p:nvSpPr>
        <p:spPr bwMode="auto">
          <a:xfrm>
            <a:off x="1970483" y="4309361"/>
            <a:ext cx="133200" cy="149120"/>
          </a:xfrm>
          <a:prstGeom prst="roundRect">
            <a:avLst/>
          </a:prstGeom>
          <a:solidFill>
            <a:srgbClr val="FFFFFF">
              <a:lumMod val="75000"/>
            </a:srgbClr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86</a:t>
            </a:r>
            <a:endParaRPr kumimoji="0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404" name="모서리가 둥근 직사각형 365">
            <a:extLst>
              <a:ext uri="{FF2B5EF4-FFF2-40B4-BE49-F238E27FC236}">
                <a16:creationId xmlns:a16="http://schemas.microsoft.com/office/drawing/2014/main" id="{E19B997D-E7D1-45C8-FB36-515A9FB7AE2F}"/>
              </a:ext>
            </a:extLst>
          </p:cNvPr>
          <p:cNvSpPr/>
          <p:nvPr/>
        </p:nvSpPr>
        <p:spPr bwMode="auto">
          <a:xfrm>
            <a:off x="1970483" y="4140421"/>
            <a:ext cx="133200" cy="149120"/>
          </a:xfrm>
          <a:prstGeom prst="roundRect">
            <a:avLst/>
          </a:prstGeom>
          <a:solidFill>
            <a:srgbClr val="FFFFFF">
              <a:lumMod val="75000"/>
            </a:srgbClr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86</a:t>
            </a:r>
            <a:endParaRPr kumimoji="0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405" name="모서리가 둥근 직사각형 365">
            <a:extLst>
              <a:ext uri="{FF2B5EF4-FFF2-40B4-BE49-F238E27FC236}">
                <a16:creationId xmlns:a16="http://schemas.microsoft.com/office/drawing/2014/main" id="{1C4B91E6-B330-0CAF-2758-BF7FCE491087}"/>
              </a:ext>
            </a:extLst>
          </p:cNvPr>
          <p:cNvSpPr/>
          <p:nvPr/>
        </p:nvSpPr>
        <p:spPr bwMode="auto">
          <a:xfrm>
            <a:off x="1970483" y="3822101"/>
            <a:ext cx="133200" cy="149120"/>
          </a:xfrm>
          <a:prstGeom prst="roundRect">
            <a:avLst/>
          </a:prstGeom>
          <a:solidFill>
            <a:srgbClr val="FFFFFF">
              <a:lumMod val="75000"/>
            </a:srgbClr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86</a:t>
            </a:r>
            <a:endParaRPr kumimoji="0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406" name="모서리가 둥근 직사각형 365">
            <a:extLst>
              <a:ext uri="{FF2B5EF4-FFF2-40B4-BE49-F238E27FC236}">
                <a16:creationId xmlns:a16="http://schemas.microsoft.com/office/drawing/2014/main" id="{F01C35A4-8506-5D8F-63EB-7472D7A5483C}"/>
              </a:ext>
            </a:extLst>
          </p:cNvPr>
          <p:cNvSpPr/>
          <p:nvPr/>
        </p:nvSpPr>
        <p:spPr bwMode="auto">
          <a:xfrm>
            <a:off x="1970483" y="3320399"/>
            <a:ext cx="133200" cy="149120"/>
          </a:xfrm>
          <a:prstGeom prst="roundRect">
            <a:avLst/>
          </a:prstGeom>
          <a:solidFill>
            <a:srgbClr val="FFFFFF">
              <a:lumMod val="75000"/>
            </a:srgbClr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86</a:t>
            </a:r>
            <a:endParaRPr kumimoji="0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407" name="모서리가 둥근 직사각형 365">
            <a:extLst>
              <a:ext uri="{FF2B5EF4-FFF2-40B4-BE49-F238E27FC236}">
                <a16:creationId xmlns:a16="http://schemas.microsoft.com/office/drawing/2014/main" id="{1C678B8B-77E0-526C-2B04-32C546D8A797}"/>
              </a:ext>
            </a:extLst>
          </p:cNvPr>
          <p:cNvSpPr/>
          <p:nvPr/>
        </p:nvSpPr>
        <p:spPr bwMode="auto">
          <a:xfrm>
            <a:off x="1970483" y="3473370"/>
            <a:ext cx="133200" cy="149120"/>
          </a:xfrm>
          <a:prstGeom prst="roundRect">
            <a:avLst/>
          </a:prstGeom>
          <a:solidFill>
            <a:srgbClr val="FFFFFF">
              <a:lumMod val="75000"/>
            </a:srgbClr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86</a:t>
            </a:r>
            <a:endParaRPr kumimoji="0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408" name="모서리가 둥근 직사각형 365">
            <a:extLst>
              <a:ext uri="{FF2B5EF4-FFF2-40B4-BE49-F238E27FC236}">
                <a16:creationId xmlns:a16="http://schemas.microsoft.com/office/drawing/2014/main" id="{94E502EE-8C92-A967-3ACE-E9B1E4946AD3}"/>
              </a:ext>
            </a:extLst>
          </p:cNvPr>
          <p:cNvSpPr/>
          <p:nvPr/>
        </p:nvSpPr>
        <p:spPr bwMode="auto">
          <a:xfrm>
            <a:off x="1970483" y="3144199"/>
            <a:ext cx="133200" cy="149120"/>
          </a:xfrm>
          <a:prstGeom prst="roundRect">
            <a:avLst/>
          </a:prstGeom>
          <a:solidFill>
            <a:srgbClr val="FFFFFF">
              <a:lumMod val="75000"/>
            </a:srgbClr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86</a:t>
            </a:r>
            <a:endParaRPr kumimoji="0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409" name="모서리가 둥근 직사각형 365">
            <a:extLst>
              <a:ext uri="{FF2B5EF4-FFF2-40B4-BE49-F238E27FC236}">
                <a16:creationId xmlns:a16="http://schemas.microsoft.com/office/drawing/2014/main" id="{0F3A974A-6045-FAFB-6D38-879D1BD76DAC}"/>
              </a:ext>
            </a:extLst>
          </p:cNvPr>
          <p:cNvSpPr/>
          <p:nvPr/>
        </p:nvSpPr>
        <p:spPr bwMode="auto">
          <a:xfrm>
            <a:off x="1970483" y="2966550"/>
            <a:ext cx="133200" cy="149120"/>
          </a:xfrm>
          <a:prstGeom prst="roundRect">
            <a:avLst/>
          </a:prstGeom>
          <a:solidFill>
            <a:srgbClr val="FFFFFF">
              <a:lumMod val="75000"/>
            </a:srgbClr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86</a:t>
            </a:r>
            <a:endParaRPr kumimoji="0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410" name="모서리가 둥근 직사각형 365">
            <a:extLst>
              <a:ext uri="{FF2B5EF4-FFF2-40B4-BE49-F238E27FC236}">
                <a16:creationId xmlns:a16="http://schemas.microsoft.com/office/drawing/2014/main" id="{A2D5F43B-7F0A-7C89-C6E6-0C44E2A67D15}"/>
              </a:ext>
            </a:extLst>
          </p:cNvPr>
          <p:cNvSpPr/>
          <p:nvPr/>
        </p:nvSpPr>
        <p:spPr bwMode="auto">
          <a:xfrm>
            <a:off x="1970483" y="2788901"/>
            <a:ext cx="133200" cy="149120"/>
          </a:xfrm>
          <a:prstGeom prst="roundRect">
            <a:avLst/>
          </a:prstGeom>
          <a:solidFill>
            <a:srgbClr val="FFFFFF">
              <a:lumMod val="75000"/>
            </a:srgbClr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86</a:t>
            </a:r>
            <a:endParaRPr kumimoji="0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411" name="모서리가 둥근 직사각형 365">
            <a:extLst>
              <a:ext uri="{FF2B5EF4-FFF2-40B4-BE49-F238E27FC236}">
                <a16:creationId xmlns:a16="http://schemas.microsoft.com/office/drawing/2014/main" id="{F75BC820-EEE9-09B7-6769-445BC2594A90}"/>
              </a:ext>
            </a:extLst>
          </p:cNvPr>
          <p:cNvSpPr/>
          <p:nvPr/>
        </p:nvSpPr>
        <p:spPr bwMode="auto">
          <a:xfrm>
            <a:off x="1970483" y="2611252"/>
            <a:ext cx="133200" cy="149120"/>
          </a:xfrm>
          <a:prstGeom prst="roundRect">
            <a:avLst/>
          </a:prstGeom>
          <a:solidFill>
            <a:srgbClr val="FFFFFF">
              <a:lumMod val="75000"/>
            </a:srgbClr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86</a:t>
            </a:r>
            <a:endParaRPr kumimoji="0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412" name="모서리가 둥근 직사각형 375">
            <a:extLst>
              <a:ext uri="{FF2B5EF4-FFF2-40B4-BE49-F238E27FC236}">
                <a16:creationId xmlns:a16="http://schemas.microsoft.com/office/drawing/2014/main" id="{8E988D8D-514B-413D-CA8F-BB618520E272}"/>
              </a:ext>
            </a:extLst>
          </p:cNvPr>
          <p:cNvSpPr/>
          <p:nvPr/>
        </p:nvSpPr>
        <p:spPr bwMode="auto">
          <a:xfrm>
            <a:off x="2915947" y="4819713"/>
            <a:ext cx="133200" cy="149120"/>
          </a:xfrm>
          <a:prstGeom prst="roundRect">
            <a:avLst/>
          </a:prstGeom>
          <a:solidFill>
            <a:srgbClr val="FFFFFF"/>
          </a:solidFill>
          <a:ln w="6350" algn="ctr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43</a:t>
            </a:r>
            <a:endParaRPr kumimoji="0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413" name="모서리가 둥근 직사각형 375">
            <a:extLst>
              <a:ext uri="{FF2B5EF4-FFF2-40B4-BE49-F238E27FC236}">
                <a16:creationId xmlns:a16="http://schemas.microsoft.com/office/drawing/2014/main" id="{F6A4C414-4781-5BDD-DA13-6D351F02B342}"/>
              </a:ext>
            </a:extLst>
          </p:cNvPr>
          <p:cNvSpPr/>
          <p:nvPr/>
        </p:nvSpPr>
        <p:spPr bwMode="auto">
          <a:xfrm>
            <a:off x="2915947" y="4650772"/>
            <a:ext cx="133200" cy="149120"/>
          </a:xfrm>
          <a:prstGeom prst="roundRect">
            <a:avLst/>
          </a:prstGeom>
          <a:solidFill>
            <a:srgbClr val="FFFFFF"/>
          </a:solidFill>
          <a:ln w="6350" algn="ctr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43</a:t>
            </a:r>
            <a:endParaRPr kumimoji="0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414" name="모서리가 둥근 직사각형 375">
            <a:extLst>
              <a:ext uri="{FF2B5EF4-FFF2-40B4-BE49-F238E27FC236}">
                <a16:creationId xmlns:a16="http://schemas.microsoft.com/office/drawing/2014/main" id="{00D10E04-5543-12F6-10A4-4CB33D585E54}"/>
              </a:ext>
            </a:extLst>
          </p:cNvPr>
          <p:cNvSpPr/>
          <p:nvPr/>
        </p:nvSpPr>
        <p:spPr bwMode="auto">
          <a:xfrm>
            <a:off x="2915947" y="4481832"/>
            <a:ext cx="133200" cy="149120"/>
          </a:xfrm>
          <a:prstGeom prst="roundRect">
            <a:avLst/>
          </a:prstGeom>
          <a:solidFill>
            <a:srgbClr val="FFFFFF">
              <a:lumMod val="75000"/>
            </a:srgbClr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43</a:t>
            </a:r>
            <a:endParaRPr kumimoji="0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415" name="모서리가 둥근 직사각형 375">
            <a:extLst>
              <a:ext uri="{FF2B5EF4-FFF2-40B4-BE49-F238E27FC236}">
                <a16:creationId xmlns:a16="http://schemas.microsoft.com/office/drawing/2014/main" id="{7D10F169-51CB-9A1F-A31E-52E0F05803F0}"/>
              </a:ext>
            </a:extLst>
          </p:cNvPr>
          <p:cNvSpPr/>
          <p:nvPr/>
        </p:nvSpPr>
        <p:spPr bwMode="auto">
          <a:xfrm>
            <a:off x="2915947" y="4312892"/>
            <a:ext cx="133200" cy="149120"/>
          </a:xfrm>
          <a:prstGeom prst="roundRect">
            <a:avLst/>
          </a:prstGeom>
          <a:solidFill>
            <a:srgbClr val="FFFFFF">
              <a:lumMod val="75000"/>
            </a:srgbClr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43</a:t>
            </a:r>
            <a:endParaRPr kumimoji="0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416" name="모서리가 둥근 직사각형 375">
            <a:extLst>
              <a:ext uri="{FF2B5EF4-FFF2-40B4-BE49-F238E27FC236}">
                <a16:creationId xmlns:a16="http://schemas.microsoft.com/office/drawing/2014/main" id="{C063919D-E1D1-5CD4-B9F9-53418CEE60F0}"/>
              </a:ext>
            </a:extLst>
          </p:cNvPr>
          <p:cNvSpPr/>
          <p:nvPr/>
        </p:nvSpPr>
        <p:spPr bwMode="auto">
          <a:xfrm>
            <a:off x="2915947" y="4143952"/>
            <a:ext cx="133200" cy="149120"/>
          </a:xfrm>
          <a:prstGeom prst="roundRect">
            <a:avLst/>
          </a:prstGeom>
          <a:solidFill>
            <a:srgbClr val="FFFFFF">
              <a:lumMod val="75000"/>
            </a:srgbClr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43</a:t>
            </a:r>
            <a:endParaRPr kumimoji="0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417" name="모서리가 둥근 직사각형 375">
            <a:extLst>
              <a:ext uri="{FF2B5EF4-FFF2-40B4-BE49-F238E27FC236}">
                <a16:creationId xmlns:a16="http://schemas.microsoft.com/office/drawing/2014/main" id="{7F992B06-BDF0-8968-6471-3B4D1CCC785F}"/>
              </a:ext>
            </a:extLst>
          </p:cNvPr>
          <p:cNvSpPr/>
          <p:nvPr/>
        </p:nvSpPr>
        <p:spPr bwMode="auto">
          <a:xfrm>
            <a:off x="2915947" y="3983721"/>
            <a:ext cx="133200" cy="149120"/>
          </a:xfrm>
          <a:prstGeom prst="roundRect">
            <a:avLst/>
          </a:prstGeom>
          <a:solidFill>
            <a:srgbClr val="FFFFFF">
              <a:lumMod val="75000"/>
            </a:srgbClr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43</a:t>
            </a:r>
            <a:endParaRPr kumimoji="0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418" name="모서리가 둥근 직사각형 375">
            <a:extLst>
              <a:ext uri="{FF2B5EF4-FFF2-40B4-BE49-F238E27FC236}">
                <a16:creationId xmlns:a16="http://schemas.microsoft.com/office/drawing/2014/main" id="{CE098BC9-495D-F2E7-E2D9-6CCD1D16A0D1}"/>
              </a:ext>
            </a:extLst>
          </p:cNvPr>
          <p:cNvSpPr/>
          <p:nvPr/>
        </p:nvSpPr>
        <p:spPr bwMode="auto">
          <a:xfrm>
            <a:off x="2915947" y="3814781"/>
            <a:ext cx="133200" cy="149120"/>
          </a:xfrm>
          <a:prstGeom prst="roundRect">
            <a:avLst/>
          </a:prstGeom>
          <a:solidFill>
            <a:srgbClr val="FFFFFF">
              <a:lumMod val="75000"/>
            </a:srgbClr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43</a:t>
            </a:r>
            <a:endParaRPr kumimoji="0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419" name="모서리가 둥근 직사각형 375">
            <a:extLst>
              <a:ext uri="{FF2B5EF4-FFF2-40B4-BE49-F238E27FC236}">
                <a16:creationId xmlns:a16="http://schemas.microsoft.com/office/drawing/2014/main" id="{82BB464D-51B2-FE5A-5991-1C4332A53AFF}"/>
              </a:ext>
            </a:extLst>
          </p:cNvPr>
          <p:cNvSpPr/>
          <p:nvPr/>
        </p:nvSpPr>
        <p:spPr bwMode="auto">
          <a:xfrm>
            <a:off x="2922539" y="3632539"/>
            <a:ext cx="133200" cy="149120"/>
          </a:xfrm>
          <a:prstGeom prst="roundRect">
            <a:avLst/>
          </a:prstGeom>
          <a:solidFill>
            <a:srgbClr val="FFFFFF">
              <a:lumMod val="75000"/>
            </a:srgbClr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43</a:t>
            </a:r>
            <a:endParaRPr kumimoji="0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420" name="모서리가 둥근 직사각형 375">
            <a:extLst>
              <a:ext uri="{FF2B5EF4-FFF2-40B4-BE49-F238E27FC236}">
                <a16:creationId xmlns:a16="http://schemas.microsoft.com/office/drawing/2014/main" id="{C84B94AD-1B6B-DD1E-44EE-F0D3E9924394}"/>
              </a:ext>
            </a:extLst>
          </p:cNvPr>
          <p:cNvSpPr/>
          <p:nvPr/>
        </p:nvSpPr>
        <p:spPr bwMode="auto">
          <a:xfrm>
            <a:off x="2922539" y="3463599"/>
            <a:ext cx="133200" cy="149120"/>
          </a:xfrm>
          <a:prstGeom prst="roundRect">
            <a:avLst/>
          </a:prstGeom>
          <a:solidFill>
            <a:srgbClr val="FFFFFF">
              <a:lumMod val="75000"/>
            </a:srgbClr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43</a:t>
            </a:r>
            <a:endParaRPr kumimoji="0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421" name="모서리가 둥근 직사각형 376">
            <a:extLst>
              <a:ext uri="{FF2B5EF4-FFF2-40B4-BE49-F238E27FC236}">
                <a16:creationId xmlns:a16="http://schemas.microsoft.com/office/drawing/2014/main" id="{2ACADBF8-A4C6-7BC3-FAF1-DD35C3025F62}"/>
              </a:ext>
            </a:extLst>
          </p:cNvPr>
          <p:cNvSpPr/>
          <p:nvPr/>
        </p:nvSpPr>
        <p:spPr bwMode="auto">
          <a:xfrm>
            <a:off x="2726421" y="4819713"/>
            <a:ext cx="133200" cy="149120"/>
          </a:xfrm>
          <a:prstGeom prst="roundRect">
            <a:avLst/>
          </a:prstGeom>
          <a:solidFill>
            <a:srgbClr val="FFFFFF"/>
          </a:solidFill>
          <a:ln w="6350" algn="ctr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50</a:t>
            </a:r>
            <a:endParaRPr kumimoji="0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422" name="모서리가 둥근 직사각형 376">
            <a:extLst>
              <a:ext uri="{FF2B5EF4-FFF2-40B4-BE49-F238E27FC236}">
                <a16:creationId xmlns:a16="http://schemas.microsoft.com/office/drawing/2014/main" id="{9BD13724-1746-65E0-2CA8-3DDD7C3EB49A}"/>
              </a:ext>
            </a:extLst>
          </p:cNvPr>
          <p:cNvSpPr/>
          <p:nvPr/>
        </p:nvSpPr>
        <p:spPr bwMode="auto">
          <a:xfrm>
            <a:off x="2726421" y="4650772"/>
            <a:ext cx="133200" cy="149120"/>
          </a:xfrm>
          <a:prstGeom prst="roundRect">
            <a:avLst/>
          </a:prstGeom>
          <a:solidFill>
            <a:srgbClr val="FFFFFF"/>
          </a:solidFill>
          <a:ln w="6350" algn="ctr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50</a:t>
            </a:r>
            <a:endParaRPr kumimoji="0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423" name="모서리가 둥근 직사각형 376">
            <a:extLst>
              <a:ext uri="{FF2B5EF4-FFF2-40B4-BE49-F238E27FC236}">
                <a16:creationId xmlns:a16="http://schemas.microsoft.com/office/drawing/2014/main" id="{0C088B08-95FE-4061-2BA4-067A862A51CF}"/>
              </a:ext>
            </a:extLst>
          </p:cNvPr>
          <p:cNvSpPr/>
          <p:nvPr/>
        </p:nvSpPr>
        <p:spPr bwMode="auto">
          <a:xfrm>
            <a:off x="2726421" y="4481832"/>
            <a:ext cx="133200" cy="149120"/>
          </a:xfrm>
          <a:prstGeom prst="roundRect">
            <a:avLst/>
          </a:prstGeom>
          <a:solidFill>
            <a:srgbClr val="FFFFFF">
              <a:lumMod val="75000"/>
            </a:srgbClr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50</a:t>
            </a:r>
            <a:endParaRPr kumimoji="0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424" name="모서리가 둥근 직사각형 376">
            <a:extLst>
              <a:ext uri="{FF2B5EF4-FFF2-40B4-BE49-F238E27FC236}">
                <a16:creationId xmlns:a16="http://schemas.microsoft.com/office/drawing/2014/main" id="{421C36BC-76DE-C982-10FE-EFC44CA1D338}"/>
              </a:ext>
            </a:extLst>
          </p:cNvPr>
          <p:cNvSpPr/>
          <p:nvPr/>
        </p:nvSpPr>
        <p:spPr bwMode="auto">
          <a:xfrm>
            <a:off x="2726421" y="4312892"/>
            <a:ext cx="133200" cy="149120"/>
          </a:xfrm>
          <a:prstGeom prst="roundRect">
            <a:avLst/>
          </a:prstGeom>
          <a:solidFill>
            <a:srgbClr val="FFFFFF">
              <a:lumMod val="75000"/>
            </a:srgbClr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50</a:t>
            </a:r>
            <a:endParaRPr kumimoji="0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425" name="모서리가 둥근 직사각형 376">
            <a:extLst>
              <a:ext uri="{FF2B5EF4-FFF2-40B4-BE49-F238E27FC236}">
                <a16:creationId xmlns:a16="http://schemas.microsoft.com/office/drawing/2014/main" id="{941AC28C-0B05-33FD-9306-F304FB7E03D8}"/>
              </a:ext>
            </a:extLst>
          </p:cNvPr>
          <p:cNvSpPr/>
          <p:nvPr/>
        </p:nvSpPr>
        <p:spPr bwMode="auto">
          <a:xfrm>
            <a:off x="2726421" y="4143952"/>
            <a:ext cx="133200" cy="149120"/>
          </a:xfrm>
          <a:prstGeom prst="roundRect">
            <a:avLst/>
          </a:prstGeom>
          <a:solidFill>
            <a:srgbClr val="FFFFFF">
              <a:lumMod val="75000"/>
            </a:srgbClr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50</a:t>
            </a:r>
            <a:endParaRPr kumimoji="0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426" name="모서리가 둥근 직사각형 376">
            <a:extLst>
              <a:ext uri="{FF2B5EF4-FFF2-40B4-BE49-F238E27FC236}">
                <a16:creationId xmlns:a16="http://schemas.microsoft.com/office/drawing/2014/main" id="{811705A4-3890-9A41-9C41-769BDAA2EE2A}"/>
              </a:ext>
            </a:extLst>
          </p:cNvPr>
          <p:cNvSpPr/>
          <p:nvPr/>
        </p:nvSpPr>
        <p:spPr bwMode="auto">
          <a:xfrm>
            <a:off x="2726421" y="3983721"/>
            <a:ext cx="133200" cy="149120"/>
          </a:xfrm>
          <a:prstGeom prst="roundRect">
            <a:avLst/>
          </a:prstGeom>
          <a:solidFill>
            <a:srgbClr val="FFFFFF">
              <a:lumMod val="75000"/>
            </a:srgbClr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50</a:t>
            </a:r>
            <a:endParaRPr kumimoji="0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427" name="모서리가 둥근 직사각형 376">
            <a:extLst>
              <a:ext uri="{FF2B5EF4-FFF2-40B4-BE49-F238E27FC236}">
                <a16:creationId xmlns:a16="http://schemas.microsoft.com/office/drawing/2014/main" id="{3CD7F0D7-9D64-9953-6B71-7CB7A29E5184}"/>
              </a:ext>
            </a:extLst>
          </p:cNvPr>
          <p:cNvSpPr/>
          <p:nvPr/>
        </p:nvSpPr>
        <p:spPr bwMode="auto">
          <a:xfrm>
            <a:off x="2726421" y="3814781"/>
            <a:ext cx="133200" cy="149120"/>
          </a:xfrm>
          <a:prstGeom prst="roundRect">
            <a:avLst/>
          </a:prstGeom>
          <a:solidFill>
            <a:srgbClr val="FFFFFF">
              <a:lumMod val="75000"/>
            </a:srgbClr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50</a:t>
            </a:r>
            <a:endParaRPr kumimoji="0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428" name="모서리가 둥근 직사각형 376">
            <a:extLst>
              <a:ext uri="{FF2B5EF4-FFF2-40B4-BE49-F238E27FC236}">
                <a16:creationId xmlns:a16="http://schemas.microsoft.com/office/drawing/2014/main" id="{D94AF8FC-DC61-4190-BFB1-9A7E8A7A5E45}"/>
              </a:ext>
            </a:extLst>
          </p:cNvPr>
          <p:cNvSpPr/>
          <p:nvPr/>
        </p:nvSpPr>
        <p:spPr bwMode="auto">
          <a:xfrm>
            <a:off x="2726421" y="3645841"/>
            <a:ext cx="133200" cy="149120"/>
          </a:xfrm>
          <a:prstGeom prst="roundRect">
            <a:avLst/>
          </a:prstGeom>
          <a:solidFill>
            <a:srgbClr val="FFFFFF">
              <a:lumMod val="75000"/>
            </a:srgbClr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50</a:t>
            </a:r>
            <a:endParaRPr kumimoji="0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429" name="모서리가 둥근 직사각형 376">
            <a:extLst>
              <a:ext uri="{FF2B5EF4-FFF2-40B4-BE49-F238E27FC236}">
                <a16:creationId xmlns:a16="http://schemas.microsoft.com/office/drawing/2014/main" id="{64AECE41-D499-1440-882A-D8CA1C365F93}"/>
              </a:ext>
            </a:extLst>
          </p:cNvPr>
          <p:cNvSpPr/>
          <p:nvPr/>
        </p:nvSpPr>
        <p:spPr bwMode="auto">
          <a:xfrm>
            <a:off x="2726421" y="3476901"/>
            <a:ext cx="133200" cy="149120"/>
          </a:xfrm>
          <a:prstGeom prst="roundRect">
            <a:avLst/>
          </a:prstGeom>
          <a:solidFill>
            <a:srgbClr val="FFFFFF">
              <a:lumMod val="75000"/>
            </a:srgbClr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50</a:t>
            </a:r>
            <a:endParaRPr kumimoji="0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430" name="모서리가 둥근 직사각형 376">
            <a:extLst>
              <a:ext uri="{FF2B5EF4-FFF2-40B4-BE49-F238E27FC236}">
                <a16:creationId xmlns:a16="http://schemas.microsoft.com/office/drawing/2014/main" id="{9D6EE2B1-3B07-FAA7-540A-E6FF6A09FF34}"/>
              </a:ext>
            </a:extLst>
          </p:cNvPr>
          <p:cNvSpPr/>
          <p:nvPr/>
        </p:nvSpPr>
        <p:spPr bwMode="auto">
          <a:xfrm>
            <a:off x="2726421" y="3316670"/>
            <a:ext cx="133200" cy="149120"/>
          </a:xfrm>
          <a:prstGeom prst="roundRect">
            <a:avLst/>
          </a:prstGeom>
          <a:solidFill>
            <a:srgbClr val="FFFFFF">
              <a:lumMod val="75000"/>
            </a:srgbClr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50</a:t>
            </a:r>
            <a:endParaRPr kumimoji="0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431" name="모서리가 둥근 직사각형 377">
            <a:extLst>
              <a:ext uri="{FF2B5EF4-FFF2-40B4-BE49-F238E27FC236}">
                <a16:creationId xmlns:a16="http://schemas.microsoft.com/office/drawing/2014/main" id="{E3B6D699-2E60-F31D-502D-83017CB7D373}"/>
              </a:ext>
            </a:extLst>
          </p:cNvPr>
          <p:cNvSpPr/>
          <p:nvPr/>
        </p:nvSpPr>
        <p:spPr bwMode="auto">
          <a:xfrm>
            <a:off x="2347373" y="4819713"/>
            <a:ext cx="133200" cy="149120"/>
          </a:xfrm>
          <a:prstGeom prst="roundRect">
            <a:avLst/>
          </a:prstGeom>
          <a:solidFill>
            <a:srgbClr val="FFFFFF"/>
          </a:solidFill>
          <a:ln w="6350" algn="ctr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65</a:t>
            </a:r>
            <a:endParaRPr kumimoji="0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432" name="모서리가 둥근 직사각형 377">
            <a:extLst>
              <a:ext uri="{FF2B5EF4-FFF2-40B4-BE49-F238E27FC236}">
                <a16:creationId xmlns:a16="http://schemas.microsoft.com/office/drawing/2014/main" id="{A08E98BE-83BB-AC9C-04DA-890485C8AFD5}"/>
              </a:ext>
            </a:extLst>
          </p:cNvPr>
          <p:cNvSpPr/>
          <p:nvPr/>
        </p:nvSpPr>
        <p:spPr bwMode="auto">
          <a:xfrm>
            <a:off x="2347373" y="4650772"/>
            <a:ext cx="133200" cy="149120"/>
          </a:xfrm>
          <a:prstGeom prst="roundRect">
            <a:avLst/>
          </a:prstGeom>
          <a:solidFill>
            <a:srgbClr val="FFFFFF"/>
          </a:solidFill>
          <a:ln w="6350" algn="ctr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65</a:t>
            </a:r>
            <a:endParaRPr kumimoji="0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433" name="모서리가 둥근 직사각형 377">
            <a:extLst>
              <a:ext uri="{FF2B5EF4-FFF2-40B4-BE49-F238E27FC236}">
                <a16:creationId xmlns:a16="http://schemas.microsoft.com/office/drawing/2014/main" id="{2CE7736D-B53F-49E6-F14D-B47C034C8046}"/>
              </a:ext>
            </a:extLst>
          </p:cNvPr>
          <p:cNvSpPr/>
          <p:nvPr/>
        </p:nvSpPr>
        <p:spPr bwMode="auto">
          <a:xfrm>
            <a:off x="2347373" y="4481832"/>
            <a:ext cx="133200" cy="149120"/>
          </a:xfrm>
          <a:prstGeom prst="roundRect">
            <a:avLst/>
          </a:prstGeom>
          <a:solidFill>
            <a:srgbClr val="FFFFFF">
              <a:lumMod val="75000"/>
            </a:srgbClr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65</a:t>
            </a:r>
            <a:endParaRPr kumimoji="0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434" name="모서리가 둥근 직사각형 377">
            <a:extLst>
              <a:ext uri="{FF2B5EF4-FFF2-40B4-BE49-F238E27FC236}">
                <a16:creationId xmlns:a16="http://schemas.microsoft.com/office/drawing/2014/main" id="{DB5428D5-D881-C62A-9AF7-4637C10596F9}"/>
              </a:ext>
            </a:extLst>
          </p:cNvPr>
          <p:cNvSpPr/>
          <p:nvPr/>
        </p:nvSpPr>
        <p:spPr bwMode="auto">
          <a:xfrm>
            <a:off x="2347373" y="4312892"/>
            <a:ext cx="133200" cy="149120"/>
          </a:xfrm>
          <a:prstGeom prst="roundRect">
            <a:avLst/>
          </a:prstGeom>
          <a:solidFill>
            <a:srgbClr val="FFFFFF">
              <a:lumMod val="75000"/>
            </a:srgbClr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65</a:t>
            </a:r>
            <a:endParaRPr kumimoji="0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435" name="모서리가 둥근 직사각형 377">
            <a:extLst>
              <a:ext uri="{FF2B5EF4-FFF2-40B4-BE49-F238E27FC236}">
                <a16:creationId xmlns:a16="http://schemas.microsoft.com/office/drawing/2014/main" id="{92BB4D19-25B8-F69C-A2B7-D004B45215DF}"/>
              </a:ext>
            </a:extLst>
          </p:cNvPr>
          <p:cNvSpPr/>
          <p:nvPr/>
        </p:nvSpPr>
        <p:spPr bwMode="auto">
          <a:xfrm>
            <a:off x="2347373" y="4143952"/>
            <a:ext cx="133200" cy="149120"/>
          </a:xfrm>
          <a:prstGeom prst="roundRect">
            <a:avLst/>
          </a:prstGeom>
          <a:solidFill>
            <a:srgbClr val="FFFFFF">
              <a:lumMod val="75000"/>
            </a:srgbClr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65</a:t>
            </a:r>
            <a:endParaRPr kumimoji="0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436" name="모서리가 둥근 직사각형 377">
            <a:extLst>
              <a:ext uri="{FF2B5EF4-FFF2-40B4-BE49-F238E27FC236}">
                <a16:creationId xmlns:a16="http://schemas.microsoft.com/office/drawing/2014/main" id="{95382CB9-9ADE-06A4-C0F6-4760E7465B3F}"/>
              </a:ext>
            </a:extLst>
          </p:cNvPr>
          <p:cNvSpPr/>
          <p:nvPr/>
        </p:nvSpPr>
        <p:spPr bwMode="auto">
          <a:xfrm>
            <a:off x="2347373" y="3983721"/>
            <a:ext cx="133200" cy="149120"/>
          </a:xfrm>
          <a:prstGeom prst="roundRect">
            <a:avLst/>
          </a:prstGeom>
          <a:solidFill>
            <a:srgbClr val="FFFFFF">
              <a:lumMod val="75000"/>
            </a:srgbClr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65</a:t>
            </a:r>
            <a:endParaRPr kumimoji="0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437" name="모서리가 둥근 직사각형 377">
            <a:extLst>
              <a:ext uri="{FF2B5EF4-FFF2-40B4-BE49-F238E27FC236}">
                <a16:creationId xmlns:a16="http://schemas.microsoft.com/office/drawing/2014/main" id="{01D44826-7A8D-A6BD-827A-A46846C6A080}"/>
              </a:ext>
            </a:extLst>
          </p:cNvPr>
          <p:cNvSpPr/>
          <p:nvPr/>
        </p:nvSpPr>
        <p:spPr bwMode="auto">
          <a:xfrm>
            <a:off x="2347373" y="3814781"/>
            <a:ext cx="133200" cy="149120"/>
          </a:xfrm>
          <a:prstGeom prst="roundRect">
            <a:avLst/>
          </a:prstGeom>
          <a:solidFill>
            <a:srgbClr val="FFFFFF">
              <a:lumMod val="75000"/>
            </a:srgbClr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65</a:t>
            </a:r>
            <a:endParaRPr kumimoji="0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438" name="모서리가 둥근 직사각형 377">
            <a:extLst>
              <a:ext uri="{FF2B5EF4-FFF2-40B4-BE49-F238E27FC236}">
                <a16:creationId xmlns:a16="http://schemas.microsoft.com/office/drawing/2014/main" id="{001E1096-EEB3-2ECE-BB06-2E6C417A9457}"/>
              </a:ext>
            </a:extLst>
          </p:cNvPr>
          <p:cNvSpPr/>
          <p:nvPr/>
        </p:nvSpPr>
        <p:spPr bwMode="auto">
          <a:xfrm>
            <a:off x="2347373" y="3645841"/>
            <a:ext cx="133200" cy="149120"/>
          </a:xfrm>
          <a:prstGeom prst="roundRect">
            <a:avLst/>
          </a:prstGeom>
          <a:solidFill>
            <a:srgbClr val="FFFFFF">
              <a:lumMod val="75000"/>
            </a:srgbClr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65</a:t>
            </a:r>
            <a:endParaRPr kumimoji="0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439" name="모서리가 둥근 직사각형 377">
            <a:extLst>
              <a:ext uri="{FF2B5EF4-FFF2-40B4-BE49-F238E27FC236}">
                <a16:creationId xmlns:a16="http://schemas.microsoft.com/office/drawing/2014/main" id="{7646D742-3C97-DCB9-D31C-930AA700546F}"/>
              </a:ext>
            </a:extLst>
          </p:cNvPr>
          <p:cNvSpPr/>
          <p:nvPr/>
        </p:nvSpPr>
        <p:spPr bwMode="auto">
          <a:xfrm>
            <a:off x="2347373" y="3476901"/>
            <a:ext cx="133200" cy="149120"/>
          </a:xfrm>
          <a:prstGeom prst="roundRect">
            <a:avLst/>
          </a:prstGeom>
          <a:solidFill>
            <a:srgbClr val="FFFFFF">
              <a:lumMod val="75000"/>
            </a:srgbClr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65</a:t>
            </a:r>
            <a:endParaRPr kumimoji="0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440" name="모서리가 둥근 직사각형 377">
            <a:extLst>
              <a:ext uri="{FF2B5EF4-FFF2-40B4-BE49-F238E27FC236}">
                <a16:creationId xmlns:a16="http://schemas.microsoft.com/office/drawing/2014/main" id="{C99D8037-2F48-0C3F-F21F-8086E0176C45}"/>
              </a:ext>
            </a:extLst>
          </p:cNvPr>
          <p:cNvSpPr/>
          <p:nvPr/>
        </p:nvSpPr>
        <p:spPr bwMode="auto">
          <a:xfrm>
            <a:off x="2347373" y="3316670"/>
            <a:ext cx="133200" cy="149120"/>
          </a:xfrm>
          <a:prstGeom prst="roundRect">
            <a:avLst/>
          </a:prstGeom>
          <a:solidFill>
            <a:srgbClr val="FFFFFF">
              <a:lumMod val="75000"/>
            </a:srgbClr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65</a:t>
            </a:r>
            <a:endParaRPr kumimoji="0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441" name="모서리가 둥근 직사각형 377">
            <a:extLst>
              <a:ext uri="{FF2B5EF4-FFF2-40B4-BE49-F238E27FC236}">
                <a16:creationId xmlns:a16="http://schemas.microsoft.com/office/drawing/2014/main" id="{393871FB-15BF-0550-3108-F7CAB8656A29}"/>
              </a:ext>
            </a:extLst>
          </p:cNvPr>
          <p:cNvSpPr/>
          <p:nvPr/>
        </p:nvSpPr>
        <p:spPr bwMode="auto">
          <a:xfrm>
            <a:off x="2347373" y="3147730"/>
            <a:ext cx="133200" cy="149120"/>
          </a:xfrm>
          <a:prstGeom prst="roundRect">
            <a:avLst/>
          </a:prstGeom>
          <a:solidFill>
            <a:srgbClr val="FFFFFF">
              <a:lumMod val="75000"/>
            </a:srgbClr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65</a:t>
            </a:r>
            <a:endParaRPr kumimoji="0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442" name="모서리가 둥근 직사각형 377">
            <a:extLst>
              <a:ext uri="{FF2B5EF4-FFF2-40B4-BE49-F238E27FC236}">
                <a16:creationId xmlns:a16="http://schemas.microsoft.com/office/drawing/2014/main" id="{AF6D76E9-3AB4-9684-224D-08DFE7DFF613}"/>
              </a:ext>
            </a:extLst>
          </p:cNvPr>
          <p:cNvSpPr/>
          <p:nvPr/>
        </p:nvSpPr>
        <p:spPr bwMode="auto">
          <a:xfrm>
            <a:off x="2347373" y="2970081"/>
            <a:ext cx="133200" cy="149120"/>
          </a:xfrm>
          <a:prstGeom prst="roundRect">
            <a:avLst/>
          </a:prstGeom>
          <a:solidFill>
            <a:srgbClr val="FFFFFF">
              <a:lumMod val="75000"/>
            </a:srgbClr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65</a:t>
            </a:r>
            <a:endParaRPr kumimoji="0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443" name="모서리가 둥근 직사각형 377">
            <a:extLst>
              <a:ext uri="{FF2B5EF4-FFF2-40B4-BE49-F238E27FC236}">
                <a16:creationId xmlns:a16="http://schemas.microsoft.com/office/drawing/2014/main" id="{9811E052-A374-5E80-38A9-E1A9638DF693}"/>
              </a:ext>
            </a:extLst>
          </p:cNvPr>
          <p:cNvSpPr/>
          <p:nvPr/>
        </p:nvSpPr>
        <p:spPr bwMode="auto">
          <a:xfrm>
            <a:off x="2347373" y="2792432"/>
            <a:ext cx="133200" cy="149120"/>
          </a:xfrm>
          <a:prstGeom prst="roundRect">
            <a:avLst/>
          </a:prstGeom>
          <a:solidFill>
            <a:srgbClr val="FFFFFF">
              <a:lumMod val="75000"/>
            </a:srgbClr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65</a:t>
            </a:r>
            <a:endParaRPr kumimoji="0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444" name="모서리가 둥근 직사각형 378">
            <a:extLst>
              <a:ext uri="{FF2B5EF4-FFF2-40B4-BE49-F238E27FC236}">
                <a16:creationId xmlns:a16="http://schemas.microsoft.com/office/drawing/2014/main" id="{5A205223-AA14-9271-FEB4-902E430A36C3}"/>
              </a:ext>
            </a:extLst>
          </p:cNvPr>
          <p:cNvSpPr/>
          <p:nvPr/>
        </p:nvSpPr>
        <p:spPr bwMode="auto">
          <a:xfrm>
            <a:off x="2536897" y="4819713"/>
            <a:ext cx="133200" cy="149120"/>
          </a:xfrm>
          <a:prstGeom prst="roundRect">
            <a:avLst/>
          </a:prstGeom>
          <a:solidFill>
            <a:srgbClr val="FFFFFF"/>
          </a:solidFill>
          <a:ln w="6350" algn="ctr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55</a:t>
            </a:r>
            <a:endParaRPr kumimoji="0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445" name="모서리가 둥근 직사각형 378">
            <a:extLst>
              <a:ext uri="{FF2B5EF4-FFF2-40B4-BE49-F238E27FC236}">
                <a16:creationId xmlns:a16="http://schemas.microsoft.com/office/drawing/2014/main" id="{B3A56E50-3504-E64D-D638-597400997429}"/>
              </a:ext>
            </a:extLst>
          </p:cNvPr>
          <p:cNvSpPr/>
          <p:nvPr/>
        </p:nvSpPr>
        <p:spPr bwMode="auto">
          <a:xfrm>
            <a:off x="2536897" y="4650772"/>
            <a:ext cx="133200" cy="149120"/>
          </a:xfrm>
          <a:prstGeom prst="roundRect">
            <a:avLst/>
          </a:prstGeom>
          <a:solidFill>
            <a:srgbClr val="FFFFFF"/>
          </a:solidFill>
          <a:ln w="6350" algn="ctr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55</a:t>
            </a:r>
            <a:endParaRPr kumimoji="0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446" name="모서리가 둥근 직사각형 378">
            <a:extLst>
              <a:ext uri="{FF2B5EF4-FFF2-40B4-BE49-F238E27FC236}">
                <a16:creationId xmlns:a16="http://schemas.microsoft.com/office/drawing/2014/main" id="{AD6DBE83-ED0D-351B-5924-21F5F84A893E}"/>
              </a:ext>
            </a:extLst>
          </p:cNvPr>
          <p:cNvSpPr/>
          <p:nvPr/>
        </p:nvSpPr>
        <p:spPr bwMode="auto">
          <a:xfrm>
            <a:off x="2536897" y="4481832"/>
            <a:ext cx="133200" cy="149120"/>
          </a:xfrm>
          <a:prstGeom prst="roundRect">
            <a:avLst/>
          </a:prstGeom>
          <a:solidFill>
            <a:srgbClr val="FFFFFF">
              <a:lumMod val="75000"/>
            </a:srgbClr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55</a:t>
            </a:r>
            <a:endParaRPr kumimoji="0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447" name="모서리가 둥근 직사각형 378">
            <a:extLst>
              <a:ext uri="{FF2B5EF4-FFF2-40B4-BE49-F238E27FC236}">
                <a16:creationId xmlns:a16="http://schemas.microsoft.com/office/drawing/2014/main" id="{557609EA-4E90-45EA-5749-55515568A3C6}"/>
              </a:ext>
            </a:extLst>
          </p:cNvPr>
          <p:cNvSpPr/>
          <p:nvPr/>
        </p:nvSpPr>
        <p:spPr bwMode="auto">
          <a:xfrm>
            <a:off x="2536897" y="4312892"/>
            <a:ext cx="133200" cy="149120"/>
          </a:xfrm>
          <a:prstGeom prst="roundRect">
            <a:avLst/>
          </a:prstGeom>
          <a:solidFill>
            <a:srgbClr val="FFFFFF">
              <a:lumMod val="75000"/>
            </a:srgbClr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55</a:t>
            </a:r>
            <a:endParaRPr kumimoji="0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448" name="모서리가 둥근 직사각형 378">
            <a:extLst>
              <a:ext uri="{FF2B5EF4-FFF2-40B4-BE49-F238E27FC236}">
                <a16:creationId xmlns:a16="http://schemas.microsoft.com/office/drawing/2014/main" id="{E1A5DBF1-0DE0-B0AD-54F6-E32965930ACB}"/>
              </a:ext>
            </a:extLst>
          </p:cNvPr>
          <p:cNvSpPr/>
          <p:nvPr/>
        </p:nvSpPr>
        <p:spPr bwMode="auto">
          <a:xfrm>
            <a:off x="2536897" y="4143952"/>
            <a:ext cx="133200" cy="149120"/>
          </a:xfrm>
          <a:prstGeom prst="roundRect">
            <a:avLst/>
          </a:prstGeom>
          <a:solidFill>
            <a:srgbClr val="FFFFFF">
              <a:lumMod val="75000"/>
            </a:srgbClr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55</a:t>
            </a:r>
            <a:endParaRPr kumimoji="0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449" name="모서리가 둥근 직사각형 378">
            <a:extLst>
              <a:ext uri="{FF2B5EF4-FFF2-40B4-BE49-F238E27FC236}">
                <a16:creationId xmlns:a16="http://schemas.microsoft.com/office/drawing/2014/main" id="{96E287BF-2A50-32ED-5EF0-43BC7FC073B8}"/>
              </a:ext>
            </a:extLst>
          </p:cNvPr>
          <p:cNvSpPr/>
          <p:nvPr/>
        </p:nvSpPr>
        <p:spPr bwMode="auto">
          <a:xfrm>
            <a:off x="2536897" y="3983721"/>
            <a:ext cx="133200" cy="149120"/>
          </a:xfrm>
          <a:prstGeom prst="roundRect">
            <a:avLst/>
          </a:prstGeom>
          <a:solidFill>
            <a:srgbClr val="FFFFFF">
              <a:lumMod val="75000"/>
            </a:srgbClr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55</a:t>
            </a:r>
            <a:endParaRPr kumimoji="0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450" name="모서리가 둥근 직사각형 378">
            <a:extLst>
              <a:ext uri="{FF2B5EF4-FFF2-40B4-BE49-F238E27FC236}">
                <a16:creationId xmlns:a16="http://schemas.microsoft.com/office/drawing/2014/main" id="{EF6406CA-D482-55B5-5768-FB5014A51605}"/>
              </a:ext>
            </a:extLst>
          </p:cNvPr>
          <p:cNvSpPr/>
          <p:nvPr/>
        </p:nvSpPr>
        <p:spPr bwMode="auto">
          <a:xfrm>
            <a:off x="2536897" y="3814781"/>
            <a:ext cx="133200" cy="149120"/>
          </a:xfrm>
          <a:prstGeom prst="roundRect">
            <a:avLst/>
          </a:prstGeom>
          <a:solidFill>
            <a:srgbClr val="FFFFFF">
              <a:lumMod val="75000"/>
            </a:srgbClr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55</a:t>
            </a:r>
            <a:endParaRPr kumimoji="0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451" name="모서리가 둥근 직사각형 378">
            <a:extLst>
              <a:ext uri="{FF2B5EF4-FFF2-40B4-BE49-F238E27FC236}">
                <a16:creationId xmlns:a16="http://schemas.microsoft.com/office/drawing/2014/main" id="{7FC8FA0D-351C-029A-4CA2-31BCBC2BC91C}"/>
              </a:ext>
            </a:extLst>
          </p:cNvPr>
          <p:cNvSpPr/>
          <p:nvPr/>
        </p:nvSpPr>
        <p:spPr bwMode="auto">
          <a:xfrm>
            <a:off x="2536897" y="3645841"/>
            <a:ext cx="133200" cy="149120"/>
          </a:xfrm>
          <a:prstGeom prst="roundRect">
            <a:avLst/>
          </a:prstGeom>
          <a:solidFill>
            <a:srgbClr val="FFFFFF">
              <a:lumMod val="75000"/>
            </a:srgbClr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55</a:t>
            </a:r>
            <a:endParaRPr kumimoji="0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452" name="모서리가 둥근 직사각형 378">
            <a:extLst>
              <a:ext uri="{FF2B5EF4-FFF2-40B4-BE49-F238E27FC236}">
                <a16:creationId xmlns:a16="http://schemas.microsoft.com/office/drawing/2014/main" id="{0C468E0A-C8BC-A967-57B0-391EACF589B1}"/>
              </a:ext>
            </a:extLst>
          </p:cNvPr>
          <p:cNvSpPr/>
          <p:nvPr/>
        </p:nvSpPr>
        <p:spPr bwMode="auto">
          <a:xfrm>
            <a:off x="2536897" y="3476901"/>
            <a:ext cx="133200" cy="149120"/>
          </a:xfrm>
          <a:prstGeom prst="roundRect">
            <a:avLst/>
          </a:prstGeom>
          <a:solidFill>
            <a:srgbClr val="FFFFFF">
              <a:lumMod val="75000"/>
            </a:srgbClr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55</a:t>
            </a:r>
            <a:endParaRPr kumimoji="0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453" name="모서리가 둥근 직사각형 378">
            <a:extLst>
              <a:ext uri="{FF2B5EF4-FFF2-40B4-BE49-F238E27FC236}">
                <a16:creationId xmlns:a16="http://schemas.microsoft.com/office/drawing/2014/main" id="{24BD0D7C-C029-548E-FC65-F5158D07D782}"/>
              </a:ext>
            </a:extLst>
          </p:cNvPr>
          <p:cNvSpPr/>
          <p:nvPr/>
        </p:nvSpPr>
        <p:spPr bwMode="auto">
          <a:xfrm>
            <a:off x="2536897" y="3316670"/>
            <a:ext cx="133200" cy="149120"/>
          </a:xfrm>
          <a:prstGeom prst="roundRect">
            <a:avLst/>
          </a:prstGeom>
          <a:solidFill>
            <a:srgbClr val="FFFFFF">
              <a:lumMod val="75000"/>
            </a:srgbClr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55</a:t>
            </a:r>
            <a:endParaRPr kumimoji="0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454" name="모서리가 둥근 직사각형 378">
            <a:extLst>
              <a:ext uri="{FF2B5EF4-FFF2-40B4-BE49-F238E27FC236}">
                <a16:creationId xmlns:a16="http://schemas.microsoft.com/office/drawing/2014/main" id="{CE2F3BA8-21B0-7EB6-C671-1B5E2ECDECA4}"/>
              </a:ext>
            </a:extLst>
          </p:cNvPr>
          <p:cNvSpPr/>
          <p:nvPr/>
        </p:nvSpPr>
        <p:spPr bwMode="auto">
          <a:xfrm>
            <a:off x="2536897" y="3147730"/>
            <a:ext cx="133200" cy="149120"/>
          </a:xfrm>
          <a:prstGeom prst="roundRect">
            <a:avLst/>
          </a:prstGeom>
          <a:solidFill>
            <a:srgbClr val="FFFFFF">
              <a:lumMod val="75000"/>
            </a:srgbClr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55</a:t>
            </a:r>
            <a:endParaRPr kumimoji="0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455" name="모서리가 둥근 직사각형 378">
            <a:extLst>
              <a:ext uri="{FF2B5EF4-FFF2-40B4-BE49-F238E27FC236}">
                <a16:creationId xmlns:a16="http://schemas.microsoft.com/office/drawing/2014/main" id="{C0933AE1-A36F-6927-A4AA-2F20045EEFCE}"/>
              </a:ext>
            </a:extLst>
          </p:cNvPr>
          <p:cNvSpPr/>
          <p:nvPr/>
        </p:nvSpPr>
        <p:spPr bwMode="auto">
          <a:xfrm>
            <a:off x="2536897" y="2970081"/>
            <a:ext cx="133200" cy="149120"/>
          </a:xfrm>
          <a:prstGeom prst="roundRect">
            <a:avLst/>
          </a:prstGeom>
          <a:solidFill>
            <a:srgbClr val="FFFFFF">
              <a:lumMod val="75000"/>
            </a:srgbClr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55</a:t>
            </a:r>
            <a:endParaRPr kumimoji="0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66D8E0CE-B996-ECC9-831C-A8AA200CB6D6}"/>
              </a:ext>
            </a:extLst>
          </p:cNvPr>
          <p:cNvGrpSpPr/>
          <p:nvPr/>
        </p:nvGrpSpPr>
        <p:grpSpPr>
          <a:xfrm>
            <a:off x="674994" y="5600711"/>
            <a:ext cx="2374153" cy="149120"/>
            <a:chOff x="674994" y="6044954"/>
            <a:chExt cx="2374153" cy="149120"/>
          </a:xfrm>
        </p:grpSpPr>
        <p:sp>
          <p:nvSpPr>
            <p:cNvPr id="1348" name="Rectangle 3936">
              <a:extLst>
                <a:ext uri="{FF2B5EF4-FFF2-40B4-BE49-F238E27FC236}">
                  <a16:creationId xmlns:a16="http://schemas.microsoft.com/office/drawing/2014/main" id="{A639D9E3-D375-99BA-0E76-2C0F080848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4994" y="6044954"/>
              <a:ext cx="720000" cy="149120"/>
            </a:xfrm>
            <a:prstGeom prst="rect">
              <a:avLst/>
            </a:prstGeom>
            <a:solidFill>
              <a:srgbClr val="006600"/>
            </a:solidFill>
            <a:ln w="3175" algn="ctr">
              <a:noFill/>
              <a:miter lim="800000"/>
              <a:headEnd/>
              <a:tailEnd/>
            </a:ln>
          </p:spPr>
          <p:txBody>
            <a:bodyPr wrap="none" lIns="26928" tIns="26928" rIns="72000" bIns="26928" anchor="ctr"/>
            <a:lstStyle/>
            <a:p>
              <a:pPr marL="0" marR="0" lvl="0" indent="0" algn="r" defTabSz="9142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 Narrow"/>
                  <a:ea typeface="LG스마트체 Regular" panose="020B0600000101010101" pitchFamily="50" charset="-127"/>
                  <a:cs typeface="Arial" panose="020B0604020202020204" pitchFamily="34" charset="0"/>
                </a:rPr>
                <a:t>NANO82A</a:t>
              </a:r>
            </a:p>
          </p:txBody>
        </p:sp>
        <p:sp>
          <p:nvSpPr>
            <p:cNvPr id="1456" name="모서리가 둥근 직사각형 364">
              <a:extLst>
                <a:ext uri="{FF2B5EF4-FFF2-40B4-BE49-F238E27FC236}">
                  <a16:creationId xmlns:a16="http://schemas.microsoft.com/office/drawing/2014/main" id="{52825BFF-AF15-023F-BED4-B1139D8C0B64}"/>
                </a:ext>
              </a:extLst>
            </p:cNvPr>
            <p:cNvSpPr/>
            <p:nvPr/>
          </p:nvSpPr>
          <p:spPr bwMode="auto">
            <a:xfrm>
              <a:off x="2157849" y="6044954"/>
              <a:ext cx="133200" cy="149120"/>
            </a:xfrm>
            <a:prstGeom prst="roundRect">
              <a:avLst/>
            </a:prstGeom>
            <a:solidFill>
              <a:srgbClr val="FFFFFF">
                <a:lumMod val="75000"/>
              </a:srgbClr>
            </a:solidFill>
            <a:ln w="3175" cap="flat" cmpd="sng" algn="ctr">
              <a:noFill/>
              <a:prstDash val="dash"/>
            </a:ln>
            <a:effectLst/>
          </p:spPr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/>
                  <a:ea typeface="LG스마트체 Regular" panose="020B0600000101010101" pitchFamily="50" charset="-127"/>
                  <a:cs typeface="Arial" panose="020B0604020202020204" pitchFamily="34" charset="0"/>
                </a:rPr>
                <a:t>75</a:t>
              </a:r>
              <a:endPara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462" name="모서리가 둥근 직사각형 365">
              <a:extLst>
                <a:ext uri="{FF2B5EF4-FFF2-40B4-BE49-F238E27FC236}">
                  <a16:creationId xmlns:a16="http://schemas.microsoft.com/office/drawing/2014/main" id="{D94DF78C-27DE-C8E3-2F3B-D5602C911479}"/>
                </a:ext>
              </a:extLst>
            </p:cNvPr>
            <p:cNvSpPr/>
            <p:nvPr/>
          </p:nvSpPr>
          <p:spPr bwMode="auto">
            <a:xfrm>
              <a:off x="1970483" y="6044954"/>
              <a:ext cx="133200" cy="149120"/>
            </a:xfrm>
            <a:prstGeom prst="roundRect">
              <a:avLst/>
            </a:prstGeom>
            <a:solidFill>
              <a:srgbClr val="FFFFFF">
                <a:lumMod val="75000"/>
              </a:srgbClr>
            </a:solidFill>
            <a:ln w="3175" cap="flat" cmpd="sng" algn="ctr">
              <a:noFill/>
              <a:prstDash val="dash"/>
            </a:ln>
            <a:effectLst/>
          </p:spPr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/>
                  <a:ea typeface="LG스마트체 Regular" panose="020B0600000101010101" pitchFamily="50" charset="-127"/>
                  <a:cs typeface="Arial" panose="020B0604020202020204" pitchFamily="34" charset="0"/>
                </a:rPr>
                <a:t>86</a:t>
              </a:r>
              <a:endPara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463" name="모서리가 둥근 직사각형 375">
              <a:extLst>
                <a:ext uri="{FF2B5EF4-FFF2-40B4-BE49-F238E27FC236}">
                  <a16:creationId xmlns:a16="http://schemas.microsoft.com/office/drawing/2014/main" id="{735363C8-8214-FB70-ECCD-CA9FAD308E64}"/>
                </a:ext>
              </a:extLst>
            </p:cNvPr>
            <p:cNvSpPr/>
            <p:nvPr/>
          </p:nvSpPr>
          <p:spPr bwMode="auto">
            <a:xfrm>
              <a:off x="2915947" y="6044954"/>
              <a:ext cx="133200" cy="149120"/>
            </a:xfrm>
            <a:prstGeom prst="roundRect">
              <a:avLst/>
            </a:prstGeom>
            <a:solidFill>
              <a:srgbClr val="FFFFFF">
                <a:lumMod val="75000"/>
              </a:srgbClr>
            </a:solidFill>
            <a:ln w="3175" cap="flat" cmpd="sng" algn="ctr">
              <a:noFill/>
              <a:prstDash val="dash"/>
            </a:ln>
            <a:effectLst/>
          </p:spPr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/>
                  <a:ea typeface="LG스마트체 Regular" panose="020B0600000101010101" pitchFamily="50" charset="-127"/>
                  <a:cs typeface="Arial" panose="020B0604020202020204" pitchFamily="34" charset="0"/>
                </a:rPr>
                <a:t>43</a:t>
              </a:r>
              <a:endPara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468" name="모서리가 둥근 직사각형 376">
              <a:extLst>
                <a:ext uri="{FF2B5EF4-FFF2-40B4-BE49-F238E27FC236}">
                  <a16:creationId xmlns:a16="http://schemas.microsoft.com/office/drawing/2014/main" id="{82FB5A29-D357-27D3-BB86-3B607497900E}"/>
                </a:ext>
              </a:extLst>
            </p:cNvPr>
            <p:cNvSpPr/>
            <p:nvPr/>
          </p:nvSpPr>
          <p:spPr bwMode="auto">
            <a:xfrm>
              <a:off x="2726421" y="6044954"/>
              <a:ext cx="133200" cy="149120"/>
            </a:xfrm>
            <a:prstGeom prst="roundRect">
              <a:avLst/>
            </a:prstGeom>
            <a:solidFill>
              <a:srgbClr val="FFFFFF">
                <a:lumMod val="75000"/>
              </a:srgbClr>
            </a:solidFill>
            <a:ln w="3175" cap="flat" cmpd="sng" algn="ctr">
              <a:noFill/>
              <a:prstDash val="dash"/>
            </a:ln>
            <a:effectLst/>
          </p:spPr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/>
                  <a:ea typeface="LG스마트체 Regular" panose="020B0600000101010101" pitchFamily="50" charset="-127"/>
                  <a:cs typeface="Arial" panose="020B0604020202020204" pitchFamily="34" charset="0"/>
                </a:rPr>
                <a:t>50</a:t>
              </a:r>
              <a:endPara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473" name="모서리가 둥근 직사각형 377">
              <a:extLst>
                <a:ext uri="{FF2B5EF4-FFF2-40B4-BE49-F238E27FC236}">
                  <a16:creationId xmlns:a16="http://schemas.microsoft.com/office/drawing/2014/main" id="{201F0BBD-694F-A4FF-D3FD-F63A0734187A}"/>
                </a:ext>
              </a:extLst>
            </p:cNvPr>
            <p:cNvSpPr/>
            <p:nvPr/>
          </p:nvSpPr>
          <p:spPr bwMode="auto">
            <a:xfrm>
              <a:off x="2347373" y="6044954"/>
              <a:ext cx="133200" cy="149120"/>
            </a:xfrm>
            <a:prstGeom prst="roundRect">
              <a:avLst/>
            </a:prstGeom>
            <a:solidFill>
              <a:srgbClr val="FFFFFF">
                <a:lumMod val="75000"/>
              </a:srgbClr>
            </a:solidFill>
            <a:ln w="3175" cap="flat" cmpd="sng" algn="ctr">
              <a:noFill/>
              <a:prstDash val="dash"/>
            </a:ln>
            <a:effectLst/>
          </p:spPr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/>
                  <a:ea typeface="LG스마트체 Regular" panose="020B0600000101010101" pitchFamily="50" charset="-127"/>
                  <a:cs typeface="Arial" panose="020B0604020202020204" pitchFamily="34" charset="0"/>
                </a:rPr>
                <a:t>65</a:t>
              </a:r>
              <a:endPara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478" name="모서리가 둥근 직사각형 378">
              <a:extLst>
                <a:ext uri="{FF2B5EF4-FFF2-40B4-BE49-F238E27FC236}">
                  <a16:creationId xmlns:a16="http://schemas.microsoft.com/office/drawing/2014/main" id="{00E6442A-5163-F5F4-5467-577FCA7DE58F}"/>
                </a:ext>
              </a:extLst>
            </p:cNvPr>
            <p:cNvSpPr/>
            <p:nvPr/>
          </p:nvSpPr>
          <p:spPr bwMode="auto">
            <a:xfrm>
              <a:off x="2536897" y="6044954"/>
              <a:ext cx="133200" cy="149120"/>
            </a:xfrm>
            <a:prstGeom prst="roundRect">
              <a:avLst/>
            </a:prstGeom>
            <a:solidFill>
              <a:srgbClr val="FFFFFF">
                <a:lumMod val="75000"/>
              </a:srgbClr>
            </a:solidFill>
            <a:ln w="3175" cap="flat" cmpd="sng" algn="ctr">
              <a:noFill/>
              <a:prstDash val="dash"/>
            </a:ln>
            <a:effectLst/>
          </p:spPr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/>
                  <a:ea typeface="LG스마트체 Regular" panose="020B0600000101010101" pitchFamily="50" charset="-127"/>
                  <a:cs typeface="Arial" panose="020B0604020202020204" pitchFamily="34" charset="0"/>
                </a:rPr>
                <a:t>55</a:t>
              </a:r>
              <a:endPara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8479F1DF-5DE0-F81F-024B-2F75E66F6881}"/>
              </a:ext>
            </a:extLst>
          </p:cNvPr>
          <p:cNvGrpSpPr/>
          <p:nvPr/>
        </p:nvGrpSpPr>
        <p:grpSpPr>
          <a:xfrm>
            <a:off x="674994" y="5442100"/>
            <a:ext cx="2374153" cy="149120"/>
            <a:chOff x="674994" y="5867471"/>
            <a:chExt cx="2374153" cy="149120"/>
          </a:xfrm>
        </p:grpSpPr>
        <p:sp>
          <p:nvSpPr>
            <p:cNvPr id="1347" name="Rectangle 3936">
              <a:extLst>
                <a:ext uri="{FF2B5EF4-FFF2-40B4-BE49-F238E27FC236}">
                  <a16:creationId xmlns:a16="http://schemas.microsoft.com/office/drawing/2014/main" id="{289C5849-4E51-373A-8BAC-D869B65B5A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4994" y="5867471"/>
              <a:ext cx="720000" cy="149120"/>
            </a:xfrm>
            <a:prstGeom prst="rect">
              <a:avLst/>
            </a:prstGeom>
            <a:solidFill>
              <a:srgbClr val="006600"/>
            </a:solidFill>
            <a:ln w="3175" algn="ctr">
              <a:noFill/>
              <a:miter lim="800000"/>
              <a:headEnd/>
              <a:tailEnd/>
            </a:ln>
          </p:spPr>
          <p:txBody>
            <a:bodyPr wrap="none" lIns="26928" tIns="26928" rIns="72000" bIns="26928" anchor="ctr"/>
            <a:lstStyle/>
            <a:p>
              <a:pPr marL="0" marR="0" lvl="0" indent="0" algn="r" defTabSz="9142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 Narrow"/>
                  <a:ea typeface="LG스마트체 Regular" panose="020B0600000101010101" pitchFamily="50" charset="-127"/>
                  <a:cs typeface="Arial" panose="020B0604020202020204" pitchFamily="34" charset="0"/>
                </a:rPr>
                <a:t>NANO8EA</a:t>
              </a:r>
            </a:p>
          </p:txBody>
        </p:sp>
        <p:sp>
          <p:nvSpPr>
            <p:cNvPr id="1457" name="모서리가 둥근 직사각형 364">
              <a:extLst>
                <a:ext uri="{FF2B5EF4-FFF2-40B4-BE49-F238E27FC236}">
                  <a16:creationId xmlns:a16="http://schemas.microsoft.com/office/drawing/2014/main" id="{BD618A32-E577-56EA-F2D0-8BC7480714D4}"/>
                </a:ext>
              </a:extLst>
            </p:cNvPr>
            <p:cNvSpPr/>
            <p:nvPr/>
          </p:nvSpPr>
          <p:spPr bwMode="auto">
            <a:xfrm>
              <a:off x="2157849" y="5867471"/>
              <a:ext cx="133200" cy="149120"/>
            </a:xfrm>
            <a:prstGeom prst="roundRect">
              <a:avLst/>
            </a:prstGeom>
            <a:solidFill>
              <a:srgbClr val="FFFFFF">
                <a:lumMod val="75000"/>
              </a:srgbClr>
            </a:solidFill>
            <a:ln w="3175" cap="flat" cmpd="sng" algn="ctr">
              <a:noFill/>
              <a:prstDash val="dash"/>
            </a:ln>
            <a:effectLst/>
          </p:spPr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/>
                  <a:ea typeface="LG스마트체 Regular" panose="020B0600000101010101" pitchFamily="50" charset="-127"/>
                  <a:cs typeface="Arial" panose="020B0604020202020204" pitchFamily="34" charset="0"/>
                </a:rPr>
                <a:t>75</a:t>
              </a:r>
              <a:endPara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464" name="모서리가 둥근 직사각형 375">
              <a:extLst>
                <a:ext uri="{FF2B5EF4-FFF2-40B4-BE49-F238E27FC236}">
                  <a16:creationId xmlns:a16="http://schemas.microsoft.com/office/drawing/2014/main" id="{1C17A054-C9E2-6466-8EA8-826F62F13664}"/>
                </a:ext>
              </a:extLst>
            </p:cNvPr>
            <p:cNvSpPr/>
            <p:nvPr/>
          </p:nvSpPr>
          <p:spPr bwMode="auto">
            <a:xfrm>
              <a:off x="2915947" y="5867471"/>
              <a:ext cx="133200" cy="149120"/>
            </a:xfrm>
            <a:prstGeom prst="roundRect">
              <a:avLst/>
            </a:prstGeom>
            <a:solidFill>
              <a:srgbClr val="FFFFFF">
                <a:lumMod val="75000"/>
              </a:srgbClr>
            </a:solidFill>
            <a:ln w="3175" cap="flat" cmpd="sng" algn="ctr">
              <a:noFill/>
              <a:prstDash val="dash"/>
            </a:ln>
            <a:effectLst/>
          </p:spPr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/>
                  <a:ea typeface="LG스마트체 Regular" panose="020B0600000101010101" pitchFamily="50" charset="-127"/>
                  <a:cs typeface="Arial" panose="020B0604020202020204" pitchFamily="34" charset="0"/>
                </a:rPr>
                <a:t>43</a:t>
              </a:r>
              <a:endPara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469" name="모서리가 둥근 직사각형 376">
              <a:extLst>
                <a:ext uri="{FF2B5EF4-FFF2-40B4-BE49-F238E27FC236}">
                  <a16:creationId xmlns:a16="http://schemas.microsoft.com/office/drawing/2014/main" id="{E18B6E20-90E3-A56C-22FC-A9F69723520A}"/>
                </a:ext>
              </a:extLst>
            </p:cNvPr>
            <p:cNvSpPr/>
            <p:nvPr/>
          </p:nvSpPr>
          <p:spPr bwMode="auto">
            <a:xfrm>
              <a:off x="2726421" y="5867471"/>
              <a:ext cx="133200" cy="149120"/>
            </a:xfrm>
            <a:prstGeom prst="roundRect">
              <a:avLst/>
            </a:prstGeom>
            <a:solidFill>
              <a:srgbClr val="FFFFFF">
                <a:lumMod val="75000"/>
              </a:srgbClr>
            </a:solidFill>
            <a:ln w="3175" cap="flat" cmpd="sng" algn="ctr">
              <a:noFill/>
              <a:prstDash val="dash"/>
            </a:ln>
            <a:effectLst/>
          </p:spPr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/>
                  <a:ea typeface="LG스마트체 Regular" panose="020B0600000101010101" pitchFamily="50" charset="-127"/>
                  <a:cs typeface="Arial" panose="020B0604020202020204" pitchFamily="34" charset="0"/>
                </a:rPr>
                <a:t>50</a:t>
              </a:r>
              <a:endPara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474" name="모서리가 둥근 직사각형 377">
              <a:extLst>
                <a:ext uri="{FF2B5EF4-FFF2-40B4-BE49-F238E27FC236}">
                  <a16:creationId xmlns:a16="http://schemas.microsoft.com/office/drawing/2014/main" id="{D1BCB9E3-8670-BE3A-2D86-103F3A37F94C}"/>
                </a:ext>
              </a:extLst>
            </p:cNvPr>
            <p:cNvSpPr/>
            <p:nvPr/>
          </p:nvSpPr>
          <p:spPr bwMode="auto">
            <a:xfrm>
              <a:off x="2347373" y="5867471"/>
              <a:ext cx="133200" cy="149120"/>
            </a:xfrm>
            <a:prstGeom prst="roundRect">
              <a:avLst/>
            </a:prstGeom>
            <a:solidFill>
              <a:srgbClr val="FFFFFF">
                <a:lumMod val="75000"/>
              </a:srgbClr>
            </a:solidFill>
            <a:ln w="3175" cap="flat" cmpd="sng" algn="ctr">
              <a:noFill/>
              <a:prstDash val="dash"/>
            </a:ln>
            <a:effectLst/>
          </p:spPr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/>
                  <a:ea typeface="LG스마트체 Regular" panose="020B0600000101010101" pitchFamily="50" charset="-127"/>
                  <a:cs typeface="Arial" panose="020B0604020202020204" pitchFamily="34" charset="0"/>
                </a:rPr>
                <a:t>65</a:t>
              </a:r>
              <a:endPara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479" name="모서리가 둥근 직사각형 378">
              <a:extLst>
                <a:ext uri="{FF2B5EF4-FFF2-40B4-BE49-F238E27FC236}">
                  <a16:creationId xmlns:a16="http://schemas.microsoft.com/office/drawing/2014/main" id="{8950BBF9-AFC1-31F7-A814-120E9AFA733B}"/>
                </a:ext>
              </a:extLst>
            </p:cNvPr>
            <p:cNvSpPr/>
            <p:nvPr/>
          </p:nvSpPr>
          <p:spPr bwMode="auto">
            <a:xfrm>
              <a:off x="2536897" y="5867471"/>
              <a:ext cx="133200" cy="149120"/>
            </a:xfrm>
            <a:prstGeom prst="roundRect">
              <a:avLst/>
            </a:prstGeom>
            <a:solidFill>
              <a:srgbClr val="FFFFFF">
                <a:lumMod val="75000"/>
              </a:srgbClr>
            </a:solidFill>
            <a:ln w="3175" cap="flat" cmpd="sng" algn="ctr">
              <a:noFill/>
              <a:prstDash val="dash"/>
            </a:ln>
            <a:effectLst/>
          </p:spPr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/>
                  <a:ea typeface="LG스마트체 Regular" panose="020B0600000101010101" pitchFamily="50" charset="-127"/>
                  <a:cs typeface="Arial" panose="020B0604020202020204" pitchFamily="34" charset="0"/>
                </a:rPr>
                <a:t>55</a:t>
              </a:r>
              <a:endPara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487DF3C2-2033-A431-AE72-9E35B730FCC0}"/>
              </a:ext>
            </a:extLst>
          </p:cNvPr>
          <p:cNvGrpSpPr/>
          <p:nvPr/>
        </p:nvGrpSpPr>
        <p:grpSpPr>
          <a:xfrm>
            <a:off x="674994" y="5290467"/>
            <a:ext cx="2374153" cy="149120"/>
            <a:chOff x="674994" y="5689711"/>
            <a:chExt cx="2374153" cy="149120"/>
          </a:xfrm>
        </p:grpSpPr>
        <p:sp>
          <p:nvSpPr>
            <p:cNvPr id="1343" name="Rectangle 3936">
              <a:extLst>
                <a:ext uri="{FF2B5EF4-FFF2-40B4-BE49-F238E27FC236}">
                  <a16:creationId xmlns:a16="http://schemas.microsoft.com/office/drawing/2014/main" id="{D16F0D51-FFE7-1896-483E-7E55B949F4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4994" y="5689711"/>
              <a:ext cx="720000" cy="149120"/>
            </a:xfrm>
            <a:prstGeom prst="rect">
              <a:avLst/>
            </a:prstGeom>
            <a:solidFill>
              <a:srgbClr val="006600"/>
            </a:solidFill>
            <a:ln w="3175" algn="ctr">
              <a:noFill/>
              <a:miter lim="800000"/>
              <a:headEnd/>
              <a:tailEnd/>
            </a:ln>
          </p:spPr>
          <p:txBody>
            <a:bodyPr wrap="none" lIns="26928" tIns="26928" rIns="72000" bIns="26928" anchor="ctr"/>
            <a:lstStyle/>
            <a:p>
              <a:pPr marL="0" marR="0" lvl="0" indent="0" algn="r" defTabSz="9142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 Narrow"/>
                  <a:ea typeface="LG스마트체 Regular" panose="020B0600000101010101" pitchFamily="50" charset="-127"/>
                  <a:cs typeface="Arial" panose="020B0604020202020204" pitchFamily="34" charset="0"/>
                </a:rPr>
                <a:t>NANO81A</a:t>
              </a:r>
              <a:endPara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458" name="모서리가 둥근 직사각형 364">
              <a:extLst>
                <a:ext uri="{FF2B5EF4-FFF2-40B4-BE49-F238E27FC236}">
                  <a16:creationId xmlns:a16="http://schemas.microsoft.com/office/drawing/2014/main" id="{701DD865-CCC2-910B-769E-F39D8CE3209D}"/>
                </a:ext>
              </a:extLst>
            </p:cNvPr>
            <p:cNvSpPr/>
            <p:nvPr/>
          </p:nvSpPr>
          <p:spPr bwMode="auto">
            <a:xfrm>
              <a:off x="2157849" y="5689711"/>
              <a:ext cx="133200" cy="149120"/>
            </a:xfrm>
            <a:prstGeom prst="roundRect">
              <a:avLst/>
            </a:prstGeom>
            <a:solidFill>
              <a:srgbClr val="FFFFFF">
                <a:lumMod val="75000"/>
              </a:srgbClr>
            </a:solidFill>
            <a:ln w="3175" cap="flat" cmpd="sng" algn="ctr">
              <a:noFill/>
              <a:prstDash val="dash"/>
            </a:ln>
            <a:effectLst/>
          </p:spPr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/>
                  <a:ea typeface="LG스마트체 Regular" panose="020B0600000101010101" pitchFamily="50" charset="-127"/>
                  <a:cs typeface="Arial" panose="020B0604020202020204" pitchFamily="34" charset="0"/>
                </a:rPr>
                <a:t>75</a:t>
              </a:r>
              <a:endPara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461" name="모서리가 둥근 직사각형 365">
              <a:extLst>
                <a:ext uri="{FF2B5EF4-FFF2-40B4-BE49-F238E27FC236}">
                  <a16:creationId xmlns:a16="http://schemas.microsoft.com/office/drawing/2014/main" id="{C52A67ED-FD24-2264-D06B-EA30F90CE19C}"/>
                </a:ext>
              </a:extLst>
            </p:cNvPr>
            <p:cNvSpPr/>
            <p:nvPr/>
          </p:nvSpPr>
          <p:spPr bwMode="auto">
            <a:xfrm>
              <a:off x="1970483" y="5689711"/>
              <a:ext cx="133200" cy="149120"/>
            </a:xfrm>
            <a:prstGeom prst="roundRect">
              <a:avLst/>
            </a:prstGeom>
            <a:solidFill>
              <a:srgbClr val="FFFFFF">
                <a:lumMod val="75000"/>
              </a:srgbClr>
            </a:solidFill>
            <a:ln w="3175" cap="flat" cmpd="sng" algn="ctr">
              <a:noFill/>
              <a:prstDash val="dash"/>
            </a:ln>
            <a:effectLst/>
          </p:spPr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/>
                  <a:ea typeface="LG스마트체 Regular" panose="020B0600000101010101" pitchFamily="50" charset="-127"/>
                  <a:cs typeface="Arial" panose="020B0604020202020204" pitchFamily="34" charset="0"/>
                </a:rPr>
                <a:t>86</a:t>
              </a:r>
              <a:endPara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465" name="모서리가 둥근 직사각형 375">
              <a:extLst>
                <a:ext uri="{FF2B5EF4-FFF2-40B4-BE49-F238E27FC236}">
                  <a16:creationId xmlns:a16="http://schemas.microsoft.com/office/drawing/2014/main" id="{E629312B-500F-2F2D-5635-183D0DF39449}"/>
                </a:ext>
              </a:extLst>
            </p:cNvPr>
            <p:cNvSpPr/>
            <p:nvPr/>
          </p:nvSpPr>
          <p:spPr bwMode="auto">
            <a:xfrm>
              <a:off x="2915947" y="5689711"/>
              <a:ext cx="133200" cy="149120"/>
            </a:xfrm>
            <a:prstGeom prst="roundRect">
              <a:avLst/>
            </a:prstGeom>
            <a:solidFill>
              <a:srgbClr val="FFFFFF">
                <a:lumMod val="75000"/>
              </a:srgbClr>
            </a:solidFill>
            <a:ln w="3175" cap="flat" cmpd="sng" algn="ctr">
              <a:noFill/>
              <a:prstDash val="dash"/>
            </a:ln>
            <a:effectLst/>
          </p:spPr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/>
                  <a:ea typeface="LG스마트체 Regular" panose="020B0600000101010101" pitchFamily="50" charset="-127"/>
                  <a:cs typeface="Arial" panose="020B0604020202020204" pitchFamily="34" charset="0"/>
                </a:rPr>
                <a:t>43</a:t>
              </a:r>
              <a:endPara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470" name="모서리가 둥근 직사각형 376">
              <a:extLst>
                <a:ext uri="{FF2B5EF4-FFF2-40B4-BE49-F238E27FC236}">
                  <a16:creationId xmlns:a16="http://schemas.microsoft.com/office/drawing/2014/main" id="{55C4360F-31F1-58D5-9A77-BAF772EF8A34}"/>
                </a:ext>
              </a:extLst>
            </p:cNvPr>
            <p:cNvSpPr/>
            <p:nvPr/>
          </p:nvSpPr>
          <p:spPr bwMode="auto">
            <a:xfrm>
              <a:off x="2726421" y="5689711"/>
              <a:ext cx="133200" cy="149120"/>
            </a:xfrm>
            <a:prstGeom prst="roundRect">
              <a:avLst/>
            </a:prstGeom>
            <a:solidFill>
              <a:srgbClr val="FFFFFF">
                <a:lumMod val="75000"/>
              </a:srgbClr>
            </a:solidFill>
            <a:ln w="3175" cap="flat" cmpd="sng" algn="ctr">
              <a:noFill/>
              <a:prstDash val="dash"/>
            </a:ln>
            <a:effectLst/>
          </p:spPr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/>
                  <a:ea typeface="LG스마트체 Regular" panose="020B0600000101010101" pitchFamily="50" charset="-127"/>
                  <a:cs typeface="Arial" panose="020B0604020202020204" pitchFamily="34" charset="0"/>
                </a:rPr>
                <a:t>50</a:t>
              </a:r>
              <a:endPara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475" name="모서리가 둥근 직사각형 377">
              <a:extLst>
                <a:ext uri="{FF2B5EF4-FFF2-40B4-BE49-F238E27FC236}">
                  <a16:creationId xmlns:a16="http://schemas.microsoft.com/office/drawing/2014/main" id="{18789728-2135-262F-2024-213544A1C5E1}"/>
                </a:ext>
              </a:extLst>
            </p:cNvPr>
            <p:cNvSpPr/>
            <p:nvPr/>
          </p:nvSpPr>
          <p:spPr bwMode="auto">
            <a:xfrm>
              <a:off x="2347373" y="5689711"/>
              <a:ext cx="133200" cy="149120"/>
            </a:xfrm>
            <a:prstGeom prst="roundRect">
              <a:avLst/>
            </a:prstGeom>
            <a:solidFill>
              <a:srgbClr val="FFFFFF">
                <a:lumMod val="75000"/>
              </a:srgbClr>
            </a:solidFill>
            <a:ln w="3175" cap="flat" cmpd="sng" algn="ctr">
              <a:noFill/>
              <a:prstDash val="dash"/>
            </a:ln>
            <a:effectLst/>
          </p:spPr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/>
                  <a:ea typeface="LG스마트체 Regular" panose="020B0600000101010101" pitchFamily="50" charset="-127"/>
                  <a:cs typeface="Arial" panose="020B0604020202020204" pitchFamily="34" charset="0"/>
                </a:rPr>
                <a:t>65</a:t>
              </a:r>
              <a:endPara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480" name="모서리가 둥근 직사각형 378">
              <a:extLst>
                <a:ext uri="{FF2B5EF4-FFF2-40B4-BE49-F238E27FC236}">
                  <a16:creationId xmlns:a16="http://schemas.microsoft.com/office/drawing/2014/main" id="{66C3D000-A215-F081-A1AC-89386B62EF58}"/>
                </a:ext>
              </a:extLst>
            </p:cNvPr>
            <p:cNvSpPr/>
            <p:nvPr/>
          </p:nvSpPr>
          <p:spPr bwMode="auto">
            <a:xfrm>
              <a:off x="2536897" y="5689711"/>
              <a:ext cx="133200" cy="149120"/>
            </a:xfrm>
            <a:prstGeom prst="roundRect">
              <a:avLst/>
            </a:prstGeom>
            <a:solidFill>
              <a:srgbClr val="FFFFFF">
                <a:lumMod val="75000"/>
              </a:srgbClr>
            </a:solidFill>
            <a:ln w="3175" cap="flat" cmpd="sng" algn="ctr">
              <a:noFill/>
              <a:prstDash val="dash"/>
            </a:ln>
            <a:effectLst/>
          </p:spPr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/>
                  <a:ea typeface="LG스마트체 Regular" panose="020B0600000101010101" pitchFamily="50" charset="-127"/>
                  <a:cs typeface="Arial" panose="020B0604020202020204" pitchFamily="34" charset="0"/>
                </a:rPr>
                <a:t>55</a:t>
              </a:r>
              <a:endPara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2F85C2ED-8BC3-FD7F-EF73-CF8179BAF7FF}"/>
              </a:ext>
            </a:extLst>
          </p:cNvPr>
          <p:cNvGrpSpPr/>
          <p:nvPr/>
        </p:nvGrpSpPr>
        <p:grpSpPr>
          <a:xfrm>
            <a:off x="674994" y="5139388"/>
            <a:ext cx="2374153" cy="149120"/>
            <a:chOff x="674994" y="5512505"/>
            <a:chExt cx="2374153" cy="149120"/>
          </a:xfrm>
        </p:grpSpPr>
        <p:sp>
          <p:nvSpPr>
            <p:cNvPr id="1346" name="Rectangle 3936">
              <a:extLst>
                <a:ext uri="{FF2B5EF4-FFF2-40B4-BE49-F238E27FC236}">
                  <a16:creationId xmlns:a16="http://schemas.microsoft.com/office/drawing/2014/main" id="{36C025D5-68B7-914A-C226-E504AE4971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4994" y="5512505"/>
              <a:ext cx="720000" cy="149120"/>
            </a:xfrm>
            <a:prstGeom prst="rect">
              <a:avLst/>
            </a:prstGeom>
            <a:solidFill>
              <a:srgbClr val="006600"/>
            </a:solidFill>
            <a:ln w="3175" algn="ctr">
              <a:noFill/>
              <a:miter lim="800000"/>
              <a:headEnd/>
              <a:tailEnd/>
            </a:ln>
          </p:spPr>
          <p:txBody>
            <a:bodyPr wrap="none" lIns="26928" tIns="26928" rIns="26928" bIns="26928" anchor="ctr"/>
            <a:lstStyle/>
            <a:p>
              <a:pPr marL="0" marR="0" lvl="0" indent="0" algn="ctr" defTabSz="9142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 Narrow"/>
                  <a:ea typeface="LG스마트체 Regular" panose="020B0600000101010101" pitchFamily="50" charset="-127"/>
                  <a:cs typeface="Arial" panose="020B0604020202020204" pitchFamily="34" charset="0"/>
                </a:rPr>
                <a:t>NANO80A</a:t>
              </a:r>
            </a:p>
          </p:txBody>
        </p:sp>
        <p:sp>
          <p:nvSpPr>
            <p:cNvPr id="1459" name="모서리가 둥근 직사각형 364">
              <a:extLst>
                <a:ext uri="{FF2B5EF4-FFF2-40B4-BE49-F238E27FC236}">
                  <a16:creationId xmlns:a16="http://schemas.microsoft.com/office/drawing/2014/main" id="{4164000F-25F5-5698-0079-3F4BA6FA07F9}"/>
                </a:ext>
              </a:extLst>
            </p:cNvPr>
            <p:cNvSpPr/>
            <p:nvPr/>
          </p:nvSpPr>
          <p:spPr bwMode="auto">
            <a:xfrm>
              <a:off x="2157849" y="5512505"/>
              <a:ext cx="133200" cy="149120"/>
            </a:xfrm>
            <a:prstGeom prst="roundRect">
              <a:avLst/>
            </a:prstGeom>
            <a:solidFill>
              <a:srgbClr val="FFFFFF">
                <a:lumMod val="75000"/>
              </a:srgbClr>
            </a:solidFill>
            <a:ln w="3175" cap="flat" cmpd="sng" algn="ctr">
              <a:noFill/>
              <a:prstDash val="dash"/>
            </a:ln>
            <a:effectLst/>
          </p:spPr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/>
                  <a:ea typeface="LG스마트체 Regular" panose="020B0600000101010101" pitchFamily="50" charset="-127"/>
                  <a:cs typeface="Arial" panose="020B0604020202020204" pitchFamily="34" charset="0"/>
                </a:rPr>
                <a:t>75</a:t>
              </a:r>
              <a:endPara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466" name="모서리가 둥근 직사각형 375">
              <a:extLst>
                <a:ext uri="{FF2B5EF4-FFF2-40B4-BE49-F238E27FC236}">
                  <a16:creationId xmlns:a16="http://schemas.microsoft.com/office/drawing/2014/main" id="{162F876B-CC39-D1FD-6B06-98D4218CEA52}"/>
                </a:ext>
              </a:extLst>
            </p:cNvPr>
            <p:cNvSpPr/>
            <p:nvPr/>
          </p:nvSpPr>
          <p:spPr bwMode="auto">
            <a:xfrm>
              <a:off x="2915947" y="5512505"/>
              <a:ext cx="133200" cy="149120"/>
            </a:xfrm>
            <a:prstGeom prst="roundRect">
              <a:avLst/>
            </a:prstGeom>
            <a:solidFill>
              <a:srgbClr val="FFFFFF">
                <a:lumMod val="75000"/>
              </a:srgbClr>
            </a:solidFill>
            <a:ln w="3175" cap="flat" cmpd="sng" algn="ctr">
              <a:noFill/>
              <a:prstDash val="dash"/>
            </a:ln>
            <a:effectLst/>
          </p:spPr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/>
                  <a:ea typeface="LG스마트체 Regular" panose="020B0600000101010101" pitchFamily="50" charset="-127"/>
                  <a:cs typeface="Arial" panose="020B0604020202020204" pitchFamily="34" charset="0"/>
                </a:rPr>
                <a:t>43</a:t>
              </a:r>
              <a:endPara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471" name="모서리가 둥근 직사각형 376">
              <a:extLst>
                <a:ext uri="{FF2B5EF4-FFF2-40B4-BE49-F238E27FC236}">
                  <a16:creationId xmlns:a16="http://schemas.microsoft.com/office/drawing/2014/main" id="{6CCECD91-165F-3821-417A-66737817A787}"/>
                </a:ext>
              </a:extLst>
            </p:cNvPr>
            <p:cNvSpPr/>
            <p:nvPr/>
          </p:nvSpPr>
          <p:spPr bwMode="auto">
            <a:xfrm>
              <a:off x="2726421" y="5512505"/>
              <a:ext cx="133200" cy="149120"/>
            </a:xfrm>
            <a:prstGeom prst="roundRect">
              <a:avLst/>
            </a:prstGeom>
            <a:solidFill>
              <a:srgbClr val="FFFFFF">
                <a:lumMod val="75000"/>
              </a:srgbClr>
            </a:solidFill>
            <a:ln w="3175" cap="flat" cmpd="sng" algn="ctr">
              <a:noFill/>
              <a:prstDash val="dash"/>
            </a:ln>
            <a:effectLst/>
          </p:spPr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/>
                  <a:ea typeface="LG스마트체 Regular" panose="020B0600000101010101" pitchFamily="50" charset="-127"/>
                  <a:cs typeface="Arial" panose="020B0604020202020204" pitchFamily="34" charset="0"/>
                </a:rPr>
                <a:t>50</a:t>
              </a:r>
              <a:endPara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476" name="모서리가 둥근 직사각형 377">
              <a:extLst>
                <a:ext uri="{FF2B5EF4-FFF2-40B4-BE49-F238E27FC236}">
                  <a16:creationId xmlns:a16="http://schemas.microsoft.com/office/drawing/2014/main" id="{9F55FE8D-5471-78A9-206D-EFD345B158F6}"/>
                </a:ext>
              </a:extLst>
            </p:cNvPr>
            <p:cNvSpPr/>
            <p:nvPr/>
          </p:nvSpPr>
          <p:spPr bwMode="auto">
            <a:xfrm>
              <a:off x="2347373" y="5512505"/>
              <a:ext cx="133200" cy="149120"/>
            </a:xfrm>
            <a:prstGeom prst="roundRect">
              <a:avLst/>
            </a:prstGeom>
            <a:solidFill>
              <a:srgbClr val="FFFFFF">
                <a:lumMod val="75000"/>
              </a:srgbClr>
            </a:solidFill>
            <a:ln w="3175" cap="flat" cmpd="sng" algn="ctr">
              <a:noFill/>
              <a:prstDash val="dash"/>
            </a:ln>
            <a:effectLst/>
          </p:spPr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/>
                  <a:ea typeface="LG스마트체 Regular" panose="020B0600000101010101" pitchFamily="50" charset="-127"/>
                  <a:cs typeface="Arial" panose="020B0604020202020204" pitchFamily="34" charset="0"/>
                </a:rPr>
                <a:t>65</a:t>
              </a:r>
              <a:endPara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481" name="모서리가 둥근 직사각형 378">
              <a:extLst>
                <a:ext uri="{FF2B5EF4-FFF2-40B4-BE49-F238E27FC236}">
                  <a16:creationId xmlns:a16="http://schemas.microsoft.com/office/drawing/2014/main" id="{86400CED-AFDE-71EB-58D8-C30E29A2FC59}"/>
                </a:ext>
              </a:extLst>
            </p:cNvPr>
            <p:cNvSpPr/>
            <p:nvPr/>
          </p:nvSpPr>
          <p:spPr bwMode="auto">
            <a:xfrm>
              <a:off x="2536897" y="5512505"/>
              <a:ext cx="133200" cy="149120"/>
            </a:xfrm>
            <a:prstGeom prst="roundRect">
              <a:avLst/>
            </a:prstGeom>
            <a:solidFill>
              <a:srgbClr val="FFFFFF">
                <a:lumMod val="75000"/>
              </a:srgbClr>
            </a:solidFill>
            <a:ln w="3175" cap="flat" cmpd="sng" algn="ctr">
              <a:noFill/>
              <a:prstDash val="dash"/>
            </a:ln>
            <a:effectLst/>
          </p:spPr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/>
                  <a:ea typeface="LG스마트체 Regular" panose="020B0600000101010101" pitchFamily="50" charset="-127"/>
                  <a:cs typeface="Arial" panose="020B0604020202020204" pitchFamily="34" charset="0"/>
                </a:rPr>
                <a:t>55</a:t>
              </a:r>
              <a:endPara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CA6FA161-0DB4-51AF-8347-FC065A46BA84}"/>
              </a:ext>
            </a:extLst>
          </p:cNvPr>
          <p:cNvGrpSpPr/>
          <p:nvPr/>
        </p:nvGrpSpPr>
        <p:grpSpPr>
          <a:xfrm>
            <a:off x="674994" y="4977953"/>
            <a:ext cx="2374153" cy="149120"/>
            <a:chOff x="674994" y="5335022"/>
            <a:chExt cx="2374153" cy="149120"/>
          </a:xfrm>
        </p:grpSpPr>
        <p:sp>
          <p:nvSpPr>
            <p:cNvPr id="1342" name="Rectangle 3936">
              <a:extLst>
                <a:ext uri="{FF2B5EF4-FFF2-40B4-BE49-F238E27FC236}">
                  <a16:creationId xmlns:a16="http://schemas.microsoft.com/office/drawing/2014/main" id="{A5C3008B-8054-EC91-EF65-EE540FB034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4994" y="5335022"/>
              <a:ext cx="720000" cy="149120"/>
            </a:xfrm>
            <a:prstGeom prst="rect">
              <a:avLst/>
            </a:prstGeom>
            <a:solidFill>
              <a:srgbClr val="006600"/>
            </a:solidFill>
            <a:ln w="3175" algn="ctr">
              <a:solidFill>
                <a:srgbClr val="FFFFFF">
                  <a:lumMod val="50000"/>
                </a:srgbClr>
              </a:solidFill>
              <a:miter lim="800000"/>
              <a:headEnd/>
              <a:tailEnd/>
            </a:ln>
          </p:spPr>
          <p:txBody>
            <a:bodyPr wrap="none" lIns="26928" tIns="26928" rIns="26928" bIns="26928" anchor="ctr"/>
            <a:lstStyle/>
            <a:p>
              <a:pPr marL="0" marR="0" lvl="0" indent="0" algn="ctr" defTabSz="9142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 Narrow"/>
                  <a:ea typeface="LG스마트체 Regular" panose="020B0600000101010101" pitchFamily="50" charset="-127"/>
                  <a:cs typeface="Arial" panose="020B0604020202020204" pitchFamily="34" charset="0"/>
                </a:rPr>
                <a:t>NANO90A</a:t>
              </a:r>
            </a:p>
          </p:txBody>
        </p:sp>
        <p:sp>
          <p:nvSpPr>
            <p:cNvPr id="1460" name="모서리가 둥근 직사각형 364">
              <a:extLst>
                <a:ext uri="{FF2B5EF4-FFF2-40B4-BE49-F238E27FC236}">
                  <a16:creationId xmlns:a16="http://schemas.microsoft.com/office/drawing/2014/main" id="{CC7D1131-6A0A-AF44-9FB5-12417BE8DB67}"/>
                </a:ext>
              </a:extLst>
            </p:cNvPr>
            <p:cNvSpPr/>
            <p:nvPr/>
          </p:nvSpPr>
          <p:spPr bwMode="auto">
            <a:xfrm>
              <a:off x="2157849" y="5335022"/>
              <a:ext cx="133200" cy="149120"/>
            </a:xfrm>
            <a:prstGeom prst="roundRect">
              <a:avLst/>
            </a:prstGeom>
            <a:solidFill>
              <a:srgbClr val="FFFFFF">
                <a:lumMod val="75000"/>
              </a:srgbClr>
            </a:solidFill>
            <a:ln w="3175" cap="flat" cmpd="sng" algn="ctr">
              <a:noFill/>
              <a:prstDash val="dash"/>
            </a:ln>
            <a:effectLst/>
          </p:spPr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/>
                  <a:ea typeface="LG스마트체 Regular" panose="020B0600000101010101" pitchFamily="50" charset="-127"/>
                  <a:cs typeface="Arial" panose="020B0604020202020204" pitchFamily="34" charset="0"/>
                </a:rPr>
                <a:t>75</a:t>
              </a:r>
              <a:endPara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467" name="모서리가 둥근 직사각형 375">
              <a:extLst>
                <a:ext uri="{FF2B5EF4-FFF2-40B4-BE49-F238E27FC236}">
                  <a16:creationId xmlns:a16="http://schemas.microsoft.com/office/drawing/2014/main" id="{1A713077-1C4D-941C-A260-280183152E1F}"/>
                </a:ext>
              </a:extLst>
            </p:cNvPr>
            <p:cNvSpPr/>
            <p:nvPr/>
          </p:nvSpPr>
          <p:spPr bwMode="auto">
            <a:xfrm>
              <a:off x="2915947" y="5335022"/>
              <a:ext cx="133200" cy="149120"/>
            </a:xfrm>
            <a:prstGeom prst="roundRect">
              <a:avLst/>
            </a:prstGeom>
            <a:solidFill>
              <a:srgbClr val="FFFFFF">
                <a:lumMod val="75000"/>
              </a:srgbClr>
            </a:solidFill>
            <a:ln w="3175" cap="flat" cmpd="sng" algn="ctr">
              <a:noFill/>
              <a:prstDash val="dash"/>
            </a:ln>
            <a:effectLst/>
          </p:spPr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/>
                  <a:ea typeface="LG스마트체 Regular" panose="020B0600000101010101" pitchFamily="50" charset="-127"/>
                  <a:cs typeface="Arial" panose="020B0604020202020204" pitchFamily="34" charset="0"/>
                </a:rPr>
                <a:t>43</a:t>
              </a:r>
              <a:endPara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472" name="모서리가 둥근 직사각형 376">
              <a:extLst>
                <a:ext uri="{FF2B5EF4-FFF2-40B4-BE49-F238E27FC236}">
                  <a16:creationId xmlns:a16="http://schemas.microsoft.com/office/drawing/2014/main" id="{E6D5AE78-7252-BBAA-8845-157DBFE3B7CB}"/>
                </a:ext>
              </a:extLst>
            </p:cNvPr>
            <p:cNvSpPr/>
            <p:nvPr/>
          </p:nvSpPr>
          <p:spPr bwMode="auto">
            <a:xfrm>
              <a:off x="2726421" y="5335022"/>
              <a:ext cx="133200" cy="149120"/>
            </a:xfrm>
            <a:prstGeom prst="roundRect">
              <a:avLst/>
            </a:prstGeom>
            <a:solidFill>
              <a:srgbClr val="FFFFFF">
                <a:lumMod val="75000"/>
              </a:srgbClr>
            </a:solidFill>
            <a:ln w="3175" cap="flat" cmpd="sng" algn="ctr">
              <a:noFill/>
              <a:prstDash val="dash"/>
            </a:ln>
            <a:effectLst/>
          </p:spPr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/>
                  <a:ea typeface="LG스마트체 Regular" panose="020B0600000101010101" pitchFamily="50" charset="-127"/>
                  <a:cs typeface="Arial" panose="020B0604020202020204" pitchFamily="34" charset="0"/>
                </a:rPr>
                <a:t>50</a:t>
              </a:r>
              <a:endPara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477" name="모서리가 둥근 직사각형 377">
              <a:extLst>
                <a:ext uri="{FF2B5EF4-FFF2-40B4-BE49-F238E27FC236}">
                  <a16:creationId xmlns:a16="http://schemas.microsoft.com/office/drawing/2014/main" id="{C71EFE4C-D88E-BF9C-82E6-541D5B9D2A0C}"/>
                </a:ext>
              </a:extLst>
            </p:cNvPr>
            <p:cNvSpPr/>
            <p:nvPr/>
          </p:nvSpPr>
          <p:spPr bwMode="auto">
            <a:xfrm>
              <a:off x="2347373" y="5335022"/>
              <a:ext cx="133200" cy="149120"/>
            </a:xfrm>
            <a:prstGeom prst="roundRect">
              <a:avLst/>
            </a:prstGeom>
            <a:solidFill>
              <a:srgbClr val="FFFFFF">
                <a:lumMod val="75000"/>
              </a:srgbClr>
            </a:solidFill>
            <a:ln w="3175" cap="flat" cmpd="sng" algn="ctr">
              <a:noFill/>
              <a:prstDash val="dash"/>
            </a:ln>
            <a:effectLst/>
          </p:spPr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/>
                  <a:ea typeface="LG스마트체 Regular" panose="020B0600000101010101" pitchFamily="50" charset="-127"/>
                  <a:cs typeface="Arial" panose="020B0604020202020204" pitchFamily="34" charset="0"/>
                </a:rPr>
                <a:t>65</a:t>
              </a:r>
              <a:endPara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482" name="모서리가 둥근 직사각형 378">
              <a:extLst>
                <a:ext uri="{FF2B5EF4-FFF2-40B4-BE49-F238E27FC236}">
                  <a16:creationId xmlns:a16="http://schemas.microsoft.com/office/drawing/2014/main" id="{C31A9176-91BF-4C97-BA98-58EAFDD221A9}"/>
                </a:ext>
              </a:extLst>
            </p:cNvPr>
            <p:cNvSpPr/>
            <p:nvPr/>
          </p:nvSpPr>
          <p:spPr bwMode="auto">
            <a:xfrm>
              <a:off x="2536897" y="5335022"/>
              <a:ext cx="133200" cy="149120"/>
            </a:xfrm>
            <a:prstGeom prst="roundRect">
              <a:avLst/>
            </a:prstGeom>
            <a:solidFill>
              <a:srgbClr val="FFFFFF">
                <a:lumMod val="75000"/>
              </a:srgbClr>
            </a:solidFill>
            <a:ln w="3175" cap="flat" cmpd="sng" algn="ctr">
              <a:noFill/>
              <a:prstDash val="dash"/>
            </a:ln>
            <a:effectLst/>
          </p:spPr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/>
                  <a:ea typeface="LG스마트체 Regular" panose="020B0600000101010101" pitchFamily="50" charset="-127"/>
                  <a:cs typeface="Arial" panose="020B0604020202020204" pitchFamily="34" charset="0"/>
                </a:rPr>
                <a:t>55</a:t>
              </a:r>
              <a:endPara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endParaRPr>
            </a:p>
          </p:txBody>
        </p:sp>
      </p:grpSp>
      <p:sp>
        <p:nvSpPr>
          <p:cNvPr id="1499" name="Rectangle 3936">
            <a:extLst>
              <a:ext uri="{FF2B5EF4-FFF2-40B4-BE49-F238E27FC236}">
                <a16:creationId xmlns:a16="http://schemas.microsoft.com/office/drawing/2014/main" id="{B1076682-6675-3EEB-F9DA-3B250D311A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7102" y="2934354"/>
            <a:ext cx="720000" cy="149120"/>
          </a:xfrm>
          <a:prstGeom prst="rect">
            <a:avLst/>
          </a:prstGeom>
          <a:solidFill>
            <a:srgbClr val="00B050"/>
          </a:solidFill>
          <a:ln w="3175" cap="flat" cmpd="sng" algn="ctr">
            <a:solidFill>
              <a:srgbClr val="FFFFFF">
                <a:lumMod val="50000"/>
              </a:srgbClr>
            </a:solidFill>
            <a:prstDash val="solid"/>
          </a:ln>
          <a:effectLst/>
        </p:spPr>
        <p:txBody>
          <a:bodyPr wrap="none" lIns="0" tIns="45714" rIns="0" bIns="45714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/>
                <a:ea typeface="LG스마트체2.0 Regular"/>
                <a:cs typeface="+mn-cs"/>
              </a:rPr>
              <a:t>MRGB86B</a:t>
            </a:r>
          </a:p>
        </p:txBody>
      </p:sp>
      <p:sp>
        <p:nvSpPr>
          <p:cNvPr id="1500" name="Rectangle 3936">
            <a:extLst>
              <a:ext uri="{FF2B5EF4-FFF2-40B4-BE49-F238E27FC236}">
                <a16:creationId xmlns:a16="http://schemas.microsoft.com/office/drawing/2014/main" id="{E5D65BBA-DA9D-8572-EA29-A42C1F01C7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7102" y="3110636"/>
            <a:ext cx="720000" cy="149120"/>
          </a:xfrm>
          <a:prstGeom prst="rect">
            <a:avLst/>
          </a:prstGeom>
          <a:solidFill>
            <a:srgbClr val="00B050"/>
          </a:solidFill>
          <a:ln w="3175" cap="flat" cmpd="sng" algn="ctr">
            <a:noFill/>
            <a:prstDash val="solid"/>
          </a:ln>
          <a:effectLst/>
        </p:spPr>
        <p:txBody>
          <a:bodyPr wrap="none" lIns="0" tIns="45714" rIns="72000" bIns="45714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Arial Narrow"/>
                <a:ea typeface="LG스마트체2.0 Regular"/>
                <a:cs typeface="+mn-cs"/>
              </a:rPr>
              <a:t>MRGB87B</a:t>
            </a:r>
          </a:p>
        </p:txBody>
      </p:sp>
      <p:sp>
        <p:nvSpPr>
          <p:cNvPr id="1501" name="모서리가 둥근 직사각형 365">
            <a:extLst>
              <a:ext uri="{FF2B5EF4-FFF2-40B4-BE49-F238E27FC236}">
                <a16:creationId xmlns:a16="http://schemas.microsoft.com/office/drawing/2014/main" id="{DF5CA74D-D2CF-50AA-5217-A9646EE12D7F}"/>
              </a:ext>
            </a:extLst>
          </p:cNvPr>
          <p:cNvSpPr/>
          <p:nvPr/>
        </p:nvSpPr>
        <p:spPr bwMode="auto">
          <a:xfrm>
            <a:off x="1787101" y="3473370"/>
            <a:ext cx="133200" cy="149120"/>
          </a:xfrm>
          <a:prstGeom prst="roundRect">
            <a:avLst/>
          </a:prstGeom>
          <a:solidFill>
            <a:srgbClr val="FFFFFF"/>
          </a:solidFill>
          <a:ln w="6350" algn="ctr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100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502" name="모서리가 둥근 직사각형 365">
            <a:extLst>
              <a:ext uri="{FF2B5EF4-FFF2-40B4-BE49-F238E27FC236}">
                <a16:creationId xmlns:a16="http://schemas.microsoft.com/office/drawing/2014/main" id="{9A076485-C130-EC5A-0A92-CC3F27F8B4F1}"/>
              </a:ext>
            </a:extLst>
          </p:cNvPr>
          <p:cNvSpPr/>
          <p:nvPr/>
        </p:nvSpPr>
        <p:spPr bwMode="auto">
          <a:xfrm>
            <a:off x="4072431" y="3430138"/>
            <a:ext cx="133200" cy="149120"/>
          </a:xfrm>
          <a:prstGeom prst="roundRect">
            <a:avLst/>
          </a:prstGeom>
          <a:solidFill>
            <a:srgbClr val="FFFFFF"/>
          </a:solidFill>
          <a:ln w="6350" algn="ctr">
            <a:solidFill>
              <a:srgbClr val="C00000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115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503" name="모서리가 둥근 직사각형 365">
            <a:extLst>
              <a:ext uri="{FF2B5EF4-FFF2-40B4-BE49-F238E27FC236}">
                <a16:creationId xmlns:a16="http://schemas.microsoft.com/office/drawing/2014/main" id="{A51A7166-943B-61DE-0133-08CE9B84B768}"/>
              </a:ext>
            </a:extLst>
          </p:cNvPr>
          <p:cNvSpPr/>
          <p:nvPr/>
        </p:nvSpPr>
        <p:spPr bwMode="auto">
          <a:xfrm>
            <a:off x="4251091" y="2588822"/>
            <a:ext cx="133200" cy="149120"/>
          </a:xfrm>
          <a:prstGeom prst="roundRect">
            <a:avLst/>
          </a:prstGeom>
          <a:solidFill>
            <a:srgbClr val="FFFFFF"/>
          </a:solidFill>
          <a:ln w="6350" algn="ctr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100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504" name="모서리가 둥근 직사각형 365">
            <a:extLst>
              <a:ext uri="{FF2B5EF4-FFF2-40B4-BE49-F238E27FC236}">
                <a16:creationId xmlns:a16="http://schemas.microsoft.com/office/drawing/2014/main" id="{EECD50EF-209B-03B6-111B-3AFC6AFA4CD4}"/>
              </a:ext>
            </a:extLst>
          </p:cNvPr>
          <p:cNvSpPr/>
          <p:nvPr/>
        </p:nvSpPr>
        <p:spPr bwMode="auto">
          <a:xfrm>
            <a:off x="4255535" y="3942180"/>
            <a:ext cx="133200" cy="149120"/>
          </a:xfrm>
          <a:prstGeom prst="roundRect">
            <a:avLst/>
          </a:prstGeom>
          <a:solidFill>
            <a:srgbClr val="FFFFFF">
              <a:lumMod val="75000"/>
            </a:srgbClr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100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506" name="모서리가 둥근 직사각형 364">
            <a:extLst>
              <a:ext uri="{FF2B5EF4-FFF2-40B4-BE49-F238E27FC236}">
                <a16:creationId xmlns:a16="http://schemas.microsoft.com/office/drawing/2014/main" id="{E343DC19-311A-EBCC-9A75-EC7335BD8C3E}"/>
              </a:ext>
            </a:extLst>
          </p:cNvPr>
          <p:cNvSpPr/>
          <p:nvPr/>
        </p:nvSpPr>
        <p:spPr bwMode="auto">
          <a:xfrm>
            <a:off x="4608411" y="5096254"/>
            <a:ext cx="133200" cy="149120"/>
          </a:xfrm>
          <a:prstGeom prst="roundRect">
            <a:avLst/>
          </a:prstGeom>
          <a:solidFill>
            <a:srgbClr val="FFFFFF"/>
          </a:solidFill>
          <a:ln w="6350" algn="ctr">
            <a:solidFill>
              <a:srgbClr val="C00000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75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507" name="모서리가 둥근 직사각형 364">
            <a:extLst>
              <a:ext uri="{FF2B5EF4-FFF2-40B4-BE49-F238E27FC236}">
                <a16:creationId xmlns:a16="http://schemas.microsoft.com/office/drawing/2014/main" id="{B784A86B-97FF-DA93-89A4-561047EBF045}"/>
              </a:ext>
            </a:extLst>
          </p:cNvPr>
          <p:cNvSpPr/>
          <p:nvPr/>
        </p:nvSpPr>
        <p:spPr bwMode="auto">
          <a:xfrm>
            <a:off x="4608411" y="4931878"/>
            <a:ext cx="133200" cy="149120"/>
          </a:xfrm>
          <a:prstGeom prst="roundRect">
            <a:avLst/>
          </a:prstGeom>
          <a:solidFill>
            <a:srgbClr val="FFFFFF"/>
          </a:solidFill>
          <a:ln w="6350" algn="ctr">
            <a:solidFill>
              <a:srgbClr val="C00000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75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509" name="모서리가 둥근 직사각형 364">
            <a:extLst>
              <a:ext uri="{FF2B5EF4-FFF2-40B4-BE49-F238E27FC236}">
                <a16:creationId xmlns:a16="http://schemas.microsoft.com/office/drawing/2014/main" id="{1FBE15A2-18B4-447A-4E7D-F07A589447A3}"/>
              </a:ext>
            </a:extLst>
          </p:cNvPr>
          <p:cNvSpPr/>
          <p:nvPr/>
        </p:nvSpPr>
        <p:spPr bwMode="auto">
          <a:xfrm>
            <a:off x="4608411" y="4270523"/>
            <a:ext cx="133200" cy="149120"/>
          </a:xfrm>
          <a:prstGeom prst="roundRect">
            <a:avLst/>
          </a:prstGeom>
          <a:solidFill>
            <a:srgbClr val="FFFFFF"/>
          </a:solidFill>
          <a:ln w="6350" algn="ctr">
            <a:solidFill>
              <a:srgbClr val="C00000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75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510" name="모서리가 둥근 직사각형 364">
            <a:extLst>
              <a:ext uri="{FF2B5EF4-FFF2-40B4-BE49-F238E27FC236}">
                <a16:creationId xmlns:a16="http://schemas.microsoft.com/office/drawing/2014/main" id="{FAA33783-BFE1-3945-149E-59D013A25625}"/>
              </a:ext>
            </a:extLst>
          </p:cNvPr>
          <p:cNvSpPr/>
          <p:nvPr/>
        </p:nvSpPr>
        <p:spPr bwMode="auto">
          <a:xfrm>
            <a:off x="4608411" y="4101583"/>
            <a:ext cx="133200" cy="149120"/>
          </a:xfrm>
          <a:prstGeom prst="roundRect">
            <a:avLst/>
          </a:prstGeom>
          <a:solidFill>
            <a:srgbClr val="FFFFFF"/>
          </a:solidFill>
          <a:ln w="6350" algn="ctr">
            <a:solidFill>
              <a:srgbClr val="C00000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75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511" name="모서리가 둥근 직사각형 364">
            <a:extLst>
              <a:ext uri="{FF2B5EF4-FFF2-40B4-BE49-F238E27FC236}">
                <a16:creationId xmlns:a16="http://schemas.microsoft.com/office/drawing/2014/main" id="{707706E0-A8B6-017D-35FB-D42477E242D8}"/>
              </a:ext>
            </a:extLst>
          </p:cNvPr>
          <p:cNvSpPr/>
          <p:nvPr/>
        </p:nvSpPr>
        <p:spPr bwMode="auto">
          <a:xfrm>
            <a:off x="4608411" y="3941352"/>
            <a:ext cx="133200" cy="149120"/>
          </a:xfrm>
          <a:prstGeom prst="roundRect">
            <a:avLst/>
          </a:prstGeom>
          <a:solidFill>
            <a:srgbClr val="FFFFFF">
              <a:lumMod val="75000"/>
            </a:srgbClr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75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512" name="모서리가 둥근 직사각형 364">
            <a:extLst>
              <a:ext uri="{FF2B5EF4-FFF2-40B4-BE49-F238E27FC236}">
                <a16:creationId xmlns:a16="http://schemas.microsoft.com/office/drawing/2014/main" id="{5DD3DA55-D5FA-84FA-BA28-B1E465608A9D}"/>
              </a:ext>
            </a:extLst>
          </p:cNvPr>
          <p:cNvSpPr/>
          <p:nvPr/>
        </p:nvSpPr>
        <p:spPr bwMode="auto">
          <a:xfrm>
            <a:off x="4608411" y="3772412"/>
            <a:ext cx="133200" cy="149120"/>
          </a:xfrm>
          <a:prstGeom prst="roundRect">
            <a:avLst/>
          </a:prstGeom>
          <a:solidFill>
            <a:srgbClr val="FFFFFF">
              <a:lumMod val="75000"/>
            </a:srgbClr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75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513" name="모서리가 둥근 직사각형 364">
            <a:extLst>
              <a:ext uri="{FF2B5EF4-FFF2-40B4-BE49-F238E27FC236}">
                <a16:creationId xmlns:a16="http://schemas.microsoft.com/office/drawing/2014/main" id="{60F73EB8-2C80-D632-53B2-E36B72548550}"/>
              </a:ext>
            </a:extLst>
          </p:cNvPr>
          <p:cNvSpPr/>
          <p:nvPr/>
        </p:nvSpPr>
        <p:spPr bwMode="auto">
          <a:xfrm>
            <a:off x="4608411" y="3603472"/>
            <a:ext cx="133200" cy="149120"/>
          </a:xfrm>
          <a:prstGeom prst="roundRect">
            <a:avLst/>
          </a:prstGeom>
          <a:solidFill>
            <a:srgbClr val="FFFFFF">
              <a:lumMod val="75000"/>
            </a:srgbClr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75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514" name="모서리가 둥근 직사각형 364">
            <a:extLst>
              <a:ext uri="{FF2B5EF4-FFF2-40B4-BE49-F238E27FC236}">
                <a16:creationId xmlns:a16="http://schemas.microsoft.com/office/drawing/2014/main" id="{F722B9E4-E320-0BEF-31DC-21359AD41BA9}"/>
              </a:ext>
            </a:extLst>
          </p:cNvPr>
          <p:cNvSpPr/>
          <p:nvPr/>
        </p:nvSpPr>
        <p:spPr bwMode="auto">
          <a:xfrm>
            <a:off x="4608411" y="3434532"/>
            <a:ext cx="133200" cy="149120"/>
          </a:xfrm>
          <a:prstGeom prst="roundRect">
            <a:avLst/>
          </a:prstGeom>
          <a:solidFill>
            <a:srgbClr val="FFFFFF">
              <a:lumMod val="75000"/>
            </a:srgbClr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75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515" name="모서리가 둥근 직사각형 364">
            <a:extLst>
              <a:ext uri="{FF2B5EF4-FFF2-40B4-BE49-F238E27FC236}">
                <a16:creationId xmlns:a16="http://schemas.microsoft.com/office/drawing/2014/main" id="{07429A13-4BCB-7B5E-647C-2EB2F6BF7DB6}"/>
              </a:ext>
            </a:extLst>
          </p:cNvPr>
          <p:cNvSpPr/>
          <p:nvPr/>
        </p:nvSpPr>
        <p:spPr bwMode="auto">
          <a:xfrm>
            <a:off x="4608411" y="3274301"/>
            <a:ext cx="133200" cy="149120"/>
          </a:xfrm>
          <a:prstGeom prst="roundRect">
            <a:avLst/>
          </a:prstGeom>
          <a:solidFill>
            <a:srgbClr val="FFFFFF"/>
          </a:solidFill>
          <a:ln w="6350" algn="ctr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75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516" name="모서리가 둥근 직사각형 364">
            <a:extLst>
              <a:ext uri="{FF2B5EF4-FFF2-40B4-BE49-F238E27FC236}">
                <a16:creationId xmlns:a16="http://schemas.microsoft.com/office/drawing/2014/main" id="{A4864F86-2B8C-DB6B-DD5F-AA899E7FCE32}"/>
              </a:ext>
            </a:extLst>
          </p:cNvPr>
          <p:cNvSpPr/>
          <p:nvPr/>
        </p:nvSpPr>
        <p:spPr bwMode="auto">
          <a:xfrm>
            <a:off x="4608411" y="3105361"/>
            <a:ext cx="133200" cy="149120"/>
          </a:xfrm>
          <a:prstGeom prst="roundRect">
            <a:avLst/>
          </a:prstGeom>
          <a:solidFill>
            <a:srgbClr val="FFFFFF"/>
          </a:solidFill>
          <a:ln w="6350" algn="ctr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75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517" name="모서리가 둥근 직사각형 364">
            <a:extLst>
              <a:ext uri="{FF2B5EF4-FFF2-40B4-BE49-F238E27FC236}">
                <a16:creationId xmlns:a16="http://schemas.microsoft.com/office/drawing/2014/main" id="{7849C22D-C251-1810-C062-FCE0F3CFAD55}"/>
              </a:ext>
            </a:extLst>
          </p:cNvPr>
          <p:cNvSpPr/>
          <p:nvPr/>
        </p:nvSpPr>
        <p:spPr bwMode="auto">
          <a:xfrm>
            <a:off x="4608411" y="2927712"/>
            <a:ext cx="133200" cy="149120"/>
          </a:xfrm>
          <a:prstGeom prst="roundRect">
            <a:avLst/>
          </a:prstGeom>
          <a:solidFill>
            <a:srgbClr val="FFFFFF"/>
          </a:solidFill>
          <a:ln w="6350" algn="ctr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75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518" name="모서리가 둥근 직사각형 364">
            <a:extLst>
              <a:ext uri="{FF2B5EF4-FFF2-40B4-BE49-F238E27FC236}">
                <a16:creationId xmlns:a16="http://schemas.microsoft.com/office/drawing/2014/main" id="{BF755283-6972-FF0A-7AF1-4639C6A28B11}"/>
              </a:ext>
            </a:extLst>
          </p:cNvPr>
          <p:cNvSpPr/>
          <p:nvPr/>
        </p:nvSpPr>
        <p:spPr bwMode="auto">
          <a:xfrm>
            <a:off x="4608411" y="2750063"/>
            <a:ext cx="133200" cy="149120"/>
          </a:xfrm>
          <a:prstGeom prst="roundRect">
            <a:avLst/>
          </a:prstGeom>
          <a:solidFill>
            <a:srgbClr val="FFFFFF"/>
          </a:solidFill>
          <a:ln w="6350" algn="ctr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75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522" name="모서리가 둥근 직사각형 364">
            <a:extLst>
              <a:ext uri="{FF2B5EF4-FFF2-40B4-BE49-F238E27FC236}">
                <a16:creationId xmlns:a16="http://schemas.microsoft.com/office/drawing/2014/main" id="{796147F5-8A13-8213-986F-CDA7EF534BF1}"/>
              </a:ext>
            </a:extLst>
          </p:cNvPr>
          <p:cNvSpPr/>
          <p:nvPr/>
        </p:nvSpPr>
        <p:spPr bwMode="auto">
          <a:xfrm>
            <a:off x="4608411" y="2592353"/>
            <a:ext cx="133200" cy="149120"/>
          </a:xfrm>
          <a:prstGeom prst="roundRect">
            <a:avLst/>
          </a:prstGeom>
          <a:solidFill>
            <a:srgbClr val="FFFFFF"/>
          </a:solidFill>
          <a:ln w="6350" algn="ctr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75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526" name="모서리가 둥근 직사각형 365">
            <a:extLst>
              <a:ext uri="{FF2B5EF4-FFF2-40B4-BE49-F238E27FC236}">
                <a16:creationId xmlns:a16="http://schemas.microsoft.com/office/drawing/2014/main" id="{BE61A936-3A94-B4DA-8B0A-E87C9314D087}"/>
              </a:ext>
            </a:extLst>
          </p:cNvPr>
          <p:cNvSpPr/>
          <p:nvPr/>
        </p:nvSpPr>
        <p:spPr bwMode="auto">
          <a:xfrm>
            <a:off x="4429751" y="4931878"/>
            <a:ext cx="133200" cy="149120"/>
          </a:xfrm>
          <a:prstGeom prst="roundRect">
            <a:avLst/>
          </a:prstGeom>
          <a:solidFill>
            <a:srgbClr val="FFFFFF"/>
          </a:solidFill>
          <a:ln w="6350" algn="ctr">
            <a:solidFill>
              <a:srgbClr val="C00000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8</a:t>
            </a: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5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528" name="모서리가 둥근 직사각형 365">
            <a:extLst>
              <a:ext uri="{FF2B5EF4-FFF2-40B4-BE49-F238E27FC236}">
                <a16:creationId xmlns:a16="http://schemas.microsoft.com/office/drawing/2014/main" id="{5D8FE74C-749E-47DB-66B1-5F3E940E32A6}"/>
              </a:ext>
            </a:extLst>
          </p:cNvPr>
          <p:cNvSpPr/>
          <p:nvPr/>
        </p:nvSpPr>
        <p:spPr bwMode="auto">
          <a:xfrm>
            <a:off x="4429751" y="4275798"/>
            <a:ext cx="133200" cy="149120"/>
          </a:xfrm>
          <a:prstGeom prst="roundRect">
            <a:avLst/>
          </a:prstGeom>
          <a:solidFill>
            <a:srgbClr val="FFFFFF"/>
          </a:solidFill>
          <a:ln w="6350" algn="ctr">
            <a:solidFill>
              <a:srgbClr val="C00000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8</a:t>
            </a: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5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529" name="모서리가 둥근 직사각형 365">
            <a:extLst>
              <a:ext uri="{FF2B5EF4-FFF2-40B4-BE49-F238E27FC236}">
                <a16:creationId xmlns:a16="http://schemas.microsoft.com/office/drawing/2014/main" id="{5AA69DDF-59E5-85E4-1564-A48E9480747A}"/>
              </a:ext>
            </a:extLst>
          </p:cNvPr>
          <p:cNvSpPr/>
          <p:nvPr/>
        </p:nvSpPr>
        <p:spPr bwMode="auto">
          <a:xfrm>
            <a:off x="4429751" y="4106858"/>
            <a:ext cx="133200" cy="149120"/>
          </a:xfrm>
          <a:prstGeom prst="roundRect">
            <a:avLst/>
          </a:prstGeom>
          <a:solidFill>
            <a:srgbClr val="FFFFFF"/>
          </a:solidFill>
          <a:ln w="6350" algn="ctr">
            <a:solidFill>
              <a:srgbClr val="C00000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8</a:t>
            </a: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5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530" name="모서리가 둥근 직사각형 365">
            <a:extLst>
              <a:ext uri="{FF2B5EF4-FFF2-40B4-BE49-F238E27FC236}">
                <a16:creationId xmlns:a16="http://schemas.microsoft.com/office/drawing/2014/main" id="{B9938515-565C-44EE-7BEE-C1C9AA5CD6A6}"/>
              </a:ext>
            </a:extLst>
          </p:cNvPr>
          <p:cNvSpPr/>
          <p:nvPr/>
        </p:nvSpPr>
        <p:spPr bwMode="auto">
          <a:xfrm>
            <a:off x="4429751" y="3946627"/>
            <a:ext cx="133200" cy="149120"/>
          </a:xfrm>
          <a:prstGeom prst="roundRect">
            <a:avLst/>
          </a:prstGeom>
          <a:solidFill>
            <a:srgbClr val="FFFFFF">
              <a:lumMod val="75000"/>
            </a:srgbClr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86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531" name="모서리가 둥근 직사각형 365">
            <a:extLst>
              <a:ext uri="{FF2B5EF4-FFF2-40B4-BE49-F238E27FC236}">
                <a16:creationId xmlns:a16="http://schemas.microsoft.com/office/drawing/2014/main" id="{6BC9B597-33D6-EEA1-95B8-EFEE03033BBC}"/>
              </a:ext>
            </a:extLst>
          </p:cNvPr>
          <p:cNvSpPr/>
          <p:nvPr/>
        </p:nvSpPr>
        <p:spPr bwMode="auto">
          <a:xfrm>
            <a:off x="4429751" y="3777687"/>
            <a:ext cx="133200" cy="149120"/>
          </a:xfrm>
          <a:prstGeom prst="roundRect">
            <a:avLst/>
          </a:prstGeom>
          <a:solidFill>
            <a:srgbClr val="FFFFFF">
              <a:lumMod val="75000"/>
            </a:srgbClr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86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532" name="모서리가 둥근 직사각형 365">
            <a:extLst>
              <a:ext uri="{FF2B5EF4-FFF2-40B4-BE49-F238E27FC236}">
                <a16:creationId xmlns:a16="http://schemas.microsoft.com/office/drawing/2014/main" id="{48041641-037C-A2DB-5163-2F1695F000EB}"/>
              </a:ext>
            </a:extLst>
          </p:cNvPr>
          <p:cNvSpPr/>
          <p:nvPr/>
        </p:nvSpPr>
        <p:spPr bwMode="auto">
          <a:xfrm>
            <a:off x="4429751" y="3608747"/>
            <a:ext cx="133200" cy="149120"/>
          </a:xfrm>
          <a:prstGeom prst="roundRect">
            <a:avLst/>
          </a:prstGeom>
          <a:solidFill>
            <a:srgbClr val="FFFFFF">
              <a:lumMod val="75000"/>
            </a:srgbClr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86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533" name="모서리가 둥근 직사각형 365">
            <a:extLst>
              <a:ext uri="{FF2B5EF4-FFF2-40B4-BE49-F238E27FC236}">
                <a16:creationId xmlns:a16="http://schemas.microsoft.com/office/drawing/2014/main" id="{FF5FF423-94A3-AA74-D4F8-DECCF663C5DA}"/>
              </a:ext>
            </a:extLst>
          </p:cNvPr>
          <p:cNvSpPr/>
          <p:nvPr/>
        </p:nvSpPr>
        <p:spPr bwMode="auto">
          <a:xfrm>
            <a:off x="4429751" y="3439807"/>
            <a:ext cx="133200" cy="149120"/>
          </a:xfrm>
          <a:prstGeom prst="roundRect">
            <a:avLst/>
          </a:prstGeom>
          <a:solidFill>
            <a:srgbClr val="FFFFFF">
              <a:lumMod val="75000"/>
            </a:srgbClr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85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534" name="모서리가 둥근 직사각형 365">
            <a:extLst>
              <a:ext uri="{FF2B5EF4-FFF2-40B4-BE49-F238E27FC236}">
                <a16:creationId xmlns:a16="http://schemas.microsoft.com/office/drawing/2014/main" id="{CC61AF40-450C-5906-3554-38AC97BF6E24}"/>
              </a:ext>
            </a:extLst>
          </p:cNvPr>
          <p:cNvSpPr/>
          <p:nvPr/>
        </p:nvSpPr>
        <p:spPr bwMode="auto">
          <a:xfrm>
            <a:off x="4429751" y="3110636"/>
            <a:ext cx="133200" cy="149120"/>
          </a:xfrm>
          <a:prstGeom prst="roundRect">
            <a:avLst/>
          </a:prstGeom>
          <a:solidFill>
            <a:srgbClr val="FFFFFF"/>
          </a:solidFill>
          <a:ln w="6350" algn="ctr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86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535" name="모서리가 둥근 직사각형 365">
            <a:extLst>
              <a:ext uri="{FF2B5EF4-FFF2-40B4-BE49-F238E27FC236}">
                <a16:creationId xmlns:a16="http://schemas.microsoft.com/office/drawing/2014/main" id="{DEB2E754-61BA-7F68-08D2-1E509FF35EDC}"/>
              </a:ext>
            </a:extLst>
          </p:cNvPr>
          <p:cNvSpPr/>
          <p:nvPr/>
        </p:nvSpPr>
        <p:spPr bwMode="auto">
          <a:xfrm>
            <a:off x="4429751" y="3279575"/>
            <a:ext cx="133200" cy="149120"/>
          </a:xfrm>
          <a:prstGeom prst="roundRect">
            <a:avLst/>
          </a:prstGeom>
          <a:solidFill>
            <a:srgbClr val="FFFFFF"/>
          </a:solidFill>
          <a:ln w="6350" algn="ctr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86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536" name="모서리가 둥근 직사각형 365">
            <a:extLst>
              <a:ext uri="{FF2B5EF4-FFF2-40B4-BE49-F238E27FC236}">
                <a16:creationId xmlns:a16="http://schemas.microsoft.com/office/drawing/2014/main" id="{AA93EA56-71C4-B08E-FFC4-1B9A0D7F23E3}"/>
              </a:ext>
            </a:extLst>
          </p:cNvPr>
          <p:cNvSpPr/>
          <p:nvPr/>
        </p:nvSpPr>
        <p:spPr bwMode="auto">
          <a:xfrm>
            <a:off x="4429751" y="2755338"/>
            <a:ext cx="133200" cy="149120"/>
          </a:xfrm>
          <a:prstGeom prst="roundRect">
            <a:avLst/>
          </a:prstGeom>
          <a:solidFill>
            <a:srgbClr val="FFFFFF"/>
          </a:solidFill>
          <a:ln w="6350" algn="ctr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86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540" name="Rectangle 3936">
            <a:extLst>
              <a:ext uri="{FF2B5EF4-FFF2-40B4-BE49-F238E27FC236}">
                <a16:creationId xmlns:a16="http://schemas.microsoft.com/office/drawing/2014/main" id="{B2E069C6-BCA7-AC1B-4E1C-A473EA2B90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994" y="823507"/>
            <a:ext cx="720000" cy="149120"/>
          </a:xfrm>
          <a:prstGeom prst="rect">
            <a:avLst/>
          </a:prstGeom>
          <a:solidFill>
            <a:srgbClr val="000000"/>
          </a:solidFill>
          <a:ln w="3175" cap="flat" cmpd="sng" algn="ctr">
            <a:solidFill>
              <a:srgbClr val="FFFFFF">
                <a:lumMod val="50000"/>
              </a:srgbClr>
            </a:solidFill>
            <a:prstDash val="solid"/>
          </a:ln>
          <a:effectLst/>
        </p:spPr>
        <p:txBody>
          <a:bodyPr wrap="none" lIns="91429" tIns="45714" rIns="91429" bIns="45714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/>
                <a:ea typeface="LG스마트체2.0 Regular"/>
                <a:cs typeface="+mn-cs"/>
              </a:rPr>
              <a:t>T4</a:t>
            </a:r>
          </a:p>
        </p:txBody>
      </p:sp>
      <p:sp>
        <p:nvSpPr>
          <p:cNvPr id="1541" name="Rectangle 3936">
            <a:extLst>
              <a:ext uri="{FF2B5EF4-FFF2-40B4-BE49-F238E27FC236}">
                <a16:creationId xmlns:a16="http://schemas.microsoft.com/office/drawing/2014/main" id="{BC27FE86-FC41-DCCA-9F20-880B180E96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7102" y="712667"/>
            <a:ext cx="720000" cy="149120"/>
          </a:xfrm>
          <a:prstGeom prst="rect">
            <a:avLst/>
          </a:prstGeom>
          <a:solidFill>
            <a:srgbClr val="000000"/>
          </a:solidFill>
          <a:ln w="3175" cap="flat" cmpd="sng" algn="ctr">
            <a:solidFill>
              <a:srgbClr val="FFFFFF">
                <a:lumMod val="50000"/>
              </a:srgbClr>
            </a:solidFill>
            <a:prstDash val="solid"/>
          </a:ln>
          <a:effectLst/>
        </p:spPr>
        <p:txBody>
          <a:bodyPr wrap="none" lIns="91429" tIns="45714" rIns="91429" bIns="45714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/>
                <a:ea typeface="LG스마트체2.0 Regular"/>
                <a:cs typeface="+mn-cs"/>
              </a:rPr>
              <a:t>W6</a:t>
            </a:r>
          </a:p>
        </p:txBody>
      </p:sp>
      <p:sp>
        <p:nvSpPr>
          <p:cNvPr id="1542" name="모서리가 둥근 직사각형 364">
            <a:extLst>
              <a:ext uri="{FF2B5EF4-FFF2-40B4-BE49-F238E27FC236}">
                <a16:creationId xmlns:a16="http://schemas.microsoft.com/office/drawing/2014/main" id="{FDBF1CC2-AB86-58DE-A884-3BA3A228BFD2}"/>
              </a:ext>
            </a:extLst>
          </p:cNvPr>
          <p:cNvSpPr/>
          <p:nvPr/>
        </p:nvSpPr>
        <p:spPr bwMode="auto">
          <a:xfrm>
            <a:off x="2157849" y="823507"/>
            <a:ext cx="133200" cy="149120"/>
          </a:xfrm>
          <a:prstGeom prst="roundRect">
            <a:avLst/>
          </a:prstGeom>
          <a:solidFill>
            <a:srgbClr val="FFFFFF"/>
          </a:solidFill>
          <a:ln w="6350" algn="ctr">
            <a:solidFill>
              <a:srgbClr val="C00000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77</a:t>
            </a:r>
            <a:endParaRPr kumimoji="0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543" name="모서리가 둥근 직사각형 364">
            <a:extLst>
              <a:ext uri="{FF2B5EF4-FFF2-40B4-BE49-F238E27FC236}">
                <a16:creationId xmlns:a16="http://schemas.microsoft.com/office/drawing/2014/main" id="{6B8823F7-BA49-5C38-00E0-67B4CBE585EF}"/>
              </a:ext>
            </a:extLst>
          </p:cNvPr>
          <p:cNvSpPr/>
          <p:nvPr/>
        </p:nvSpPr>
        <p:spPr bwMode="auto">
          <a:xfrm>
            <a:off x="4608411" y="712667"/>
            <a:ext cx="133200" cy="149120"/>
          </a:xfrm>
          <a:prstGeom prst="roundRect">
            <a:avLst/>
          </a:prstGeom>
          <a:solidFill>
            <a:srgbClr val="FFFFFF"/>
          </a:solidFill>
          <a:ln w="6350" algn="ctr">
            <a:solidFill>
              <a:srgbClr val="C00000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77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544" name="모서리가 둥근 직사각형 364">
            <a:extLst>
              <a:ext uri="{FF2B5EF4-FFF2-40B4-BE49-F238E27FC236}">
                <a16:creationId xmlns:a16="http://schemas.microsoft.com/office/drawing/2014/main" id="{18AD1AAB-634A-C3BE-AEC0-06F0035293E0}"/>
              </a:ext>
            </a:extLst>
          </p:cNvPr>
          <p:cNvSpPr/>
          <p:nvPr/>
        </p:nvSpPr>
        <p:spPr bwMode="auto">
          <a:xfrm>
            <a:off x="4429751" y="712667"/>
            <a:ext cx="133200" cy="149120"/>
          </a:xfrm>
          <a:prstGeom prst="roundRect">
            <a:avLst/>
          </a:prstGeom>
          <a:solidFill>
            <a:srgbClr val="FFFFFF"/>
          </a:solidFill>
          <a:ln w="6350" algn="ctr">
            <a:solidFill>
              <a:srgbClr val="C00000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83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545" name="모서리가 둥근 직사각형 365">
            <a:extLst>
              <a:ext uri="{FF2B5EF4-FFF2-40B4-BE49-F238E27FC236}">
                <a16:creationId xmlns:a16="http://schemas.microsoft.com/office/drawing/2014/main" id="{1B38FD21-F0A4-1D77-BC34-C7429AB95FEB}"/>
              </a:ext>
            </a:extLst>
          </p:cNvPr>
          <p:cNvSpPr/>
          <p:nvPr/>
        </p:nvSpPr>
        <p:spPr bwMode="auto">
          <a:xfrm>
            <a:off x="4429751" y="2588822"/>
            <a:ext cx="133200" cy="149120"/>
          </a:xfrm>
          <a:prstGeom prst="roundRect">
            <a:avLst/>
          </a:prstGeom>
          <a:solidFill>
            <a:srgbClr val="FFFFFF"/>
          </a:solidFill>
          <a:ln w="6350" algn="ctr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86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548" name="모서리가 둥근 직사각형 375">
            <a:extLst>
              <a:ext uri="{FF2B5EF4-FFF2-40B4-BE49-F238E27FC236}">
                <a16:creationId xmlns:a16="http://schemas.microsoft.com/office/drawing/2014/main" id="{2B5DC125-C6C5-1630-55D0-8A73D9275BCF}"/>
              </a:ext>
            </a:extLst>
          </p:cNvPr>
          <p:cNvSpPr/>
          <p:nvPr/>
        </p:nvSpPr>
        <p:spPr bwMode="auto">
          <a:xfrm>
            <a:off x="5323050" y="5251073"/>
            <a:ext cx="133200" cy="149120"/>
          </a:xfrm>
          <a:prstGeom prst="roundRect">
            <a:avLst/>
          </a:prstGeom>
          <a:solidFill>
            <a:srgbClr val="FFFFFF"/>
          </a:solidFill>
          <a:ln w="6350" algn="ctr">
            <a:solidFill>
              <a:srgbClr val="C00000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43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549" name="모서리가 둥근 직사각형 375">
            <a:extLst>
              <a:ext uri="{FF2B5EF4-FFF2-40B4-BE49-F238E27FC236}">
                <a16:creationId xmlns:a16="http://schemas.microsoft.com/office/drawing/2014/main" id="{78E55089-8F28-3303-CD64-7158DE7DF7A9}"/>
              </a:ext>
            </a:extLst>
          </p:cNvPr>
          <p:cNvSpPr/>
          <p:nvPr/>
        </p:nvSpPr>
        <p:spPr bwMode="auto">
          <a:xfrm>
            <a:off x="5323050" y="5096254"/>
            <a:ext cx="133200" cy="149120"/>
          </a:xfrm>
          <a:prstGeom prst="roundRect">
            <a:avLst/>
          </a:prstGeom>
          <a:solidFill>
            <a:srgbClr val="FFFFFF"/>
          </a:solidFill>
          <a:ln w="6350" algn="ctr">
            <a:solidFill>
              <a:srgbClr val="C00000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43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550" name="모서리가 둥근 직사각형 375">
            <a:extLst>
              <a:ext uri="{FF2B5EF4-FFF2-40B4-BE49-F238E27FC236}">
                <a16:creationId xmlns:a16="http://schemas.microsoft.com/office/drawing/2014/main" id="{6B2CDDD7-7C23-E7CA-8492-B5A7BEB67480}"/>
              </a:ext>
            </a:extLst>
          </p:cNvPr>
          <p:cNvSpPr/>
          <p:nvPr/>
        </p:nvSpPr>
        <p:spPr bwMode="auto">
          <a:xfrm>
            <a:off x="5323050" y="4931878"/>
            <a:ext cx="133200" cy="149120"/>
          </a:xfrm>
          <a:prstGeom prst="roundRect">
            <a:avLst/>
          </a:prstGeom>
          <a:solidFill>
            <a:srgbClr val="FFFFFF">
              <a:lumMod val="75000"/>
            </a:srgbClr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43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554" name="모서리가 둥근 직사각형 375">
            <a:extLst>
              <a:ext uri="{FF2B5EF4-FFF2-40B4-BE49-F238E27FC236}">
                <a16:creationId xmlns:a16="http://schemas.microsoft.com/office/drawing/2014/main" id="{8C7F2771-F108-B3B2-FCF8-E48745C21810}"/>
              </a:ext>
            </a:extLst>
          </p:cNvPr>
          <p:cNvSpPr/>
          <p:nvPr/>
        </p:nvSpPr>
        <p:spPr bwMode="auto">
          <a:xfrm>
            <a:off x="5323050" y="3942984"/>
            <a:ext cx="133200" cy="149120"/>
          </a:xfrm>
          <a:prstGeom prst="roundRect">
            <a:avLst/>
          </a:prstGeom>
          <a:solidFill>
            <a:srgbClr val="FFFFFF">
              <a:lumMod val="75000"/>
            </a:srgbClr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43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557" name="모서리가 둥근 직사각형 376">
            <a:extLst>
              <a:ext uri="{FF2B5EF4-FFF2-40B4-BE49-F238E27FC236}">
                <a16:creationId xmlns:a16="http://schemas.microsoft.com/office/drawing/2014/main" id="{5DA05C39-8C0E-E3A9-FDDE-F87F8857DE86}"/>
              </a:ext>
            </a:extLst>
          </p:cNvPr>
          <p:cNvSpPr/>
          <p:nvPr/>
        </p:nvSpPr>
        <p:spPr bwMode="auto">
          <a:xfrm>
            <a:off x="5139795" y="5251073"/>
            <a:ext cx="133200" cy="149120"/>
          </a:xfrm>
          <a:prstGeom prst="roundRect">
            <a:avLst/>
          </a:prstGeom>
          <a:solidFill>
            <a:srgbClr val="FFFFFF"/>
          </a:solidFill>
          <a:ln w="6350" algn="ctr">
            <a:solidFill>
              <a:srgbClr val="C00000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50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558" name="모서리가 둥근 직사각형 376">
            <a:extLst>
              <a:ext uri="{FF2B5EF4-FFF2-40B4-BE49-F238E27FC236}">
                <a16:creationId xmlns:a16="http://schemas.microsoft.com/office/drawing/2014/main" id="{19C9C1AB-5640-AE50-86B1-F8FA40E8B49B}"/>
              </a:ext>
            </a:extLst>
          </p:cNvPr>
          <p:cNvSpPr/>
          <p:nvPr/>
        </p:nvSpPr>
        <p:spPr bwMode="auto">
          <a:xfrm>
            <a:off x="5139795" y="5096254"/>
            <a:ext cx="133200" cy="149120"/>
          </a:xfrm>
          <a:prstGeom prst="roundRect">
            <a:avLst/>
          </a:prstGeom>
          <a:solidFill>
            <a:srgbClr val="FFFFFF"/>
          </a:solidFill>
          <a:ln w="6350" algn="ctr">
            <a:solidFill>
              <a:srgbClr val="C00000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50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559" name="모서리가 둥근 직사각형 376">
            <a:extLst>
              <a:ext uri="{FF2B5EF4-FFF2-40B4-BE49-F238E27FC236}">
                <a16:creationId xmlns:a16="http://schemas.microsoft.com/office/drawing/2014/main" id="{1A6BD371-ED9F-F618-87A2-44D50894E763}"/>
              </a:ext>
            </a:extLst>
          </p:cNvPr>
          <p:cNvSpPr/>
          <p:nvPr/>
        </p:nvSpPr>
        <p:spPr bwMode="auto">
          <a:xfrm>
            <a:off x="5139795" y="4931878"/>
            <a:ext cx="133200" cy="149120"/>
          </a:xfrm>
          <a:prstGeom prst="roundRect">
            <a:avLst/>
          </a:prstGeom>
          <a:solidFill>
            <a:srgbClr val="FFFFFF">
              <a:lumMod val="75000"/>
            </a:srgbClr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50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563" name="모서리가 둥근 직사각형 376">
            <a:extLst>
              <a:ext uri="{FF2B5EF4-FFF2-40B4-BE49-F238E27FC236}">
                <a16:creationId xmlns:a16="http://schemas.microsoft.com/office/drawing/2014/main" id="{5C58DE99-5142-78D4-B63B-27EF7C0F7D8D}"/>
              </a:ext>
            </a:extLst>
          </p:cNvPr>
          <p:cNvSpPr/>
          <p:nvPr/>
        </p:nvSpPr>
        <p:spPr bwMode="auto">
          <a:xfrm>
            <a:off x="5139795" y="3941352"/>
            <a:ext cx="133200" cy="149120"/>
          </a:xfrm>
          <a:prstGeom prst="roundRect">
            <a:avLst/>
          </a:prstGeom>
          <a:solidFill>
            <a:srgbClr val="FFFFFF">
              <a:lumMod val="75000"/>
            </a:srgbClr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50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564" name="모서리가 둥근 직사각형 376">
            <a:extLst>
              <a:ext uri="{FF2B5EF4-FFF2-40B4-BE49-F238E27FC236}">
                <a16:creationId xmlns:a16="http://schemas.microsoft.com/office/drawing/2014/main" id="{497A4E7F-8421-B20A-5F94-7101B8F5D899}"/>
              </a:ext>
            </a:extLst>
          </p:cNvPr>
          <p:cNvSpPr/>
          <p:nvPr/>
        </p:nvSpPr>
        <p:spPr bwMode="auto">
          <a:xfrm>
            <a:off x="5139795" y="3772412"/>
            <a:ext cx="133200" cy="149120"/>
          </a:xfrm>
          <a:prstGeom prst="roundRect">
            <a:avLst/>
          </a:prstGeom>
          <a:solidFill>
            <a:srgbClr val="FFFFFF">
              <a:lumMod val="75000"/>
            </a:srgbClr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50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565" name="모서리가 둥근 직사각형 376">
            <a:extLst>
              <a:ext uri="{FF2B5EF4-FFF2-40B4-BE49-F238E27FC236}">
                <a16:creationId xmlns:a16="http://schemas.microsoft.com/office/drawing/2014/main" id="{1CBC43D5-5FB1-234C-89FC-60E57FF6659A}"/>
              </a:ext>
            </a:extLst>
          </p:cNvPr>
          <p:cNvSpPr/>
          <p:nvPr/>
        </p:nvSpPr>
        <p:spPr bwMode="auto">
          <a:xfrm>
            <a:off x="5144391" y="3274301"/>
            <a:ext cx="133200" cy="149120"/>
          </a:xfrm>
          <a:prstGeom prst="roundRect">
            <a:avLst/>
          </a:prstGeom>
          <a:solidFill>
            <a:srgbClr val="FFFFFF"/>
          </a:solidFill>
          <a:ln w="6350" algn="ctr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50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566" name="모서리가 둥근 직사각형 376">
            <a:extLst>
              <a:ext uri="{FF2B5EF4-FFF2-40B4-BE49-F238E27FC236}">
                <a16:creationId xmlns:a16="http://schemas.microsoft.com/office/drawing/2014/main" id="{A900BB53-7726-7EB9-65BE-9972DA6C4966}"/>
              </a:ext>
            </a:extLst>
          </p:cNvPr>
          <p:cNvSpPr/>
          <p:nvPr/>
        </p:nvSpPr>
        <p:spPr bwMode="auto">
          <a:xfrm>
            <a:off x="5144391" y="3105361"/>
            <a:ext cx="133200" cy="149120"/>
          </a:xfrm>
          <a:prstGeom prst="roundRect">
            <a:avLst/>
          </a:prstGeom>
          <a:solidFill>
            <a:srgbClr val="FFFFFF"/>
          </a:solidFill>
          <a:ln w="6350" algn="ctr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50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567" name="모서리가 둥근 직사각형 376">
            <a:extLst>
              <a:ext uri="{FF2B5EF4-FFF2-40B4-BE49-F238E27FC236}">
                <a16:creationId xmlns:a16="http://schemas.microsoft.com/office/drawing/2014/main" id="{C66535D6-81D5-925E-44AD-193962444F7E}"/>
              </a:ext>
            </a:extLst>
          </p:cNvPr>
          <p:cNvSpPr/>
          <p:nvPr/>
        </p:nvSpPr>
        <p:spPr bwMode="auto">
          <a:xfrm>
            <a:off x="5144391" y="2927712"/>
            <a:ext cx="133200" cy="149120"/>
          </a:xfrm>
          <a:prstGeom prst="roundRect">
            <a:avLst/>
          </a:prstGeom>
          <a:solidFill>
            <a:srgbClr val="FFFFFF"/>
          </a:solidFill>
          <a:ln w="6350" algn="ctr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50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573" name="모서리가 둥근 직사각형 377">
            <a:extLst>
              <a:ext uri="{FF2B5EF4-FFF2-40B4-BE49-F238E27FC236}">
                <a16:creationId xmlns:a16="http://schemas.microsoft.com/office/drawing/2014/main" id="{EB006342-0186-FE88-3D27-E4A80355846D}"/>
              </a:ext>
            </a:extLst>
          </p:cNvPr>
          <p:cNvSpPr/>
          <p:nvPr/>
        </p:nvSpPr>
        <p:spPr bwMode="auto">
          <a:xfrm>
            <a:off x="4787071" y="5251073"/>
            <a:ext cx="133200" cy="149120"/>
          </a:xfrm>
          <a:prstGeom prst="roundRect">
            <a:avLst/>
          </a:prstGeom>
          <a:solidFill>
            <a:srgbClr val="FFFFFF"/>
          </a:solidFill>
          <a:ln w="6350" algn="ctr">
            <a:solidFill>
              <a:srgbClr val="C00000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65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574" name="모서리가 둥근 직사각형 377">
            <a:extLst>
              <a:ext uri="{FF2B5EF4-FFF2-40B4-BE49-F238E27FC236}">
                <a16:creationId xmlns:a16="http://schemas.microsoft.com/office/drawing/2014/main" id="{9A965CDC-5176-B798-48E9-13F77B59C3A2}"/>
              </a:ext>
            </a:extLst>
          </p:cNvPr>
          <p:cNvSpPr/>
          <p:nvPr/>
        </p:nvSpPr>
        <p:spPr bwMode="auto">
          <a:xfrm>
            <a:off x="4787071" y="5096254"/>
            <a:ext cx="133200" cy="149120"/>
          </a:xfrm>
          <a:prstGeom prst="roundRect">
            <a:avLst/>
          </a:prstGeom>
          <a:solidFill>
            <a:srgbClr val="FFFFFF"/>
          </a:solidFill>
          <a:ln w="6350" algn="ctr">
            <a:solidFill>
              <a:srgbClr val="C00000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65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575" name="모서리가 둥근 직사각형 377">
            <a:extLst>
              <a:ext uri="{FF2B5EF4-FFF2-40B4-BE49-F238E27FC236}">
                <a16:creationId xmlns:a16="http://schemas.microsoft.com/office/drawing/2014/main" id="{10E199CD-7096-7BCB-D389-772AD6A47EC8}"/>
              </a:ext>
            </a:extLst>
          </p:cNvPr>
          <p:cNvSpPr/>
          <p:nvPr/>
        </p:nvSpPr>
        <p:spPr bwMode="auto">
          <a:xfrm>
            <a:off x="4787071" y="4931878"/>
            <a:ext cx="133200" cy="149120"/>
          </a:xfrm>
          <a:prstGeom prst="roundRect">
            <a:avLst/>
          </a:prstGeom>
          <a:solidFill>
            <a:srgbClr val="FFFFFF">
              <a:lumMod val="75000"/>
            </a:srgbClr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65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577" name="모서리가 둥근 직사각형 377">
            <a:extLst>
              <a:ext uri="{FF2B5EF4-FFF2-40B4-BE49-F238E27FC236}">
                <a16:creationId xmlns:a16="http://schemas.microsoft.com/office/drawing/2014/main" id="{FB848E1F-E004-79FA-BCB8-823054767AAA}"/>
              </a:ext>
            </a:extLst>
          </p:cNvPr>
          <p:cNvSpPr/>
          <p:nvPr/>
        </p:nvSpPr>
        <p:spPr bwMode="auto">
          <a:xfrm>
            <a:off x="4787071" y="4270523"/>
            <a:ext cx="133200" cy="149120"/>
          </a:xfrm>
          <a:prstGeom prst="roundRect">
            <a:avLst/>
          </a:prstGeom>
          <a:solidFill>
            <a:srgbClr val="FFFFFF">
              <a:lumMod val="75000"/>
            </a:srgbClr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65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578" name="모서리가 둥근 직사각형 377">
            <a:extLst>
              <a:ext uri="{FF2B5EF4-FFF2-40B4-BE49-F238E27FC236}">
                <a16:creationId xmlns:a16="http://schemas.microsoft.com/office/drawing/2014/main" id="{1DFD5623-AA36-16B2-07B9-974E25A86BBF}"/>
              </a:ext>
            </a:extLst>
          </p:cNvPr>
          <p:cNvSpPr/>
          <p:nvPr/>
        </p:nvSpPr>
        <p:spPr bwMode="auto">
          <a:xfrm>
            <a:off x="4787071" y="4101583"/>
            <a:ext cx="133200" cy="149120"/>
          </a:xfrm>
          <a:prstGeom prst="roundRect">
            <a:avLst/>
          </a:prstGeom>
          <a:solidFill>
            <a:srgbClr val="FFFFFF">
              <a:lumMod val="75000"/>
            </a:srgbClr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65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579" name="모서리가 둥근 직사각형 377">
            <a:extLst>
              <a:ext uri="{FF2B5EF4-FFF2-40B4-BE49-F238E27FC236}">
                <a16:creationId xmlns:a16="http://schemas.microsoft.com/office/drawing/2014/main" id="{B39350AC-EA95-16A7-B658-7223A70B06A4}"/>
              </a:ext>
            </a:extLst>
          </p:cNvPr>
          <p:cNvSpPr/>
          <p:nvPr/>
        </p:nvSpPr>
        <p:spPr bwMode="auto">
          <a:xfrm>
            <a:off x="4787071" y="3941352"/>
            <a:ext cx="133200" cy="149120"/>
          </a:xfrm>
          <a:prstGeom prst="roundRect">
            <a:avLst/>
          </a:prstGeom>
          <a:solidFill>
            <a:srgbClr val="FFFFFF">
              <a:lumMod val="75000"/>
            </a:srgbClr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65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580" name="모서리가 둥근 직사각형 377">
            <a:extLst>
              <a:ext uri="{FF2B5EF4-FFF2-40B4-BE49-F238E27FC236}">
                <a16:creationId xmlns:a16="http://schemas.microsoft.com/office/drawing/2014/main" id="{15B7EF0D-D373-53F2-D626-7810D900329B}"/>
              </a:ext>
            </a:extLst>
          </p:cNvPr>
          <p:cNvSpPr/>
          <p:nvPr/>
        </p:nvSpPr>
        <p:spPr bwMode="auto">
          <a:xfrm>
            <a:off x="4787071" y="3772412"/>
            <a:ext cx="133200" cy="149120"/>
          </a:xfrm>
          <a:prstGeom prst="roundRect">
            <a:avLst/>
          </a:prstGeom>
          <a:solidFill>
            <a:srgbClr val="FFFFFF">
              <a:lumMod val="75000"/>
            </a:srgbClr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65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581" name="모서리가 둥근 직사각형 377">
            <a:extLst>
              <a:ext uri="{FF2B5EF4-FFF2-40B4-BE49-F238E27FC236}">
                <a16:creationId xmlns:a16="http://schemas.microsoft.com/office/drawing/2014/main" id="{6FF0D9BE-D497-B702-0EFB-939C642157C9}"/>
              </a:ext>
            </a:extLst>
          </p:cNvPr>
          <p:cNvSpPr/>
          <p:nvPr/>
        </p:nvSpPr>
        <p:spPr bwMode="auto">
          <a:xfrm>
            <a:off x="4787071" y="3603472"/>
            <a:ext cx="133200" cy="149120"/>
          </a:xfrm>
          <a:prstGeom prst="roundRect">
            <a:avLst/>
          </a:prstGeom>
          <a:solidFill>
            <a:srgbClr val="FFFFFF">
              <a:lumMod val="75000"/>
            </a:srgbClr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65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582" name="모서리가 둥근 직사각형 377">
            <a:extLst>
              <a:ext uri="{FF2B5EF4-FFF2-40B4-BE49-F238E27FC236}">
                <a16:creationId xmlns:a16="http://schemas.microsoft.com/office/drawing/2014/main" id="{CE22AE93-3906-7058-FA81-75F9DCE3058D}"/>
              </a:ext>
            </a:extLst>
          </p:cNvPr>
          <p:cNvSpPr/>
          <p:nvPr/>
        </p:nvSpPr>
        <p:spPr bwMode="auto">
          <a:xfrm>
            <a:off x="4787071" y="3434532"/>
            <a:ext cx="133200" cy="149120"/>
          </a:xfrm>
          <a:prstGeom prst="roundRect">
            <a:avLst/>
          </a:prstGeom>
          <a:solidFill>
            <a:srgbClr val="FFFFFF">
              <a:lumMod val="75000"/>
            </a:srgbClr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65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583" name="모서리가 둥근 직사각형 377">
            <a:extLst>
              <a:ext uri="{FF2B5EF4-FFF2-40B4-BE49-F238E27FC236}">
                <a16:creationId xmlns:a16="http://schemas.microsoft.com/office/drawing/2014/main" id="{4EB8CE0B-DECA-A1CF-7379-04AD180EC5D3}"/>
              </a:ext>
            </a:extLst>
          </p:cNvPr>
          <p:cNvSpPr/>
          <p:nvPr/>
        </p:nvSpPr>
        <p:spPr bwMode="auto">
          <a:xfrm>
            <a:off x="4787071" y="3274301"/>
            <a:ext cx="133200" cy="149120"/>
          </a:xfrm>
          <a:prstGeom prst="roundRect">
            <a:avLst/>
          </a:prstGeom>
          <a:solidFill>
            <a:srgbClr val="FFFFFF"/>
          </a:solidFill>
          <a:ln w="6350" algn="ctr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65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584" name="모서리가 둥근 직사각형 377">
            <a:extLst>
              <a:ext uri="{FF2B5EF4-FFF2-40B4-BE49-F238E27FC236}">
                <a16:creationId xmlns:a16="http://schemas.microsoft.com/office/drawing/2014/main" id="{CCD29175-61DA-9607-E0A7-9CDEAAE26045}"/>
              </a:ext>
            </a:extLst>
          </p:cNvPr>
          <p:cNvSpPr/>
          <p:nvPr/>
        </p:nvSpPr>
        <p:spPr bwMode="auto">
          <a:xfrm>
            <a:off x="4787071" y="3105361"/>
            <a:ext cx="133200" cy="149120"/>
          </a:xfrm>
          <a:prstGeom prst="roundRect">
            <a:avLst/>
          </a:prstGeom>
          <a:solidFill>
            <a:srgbClr val="FFFFFF"/>
          </a:solidFill>
          <a:ln w="6350" algn="ctr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65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585" name="모서리가 둥근 직사각형 377">
            <a:extLst>
              <a:ext uri="{FF2B5EF4-FFF2-40B4-BE49-F238E27FC236}">
                <a16:creationId xmlns:a16="http://schemas.microsoft.com/office/drawing/2014/main" id="{A5E1AB8F-9939-5277-3E45-4DD7032B3C38}"/>
              </a:ext>
            </a:extLst>
          </p:cNvPr>
          <p:cNvSpPr/>
          <p:nvPr/>
        </p:nvSpPr>
        <p:spPr bwMode="auto">
          <a:xfrm>
            <a:off x="4787071" y="2927712"/>
            <a:ext cx="133200" cy="149120"/>
          </a:xfrm>
          <a:prstGeom prst="roundRect">
            <a:avLst/>
          </a:prstGeom>
          <a:solidFill>
            <a:srgbClr val="FFFFFF"/>
          </a:solidFill>
          <a:ln w="6350" algn="ctr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65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586" name="모서리가 둥근 직사각형 377">
            <a:extLst>
              <a:ext uri="{FF2B5EF4-FFF2-40B4-BE49-F238E27FC236}">
                <a16:creationId xmlns:a16="http://schemas.microsoft.com/office/drawing/2014/main" id="{A93DE242-E4DD-0C08-ED27-6E7A9945B6DE}"/>
              </a:ext>
            </a:extLst>
          </p:cNvPr>
          <p:cNvSpPr/>
          <p:nvPr/>
        </p:nvSpPr>
        <p:spPr bwMode="auto">
          <a:xfrm>
            <a:off x="4787071" y="2750063"/>
            <a:ext cx="133200" cy="149120"/>
          </a:xfrm>
          <a:prstGeom prst="roundRect">
            <a:avLst/>
          </a:prstGeom>
          <a:solidFill>
            <a:srgbClr val="FFFFFF"/>
          </a:solidFill>
          <a:ln w="6350" algn="ctr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65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587" name="Rectangle 3936">
            <a:extLst>
              <a:ext uri="{FF2B5EF4-FFF2-40B4-BE49-F238E27FC236}">
                <a16:creationId xmlns:a16="http://schemas.microsoft.com/office/drawing/2014/main" id="{1C13F1B2-4E10-BA22-D172-B1B9D7CBA6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7102" y="881077"/>
            <a:ext cx="720000" cy="149120"/>
          </a:xfrm>
          <a:prstGeom prst="rect">
            <a:avLst/>
          </a:prstGeom>
          <a:solidFill>
            <a:srgbClr val="000000"/>
          </a:solidFill>
          <a:ln w="3175" cap="flat" cmpd="sng" algn="ctr">
            <a:solidFill>
              <a:srgbClr val="FFFFFF">
                <a:lumMod val="50000"/>
              </a:srgbClr>
            </a:solidFill>
            <a:prstDash val="solid"/>
          </a:ln>
          <a:effectLst/>
        </p:spPr>
        <p:txBody>
          <a:bodyPr wrap="none" lIns="91429" tIns="45714" rIns="91429" bIns="45714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/>
                <a:ea typeface="LG스마트체2.0 Regular"/>
                <a:cs typeface="+mn-cs"/>
              </a:rPr>
              <a:t>M5</a:t>
            </a:r>
          </a:p>
        </p:txBody>
      </p:sp>
      <p:sp>
        <p:nvSpPr>
          <p:cNvPr id="1588" name="Rectangle 3936">
            <a:extLst>
              <a:ext uri="{FF2B5EF4-FFF2-40B4-BE49-F238E27FC236}">
                <a16:creationId xmlns:a16="http://schemas.microsoft.com/office/drawing/2014/main" id="{3BBAAA0C-DC41-4561-11C8-90738C38DB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994" y="1176719"/>
            <a:ext cx="720000" cy="149120"/>
          </a:xfrm>
          <a:prstGeom prst="rect">
            <a:avLst/>
          </a:prstGeom>
          <a:solidFill>
            <a:srgbClr val="000000"/>
          </a:solidFill>
          <a:ln w="3175" cap="flat" cmpd="sng" algn="ctr">
            <a:solidFill>
              <a:srgbClr val="FFFFFF">
                <a:lumMod val="50000"/>
              </a:srgbClr>
            </a:solidFill>
            <a:prstDash val="solid"/>
          </a:ln>
          <a:effectLst/>
        </p:spPr>
        <p:txBody>
          <a:bodyPr wrap="none" lIns="91429" tIns="45714" rIns="91429" bIns="45714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/>
                <a:ea typeface="LG스마트체2.0 Regular"/>
                <a:cs typeface="+mn-cs"/>
              </a:rPr>
              <a:t>M5</a:t>
            </a:r>
          </a:p>
        </p:txBody>
      </p:sp>
      <p:sp>
        <p:nvSpPr>
          <p:cNvPr id="1589" name="모서리가 둥근 직사각형 365">
            <a:extLst>
              <a:ext uri="{FF2B5EF4-FFF2-40B4-BE49-F238E27FC236}">
                <a16:creationId xmlns:a16="http://schemas.microsoft.com/office/drawing/2014/main" id="{786A875C-DC89-BA9B-E0B5-9CA2402E64A2}"/>
              </a:ext>
            </a:extLst>
          </p:cNvPr>
          <p:cNvSpPr/>
          <p:nvPr/>
        </p:nvSpPr>
        <p:spPr bwMode="auto">
          <a:xfrm>
            <a:off x="1779879" y="1176719"/>
            <a:ext cx="133200" cy="149120"/>
          </a:xfrm>
          <a:prstGeom prst="roundRect">
            <a:avLst/>
          </a:prstGeom>
          <a:solidFill>
            <a:srgbClr val="FFFFFF">
              <a:lumMod val="75000"/>
            </a:srgbClr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97</a:t>
            </a:r>
            <a:endParaRPr kumimoji="0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590" name="모서리가 둥근 직사각형 364">
            <a:extLst>
              <a:ext uri="{FF2B5EF4-FFF2-40B4-BE49-F238E27FC236}">
                <a16:creationId xmlns:a16="http://schemas.microsoft.com/office/drawing/2014/main" id="{6A9942AC-682A-E046-74F0-F1F29B100552}"/>
              </a:ext>
            </a:extLst>
          </p:cNvPr>
          <p:cNvSpPr/>
          <p:nvPr/>
        </p:nvSpPr>
        <p:spPr bwMode="auto">
          <a:xfrm>
            <a:off x="2157849" y="1176719"/>
            <a:ext cx="133200" cy="149120"/>
          </a:xfrm>
          <a:prstGeom prst="roundRect">
            <a:avLst/>
          </a:prstGeom>
          <a:solidFill>
            <a:srgbClr val="FFFFFF">
              <a:lumMod val="75000"/>
            </a:srgbClr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77</a:t>
            </a:r>
            <a:endParaRPr kumimoji="0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591" name="모서리가 둥근 직사각형 377">
            <a:extLst>
              <a:ext uri="{FF2B5EF4-FFF2-40B4-BE49-F238E27FC236}">
                <a16:creationId xmlns:a16="http://schemas.microsoft.com/office/drawing/2014/main" id="{4F06E786-8E68-E0E6-CD16-701C9DB34D9B}"/>
              </a:ext>
            </a:extLst>
          </p:cNvPr>
          <p:cNvSpPr/>
          <p:nvPr/>
        </p:nvSpPr>
        <p:spPr bwMode="auto">
          <a:xfrm>
            <a:off x="2347373" y="1176719"/>
            <a:ext cx="133200" cy="149120"/>
          </a:xfrm>
          <a:prstGeom prst="roundRect">
            <a:avLst/>
          </a:prstGeom>
          <a:solidFill>
            <a:srgbClr val="FFFFFF">
              <a:lumMod val="75000"/>
            </a:srgbClr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65</a:t>
            </a:r>
            <a:endParaRPr kumimoji="0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592" name="모서리가 둥근 직사각형 364">
            <a:extLst>
              <a:ext uri="{FF2B5EF4-FFF2-40B4-BE49-F238E27FC236}">
                <a16:creationId xmlns:a16="http://schemas.microsoft.com/office/drawing/2014/main" id="{72DFFE5F-CC0B-FB96-9255-970324629DC2}"/>
              </a:ext>
            </a:extLst>
          </p:cNvPr>
          <p:cNvSpPr/>
          <p:nvPr/>
        </p:nvSpPr>
        <p:spPr bwMode="auto">
          <a:xfrm>
            <a:off x="1970483" y="1176719"/>
            <a:ext cx="133200" cy="149120"/>
          </a:xfrm>
          <a:prstGeom prst="roundRect">
            <a:avLst/>
          </a:prstGeom>
          <a:solidFill>
            <a:srgbClr val="FFFFFF">
              <a:lumMod val="75000"/>
            </a:srgbClr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83</a:t>
            </a:r>
            <a:endParaRPr kumimoji="0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593" name="모서리가 둥근 직사각형 365">
            <a:extLst>
              <a:ext uri="{FF2B5EF4-FFF2-40B4-BE49-F238E27FC236}">
                <a16:creationId xmlns:a16="http://schemas.microsoft.com/office/drawing/2014/main" id="{34A99627-E863-2301-AEA1-8394E7F629D7}"/>
              </a:ext>
            </a:extLst>
          </p:cNvPr>
          <p:cNvSpPr/>
          <p:nvPr/>
        </p:nvSpPr>
        <p:spPr bwMode="auto">
          <a:xfrm>
            <a:off x="4251091" y="881077"/>
            <a:ext cx="133200" cy="149120"/>
          </a:xfrm>
          <a:prstGeom prst="roundRect">
            <a:avLst/>
          </a:prstGeom>
          <a:noFill/>
          <a:ln w="3175" cap="flat" cmpd="sng" algn="ctr">
            <a:solidFill>
              <a:srgbClr val="000000"/>
            </a:solidFill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97</a:t>
            </a:r>
            <a:endParaRPr kumimoji="0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594" name="모서리가 둥근 직사각형 364">
            <a:extLst>
              <a:ext uri="{FF2B5EF4-FFF2-40B4-BE49-F238E27FC236}">
                <a16:creationId xmlns:a16="http://schemas.microsoft.com/office/drawing/2014/main" id="{682EB694-6469-3925-906C-BD6295172E3E}"/>
              </a:ext>
            </a:extLst>
          </p:cNvPr>
          <p:cNvSpPr/>
          <p:nvPr/>
        </p:nvSpPr>
        <p:spPr bwMode="auto">
          <a:xfrm>
            <a:off x="4608411" y="881077"/>
            <a:ext cx="133200" cy="149120"/>
          </a:xfrm>
          <a:prstGeom prst="roundRect">
            <a:avLst/>
          </a:prstGeom>
          <a:noFill/>
          <a:ln w="3175" cap="flat" cmpd="sng" algn="ctr">
            <a:solidFill>
              <a:srgbClr val="000000"/>
            </a:solidFill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77</a:t>
            </a:r>
            <a:endParaRPr kumimoji="0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595" name="모서리가 둥근 직사각형 365">
            <a:extLst>
              <a:ext uri="{FF2B5EF4-FFF2-40B4-BE49-F238E27FC236}">
                <a16:creationId xmlns:a16="http://schemas.microsoft.com/office/drawing/2014/main" id="{A94FC0EE-122D-A222-A619-F2127AC154F1}"/>
              </a:ext>
            </a:extLst>
          </p:cNvPr>
          <p:cNvSpPr/>
          <p:nvPr/>
        </p:nvSpPr>
        <p:spPr bwMode="auto">
          <a:xfrm>
            <a:off x="4429751" y="881077"/>
            <a:ext cx="133200" cy="149120"/>
          </a:xfrm>
          <a:prstGeom prst="roundRect">
            <a:avLst/>
          </a:prstGeom>
          <a:noFill/>
          <a:ln w="3175" cap="flat" cmpd="sng" algn="ctr">
            <a:solidFill>
              <a:srgbClr val="FFFFFF"/>
            </a:solidFill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86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596" name="모서리가 둥근 직사각형 364">
            <a:extLst>
              <a:ext uri="{FF2B5EF4-FFF2-40B4-BE49-F238E27FC236}">
                <a16:creationId xmlns:a16="http://schemas.microsoft.com/office/drawing/2014/main" id="{FCFF8A64-7883-C9E1-0692-56162960998F}"/>
              </a:ext>
            </a:extLst>
          </p:cNvPr>
          <p:cNvSpPr/>
          <p:nvPr/>
        </p:nvSpPr>
        <p:spPr bwMode="auto">
          <a:xfrm>
            <a:off x="4429751" y="881077"/>
            <a:ext cx="133200" cy="149120"/>
          </a:xfrm>
          <a:prstGeom prst="roundRect">
            <a:avLst/>
          </a:prstGeom>
          <a:noFill/>
          <a:ln w="3175" cap="flat" cmpd="sng" algn="ctr">
            <a:solidFill>
              <a:srgbClr val="000000"/>
            </a:solidFill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83</a:t>
            </a:r>
            <a:endParaRPr kumimoji="0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597" name="모서리가 둥근 직사각형 377">
            <a:extLst>
              <a:ext uri="{FF2B5EF4-FFF2-40B4-BE49-F238E27FC236}">
                <a16:creationId xmlns:a16="http://schemas.microsoft.com/office/drawing/2014/main" id="{B8A75994-C082-61A9-EAC9-63A7D706593B}"/>
              </a:ext>
            </a:extLst>
          </p:cNvPr>
          <p:cNvSpPr/>
          <p:nvPr/>
        </p:nvSpPr>
        <p:spPr bwMode="auto">
          <a:xfrm>
            <a:off x="4787071" y="881077"/>
            <a:ext cx="133200" cy="149120"/>
          </a:xfrm>
          <a:prstGeom prst="roundRect">
            <a:avLst/>
          </a:prstGeom>
          <a:noFill/>
          <a:ln w="3175" cap="flat" cmpd="sng" algn="ctr">
            <a:solidFill>
              <a:srgbClr val="000000"/>
            </a:solidFill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65</a:t>
            </a:r>
            <a:endParaRPr kumimoji="0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603" name="모서리가 둥근 직사각형 378">
            <a:extLst>
              <a:ext uri="{FF2B5EF4-FFF2-40B4-BE49-F238E27FC236}">
                <a16:creationId xmlns:a16="http://schemas.microsoft.com/office/drawing/2014/main" id="{95AA8FE5-47D6-8058-71A8-E44F1F2DA4D8}"/>
              </a:ext>
            </a:extLst>
          </p:cNvPr>
          <p:cNvSpPr/>
          <p:nvPr/>
        </p:nvSpPr>
        <p:spPr bwMode="auto">
          <a:xfrm>
            <a:off x="4965731" y="5251073"/>
            <a:ext cx="133200" cy="149120"/>
          </a:xfrm>
          <a:prstGeom prst="roundRect">
            <a:avLst/>
          </a:prstGeom>
          <a:solidFill>
            <a:srgbClr val="FFFFFF"/>
          </a:solidFill>
          <a:ln w="6350" algn="ctr">
            <a:solidFill>
              <a:srgbClr val="C00000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55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604" name="모서리가 둥근 직사각형 378">
            <a:extLst>
              <a:ext uri="{FF2B5EF4-FFF2-40B4-BE49-F238E27FC236}">
                <a16:creationId xmlns:a16="http://schemas.microsoft.com/office/drawing/2014/main" id="{FEE31D43-30A0-01F4-5263-9C4EF86EF978}"/>
              </a:ext>
            </a:extLst>
          </p:cNvPr>
          <p:cNvSpPr/>
          <p:nvPr/>
        </p:nvSpPr>
        <p:spPr bwMode="auto">
          <a:xfrm>
            <a:off x="4965731" y="5096254"/>
            <a:ext cx="133200" cy="149120"/>
          </a:xfrm>
          <a:prstGeom prst="roundRect">
            <a:avLst/>
          </a:prstGeom>
          <a:solidFill>
            <a:srgbClr val="FFFFFF"/>
          </a:solidFill>
          <a:ln w="6350" algn="ctr">
            <a:solidFill>
              <a:srgbClr val="C00000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55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605" name="모서리가 둥근 직사각형 378">
            <a:extLst>
              <a:ext uri="{FF2B5EF4-FFF2-40B4-BE49-F238E27FC236}">
                <a16:creationId xmlns:a16="http://schemas.microsoft.com/office/drawing/2014/main" id="{B4A559DF-8E17-40CB-74EE-CDF0B881DCF7}"/>
              </a:ext>
            </a:extLst>
          </p:cNvPr>
          <p:cNvSpPr/>
          <p:nvPr/>
        </p:nvSpPr>
        <p:spPr bwMode="auto">
          <a:xfrm>
            <a:off x="4965731" y="4931878"/>
            <a:ext cx="133200" cy="149120"/>
          </a:xfrm>
          <a:prstGeom prst="roundRect">
            <a:avLst/>
          </a:prstGeom>
          <a:solidFill>
            <a:srgbClr val="FFFFFF">
              <a:lumMod val="75000"/>
            </a:srgbClr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55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6BCD8F2E-5CC8-04E5-5429-12B6B6120A25}"/>
              </a:ext>
            </a:extLst>
          </p:cNvPr>
          <p:cNvGrpSpPr/>
          <p:nvPr/>
        </p:nvGrpSpPr>
        <p:grpSpPr>
          <a:xfrm>
            <a:off x="4429751" y="4591264"/>
            <a:ext cx="1026499" cy="154395"/>
            <a:chOff x="4429751" y="4922206"/>
            <a:chExt cx="1026499" cy="154395"/>
          </a:xfrm>
        </p:grpSpPr>
        <p:sp>
          <p:nvSpPr>
            <p:cNvPr id="1508" name="모서리가 둥근 직사각형 364">
              <a:extLst>
                <a:ext uri="{FF2B5EF4-FFF2-40B4-BE49-F238E27FC236}">
                  <a16:creationId xmlns:a16="http://schemas.microsoft.com/office/drawing/2014/main" id="{D1EDA003-5779-0EC4-1641-9F943225D057}"/>
                </a:ext>
              </a:extLst>
            </p:cNvPr>
            <p:cNvSpPr/>
            <p:nvPr/>
          </p:nvSpPr>
          <p:spPr bwMode="auto">
            <a:xfrm>
              <a:off x="4608411" y="4922206"/>
              <a:ext cx="133200" cy="149120"/>
            </a:xfrm>
            <a:prstGeom prst="roundRect">
              <a:avLst/>
            </a:prstGeom>
            <a:solidFill>
              <a:srgbClr val="FFFFFF"/>
            </a:solidFill>
            <a:ln w="6350" algn="ctr">
              <a:solidFill>
                <a:srgbClr val="C00000"/>
              </a:solidFill>
              <a:prstDash val="solid"/>
              <a:round/>
              <a:headEnd/>
              <a:tailEnd/>
            </a:ln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 Narrow"/>
                  <a:ea typeface="LG스마트체 Regular" panose="020B0600000101010101" pitchFamily="50" charset="-127"/>
                  <a:cs typeface="Arial" panose="020B0604020202020204" pitchFamily="34" charset="0"/>
                </a:rPr>
                <a:t>75</a:t>
              </a:r>
              <a:endPara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527" name="모서리가 둥근 직사각형 365">
              <a:extLst>
                <a:ext uri="{FF2B5EF4-FFF2-40B4-BE49-F238E27FC236}">
                  <a16:creationId xmlns:a16="http://schemas.microsoft.com/office/drawing/2014/main" id="{D988C856-1CD6-82AD-0B82-D76B50914F15}"/>
                </a:ext>
              </a:extLst>
            </p:cNvPr>
            <p:cNvSpPr/>
            <p:nvPr/>
          </p:nvSpPr>
          <p:spPr bwMode="auto">
            <a:xfrm>
              <a:off x="4429751" y="4927481"/>
              <a:ext cx="133200" cy="149120"/>
            </a:xfrm>
            <a:prstGeom prst="roundRect">
              <a:avLst/>
            </a:prstGeom>
            <a:solidFill>
              <a:srgbClr val="FFFFFF"/>
            </a:solidFill>
            <a:ln w="6350" algn="ctr">
              <a:solidFill>
                <a:srgbClr val="C00000"/>
              </a:solidFill>
              <a:prstDash val="solid"/>
              <a:round/>
              <a:headEnd/>
              <a:tailEnd/>
            </a:ln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 Narrow"/>
                  <a:ea typeface="LG스마트체 Regular" panose="020B0600000101010101" pitchFamily="50" charset="-127"/>
                  <a:cs typeface="Arial" panose="020B0604020202020204" pitchFamily="34" charset="0"/>
                </a:rPr>
                <a:t>8</a:t>
              </a:r>
              <a:r>
                <a:rPr kumimoji="0" lang="en-US" altLang="ko-KR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 Narrow"/>
                  <a:ea typeface="LG스마트체 Regular" panose="020B0600000101010101" pitchFamily="50" charset="-127"/>
                  <a:cs typeface="Arial" panose="020B0604020202020204" pitchFamily="34" charset="0"/>
                </a:rPr>
                <a:t>5</a:t>
              </a:r>
              <a:endPara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551" name="모서리가 둥근 직사각형 375">
              <a:extLst>
                <a:ext uri="{FF2B5EF4-FFF2-40B4-BE49-F238E27FC236}">
                  <a16:creationId xmlns:a16="http://schemas.microsoft.com/office/drawing/2014/main" id="{8798F6C8-014D-6B38-B97F-4B7263C076FB}"/>
                </a:ext>
              </a:extLst>
            </p:cNvPr>
            <p:cNvSpPr/>
            <p:nvPr/>
          </p:nvSpPr>
          <p:spPr bwMode="auto">
            <a:xfrm>
              <a:off x="5323050" y="4922206"/>
              <a:ext cx="133200" cy="149120"/>
            </a:xfrm>
            <a:prstGeom prst="roundRect">
              <a:avLst/>
            </a:prstGeom>
            <a:solidFill>
              <a:srgbClr val="FFFFFF">
                <a:lumMod val="75000"/>
              </a:srgbClr>
            </a:solidFill>
            <a:ln w="3175" cap="flat" cmpd="sng" algn="ctr">
              <a:noFill/>
              <a:prstDash val="dash"/>
            </a:ln>
            <a:effectLst/>
          </p:spPr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/>
                  <a:ea typeface="LG스마트체 Regular" panose="020B0600000101010101" pitchFamily="50" charset="-127"/>
                  <a:cs typeface="Arial" panose="020B0604020202020204" pitchFamily="34" charset="0"/>
                </a:rPr>
                <a:t>43</a:t>
              </a:r>
              <a:endPara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560" name="모서리가 둥근 직사각형 376">
              <a:extLst>
                <a:ext uri="{FF2B5EF4-FFF2-40B4-BE49-F238E27FC236}">
                  <a16:creationId xmlns:a16="http://schemas.microsoft.com/office/drawing/2014/main" id="{9E7702BD-E217-794A-8398-859EA3465BEF}"/>
                </a:ext>
              </a:extLst>
            </p:cNvPr>
            <p:cNvSpPr/>
            <p:nvPr/>
          </p:nvSpPr>
          <p:spPr bwMode="auto">
            <a:xfrm>
              <a:off x="5139795" y="4922206"/>
              <a:ext cx="133200" cy="149120"/>
            </a:xfrm>
            <a:prstGeom prst="roundRect">
              <a:avLst/>
            </a:prstGeom>
            <a:solidFill>
              <a:srgbClr val="FFFFFF">
                <a:lumMod val="75000"/>
              </a:srgbClr>
            </a:solidFill>
            <a:ln w="3175" cap="flat" cmpd="sng" algn="ctr">
              <a:noFill/>
              <a:prstDash val="dash"/>
            </a:ln>
            <a:effectLst/>
          </p:spPr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/>
                  <a:ea typeface="LG스마트체 Regular" panose="020B0600000101010101" pitchFamily="50" charset="-127"/>
                  <a:cs typeface="Arial" panose="020B0604020202020204" pitchFamily="34" charset="0"/>
                </a:rPr>
                <a:t>50</a:t>
              </a:r>
              <a:endPara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576" name="모서리가 둥근 직사각형 377">
              <a:extLst>
                <a:ext uri="{FF2B5EF4-FFF2-40B4-BE49-F238E27FC236}">
                  <a16:creationId xmlns:a16="http://schemas.microsoft.com/office/drawing/2014/main" id="{FE12D0DB-60E1-1A29-8F14-55251056A8F5}"/>
                </a:ext>
              </a:extLst>
            </p:cNvPr>
            <p:cNvSpPr/>
            <p:nvPr/>
          </p:nvSpPr>
          <p:spPr bwMode="auto">
            <a:xfrm>
              <a:off x="4787071" y="4922206"/>
              <a:ext cx="133200" cy="149120"/>
            </a:xfrm>
            <a:prstGeom prst="roundRect">
              <a:avLst/>
            </a:prstGeom>
            <a:solidFill>
              <a:srgbClr val="FFFFFF">
                <a:lumMod val="75000"/>
              </a:srgbClr>
            </a:solidFill>
            <a:ln w="3175" cap="flat" cmpd="sng" algn="ctr">
              <a:noFill/>
              <a:prstDash val="dash"/>
            </a:ln>
            <a:effectLst/>
          </p:spPr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/>
                  <a:ea typeface="LG스마트체 Regular" panose="020B0600000101010101" pitchFamily="50" charset="-127"/>
                  <a:cs typeface="Arial" panose="020B0604020202020204" pitchFamily="34" charset="0"/>
                </a:rPr>
                <a:t>65</a:t>
              </a:r>
              <a:endPara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606" name="모서리가 둥근 직사각형 378">
              <a:extLst>
                <a:ext uri="{FF2B5EF4-FFF2-40B4-BE49-F238E27FC236}">
                  <a16:creationId xmlns:a16="http://schemas.microsoft.com/office/drawing/2014/main" id="{30B361E5-5701-B165-CF13-ED933D392FDD}"/>
                </a:ext>
              </a:extLst>
            </p:cNvPr>
            <p:cNvSpPr/>
            <p:nvPr/>
          </p:nvSpPr>
          <p:spPr bwMode="auto">
            <a:xfrm>
              <a:off x="4965731" y="4922206"/>
              <a:ext cx="133200" cy="149120"/>
            </a:xfrm>
            <a:prstGeom prst="roundRect">
              <a:avLst/>
            </a:prstGeom>
            <a:solidFill>
              <a:srgbClr val="FFFFFF">
                <a:lumMod val="75000"/>
              </a:srgbClr>
            </a:solidFill>
            <a:ln w="3175" cap="flat" cmpd="sng" algn="ctr">
              <a:noFill/>
              <a:prstDash val="dash"/>
            </a:ln>
            <a:effectLst/>
          </p:spPr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/>
                  <a:ea typeface="LG스마트체 Regular" panose="020B0600000101010101" pitchFamily="50" charset="-127"/>
                  <a:cs typeface="Arial" panose="020B0604020202020204" pitchFamily="34" charset="0"/>
                </a:rPr>
                <a:t>55</a:t>
              </a:r>
              <a:endPara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endParaRPr>
            </a:p>
          </p:txBody>
        </p:sp>
      </p:grpSp>
      <p:sp>
        <p:nvSpPr>
          <p:cNvPr id="1607" name="모서리가 둥근 직사각형 378">
            <a:extLst>
              <a:ext uri="{FF2B5EF4-FFF2-40B4-BE49-F238E27FC236}">
                <a16:creationId xmlns:a16="http://schemas.microsoft.com/office/drawing/2014/main" id="{96B28C94-E367-DB9C-90B6-48A42E79BAE7}"/>
              </a:ext>
            </a:extLst>
          </p:cNvPr>
          <p:cNvSpPr/>
          <p:nvPr/>
        </p:nvSpPr>
        <p:spPr bwMode="auto">
          <a:xfrm>
            <a:off x="4965731" y="4270523"/>
            <a:ext cx="133200" cy="149120"/>
          </a:xfrm>
          <a:prstGeom prst="roundRect">
            <a:avLst/>
          </a:prstGeom>
          <a:solidFill>
            <a:srgbClr val="FFFFFF">
              <a:lumMod val="75000"/>
            </a:srgbClr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55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608" name="모서리가 둥근 직사각형 378">
            <a:extLst>
              <a:ext uri="{FF2B5EF4-FFF2-40B4-BE49-F238E27FC236}">
                <a16:creationId xmlns:a16="http://schemas.microsoft.com/office/drawing/2014/main" id="{752372F0-B068-7A7A-6AEC-171ED16ED691}"/>
              </a:ext>
            </a:extLst>
          </p:cNvPr>
          <p:cNvSpPr/>
          <p:nvPr/>
        </p:nvSpPr>
        <p:spPr bwMode="auto">
          <a:xfrm>
            <a:off x="4965731" y="4101583"/>
            <a:ext cx="133200" cy="149120"/>
          </a:xfrm>
          <a:prstGeom prst="roundRect">
            <a:avLst/>
          </a:prstGeom>
          <a:solidFill>
            <a:srgbClr val="FFFFFF">
              <a:lumMod val="75000"/>
            </a:srgbClr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55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609" name="모서리가 둥근 직사각형 378">
            <a:extLst>
              <a:ext uri="{FF2B5EF4-FFF2-40B4-BE49-F238E27FC236}">
                <a16:creationId xmlns:a16="http://schemas.microsoft.com/office/drawing/2014/main" id="{8E4D0F7B-BE5B-AC11-D40F-F1280AB44BA2}"/>
              </a:ext>
            </a:extLst>
          </p:cNvPr>
          <p:cNvSpPr/>
          <p:nvPr/>
        </p:nvSpPr>
        <p:spPr bwMode="auto">
          <a:xfrm>
            <a:off x="4965731" y="3941352"/>
            <a:ext cx="133200" cy="149120"/>
          </a:xfrm>
          <a:prstGeom prst="roundRect">
            <a:avLst/>
          </a:prstGeom>
          <a:solidFill>
            <a:srgbClr val="FFFFFF">
              <a:lumMod val="75000"/>
            </a:srgbClr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55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610" name="모서리가 둥근 직사각형 378">
            <a:extLst>
              <a:ext uri="{FF2B5EF4-FFF2-40B4-BE49-F238E27FC236}">
                <a16:creationId xmlns:a16="http://schemas.microsoft.com/office/drawing/2014/main" id="{79E4DD20-264A-0BAD-DB2D-5FAB1F16F8C6}"/>
              </a:ext>
            </a:extLst>
          </p:cNvPr>
          <p:cNvSpPr/>
          <p:nvPr/>
        </p:nvSpPr>
        <p:spPr bwMode="auto">
          <a:xfrm>
            <a:off x="4965731" y="3772412"/>
            <a:ext cx="133200" cy="149120"/>
          </a:xfrm>
          <a:prstGeom prst="roundRect">
            <a:avLst/>
          </a:prstGeom>
          <a:solidFill>
            <a:srgbClr val="FFFFFF">
              <a:lumMod val="75000"/>
            </a:srgbClr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55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611" name="모서리가 둥근 직사각형 378">
            <a:extLst>
              <a:ext uri="{FF2B5EF4-FFF2-40B4-BE49-F238E27FC236}">
                <a16:creationId xmlns:a16="http://schemas.microsoft.com/office/drawing/2014/main" id="{CAD72F20-2E53-DC69-FCA2-DF80844EA949}"/>
              </a:ext>
            </a:extLst>
          </p:cNvPr>
          <p:cNvSpPr/>
          <p:nvPr/>
        </p:nvSpPr>
        <p:spPr bwMode="auto">
          <a:xfrm>
            <a:off x="4965731" y="3603472"/>
            <a:ext cx="133200" cy="149120"/>
          </a:xfrm>
          <a:prstGeom prst="roundRect">
            <a:avLst/>
          </a:prstGeom>
          <a:solidFill>
            <a:srgbClr val="FFFFFF">
              <a:lumMod val="75000"/>
            </a:srgbClr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55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612" name="모서리가 둥근 직사각형 378">
            <a:extLst>
              <a:ext uri="{FF2B5EF4-FFF2-40B4-BE49-F238E27FC236}">
                <a16:creationId xmlns:a16="http://schemas.microsoft.com/office/drawing/2014/main" id="{8E1FB325-CDB5-1C1B-7B29-9D6C6A317012}"/>
              </a:ext>
            </a:extLst>
          </p:cNvPr>
          <p:cNvSpPr/>
          <p:nvPr/>
        </p:nvSpPr>
        <p:spPr bwMode="auto">
          <a:xfrm>
            <a:off x="4965731" y="3434532"/>
            <a:ext cx="133200" cy="149120"/>
          </a:xfrm>
          <a:prstGeom prst="roundRect">
            <a:avLst/>
          </a:prstGeom>
          <a:solidFill>
            <a:srgbClr val="FFFFFF">
              <a:lumMod val="75000"/>
            </a:srgbClr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55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613" name="모서리가 둥근 직사각형 378">
            <a:extLst>
              <a:ext uri="{FF2B5EF4-FFF2-40B4-BE49-F238E27FC236}">
                <a16:creationId xmlns:a16="http://schemas.microsoft.com/office/drawing/2014/main" id="{4EF4FD00-0987-B56C-0F39-9254CB9DE219}"/>
              </a:ext>
            </a:extLst>
          </p:cNvPr>
          <p:cNvSpPr/>
          <p:nvPr/>
        </p:nvSpPr>
        <p:spPr bwMode="auto">
          <a:xfrm>
            <a:off x="4965731" y="3274301"/>
            <a:ext cx="133200" cy="149120"/>
          </a:xfrm>
          <a:prstGeom prst="roundRect">
            <a:avLst/>
          </a:prstGeom>
          <a:solidFill>
            <a:srgbClr val="FFFFFF"/>
          </a:solidFill>
          <a:ln w="6350" algn="ctr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55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614" name="모서리가 둥근 직사각형 378">
            <a:extLst>
              <a:ext uri="{FF2B5EF4-FFF2-40B4-BE49-F238E27FC236}">
                <a16:creationId xmlns:a16="http://schemas.microsoft.com/office/drawing/2014/main" id="{A8423966-E87D-A9ED-80CE-1A29D360BA32}"/>
              </a:ext>
            </a:extLst>
          </p:cNvPr>
          <p:cNvSpPr/>
          <p:nvPr/>
        </p:nvSpPr>
        <p:spPr bwMode="auto">
          <a:xfrm>
            <a:off x="4965731" y="3105361"/>
            <a:ext cx="133200" cy="149120"/>
          </a:xfrm>
          <a:prstGeom prst="roundRect">
            <a:avLst/>
          </a:prstGeom>
          <a:solidFill>
            <a:srgbClr val="FFFFFF"/>
          </a:solidFill>
          <a:ln w="6350" algn="ctr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55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615" name="모서리가 둥근 직사각형 378">
            <a:extLst>
              <a:ext uri="{FF2B5EF4-FFF2-40B4-BE49-F238E27FC236}">
                <a16:creationId xmlns:a16="http://schemas.microsoft.com/office/drawing/2014/main" id="{677D5076-3E16-D837-BA4C-DF45FE94E694}"/>
              </a:ext>
            </a:extLst>
          </p:cNvPr>
          <p:cNvSpPr/>
          <p:nvPr/>
        </p:nvSpPr>
        <p:spPr bwMode="auto">
          <a:xfrm>
            <a:off x="4965731" y="2927712"/>
            <a:ext cx="133200" cy="149120"/>
          </a:xfrm>
          <a:prstGeom prst="roundRect">
            <a:avLst/>
          </a:prstGeom>
          <a:solidFill>
            <a:srgbClr val="FFFFFF"/>
          </a:solidFill>
          <a:ln w="6350" algn="ctr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55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616" name="Rectangle 3936">
            <a:extLst>
              <a:ext uri="{FF2B5EF4-FFF2-40B4-BE49-F238E27FC236}">
                <a16:creationId xmlns:a16="http://schemas.microsoft.com/office/drawing/2014/main" id="{2BA872B7-5059-FB4E-2E07-ABA3E06B7E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994" y="1353325"/>
            <a:ext cx="720000" cy="149120"/>
          </a:xfrm>
          <a:prstGeom prst="rect">
            <a:avLst/>
          </a:prstGeom>
          <a:solidFill>
            <a:srgbClr val="000000"/>
          </a:solidFill>
          <a:ln w="3175" cap="flat" cmpd="sng" algn="ctr">
            <a:solidFill>
              <a:srgbClr val="FFFFFF">
                <a:lumMod val="50000"/>
              </a:srgbClr>
            </a:solidFill>
            <a:prstDash val="solid"/>
          </a:ln>
          <a:effectLst/>
        </p:spPr>
        <p:txBody>
          <a:bodyPr wrap="none" lIns="91429" tIns="45714" rIns="91429" bIns="45714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/>
                <a:ea typeface="LG스마트체2.0 Regular"/>
                <a:cs typeface="+mn-cs"/>
              </a:rPr>
              <a:t>G5</a:t>
            </a:r>
          </a:p>
        </p:txBody>
      </p:sp>
      <p:sp>
        <p:nvSpPr>
          <p:cNvPr id="1617" name="모서리가 둥근 직사각형 377">
            <a:extLst>
              <a:ext uri="{FF2B5EF4-FFF2-40B4-BE49-F238E27FC236}">
                <a16:creationId xmlns:a16="http://schemas.microsoft.com/office/drawing/2014/main" id="{05562AA9-7753-2054-3C06-C7EA0A3330DC}"/>
              </a:ext>
            </a:extLst>
          </p:cNvPr>
          <p:cNvSpPr/>
          <p:nvPr/>
        </p:nvSpPr>
        <p:spPr bwMode="auto">
          <a:xfrm>
            <a:off x="2347373" y="1353325"/>
            <a:ext cx="133200" cy="149120"/>
          </a:xfrm>
          <a:prstGeom prst="roundRect">
            <a:avLst/>
          </a:prstGeom>
          <a:solidFill>
            <a:srgbClr val="FFFFFF">
              <a:lumMod val="75000"/>
            </a:srgbClr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65</a:t>
            </a:r>
            <a:endParaRPr kumimoji="0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618" name="모서리가 둥근 직사각형 378">
            <a:extLst>
              <a:ext uri="{FF2B5EF4-FFF2-40B4-BE49-F238E27FC236}">
                <a16:creationId xmlns:a16="http://schemas.microsoft.com/office/drawing/2014/main" id="{327BA583-466F-BF4E-FF57-F11F99796140}"/>
              </a:ext>
            </a:extLst>
          </p:cNvPr>
          <p:cNvSpPr/>
          <p:nvPr/>
        </p:nvSpPr>
        <p:spPr bwMode="auto">
          <a:xfrm>
            <a:off x="2536897" y="1353325"/>
            <a:ext cx="133200" cy="149120"/>
          </a:xfrm>
          <a:prstGeom prst="roundRect">
            <a:avLst/>
          </a:prstGeom>
          <a:solidFill>
            <a:srgbClr val="FFFFFF">
              <a:lumMod val="75000"/>
            </a:srgbClr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55</a:t>
            </a:r>
            <a:endParaRPr kumimoji="0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619" name="Rectangle 3936">
            <a:extLst>
              <a:ext uri="{FF2B5EF4-FFF2-40B4-BE49-F238E27FC236}">
                <a16:creationId xmlns:a16="http://schemas.microsoft.com/office/drawing/2014/main" id="{D54665AA-DF8C-D316-979E-EC1DEFC772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7102" y="1057683"/>
            <a:ext cx="720000" cy="149120"/>
          </a:xfrm>
          <a:prstGeom prst="rect">
            <a:avLst/>
          </a:prstGeom>
          <a:solidFill>
            <a:srgbClr val="000000"/>
          </a:solidFill>
          <a:ln w="3175" cap="flat" cmpd="sng" algn="ctr">
            <a:solidFill>
              <a:srgbClr val="FFFFFF">
                <a:lumMod val="50000"/>
              </a:srgbClr>
            </a:solidFill>
            <a:prstDash val="solid"/>
          </a:ln>
          <a:effectLst/>
        </p:spPr>
        <p:txBody>
          <a:bodyPr wrap="none" lIns="91429" tIns="45714" rIns="91429" bIns="45714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/>
                <a:ea typeface="LG스마트체2.0 Regular"/>
                <a:cs typeface="+mn-cs"/>
              </a:rPr>
              <a:t>G6</a:t>
            </a:r>
          </a:p>
        </p:txBody>
      </p:sp>
      <p:sp>
        <p:nvSpPr>
          <p:cNvPr id="1620" name="모서리가 둥근 직사각형 365">
            <a:extLst>
              <a:ext uri="{FF2B5EF4-FFF2-40B4-BE49-F238E27FC236}">
                <a16:creationId xmlns:a16="http://schemas.microsoft.com/office/drawing/2014/main" id="{C2BF47DA-852A-F2AC-AEC6-E33B607CE052}"/>
              </a:ext>
            </a:extLst>
          </p:cNvPr>
          <p:cNvSpPr/>
          <p:nvPr/>
        </p:nvSpPr>
        <p:spPr bwMode="auto">
          <a:xfrm>
            <a:off x="1779879" y="1353325"/>
            <a:ext cx="133200" cy="149120"/>
          </a:xfrm>
          <a:prstGeom prst="roundRect">
            <a:avLst/>
          </a:prstGeom>
          <a:solidFill>
            <a:srgbClr val="FFFFFF">
              <a:lumMod val="75000"/>
            </a:srgbClr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97</a:t>
            </a:r>
            <a:endParaRPr kumimoji="0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621" name="모서리가 둥근 직사각형 364">
            <a:extLst>
              <a:ext uri="{FF2B5EF4-FFF2-40B4-BE49-F238E27FC236}">
                <a16:creationId xmlns:a16="http://schemas.microsoft.com/office/drawing/2014/main" id="{BFA5FAD1-40F6-EC3D-BFEA-0CCBDE0C9FCB}"/>
              </a:ext>
            </a:extLst>
          </p:cNvPr>
          <p:cNvSpPr/>
          <p:nvPr/>
        </p:nvSpPr>
        <p:spPr bwMode="auto">
          <a:xfrm>
            <a:off x="2157849" y="1353325"/>
            <a:ext cx="133200" cy="149120"/>
          </a:xfrm>
          <a:prstGeom prst="roundRect">
            <a:avLst/>
          </a:prstGeom>
          <a:solidFill>
            <a:srgbClr val="FFFFFF">
              <a:lumMod val="75000"/>
            </a:srgbClr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77</a:t>
            </a:r>
            <a:endParaRPr kumimoji="0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622" name="모서리가 둥근 직사각형 364">
            <a:extLst>
              <a:ext uri="{FF2B5EF4-FFF2-40B4-BE49-F238E27FC236}">
                <a16:creationId xmlns:a16="http://schemas.microsoft.com/office/drawing/2014/main" id="{2EEE7DE0-B357-3D43-1612-F0025FEE48C5}"/>
              </a:ext>
            </a:extLst>
          </p:cNvPr>
          <p:cNvSpPr/>
          <p:nvPr/>
        </p:nvSpPr>
        <p:spPr bwMode="auto">
          <a:xfrm>
            <a:off x="1970483" y="1353325"/>
            <a:ext cx="133200" cy="149120"/>
          </a:xfrm>
          <a:prstGeom prst="roundRect">
            <a:avLst/>
          </a:prstGeom>
          <a:solidFill>
            <a:srgbClr val="FFFFFF">
              <a:lumMod val="75000"/>
            </a:srgbClr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83</a:t>
            </a:r>
            <a:endParaRPr kumimoji="0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623" name="모서리가 둥근 직사각형 365">
            <a:extLst>
              <a:ext uri="{FF2B5EF4-FFF2-40B4-BE49-F238E27FC236}">
                <a16:creationId xmlns:a16="http://schemas.microsoft.com/office/drawing/2014/main" id="{C600A391-021F-D7BB-00A8-4CA848B5A6F6}"/>
              </a:ext>
            </a:extLst>
          </p:cNvPr>
          <p:cNvSpPr/>
          <p:nvPr/>
        </p:nvSpPr>
        <p:spPr bwMode="auto">
          <a:xfrm>
            <a:off x="4251091" y="1057683"/>
            <a:ext cx="133200" cy="149120"/>
          </a:xfrm>
          <a:prstGeom prst="roundRect">
            <a:avLst/>
          </a:prstGeom>
          <a:solidFill>
            <a:srgbClr val="FFFFFF">
              <a:lumMod val="75000"/>
            </a:srgbClr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97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624" name="모서리가 둥근 직사각형 364">
            <a:extLst>
              <a:ext uri="{FF2B5EF4-FFF2-40B4-BE49-F238E27FC236}">
                <a16:creationId xmlns:a16="http://schemas.microsoft.com/office/drawing/2014/main" id="{38E45899-C566-A5A8-8D43-BAAE87F3B94C}"/>
              </a:ext>
            </a:extLst>
          </p:cNvPr>
          <p:cNvSpPr/>
          <p:nvPr/>
        </p:nvSpPr>
        <p:spPr bwMode="auto">
          <a:xfrm>
            <a:off x="4608411" y="1057683"/>
            <a:ext cx="133200" cy="149120"/>
          </a:xfrm>
          <a:prstGeom prst="roundRect">
            <a:avLst/>
          </a:prstGeom>
          <a:solidFill>
            <a:srgbClr val="FFFFFF">
              <a:lumMod val="75000"/>
            </a:srgbClr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77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625" name="모서리가 둥근 직사각형 365">
            <a:extLst>
              <a:ext uri="{FF2B5EF4-FFF2-40B4-BE49-F238E27FC236}">
                <a16:creationId xmlns:a16="http://schemas.microsoft.com/office/drawing/2014/main" id="{61C95C2F-BA2B-3B28-21AF-423957C431E3}"/>
              </a:ext>
            </a:extLst>
          </p:cNvPr>
          <p:cNvSpPr/>
          <p:nvPr/>
        </p:nvSpPr>
        <p:spPr bwMode="auto">
          <a:xfrm>
            <a:off x="4429751" y="1057683"/>
            <a:ext cx="133200" cy="149120"/>
          </a:xfrm>
          <a:prstGeom prst="roundRect">
            <a:avLst/>
          </a:prstGeom>
          <a:noFill/>
          <a:ln w="3175" cap="flat" cmpd="sng" algn="ctr">
            <a:solidFill>
              <a:srgbClr val="FFFFFF"/>
            </a:solidFill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86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626" name="모서리가 둥근 직사각형 364">
            <a:extLst>
              <a:ext uri="{FF2B5EF4-FFF2-40B4-BE49-F238E27FC236}">
                <a16:creationId xmlns:a16="http://schemas.microsoft.com/office/drawing/2014/main" id="{F5DFE47A-D77D-03EC-3A27-C68A4913E11D}"/>
              </a:ext>
            </a:extLst>
          </p:cNvPr>
          <p:cNvSpPr/>
          <p:nvPr/>
        </p:nvSpPr>
        <p:spPr bwMode="auto">
          <a:xfrm>
            <a:off x="4429751" y="1057683"/>
            <a:ext cx="133200" cy="149120"/>
          </a:xfrm>
          <a:prstGeom prst="roundRect">
            <a:avLst/>
          </a:prstGeom>
          <a:solidFill>
            <a:srgbClr val="FFFFFF">
              <a:lumMod val="75000"/>
            </a:srgbClr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83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627" name="모서리가 둥근 직사각형 377">
            <a:extLst>
              <a:ext uri="{FF2B5EF4-FFF2-40B4-BE49-F238E27FC236}">
                <a16:creationId xmlns:a16="http://schemas.microsoft.com/office/drawing/2014/main" id="{0CB54680-3854-8173-4448-89572FF5666D}"/>
              </a:ext>
            </a:extLst>
          </p:cNvPr>
          <p:cNvSpPr/>
          <p:nvPr/>
        </p:nvSpPr>
        <p:spPr bwMode="auto">
          <a:xfrm>
            <a:off x="4787071" y="1057683"/>
            <a:ext cx="133200" cy="149120"/>
          </a:xfrm>
          <a:prstGeom prst="roundRect">
            <a:avLst/>
          </a:prstGeom>
          <a:solidFill>
            <a:srgbClr val="FFFFFF">
              <a:lumMod val="75000"/>
            </a:srgbClr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65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628" name="모서리가 둥근 직사각형 378">
            <a:extLst>
              <a:ext uri="{FF2B5EF4-FFF2-40B4-BE49-F238E27FC236}">
                <a16:creationId xmlns:a16="http://schemas.microsoft.com/office/drawing/2014/main" id="{E8A994D5-6530-F4EC-8B07-89450B2F8E4C}"/>
              </a:ext>
            </a:extLst>
          </p:cNvPr>
          <p:cNvSpPr/>
          <p:nvPr/>
        </p:nvSpPr>
        <p:spPr bwMode="auto">
          <a:xfrm>
            <a:off x="4965731" y="1057683"/>
            <a:ext cx="133200" cy="149120"/>
          </a:xfrm>
          <a:prstGeom prst="roundRect">
            <a:avLst/>
          </a:prstGeom>
          <a:solidFill>
            <a:srgbClr val="FFFFFF">
              <a:lumMod val="75000"/>
            </a:srgbClr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55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629" name="Rectangle 3936">
            <a:extLst>
              <a:ext uri="{FF2B5EF4-FFF2-40B4-BE49-F238E27FC236}">
                <a16:creationId xmlns:a16="http://schemas.microsoft.com/office/drawing/2014/main" id="{78131907-419B-71B4-B102-253B18796A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4638" y="1752075"/>
            <a:ext cx="720000" cy="149120"/>
          </a:xfrm>
          <a:prstGeom prst="rect">
            <a:avLst/>
          </a:prstGeom>
          <a:solidFill>
            <a:srgbClr val="000000"/>
          </a:solidFill>
          <a:ln w="3175" cap="flat" cmpd="sng" algn="ctr">
            <a:solidFill>
              <a:srgbClr val="FFFFFF">
                <a:lumMod val="50000"/>
              </a:srgbClr>
            </a:solidFill>
            <a:prstDash val="solid"/>
          </a:ln>
          <a:effectLst/>
        </p:spPr>
        <p:txBody>
          <a:bodyPr wrap="none" lIns="0" tIns="45714" rIns="72000" bIns="45714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/>
                <a:ea typeface="LG스마트체2.0 Regular"/>
                <a:cs typeface="+mn-cs"/>
              </a:rPr>
              <a:t>C6 - 1</a:t>
            </a:r>
          </a:p>
        </p:txBody>
      </p:sp>
      <p:sp>
        <p:nvSpPr>
          <p:cNvPr id="1630" name="모서리가 둥근 직사각형 375">
            <a:extLst>
              <a:ext uri="{FF2B5EF4-FFF2-40B4-BE49-F238E27FC236}">
                <a16:creationId xmlns:a16="http://schemas.microsoft.com/office/drawing/2014/main" id="{49E99FC5-A828-AA97-F60F-3AB49F22334B}"/>
              </a:ext>
            </a:extLst>
          </p:cNvPr>
          <p:cNvSpPr/>
          <p:nvPr/>
        </p:nvSpPr>
        <p:spPr bwMode="auto">
          <a:xfrm>
            <a:off x="2916914" y="2069080"/>
            <a:ext cx="133200" cy="149120"/>
          </a:xfrm>
          <a:prstGeom prst="roundRect">
            <a:avLst/>
          </a:prstGeom>
          <a:solidFill>
            <a:srgbClr val="FFFFFF">
              <a:lumMod val="75000"/>
            </a:srgbClr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42</a:t>
            </a:r>
            <a:endParaRPr kumimoji="0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631" name="Rectangle 3936">
            <a:extLst>
              <a:ext uri="{FF2B5EF4-FFF2-40B4-BE49-F238E27FC236}">
                <a16:creationId xmlns:a16="http://schemas.microsoft.com/office/drawing/2014/main" id="{B7F8D635-121A-957D-A4E5-0EAAC7F66A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994" y="2059749"/>
            <a:ext cx="720000" cy="149120"/>
          </a:xfrm>
          <a:prstGeom prst="rect">
            <a:avLst/>
          </a:prstGeom>
          <a:solidFill>
            <a:srgbClr val="000000"/>
          </a:solidFill>
          <a:ln w="3175" cap="flat" cmpd="sng" algn="ctr">
            <a:solidFill>
              <a:srgbClr val="FFFFFF">
                <a:lumMod val="50000"/>
              </a:srgbClr>
            </a:solidFill>
            <a:prstDash val="solid"/>
          </a:ln>
          <a:effectLst/>
        </p:spPr>
        <p:txBody>
          <a:bodyPr wrap="none" lIns="0" tIns="45714" rIns="72000" bIns="45714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/>
                <a:ea typeface="LG스마트체2.0 Regular"/>
                <a:cs typeface="+mn-cs"/>
              </a:rPr>
              <a:t>C5 - 1</a:t>
            </a:r>
          </a:p>
        </p:txBody>
      </p:sp>
      <p:sp>
        <p:nvSpPr>
          <p:cNvPr id="1632" name="모서리가 둥근 직사각형 364">
            <a:extLst>
              <a:ext uri="{FF2B5EF4-FFF2-40B4-BE49-F238E27FC236}">
                <a16:creationId xmlns:a16="http://schemas.microsoft.com/office/drawing/2014/main" id="{2B6FB43B-F088-8655-C028-B1E41DE9DC2B}"/>
              </a:ext>
            </a:extLst>
          </p:cNvPr>
          <p:cNvSpPr/>
          <p:nvPr/>
        </p:nvSpPr>
        <p:spPr bwMode="auto">
          <a:xfrm>
            <a:off x="2157849" y="2059749"/>
            <a:ext cx="133200" cy="149120"/>
          </a:xfrm>
          <a:prstGeom prst="roundRect">
            <a:avLst/>
          </a:prstGeom>
          <a:solidFill>
            <a:srgbClr val="FFFFFF">
              <a:lumMod val="75000"/>
            </a:srgbClr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77</a:t>
            </a:r>
            <a:endParaRPr kumimoji="0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633" name="모서리가 둥근 직사각형 376">
            <a:extLst>
              <a:ext uri="{FF2B5EF4-FFF2-40B4-BE49-F238E27FC236}">
                <a16:creationId xmlns:a16="http://schemas.microsoft.com/office/drawing/2014/main" id="{3F484D90-FF7F-2799-7318-CE1FCE4E5C18}"/>
              </a:ext>
            </a:extLst>
          </p:cNvPr>
          <p:cNvSpPr/>
          <p:nvPr/>
        </p:nvSpPr>
        <p:spPr bwMode="auto">
          <a:xfrm>
            <a:off x="2726421" y="2059749"/>
            <a:ext cx="133200" cy="149120"/>
          </a:xfrm>
          <a:prstGeom prst="roundRect">
            <a:avLst/>
          </a:prstGeom>
          <a:solidFill>
            <a:srgbClr val="FFFFFF">
              <a:lumMod val="75000"/>
            </a:srgbClr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48</a:t>
            </a:r>
            <a:endParaRPr kumimoji="0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634" name="모서리가 둥근 직사각형 377">
            <a:extLst>
              <a:ext uri="{FF2B5EF4-FFF2-40B4-BE49-F238E27FC236}">
                <a16:creationId xmlns:a16="http://schemas.microsoft.com/office/drawing/2014/main" id="{5631F995-BA92-DCEE-9049-D2B45718B5DD}"/>
              </a:ext>
            </a:extLst>
          </p:cNvPr>
          <p:cNvSpPr/>
          <p:nvPr/>
        </p:nvSpPr>
        <p:spPr bwMode="auto">
          <a:xfrm>
            <a:off x="2347373" y="2059749"/>
            <a:ext cx="133200" cy="149120"/>
          </a:xfrm>
          <a:prstGeom prst="roundRect">
            <a:avLst/>
          </a:prstGeom>
          <a:solidFill>
            <a:srgbClr val="FFFFFF">
              <a:lumMod val="75000"/>
            </a:srgbClr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65</a:t>
            </a:r>
            <a:endParaRPr kumimoji="0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635" name="모서리가 둥근 직사각형 378">
            <a:extLst>
              <a:ext uri="{FF2B5EF4-FFF2-40B4-BE49-F238E27FC236}">
                <a16:creationId xmlns:a16="http://schemas.microsoft.com/office/drawing/2014/main" id="{1A98941A-8604-FD77-68FB-467E1DDF89B9}"/>
              </a:ext>
            </a:extLst>
          </p:cNvPr>
          <p:cNvSpPr/>
          <p:nvPr/>
        </p:nvSpPr>
        <p:spPr bwMode="auto">
          <a:xfrm>
            <a:off x="2536897" y="2059749"/>
            <a:ext cx="133200" cy="149120"/>
          </a:xfrm>
          <a:prstGeom prst="roundRect">
            <a:avLst/>
          </a:prstGeom>
          <a:solidFill>
            <a:srgbClr val="FFFFFF">
              <a:lumMod val="75000"/>
            </a:srgbClr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55</a:t>
            </a:r>
            <a:endParaRPr kumimoji="0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636" name="모서리가 둥근 직사각형 364">
            <a:extLst>
              <a:ext uri="{FF2B5EF4-FFF2-40B4-BE49-F238E27FC236}">
                <a16:creationId xmlns:a16="http://schemas.microsoft.com/office/drawing/2014/main" id="{2ED03CC6-9115-0651-A287-1C397EE51A16}"/>
              </a:ext>
            </a:extLst>
          </p:cNvPr>
          <p:cNvSpPr/>
          <p:nvPr/>
        </p:nvSpPr>
        <p:spPr bwMode="auto">
          <a:xfrm>
            <a:off x="4608411" y="1752075"/>
            <a:ext cx="133200" cy="149120"/>
          </a:xfrm>
          <a:prstGeom prst="roundRect">
            <a:avLst/>
          </a:prstGeom>
          <a:solidFill>
            <a:srgbClr val="FFFFFF">
              <a:lumMod val="75000"/>
            </a:srgbClr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77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637" name="모서리가 둥근 직사각형 375">
            <a:extLst>
              <a:ext uri="{FF2B5EF4-FFF2-40B4-BE49-F238E27FC236}">
                <a16:creationId xmlns:a16="http://schemas.microsoft.com/office/drawing/2014/main" id="{7F8A3534-11EB-EC29-FE86-1A1CB18C66D8}"/>
              </a:ext>
            </a:extLst>
          </p:cNvPr>
          <p:cNvSpPr/>
          <p:nvPr/>
        </p:nvSpPr>
        <p:spPr bwMode="auto">
          <a:xfrm>
            <a:off x="5323050" y="1752075"/>
            <a:ext cx="133200" cy="149120"/>
          </a:xfrm>
          <a:prstGeom prst="roundRect">
            <a:avLst/>
          </a:prstGeom>
          <a:solidFill>
            <a:srgbClr val="FFFFFF">
              <a:lumMod val="75000"/>
            </a:srgbClr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42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638" name="모서리가 둥근 직사각형 376">
            <a:extLst>
              <a:ext uri="{FF2B5EF4-FFF2-40B4-BE49-F238E27FC236}">
                <a16:creationId xmlns:a16="http://schemas.microsoft.com/office/drawing/2014/main" id="{A2C2D0EC-972F-2FC7-05FD-1ACD4E5689D0}"/>
              </a:ext>
            </a:extLst>
          </p:cNvPr>
          <p:cNvSpPr/>
          <p:nvPr/>
        </p:nvSpPr>
        <p:spPr bwMode="auto">
          <a:xfrm>
            <a:off x="5144391" y="1752075"/>
            <a:ext cx="133200" cy="149120"/>
          </a:xfrm>
          <a:prstGeom prst="roundRect">
            <a:avLst/>
          </a:prstGeom>
          <a:solidFill>
            <a:srgbClr val="FFFFFF">
              <a:lumMod val="75000"/>
            </a:srgbClr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48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639" name="모서리가 둥근 직사각형 377">
            <a:extLst>
              <a:ext uri="{FF2B5EF4-FFF2-40B4-BE49-F238E27FC236}">
                <a16:creationId xmlns:a16="http://schemas.microsoft.com/office/drawing/2014/main" id="{B57BE904-1943-98EF-7E6A-356DC3590137}"/>
              </a:ext>
            </a:extLst>
          </p:cNvPr>
          <p:cNvSpPr/>
          <p:nvPr/>
        </p:nvSpPr>
        <p:spPr bwMode="auto">
          <a:xfrm>
            <a:off x="4787071" y="1752075"/>
            <a:ext cx="133200" cy="149120"/>
          </a:xfrm>
          <a:prstGeom prst="roundRect">
            <a:avLst/>
          </a:prstGeom>
          <a:solidFill>
            <a:srgbClr val="FFFFFF">
              <a:lumMod val="75000"/>
            </a:srgbClr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65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640" name="모서리가 둥근 직사각형 378">
            <a:extLst>
              <a:ext uri="{FF2B5EF4-FFF2-40B4-BE49-F238E27FC236}">
                <a16:creationId xmlns:a16="http://schemas.microsoft.com/office/drawing/2014/main" id="{D4660AF7-9BF9-E07A-7B94-0E8601B97415}"/>
              </a:ext>
            </a:extLst>
          </p:cNvPr>
          <p:cNvSpPr/>
          <p:nvPr/>
        </p:nvSpPr>
        <p:spPr bwMode="auto">
          <a:xfrm>
            <a:off x="4965731" y="1752075"/>
            <a:ext cx="133200" cy="149120"/>
          </a:xfrm>
          <a:prstGeom prst="roundRect">
            <a:avLst/>
          </a:prstGeom>
          <a:solidFill>
            <a:srgbClr val="FFFFFF">
              <a:lumMod val="75000"/>
            </a:srgbClr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55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641" name="Rectangle 3936">
            <a:extLst>
              <a:ext uri="{FF2B5EF4-FFF2-40B4-BE49-F238E27FC236}">
                <a16:creationId xmlns:a16="http://schemas.microsoft.com/office/drawing/2014/main" id="{1EC82D7D-3CA8-C54B-5F60-30E7D00F66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4638" y="1916649"/>
            <a:ext cx="720000" cy="149120"/>
          </a:xfrm>
          <a:prstGeom prst="rect">
            <a:avLst/>
          </a:prstGeom>
          <a:solidFill>
            <a:srgbClr val="000000"/>
          </a:solidFill>
          <a:ln w="3175" cap="flat" cmpd="sng" algn="ctr">
            <a:solidFill>
              <a:srgbClr val="FFFFFF">
                <a:lumMod val="50000"/>
              </a:srgbClr>
            </a:solidFill>
            <a:prstDash val="solid"/>
          </a:ln>
          <a:effectLst/>
        </p:spPr>
        <p:txBody>
          <a:bodyPr wrap="none" lIns="0" tIns="45714" rIns="72000" bIns="45714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/>
                <a:ea typeface="LG스마트체2.0 Regular"/>
                <a:cs typeface="+mn-cs"/>
              </a:rPr>
              <a:t>C6 - 2</a:t>
            </a:r>
          </a:p>
        </p:txBody>
      </p:sp>
      <p:sp>
        <p:nvSpPr>
          <p:cNvPr id="1649" name="모서리가 둥근 직사각형 364">
            <a:extLst>
              <a:ext uri="{FF2B5EF4-FFF2-40B4-BE49-F238E27FC236}">
                <a16:creationId xmlns:a16="http://schemas.microsoft.com/office/drawing/2014/main" id="{3CF2D0CC-DEFD-2C88-FA51-F13306DCC532}"/>
              </a:ext>
            </a:extLst>
          </p:cNvPr>
          <p:cNvSpPr/>
          <p:nvPr/>
        </p:nvSpPr>
        <p:spPr bwMode="auto">
          <a:xfrm>
            <a:off x="4608411" y="1916649"/>
            <a:ext cx="133200" cy="149120"/>
          </a:xfrm>
          <a:prstGeom prst="roundRect">
            <a:avLst/>
          </a:prstGeom>
          <a:solidFill>
            <a:srgbClr val="FFFFFF">
              <a:lumMod val="75000"/>
            </a:srgbClr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77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650" name="모서리가 둥근 직사각형 365">
            <a:extLst>
              <a:ext uri="{FF2B5EF4-FFF2-40B4-BE49-F238E27FC236}">
                <a16:creationId xmlns:a16="http://schemas.microsoft.com/office/drawing/2014/main" id="{81705EB4-09DC-C92B-506E-0154B2D9D434}"/>
              </a:ext>
            </a:extLst>
          </p:cNvPr>
          <p:cNvSpPr/>
          <p:nvPr/>
        </p:nvSpPr>
        <p:spPr bwMode="auto">
          <a:xfrm>
            <a:off x="4429751" y="1940713"/>
            <a:ext cx="133200" cy="149120"/>
          </a:xfrm>
          <a:prstGeom prst="roundRect">
            <a:avLst/>
          </a:prstGeom>
          <a:noFill/>
          <a:ln w="3175" cap="flat" cmpd="sng" algn="ctr">
            <a:solidFill>
              <a:srgbClr val="FFFFFF"/>
            </a:solidFill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86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651" name="모서리가 둥근 직사각형 364">
            <a:extLst>
              <a:ext uri="{FF2B5EF4-FFF2-40B4-BE49-F238E27FC236}">
                <a16:creationId xmlns:a16="http://schemas.microsoft.com/office/drawing/2014/main" id="{B5234588-CBDE-CF9B-04ED-2A262E869295}"/>
              </a:ext>
            </a:extLst>
          </p:cNvPr>
          <p:cNvSpPr/>
          <p:nvPr/>
        </p:nvSpPr>
        <p:spPr bwMode="auto">
          <a:xfrm>
            <a:off x="4429751" y="1916649"/>
            <a:ext cx="133200" cy="149120"/>
          </a:xfrm>
          <a:prstGeom prst="roundRect">
            <a:avLst/>
          </a:prstGeom>
          <a:solidFill>
            <a:srgbClr val="FFFFFF">
              <a:lumMod val="75000"/>
            </a:srgbClr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83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652" name="모서리가 둥근 직사각형 376">
            <a:extLst>
              <a:ext uri="{FF2B5EF4-FFF2-40B4-BE49-F238E27FC236}">
                <a16:creationId xmlns:a16="http://schemas.microsoft.com/office/drawing/2014/main" id="{B4FBBF84-95E8-2474-14B5-8D25E23F55A0}"/>
              </a:ext>
            </a:extLst>
          </p:cNvPr>
          <p:cNvSpPr/>
          <p:nvPr/>
        </p:nvSpPr>
        <p:spPr bwMode="auto">
          <a:xfrm>
            <a:off x="5153722" y="1916649"/>
            <a:ext cx="133200" cy="149120"/>
          </a:xfrm>
          <a:prstGeom prst="roundRect">
            <a:avLst/>
          </a:prstGeom>
          <a:solidFill>
            <a:srgbClr val="FFFFFF">
              <a:lumMod val="75000"/>
            </a:srgbClr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48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653" name="모서리가 둥근 직사각형 377">
            <a:extLst>
              <a:ext uri="{FF2B5EF4-FFF2-40B4-BE49-F238E27FC236}">
                <a16:creationId xmlns:a16="http://schemas.microsoft.com/office/drawing/2014/main" id="{BD5F884B-42EE-3F1B-F206-C59C02D5503B}"/>
              </a:ext>
            </a:extLst>
          </p:cNvPr>
          <p:cNvSpPr/>
          <p:nvPr/>
        </p:nvSpPr>
        <p:spPr bwMode="auto">
          <a:xfrm>
            <a:off x="4787071" y="1916649"/>
            <a:ext cx="133200" cy="149120"/>
          </a:xfrm>
          <a:prstGeom prst="roundRect">
            <a:avLst/>
          </a:prstGeom>
          <a:solidFill>
            <a:srgbClr val="FFFFFF">
              <a:lumMod val="75000"/>
            </a:srgbClr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65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654" name="모서리가 둥근 직사각형 378">
            <a:extLst>
              <a:ext uri="{FF2B5EF4-FFF2-40B4-BE49-F238E27FC236}">
                <a16:creationId xmlns:a16="http://schemas.microsoft.com/office/drawing/2014/main" id="{E00BBFCE-8409-4404-2658-3A1FA89E5C71}"/>
              </a:ext>
            </a:extLst>
          </p:cNvPr>
          <p:cNvSpPr/>
          <p:nvPr/>
        </p:nvSpPr>
        <p:spPr bwMode="auto">
          <a:xfrm>
            <a:off x="4965731" y="1916649"/>
            <a:ext cx="133200" cy="149120"/>
          </a:xfrm>
          <a:prstGeom prst="roundRect">
            <a:avLst/>
          </a:prstGeom>
          <a:solidFill>
            <a:srgbClr val="FFFFFF">
              <a:lumMod val="75000"/>
            </a:srgbClr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55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655" name="Rectangle 3936">
            <a:extLst>
              <a:ext uri="{FF2B5EF4-FFF2-40B4-BE49-F238E27FC236}">
                <a16:creationId xmlns:a16="http://schemas.microsoft.com/office/drawing/2014/main" id="{8364442C-FD89-5112-88F5-23888D9E8A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7102" y="1411225"/>
            <a:ext cx="720000" cy="149120"/>
          </a:xfrm>
          <a:prstGeom prst="rect">
            <a:avLst/>
          </a:prstGeom>
          <a:solidFill>
            <a:srgbClr val="000000"/>
          </a:solidFill>
          <a:ln w="3175" cap="flat" cmpd="sng" algn="ctr">
            <a:solidFill>
              <a:srgbClr val="FFFFFF">
                <a:lumMod val="50000"/>
              </a:srgbClr>
            </a:solidFill>
            <a:prstDash val="solid"/>
          </a:ln>
          <a:effectLst/>
        </p:spPr>
        <p:txBody>
          <a:bodyPr wrap="none" lIns="0" tIns="45714" rIns="72000" bIns="45714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/>
                <a:ea typeface="LG스마트체2.0 Regular"/>
                <a:cs typeface="+mn-cs"/>
              </a:rPr>
              <a:t>G6 </a:t>
            </a:r>
            <a:r>
              <a:rPr kumimoji="0" lang="en-US" altLang="ko-K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/>
                <a:ea typeface="LG스마트체2.0 Regular"/>
                <a:cs typeface="+mn-cs"/>
              </a:rPr>
              <a:t>- 2</a:t>
            </a:r>
            <a:endParaRPr kumimoji="0" lang="en-US" altLang="ko-KR" sz="9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arrow"/>
              <a:ea typeface="LG스마트체2.0 Regular"/>
              <a:cs typeface="+mn-cs"/>
            </a:endParaRPr>
          </a:p>
        </p:txBody>
      </p:sp>
      <p:sp>
        <p:nvSpPr>
          <p:cNvPr id="1656" name="Rectangle 3936">
            <a:extLst>
              <a:ext uri="{FF2B5EF4-FFF2-40B4-BE49-F238E27FC236}">
                <a16:creationId xmlns:a16="http://schemas.microsoft.com/office/drawing/2014/main" id="{2BDA380A-B9E8-3F30-F07D-31D825F379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994" y="1706537"/>
            <a:ext cx="720000" cy="149120"/>
          </a:xfrm>
          <a:prstGeom prst="rect">
            <a:avLst/>
          </a:prstGeom>
          <a:solidFill>
            <a:srgbClr val="000000"/>
          </a:solidFill>
          <a:ln w="3175" cap="flat" cmpd="sng" algn="ctr">
            <a:solidFill>
              <a:srgbClr val="FFFFFF">
                <a:lumMod val="50000"/>
              </a:srgbClr>
            </a:solidFill>
            <a:prstDash val="solid"/>
          </a:ln>
          <a:effectLst/>
        </p:spPr>
        <p:txBody>
          <a:bodyPr wrap="none" lIns="0" tIns="45714" rIns="72000" bIns="45714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/>
                <a:ea typeface="LG스마트체2.0 Regular"/>
                <a:cs typeface="+mn-cs"/>
              </a:rPr>
              <a:t>G5 </a:t>
            </a:r>
            <a:r>
              <a:rPr kumimoji="0" lang="en-US" altLang="ko-K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/>
                <a:ea typeface="LG스마트체2.0 Regular"/>
                <a:cs typeface="+mn-cs"/>
              </a:rPr>
              <a:t>- 2</a:t>
            </a:r>
            <a:endParaRPr kumimoji="0" lang="en-US" altLang="ko-KR" sz="9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arrow"/>
              <a:ea typeface="LG스마트체2.0 Regular"/>
              <a:cs typeface="+mn-cs"/>
            </a:endParaRPr>
          </a:p>
        </p:txBody>
      </p:sp>
      <p:sp>
        <p:nvSpPr>
          <p:cNvPr id="1657" name="모서리가 둥근 직사각형 376">
            <a:extLst>
              <a:ext uri="{FF2B5EF4-FFF2-40B4-BE49-F238E27FC236}">
                <a16:creationId xmlns:a16="http://schemas.microsoft.com/office/drawing/2014/main" id="{7C29B495-AE53-EBFF-B960-0908985A8734}"/>
              </a:ext>
            </a:extLst>
          </p:cNvPr>
          <p:cNvSpPr/>
          <p:nvPr/>
        </p:nvSpPr>
        <p:spPr bwMode="auto">
          <a:xfrm>
            <a:off x="2726421" y="1706537"/>
            <a:ext cx="133200" cy="149120"/>
          </a:xfrm>
          <a:prstGeom prst="roundRect">
            <a:avLst/>
          </a:prstGeom>
          <a:solidFill>
            <a:srgbClr val="FFFFFF"/>
          </a:solidFill>
          <a:ln w="6350" algn="ctr">
            <a:solidFill>
              <a:srgbClr val="C00000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48</a:t>
            </a:r>
            <a:endParaRPr kumimoji="0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658" name="모서리가 둥근 직사각형 377">
            <a:extLst>
              <a:ext uri="{FF2B5EF4-FFF2-40B4-BE49-F238E27FC236}">
                <a16:creationId xmlns:a16="http://schemas.microsoft.com/office/drawing/2014/main" id="{39CF6957-5FA7-5B43-583E-02DC4D52536A}"/>
              </a:ext>
            </a:extLst>
          </p:cNvPr>
          <p:cNvSpPr/>
          <p:nvPr/>
        </p:nvSpPr>
        <p:spPr bwMode="auto">
          <a:xfrm>
            <a:off x="2347373" y="1706537"/>
            <a:ext cx="133200" cy="149120"/>
          </a:xfrm>
          <a:prstGeom prst="roundRect">
            <a:avLst/>
          </a:prstGeom>
          <a:solidFill>
            <a:srgbClr val="FFFFFF">
              <a:lumMod val="75000"/>
            </a:srgbClr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65</a:t>
            </a:r>
            <a:endParaRPr kumimoji="0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659" name="모서리가 둥근 직사각형 378">
            <a:extLst>
              <a:ext uri="{FF2B5EF4-FFF2-40B4-BE49-F238E27FC236}">
                <a16:creationId xmlns:a16="http://schemas.microsoft.com/office/drawing/2014/main" id="{0DD4B1AB-5FD1-4578-6F41-E7AC1F11039C}"/>
              </a:ext>
            </a:extLst>
          </p:cNvPr>
          <p:cNvSpPr/>
          <p:nvPr/>
        </p:nvSpPr>
        <p:spPr bwMode="auto">
          <a:xfrm>
            <a:off x="2536897" y="1706537"/>
            <a:ext cx="133200" cy="149120"/>
          </a:xfrm>
          <a:prstGeom prst="roundRect">
            <a:avLst/>
          </a:prstGeom>
          <a:solidFill>
            <a:srgbClr val="FFFFFF">
              <a:lumMod val="75000"/>
            </a:srgbClr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55</a:t>
            </a:r>
            <a:endParaRPr kumimoji="0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660" name="모서리가 둥근 직사각형 377">
            <a:extLst>
              <a:ext uri="{FF2B5EF4-FFF2-40B4-BE49-F238E27FC236}">
                <a16:creationId xmlns:a16="http://schemas.microsoft.com/office/drawing/2014/main" id="{B4DB5EA4-80F1-1DC5-75E3-34EF9482D01E}"/>
              </a:ext>
            </a:extLst>
          </p:cNvPr>
          <p:cNvSpPr/>
          <p:nvPr/>
        </p:nvSpPr>
        <p:spPr bwMode="auto">
          <a:xfrm>
            <a:off x="4787071" y="1411225"/>
            <a:ext cx="133200" cy="149120"/>
          </a:xfrm>
          <a:prstGeom prst="roundRect">
            <a:avLst/>
          </a:prstGeom>
          <a:solidFill>
            <a:srgbClr val="FFFFFF">
              <a:lumMod val="75000"/>
            </a:srgbClr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65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661" name="모서리가 둥근 직사각형 378">
            <a:extLst>
              <a:ext uri="{FF2B5EF4-FFF2-40B4-BE49-F238E27FC236}">
                <a16:creationId xmlns:a16="http://schemas.microsoft.com/office/drawing/2014/main" id="{44204C9C-B6F9-9C38-8D40-2A7738D91EB3}"/>
              </a:ext>
            </a:extLst>
          </p:cNvPr>
          <p:cNvSpPr/>
          <p:nvPr/>
        </p:nvSpPr>
        <p:spPr bwMode="auto">
          <a:xfrm>
            <a:off x="4965731" y="1411225"/>
            <a:ext cx="133200" cy="149120"/>
          </a:xfrm>
          <a:prstGeom prst="roundRect">
            <a:avLst/>
          </a:prstGeom>
          <a:solidFill>
            <a:srgbClr val="FFFFFF">
              <a:lumMod val="75000"/>
            </a:srgbClr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55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662" name="Rectangle 3936">
            <a:extLst>
              <a:ext uri="{FF2B5EF4-FFF2-40B4-BE49-F238E27FC236}">
                <a16:creationId xmlns:a16="http://schemas.microsoft.com/office/drawing/2014/main" id="{51452B28-5D77-2B7D-E678-47DB8ECA79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994" y="2230075"/>
            <a:ext cx="720000" cy="149120"/>
          </a:xfrm>
          <a:prstGeom prst="rect">
            <a:avLst/>
          </a:prstGeom>
          <a:solidFill>
            <a:srgbClr val="000000"/>
          </a:solidFill>
          <a:ln w="3175" cap="flat" cmpd="sng" algn="ctr">
            <a:solidFill>
              <a:srgbClr val="FFFFFF">
                <a:lumMod val="50000"/>
              </a:srgbClr>
            </a:solidFill>
            <a:prstDash val="solid"/>
          </a:ln>
          <a:effectLst/>
        </p:spPr>
        <p:txBody>
          <a:bodyPr wrap="none" lIns="91429" tIns="45714" rIns="91429" bIns="45714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/>
                <a:ea typeface="LG스마트체2.0 Regular"/>
                <a:cs typeface="+mn-cs"/>
              </a:rPr>
              <a:t>B5</a:t>
            </a:r>
          </a:p>
        </p:txBody>
      </p:sp>
      <p:sp>
        <p:nvSpPr>
          <p:cNvPr id="1663" name="모서리가 둥근 직사각형 364">
            <a:extLst>
              <a:ext uri="{FF2B5EF4-FFF2-40B4-BE49-F238E27FC236}">
                <a16:creationId xmlns:a16="http://schemas.microsoft.com/office/drawing/2014/main" id="{73691160-477C-493C-9717-BAA0D547BFF6}"/>
              </a:ext>
            </a:extLst>
          </p:cNvPr>
          <p:cNvSpPr/>
          <p:nvPr/>
        </p:nvSpPr>
        <p:spPr bwMode="auto">
          <a:xfrm>
            <a:off x="2157849" y="2230075"/>
            <a:ext cx="133200" cy="149120"/>
          </a:xfrm>
          <a:prstGeom prst="roundRect">
            <a:avLst/>
          </a:prstGeom>
          <a:solidFill>
            <a:srgbClr val="FFFFFF">
              <a:lumMod val="75000"/>
            </a:srgbClr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77</a:t>
            </a:r>
            <a:endParaRPr kumimoji="0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664" name="모서리가 둥근 직사각형 377">
            <a:extLst>
              <a:ext uri="{FF2B5EF4-FFF2-40B4-BE49-F238E27FC236}">
                <a16:creationId xmlns:a16="http://schemas.microsoft.com/office/drawing/2014/main" id="{C37EABDA-217C-062A-D7E5-E1A4310597DD}"/>
              </a:ext>
            </a:extLst>
          </p:cNvPr>
          <p:cNvSpPr/>
          <p:nvPr/>
        </p:nvSpPr>
        <p:spPr bwMode="auto">
          <a:xfrm>
            <a:off x="2347373" y="2230075"/>
            <a:ext cx="133200" cy="149120"/>
          </a:xfrm>
          <a:prstGeom prst="roundRect">
            <a:avLst/>
          </a:prstGeom>
          <a:solidFill>
            <a:srgbClr val="FFFFFF">
              <a:lumMod val="75000"/>
            </a:srgbClr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65</a:t>
            </a:r>
            <a:endParaRPr kumimoji="0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665" name="모서리가 둥근 직사각형 378">
            <a:extLst>
              <a:ext uri="{FF2B5EF4-FFF2-40B4-BE49-F238E27FC236}">
                <a16:creationId xmlns:a16="http://schemas.microsoft.com/office/drawing/2014/main" id="{46C393CD-F721-6668-280F-35E3DFF636EC}"/>
              </a:ext>
            </a:extLst>
          </p:cNvPr>
          <p:cNvSpPr/>
          <p:nvPr/>
        </p:nvSpPr>
        <p:spPr bwMode="auto">
          <a:xfrm>
            <a:off x="2536897" y="2230075"/>
            <a:ext cx="133200" cy="149120"/>
          </a:xfrm>
          <a:prstGeom prst="roundRect">
            <a:avLst/>
          </a:prstGeom>
          <a:solidFill>
            <a:srgbClr val="FFFFFF">
              <a:lumMod val="75000"/>
            </a:srgbClr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55</a:t>
            </a:r>
            <a:endParaRPr kumimoji="0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666" name="Rectangle 3936">
            <a:extLst>
              <a:ext uri="{FF2B5EF4-FFF2-40B4-BE49-F238E27FC236}">
                <a16:creationId xmlns:a16="http://schemas.microsoft.com/office/drawing/2014/main" id="{B2C18DE2-7C8E-234B-CE6B-1D36E08731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7102" y="2261703"/>
            <a:ext cx="720000" cy="149120"/>
          </a:xfrm>
          <a:prstGeom prst="rect">
            <a:avLst/>
          </a:prstGeom>
          <a:solidFill>
            <a:srgbClr val="000000"/>
          </a:solidFill>
          <a:ln w="3175" cap="flat" cmpd="sng" algn="ctr">
            <a:solidFill>
              <a:srgbClr val="FFFFFF">
                <a:lumMod val="50000"/>
              </a:srgbClr>
            </a:solidFill>
            <a:prstDash val="solid"/>
          </a:ln>
          <a:effectLst/>
        </p:spPr>
        <p:txBody>
          <a:bodyPr wrap="none" lIns="91429" tIns="45714" rIns="91429" bIns="45714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/>
                <a:ea typeface="LG스마트체2.0 Regular"/>
                <a:cs typeface="+mn-cs"/>
              </a:rPr>
              <a:t>B6</a:t>
            </a:r>
          </a:p>
        </p:txBody>
      </p:sp>
      <p:sp>
        <p:nvSpPr>
          <p:cNvPr id="1667" name="모서리가 둥근 직사각형 364">
            <a:extLst>
              <a:ext uri="{FF2B5EF4-FFF2-40B4-BE49-F238E27FC236}">
                <a16:creationId xmlns:a16="http://schemas.microsoft.com/office/drawing/2014/main" id="{23D5E22C-74DA-4EEE-9D51-93CDABC42E67}"/>
              </a:ext>
            </a:extLst>
          </p:cNvPr>
          <p:cNvSpPr/>
          <p:nvPr/>
        </p:nvSpPr>
        <p:spPr bwMode="auto">
          <a:xfrm>
            <a:off x="1970483" y="2230075"/>
            <a:ext cx="133200" cy="149120"/>
          </a:xfrm>
          <a:prstGeom prst="roundRect">
            <a:avLst/>
          </a:prstGeom>
          <a:solidFill>
            <a:srgbClr val="FFFFFF"/>
          </a:solidFill>
          <a:ln w="6350" algn="ctr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83</a:t>
            </a:r>
            <a:endParaRPr kumimoji="0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668" name="모서리가 둥근 직사각형 376">
            <a:extLst>
              <a:ext uri="{FF2B5EF4-FFF2-40B4-BE49-F238E27FC236}">
                <a16:creationId xmlns:a16="http://schemas.microsoft.com/office/drawing/2014/main" id="{7744D102-0C4C-0F1B-AC81-19048EA538C5}"/>
              </a:ext>
            </a:extLst>
          </p:cNvPr>
          <p:cNvSpPr/>
          <p:nvPr/>
        </p:nvSpPr>
        <p:spPr bwMode="auto">
          <a:xfrm>
            <a:off x="2726355" y="2230075"/>
            <a:ext cx="133200" cy="149120"/>
          </a:xfrm>
          <a:prstGeom prst="roundRect">
            <a:avLst/>
          </a:prstGeom>
          <a:solidFill>
            <a:srgbClr val="FFFFFF">
              <a:lumMod val="75000"/>
            </a:srgbClr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48</a:t>
            </a:r>
            <a:endParaRPr kumimoji="0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669" name="모서리가 둥근 직사각형 364">
            <a:extLst>
              <a:ext uri="{FF2B5EF4-FFF2-40B4-BE49-F238E27FC236}">
                <a16:creationId xmlns:a16="http://schemas.microsoft.com/office/drawing/2014/main" id="{EBFB35CA-E4A1-9390-AE2E-DEC05F3DB286}"/>
              </a:ext>
            </a:extLst>
          </p:cNvPr>
          <p:cNvSpPr/>
          <p:nvPr/>
        </p:nvSpPr>
        <p:spPr bwMode="auto">
          <a:xfrm>
            <a:off x="4608411" y="2261703"/>
            <a:ext cx="133200" cy="149120"/>
          </a:xfrm>
          <a:prstGeom prst="roundRect">
            <a:avLst/>
          </a:prstGeom>
          <a:solidFill>
            <a:srgbClr val="FFFFFF">
              <a:lumMod val="75000"/>
            </a:srgbClr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77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670" name="모서리가 둥근 직사각형 364">
            <a:extLst>
              <a:ext uri="{FF2B5EF4-FFF2-40B4-BE49-F238E27FC236}">
                <a16:creationId xmlns:a16="http://schemas.microsoft.com/office/drawing/2014/main" id="{644F3132-6438-C1FE-53A3-BCFB8B764D5A}"/>
              </a:ext>
            </a:extLst>
          </p:cNvPr>
          <p:cNvSpPr/>
          <p:nvPr/>
        </p:nvSpPr>
        <p:spPr bwMode="auto">
          <a:xfrm>
            <a:off x="4429751" y="2261703"/>
            <a:ext cx="133200" cy="149120"/>
          </a:xfrm>
          <a:prstGeom prst="roundRect">
            <a:avLst/>
          </a:prstGeom>
          <a:solidFill>
            <a:srgbClr val="FFFFFF">
              <a:lumMod val="75000"/>
            </a:srgbClr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83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671" name="모서리가 둥근 직사각형 376">
            <a:extLst>
              <a:ext uri="{FF2B5EF4-FFF2-40B4-BE49-F238E27FC236}">
                <a16:creationId xmlns:a16="http://schemas.microsoft.com/office/drawing/2014/main" id="{7E007E53-8608-CFEB-98EA-63D233FD0C64}"/>
              </a:ext>
            </a:extLst>
          </p:cNvPr>
          <p:cNvSpPr/>
          <p:nvPr/>
        </p:nvSpPr>
        <p:spPr bwMode="auto">
          <a:xfrm>
            <a:off x="5144391" y="2261703"/>
            <a:ext cx="133200" cy="149120"/>
          </a:xfrm>
          <a:prstGeom prst="roundRect">
            <a:avLst/>
          </a:prstGeom>
          <a:solidFill>
            <a:srgbClr val="FFFFFF">
              <a:lumMod val="75000"/>
            </a:srgbClr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48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672" name="모서리가 둥근 직사각형 377">
            <a:extLst>
              <a:ext uri="{FF2B5EF4-FFF2-40B4-BE49-F238E27FC236}">
                <a16:creationId xmlns:a16="http://schemas.microsoft.com/office/drawing/2014/main" id="{C0C91D72-D42F-C50E-3AFA-02DBF76721EF}"/>
              </a:ext>
            </a:extLst>
          </p:cNvPr>
          <p:cNvSpPr/>
          <p:nvPr/>
        </p:nvSpPr>
        <p:spPr bwMode="auto">
          <a:xfrm>
            <a:off x="4787071" y="2261703"/>
            <a:ext cx="133200" cy="149120"/>
          </a:xfrm>
          <a:prstGeom prst="roundRect">
            <a:avLst/>
          </a:prstGeom>
          <a:solidFill>
            <a:srgbClr val="FFFFFF">
              <a:lumMod val="75000"/>
            </a:srgbClr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65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673" name="모서리가 둥근 직사각형 378">
            <a:extLst>
              <a:ext uri="{FF2B5EF4-FFF2-40B4-BE49-F238E27FC236}">
                <a16:creationId xmlns:a16="http://schemas.microsoft.com/office/drawing/2014/main" id="{03EE5646-7279-0B27-2DC3-24DF8658B769}"/>
              </a:ext>
            </a:extLst>
          </p:cNvPr>
          <p:cNvSpPr/>
          <p:nvPr/>
        </p:nvSpPr>
        <p:spPr bwMode="auto">
          <a:xfrm>
            <a:off x="4965731" y="2261703"/>
            <a:ext cx="133200" cy="149120"/>
          </a:xfrm>
          <a:prstGeom prst="roundRect">
            <a:avLst/>
          </a:prstGeom>
          <a:solidFill>
            <a:srgbClr val="FFFFFF">
              <a:lumMod val="75000"/>
            </a:srgbClr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55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674" name="Rectangle 3936">
            <a:extLst>
              <a:ext uri="{FF2B5EF4-FFF2-40B4-BE49-F238E27FC236}">
                <a16:creationId xmlns:a16="http://schemas.microsoft.com/office/drawing/2014/main" id="{3686350B-FB3F-DD6D-9529-CB23CA1AEB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994" y="1883143"/>
            <a:ext cx="720000" cy="149120"/>
          </a:xfrm>
          <a:prstGeom prst="rect">
            <a:avLst/>
          </a:prstGeom>
          <a:solidFill>
            <a:srgbClr val="000000"/>
          </a:solidFill>
          <a:ln w="3175" cap="flat" cmpd="sng" algn="ctr">
            <a:solidFill>
              <a:srgbClr val="FFFFFF">
                <a:lumMod val="50000"/>
              </a:srgbClr>
            </a:solidFill>
            <a:prstDash val="solid"/>
          </a:ln>
          <a:effectLst/>
        </p:spPr>
        <p:txBody>
          <a:bodyPr wrap="none" lIns="91429" tIns="45714" rIns="91429" bIns="45714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/>
                <a:ea typeface="LG스마트체2.0 Regular"/>
                <a:cs typeface="+mn-cs"/>
              </a:rPr>
              <a:t>C5</a:t>
            </a:r>
          </a:p>
        </p:txBody>
      </p:sp>
      <p:sp>
        <p:nvSpPr>
          <p:cNvPr id="1675" name="모서리가 둥근 직사각형 364">
            <a:extLst>
              <a:ext uri="{FF2B5EF4-FFF2-40B4-BE49-F238E27FC236}">
                <a16:creationId xmlns:a16="http://schemas.microsoft.com/office/drawing/2014/main" id="{6F31FB90-BCB1-687B-2A3F-B6974F5C6D6F}"/>
              </a:ext>
            </a:extLst>
          </p:cNvPr>
          <p:cNvSpPr/>
          <p:nvPr/>
        </p:nvSpPr>
        <p:spPr bwMode="auto">
          <a:xfrm>
            <a:off x="2157849" y="1883143"/>
            <a:ext cx="133200" cy="149120"/>
          </a:xfrm>
          <a:prstGeom prst="roundRect">
            <a:avLst/>
          </a:prstGeom>
          <a:solidFill>
            <a:srgbClr val="FFFFFF">
              <a:lumMod val="75000"/>
            </a:srgbClr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77</a:t>
            </a:r>
            <a:endParaRPr kumimoji="0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676" name="모서리가 둥근 직사각형 376">
            <a:extLst>
              <a:ext uri="{FF2B5EF4-FFF2-40B4-BE49-F238E27FC236}">
                <a16:creationId xmlns:a16="http://schemas.microsoft.com/office/drawing/2014/main" id="{FF7A7B70-CE7E-6D49-F1CB-171D5D695080}"/>
              </a:ext>
            </a:extLst>
          </p:cNvPr>
          <p:cNvSpPr/>
          <p:nvPr/>
        </p:nvSpPr>
        <p:spPr bwMode="auto">
          <a:xfrm>
            <a:off x="2726421" y="1883143"/>
            <a:ext cx="133200" cy="149120"/>
          </a:xfrm>
          <a:prstGeom prst="roundRect">
            <a:avLst/>
          </a:prstGeom>
          <a:solidFill>
            <a:srgbClr val="FFFFFF">
              <a:lumMod val="75000"/>
            </a:srgbClr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48</a:t>
            </a:r>
            <a:endParaRPr kumimoji="0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677" name="모서리가 둥근 직사각형 377">
            <a:extLst>
              <a:ext uri="{FF2B5EF4-FFF2-40B4-BE49-F238E27FC236}">
                <a16:creationId xmlns:a16="http://schemas.microsoft.com/office/drawing/2014/main" id="{17F61D3B-D0AC-292B-D2FB-F375933A22D5}"/>
              </a:ext>
            </a:extLst>
          </p:cNvPr>
          <p:cNvSpPr/>
          <p:nvPr/>
        </p:nvSpPr>
        <p:spPr bwMode="auto">
          <a:xfrm>
            <a:off x="2347373" y="1883143"/>
            <a:ext cx="133200" cy="149120"/>
          </a:xfrm>
          <a:prstGeom prst="roundRect">
            <a:avLst/>
          </a:prstGeom>
          <a:solidFill>
            <a:srgbClr val="FFFFFF">
              <a:lumMod val="75000"/>
            </a:srgbClr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65</a:t>
            </a:r>
            <a:endParaRPr kumimoji="0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678" name="모서리가 둥근 직사각형 378">
            <a:extLst>
              <a:ext uri="{FF2B5EF4-FFF2-40B4-BE49-F238E27FC236}">
                <a16:creationId xmlns:a16="http://schemas.microsoft.com/office/drawing/2014/main" id="{A25DC4AF-DCB9-6C2C-BFA7-32A746FB52BA}"/>
              </a:ext>
            </a:extLst>
          </p:cNvPr>
          <p:cNvSpPr/>
          <p:nvPr/>
        </p:nvSpPr>
        <p:spPr bwMode="auto">
          <a:xfrm>
            <a:off x="2536897" y="1883143"/>
            <a:ext cx="133200" cy="149120"/>
          </a:xfrm>
          <a:prstGeom prst="roundRect">
            <a:avLst/>
          </a:prstGeom>
          <a:solidFill>
            <a:srgbClr val="FFFFFF">
              <a:lumMod val="75000"/>
            </a:srgbClr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55</a:t>
            </a:r>
            <a:endParaRPr kumimoji="0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679" name="모서리가 둥근 직사각형 375">
            <a:extLst>
              <a:ext uri="{FF2B5EF4-FFF2-40B4-BE49-F238E27FC236}">
                <a16:creationId xmlns:a16="http://schemas.microsoft.com/office/drawing/2014/main" id="{2564A38D-5E7F-D05E-C090-95BCD9D5A31D}"/>
              </a:ext>
            </a:extLst>
          </p:cNvPr>
          <p:cNvSpPr/>
          <p:nvPr/>
        </p:nvSpPr>
        <p:spPr bwMode="auto">
          <a:xfrm>
            <a:off x="2914577" y="1883143"/>
            <a:ext cx="133200" cy="149120"/>
          </a:xfrm>
          <a:prstGeom prst="roundRect">
            <a:avLst/>
          </a:prstGeom>
          <a:solidFill>
            <a:srgbClr val="FFFFFF">
              <a:lumMod val="75000"/>
            </a:srgbClr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42</a:t>
            </a:r>
            <a:endParaRPr kumimoji="0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680" name="모서리가 둥근 직사각형 364">
            <a:extLst>
              <a:ext uri="{FF2B5EF4-FFF2-40B4-BE49-F238E27FC236}">
                <a16:creationId xmlns:a16="http://schemas.microsoft.com/office/drawing/2014/main" id="{F64BBD15-0AF8-32F6-FC6D-F6A3BC489FED}"/>
              </a:ext>
            </a:extLst>
          </p:cNvPr>
          <p:cNvSpPr/>
          <p:nvPr/>
        </p:nvSpPr>
        <p:spPr bwMode="auto">
          <a:xfrm>
            <a:off x="1970483" y="1883143"/>
            <a:ext cx="133200" cy="149120"/>
          </a:xfrm>
          <a:prstGeom prst="roundRect">
            <a:avLst/>
          </a:prstGeom>
          <a:solidFill>
            <a:srgbClr val="FFFFFF"/>
          </a:solidFill>
          <a:ln w="6350" algn="ctr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83</a:t>
            </a:r>
            <a:endParaRPr kumimoji="0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681" name="Rectangle 3936">
            <a:extLst>
              <a:ext uri="{FF2B5EF4-FFF2-40B4-BE49-F238E27FC236}">
                <a16:creationId xmlns:a16="http://schemas.microsoft.com/office/drawing/2014/main" id="{A6DE644F-0D7D-E02A-5B1F-3DA137C2D8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7102" y="1587501"/>
            <a:ext cx="720000" cy="149120"/>
          </a:xfrm>
          <a:prstGeom prst="rect">
            <a:avLst/>
          </a:prstGeom>
          <a:solidFill>
            <a:srgbClr val="000000"/>
          </a:solidFill>
          <a:ln w="3175" cap="flat" cmpd="sng" algn="ctr">
            <a:solidFill>
              <a:srgbClr val="FFFFFF">
                <a:lumMod val="50000"/>
              </a:srgbClr>
            </a:solidFill>
            <a:prstDash val="solid"/>
          </a:ln>
          <a:effectLst/>
        </p:spPr>
        <p:txBody>
          <a:bodyPr wrap="none" lIns="91429" tIns="45714" rIns="91429" bIns="45714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/>
                <a:ea typeface="LG스마트체2.0 Regular"/>
                <a:cs typeface="+mn-cs"/>
              </a:rPr>
              <a:t>C6</a:t>
            </a:r>
          </a:p>
        </p:txBody>
      </p:sp>
      <p:sp>
        <p:nvSpPr>
          <p:cNvPr id="1682" name="모서리가 둥근 직사각형 364">
            <a:extLst>
              <a:ext uri="{FF2B5EF4-FFF2-40B4-BE49-F238E27FC236}">
                <a16:creationId xmlns:a16="http://schemas.microsoft.com/office/drawing/2014/main" id="{20908B2E-53E7-B5AD-311E-DB9F4249FF87}"/>
              </a:ext>
            </a:extLst>
          </p:cNvPr>
          <p:cNvSpPr/>
          <p:nvPr/>
        </p:nvSpPr>
        <p:spPr bwMode="auto">
          <a:xfrm>
            <a:off x="4608411" y="1587501"/>
            <a:ext cx="133200" cy="149120"/>
          </a:xfrm>
          <a:prstGeom prst="roundRect">
            <a:avLst/>
          </a:prstGeom>
          <a:solidFill>
            <a:srgbClr val="FFFFFF">
              <a:lumMod val="75000"/>
            </a:srgbClr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77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683" name="모서리가 둥근 직사각형 364">
            <a:extLst>
              <a:ext uri="{FF2B5EF4-FFF2-40B4-BE49-F238E27FC236}">
                <a16:creationId xmlns:a16="http://schemas.microsoft.com/office/drawing/2014/main" id="{8E4191B2-37FD-D2A5-11E8-2C69AA57434D}"/>
              </a:ext>
            </a:extLst>
          </p:cNvPr>
          <p:cNvSpPr/>
          <p:nvPr/>
        </p:nvSpPr>
        <p:spPr bwMode="auto">
          <a:xfrm>
            <a:off x="4429751" y="1587501"/>
            <a:ext cx="133200" cy="149120"/>
          </a:xfrm>
          <a:prstGeom prst="roundRect">
            <a:avLst/>
          </a:prstGeom>
          <a:solidFill>
            <a:srgbClr val="FFFFFF">
              <a:lumMod val="75000"/>
            </a:srgbClr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83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684" name="모서리가 둥근 직사각형 375">
            <a:extLst>
              <a:ext uri="{FF2B5EF4-FFF2-40B4-BE49-F238E27FC236}">
                <a16:creationId xmlns:a16="http://schemas.microsoft.com/office/drawing/2014/main" id="{C2D3D4E3-C93C-13CB-AC00-2075487C7B06}"/>
              </a:ext>
            </a:extLst>
          </p:cNvPr>
          <p:cNvSpPr/>
          <p:nvPr/>
        </p:nvSpPr>
        <p:spPr bwMode="auto">
          <a:xfrm>
            <a:off x="5316676" y="1587501"/>
            <a:ext cx="133200" cy="149120"/>
          </a:xfrm>
          <a:prstGeom prst="roundRect">
            <a:avLst/>
          </a:prstGeom>
          <a:solidFill>
            <a:srgbClr val="FFFFFF">
              <a:lumMod val="75000"/>
            </a:srgbClr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42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685" name="모서리가 둥근 직사각형 376">
            <a:extLst>
              <a:ext uri="{FF2B5EF4-FFF2-40B4-BE49-F238E27FC236}">
                <a16:creationId xmlns:a16="http://schemas.microsoft.com/office/drawing/2014/main" id="{23836C8F-B897-F901-BAFD-99A0A7CAE505}"/>
              </a:ext>
            </a:extLst>
          </p:cNvPr>
          <p:cNvSpPr/>
          <p:nvPr/>
        </p:nvSpPr>
        <p:spPr bwMode="auto">
          <a:xfrm>
            <a:off x="5144391" y="1587501"/>
            <a:ext cx="133200" cy="149120"/>
          </a:xfrm>
          <a:prstGeom prst="roundRect">
            <a:avLst/>
          </a:prstGeom>
          <a:solidFill>
            <a:srgbClr val="FFFFFF">
              <a:lumMod val="75000"/>
            </a:srgbClr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48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686" name="모서리가 둥근 직사각형 377">
            <a:extLst>
              <a:ext uri="{FF2B5EF4-FFF2-40B4-BE49-F238E27FC236}">
                <a16:creationId xmlns:a16="http://schemas.microsoft.com/office/drawing/2014/main" id="{35FE6156-BDC6-0392-C36F-A446EAD59181}"/>
              </a:ext>
            </a:extLst>
          </p:cNvPr>
          <p:cNvSpPr/>
          <p:nvPr/>
        </p:nvSpPr>
        <p:spPr bwMode="auto">
          <a:xfrm>
            <a:off x="4787071" y="1587501"/>
            <a:ext cx="133200" cy="149120"/>
          </a:xfrm>
          <a:prstGeom prst="roundRect">
            <a:avLst/>
          </a:prstGeom>
          <a:solidFill>
            <a:srgbClr val="FFFFFF">
              <a:lumMod val="75000"/>
            </a:srgbClr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65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687" name="모서리가 둥근 직사각형 378">
            <a:extLst>
              <a:ext uri="{FF2B5EF4-FFF2-40B4-BE49-F238E27FC236}">
                <a16:creationId xmlns:a16="http://schemas.microsoft.com/office/drawing/2014/main" id="{4C4A3658-C484-D6BA-B039-B9E4685B391A}"/>
              </a:ext>
            </a:extLst>
          </p:cNvPr>
          <p:cNvSpPr/>
          <p:nvPr/>
        </p:nvSpPr>
        <p:spPr bwMode="auto">
          <a:xfrm>
            <a:off x="4965731" y="1587501"/>
            <a:ext cx="133200" cy="149120"/>
          </a:xfrm>
          <a:prstGeom prst="roundRect">
            <a:avLst/>
          </a:prstGeom>
          <a:solidFill>
            <a:srgbClr val="FFFFFF">
              <a:lumMod val="75000"/>
            </a:srgbClr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55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691" name="Rectangle 3936">
            <a:extLst>
              <a:ext uri="{FF2B5EF4-FFF2-40B4-BE49-F238E27FC236}">
                <a16:creationId xmlns:a16="http://schemas.microsoft.com/office/drawing/2014/main" id="{ED162A8A-AE7B-B9C9-C199-A428E4A309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7102" y="1234289"/>
            <a:ext cx="720000" cy="149120"/>
          </a:xfrm>
          <a:prstGeom prst="rect">
            <a:avLst/>
          </a:prstGeom>
          <a:solidFill>
            <a:srgbClr val="000000"/>
          </a:solidFill>
          <a:ln w="3175" cap="flat" cmpd="sng" algn="ctr">
            <a:solidFill>
              <a:srgbClr val="FFFFFF">
                <a:lumMod val="50000"/>
              </a:srgbClr>
            </a:solidFill>
            <a:prstDash val="solid"/>
          </a:ln>
          <a:effectLst/>
        </p:spPr>
        <p:txBody>
          <a:bodyPr wrap="none" lIns="0" tIns="45714" rIns="72000" bIns="45714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/>
                <a:ea typeface="LG스마트체2.0 Regular"/>
                <a:cs typeface="+mn-cs"/>
              </a:rPr>
              <a:t>G6 - 1</a:t>
            </a:r>
            <a:endParaRPr kumimoji="0" lang="en-US" altLang="ko-KR" sz="9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arrow"/>
              <a:ea typeface="LG스마트체2.0 Regular"/>
              <a:cs typeface="+mn-cs"/>
            </a:endParaRPr>
          </a:p>
        </p:txBody>
      </p:sp>
      <p:sp>
        <p:nvSpPr>
          <p:cNvPr id="1692" name="Rectangle 3936">
            <a:extLst>
              <a:ext uri="{FF2B5EF4-FFF2-40B4-BE49-F238E27FC236}">
                <a16:creationId xmlns:a16="http://schemas.microsoft.com/office/drawing/2014/main" id="{57695563-B789-B96F-2EF4-2D7DDC11AE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994" y="1529931"/>
            <a:ext cx="720000" cy="149120"/>
          </a:xfrm>
          <a:prstGeom prst="rect">
            <a:avLst/>
          </a:prstGeom>
          <a:solidFill>
            <a:srgbClr val="000000"/>
          </a:solidFill>
          <a:ln w="3175" cap="flat" cmpd="sng" algn="ctr">
            <a:solidFill>
              <a:srgbClr val="FFFFFF">
                <a:lumMod val="50000"/>
              </a:srgbClr>
            </a:solidFill>
            <a:prstDash val="solid"/>
          </a:ln>
          <a:effectLst/>
        </p:spPr>
        <p:txBody>
          <a:bodyPr wrap="none" lIns="0" tIns="45714" rIns="72000" bIns="45714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/>
                <a:ea typeface="LG스마트체2.0 Regular"/>
                <a:cs typeface="+mn-cs"/>
              </a:rPr>
              <a:t>G5 </a:t>
            </a:r>
            <a:r>
              <a:rPr kumimoji="0" lang="en-US" altLang="ko-K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/>
                <a:ea typeface="LG스마트체2.0 Regular"/>
                <a:cs typeface="+mn-cs"/>
              </a:rPr>
              <a:t>- 1</a:t>
            </a:r>
            <a:endParaRPr kumimoji="0" lang="en-US" altLang="ko-KR" sz="9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arrow"/>
              <a:ea typeface="LG스마트체2.0 Regular"/>
              <a:cs typeface="+mn-cs"/>
            </a:endParaRPr>
          </a:p>
        </p:txBody>
      </p:sp>
      <p:sp>
        <p:nvSpPr>
          <p:cNvPr id="1693" name="모서리가 둥근 직사각형 364">
            <a:extLst>
              <a:ext uri="{FF2B5EF4-FFF2-40B4-BE49-F238E27FC236}">
                <a16:creationId xmlns:a16="http://schemas.microsoft.com/office/drawing/2014/main" id="{F3B42BA0-6A54-10C4-AD67-10EAA0BC0694}"/>
              </a:ext>
            </a:extLst>
          </p:cNvPr>
          <p:cNvSpPr/>
          <p:nvPr/>
        </p:nvSpPr>
        <p:spPr bwMode="auto">
          <a:xfrm>
            <a:off x="2157849" y="1529931"/>
            <a:ext cx="133200" cy="149120"/>
          </a:xfrm>
          <a:prstGeom prst="roundRect">
            <a:avLst/>
          </a:prstGeom>
          <a:solidFill>
            <a:srgbClr val="FFFFFF">
              <a:lumMod val="75000"/>
            </a:srgbClr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77</a:t>
            </a:r>
            <a:endParaRPr kumimoji="0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694" name="모서리가 둥근 직사각형 377">
            <a:extLst>
              <a:ext uri="{FF2B5EF4-FFF2-40B4-BE49-F238E27FC236}">
                <a16:creationId xmlns:a16="http://schemas.microsoft.com/office/drawing/2014/main" id="{ACCFDE86-D440-E5B0-97D2-4AE6F130AA46}"/>
              </a:ext>
            </a:extLst>
          </p:cNvPr>
          <p:cNvSpPr/>
          <p:nvPr/>
        </p:nvSpPr>
        <p:spPr bwMode="auto">
          <a:xfrm>
            <a:off x="2347373" y="1529931"/>
            <a:ext cx="133200" cy="149120"/>
          </a:xfrm>
          <a:prstGeom prst="roundRect">
            <a:avLst/>
          </a:prstGeom>
          <a:solidFill>
            <a:srgbClr val="FFFFFF">
              <a:lumMod val="75000"/>
            </a:srgbClr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65</a:t>
            </a:r>
            <a:endParaRPr kumimoji="0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695" name="모서리가 둥근 직사각형 378">
            <a:extLst>
              <a:ext uri="{FF2B5EF4-FFF2-40B4-BE49-F238E27FC236}">
                <a16:creationId xmlns:a16="http://schemas.microsoft.com/office/drawing/2014/main" id="{A5637F50-754E-1DBD-51BE-31EDAEB82A29}"/>
              </a:ext>
            </a:extLst>
          </p:cNvPr>
          <p:cNvSpPr/>
          <p:nvPr/>
        </p:nvSpPr>
        <p:spPr bwMode="auto">
          <a:xfrm>
            <a:off x="2536897" y="1529931"/>
            <a:ext cx="133200" cy="149120"/>
          </a:xfrm>
          <a:prstGeom prst="roundRect">
            <a:avLst/>
          </a:prstGeom>
          <a:solidFill>
            <a:srgbClr val="FFFFFF">
              <a:lumMod val="75000"/>
            </a:srgbClr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55</a:t>
            </a:r>
            <a:endParaRPr kumimoji="0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696" name="모서리가 둥근 직사각형 364">
            <a:extLst>
              <a:ext uri="{FF2B5EF4-FFF2-40B4-BE49-F238E27FC236}">
                <a16:creationId xmlns:a16="http://schemas.microsoft.com/office/drawing/2014/main" id="{6099DE43-B610-5FBA-315C-4129240ABA5D}"/>
              </a:ext>
            </a:extLst>
          </p:cNvPr>
          <p:cNvSpPr/>
          <p:nvPr/>
        </p:nvSpPr>
        <p:spPr bwMode="auto">
          <a:xfrm>
            <a:off x="1970483" y="1529931"/>
            <a:ext cx="133200" cy="149120"/>
          </a:xfrm>
          <a:prstGeom prst="roundRect">
            <a:avLst/>
          </a:prstGeom>
          <a:solidFill>
            <a:srgbClr val="FFFFFF">
              <a:lumMod val="75000"/>
            </a:srgbClr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83</a:t>
            </a:r>
            <a:endParaRPr kumimoji="0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697" name="모서리가 둥근 직사각형 364">
            <a:extLst>
              <a:ext uri="{FF2B5EF4-FFF2-40B4-BE49-F238E27FC236}">
                <a16:creationId xmlns:a16="http://schemas.microsoft.com/office/drawing/2014/main" id="{B52F1A36-7E70-3981-E318-732A88A6CE9C}"/>
              </a:ext>
            </a:extLst>
          </p:cNvPr>
          <p:cNvSpPr/>
          <p:nvPr/>
        </p:nvSpPr>
        <p:spPr bwMode="auto">
          <a:xfrm>
            <a:off x="4608411" y="1234289"/>
            <a:ext cx="133200" cy="149120"/>
          </a:xfrm>
          <a:prstGeom prst="roundRect">
            <a:avLst/>
          </a:prstGeom>
          <a:solidFill>
            <a:srgbClr val="FFFFFF">
              <a:lumMod val="75000"/>
            </a:srgbClr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77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698" name="모서리가 둥근 직사각형 365">
            <a:extLst>
              <a:ext uri="{FF2B5EF4-FFF2-40B4-BE49-F238E27FC236}">
                <a16:creationId xmlns:a16="http://schemas.microsoft.com/office/drawing/2014/main" id="{216FF3EC-EAC2-98B8-A429-CCBA3DC6BE4C}"/>
              </a:ext>
            </a:extLst>
          </p:cNvPr>
          <p:cNvSpPr/>
          <p:nvPr/>
        </p:nvSpPr>
        <p:spPr bwMode="auto">
          <a:xfrm>
            <a:off x="4429751" y="1234289"/>
            <a:ext cx="133200" cy="149120"/>
          </a:xfrm>
          <a:prstGeom prst="roundRect">
            <a:avLst/>
          </a:prstGeom>
          <a:noFill/>
          <a:ln w="3175" cap="flat" cmpd="sng" algn="ctr">
            <a:solidFill>
              <a:srgbClr val="FFFFFF"/>
            </a:solidFill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86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699" name="모서리가 둥근 직사각형 364">
            <a:extLst>
              <a:ext uri="{FF2B5EF4-FFF2-40B4-BE49-F238E27FC236}">
                <a16:creationId xmlns:a16="http://schemas.microsoft.com/office/drawing/2014/main" id="{F50E9496-D424-D1EC-C922-BCDA43E112BD}"/>
              </a:ext>
            </a:extLst>
          </p:cNvPr>
          <p:cNvSpPr/>
          <p:nvPr/>
        </p:nvSpPr>
        <p:spPr bwMode="auto">
          <a:xfrm>
            <a:off x="4429751" y="1234289"/>
            <a:ext cx="133200" cy="149120"/>
          </a:xfrm>
          <a:prstGeom prst="roundRect">
            <a:avLst/>
          </a:prstGeom>
          <a:solidFill>
            <a:srgbClr val="FFFFFF">
              <a:lumMod val="75000"/>
            </a:srgbClr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83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700" name="모서리가 둥근 직사각형 377">
            <a:extLst>
              <a:ext uri="{FF2B5EF4-FFF2-40B4-BE49-F238E27FC236}">
                <a16:creationId xmlns:a16="http://schemas.microsoft.com/office/drawing/2014/main" id="{719AAB98-F38F-A943-DB79-0451F83A9E04}"/>
              </a:ext>
            </a:extLst>
          </p:cNvPr>
          <p:cNvSpPr/>
          <p:nvPr/>
        </p:nvSpPr>
        <p:spPr bwMode="auto">
          <a:xfrm>
            <a:off x="4787071" y="1234289"/>
            <a:ext cx="133200" cy="149120"/>
          </a:xfrm>
          <a:prstGeom prst="roundRect">
            <a:avLst/>
          </a:prstGeom>
          <a:solidFill>
            <a:srgbClr val="FFFFFF">
              <a:lumMod val="75000"/>
            </a:srgbClr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65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701" name="모서리가 둥근 직사각형 378">
            <a:extLst>
              <a:ext uri="{FF2B5EF4-FFF2-40B4-BE49-F238E27FC236}">
                <a16:creationId xmlns:a16="http://schemas.microsoft.com/office/drawing/2014/main" id="{3505E9CF-B612-AA3B-319D-5783EC86E4B4}"/>
              </a:ext>
            </a:extLst>
          </p:cNvPr>
          <p:cNvSpPr/>
          <p:nvPr/>
        </p:nvSpPr>
        <p:spPr bwMode="auto">
          <a:xfrm>
            <a:off x="4965731" y="1234289"/>
            <a:ext cx="133200" cy="149120"/>
          </a:xfrm>
          <a:prstGeom prst="roundRect">
            <a:avLst/>
          </a:prstGeom>
          <a:solidFill>
            <a:srgbClr val="FFFFFF">
              <a:lumMod val="75000"/>
            </a:srgbClr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55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grpSp>
        <p:nvGrpSpPr>
          <p:cNvPr id="1644" name="그룹 1643">
            <a:extLst>
              <a:ext uri="{FF2B5EF4-FFF2-40B4-BE49-F238E27FC236}">
                <a16:creationId xmlns:a16="http://schemas.microsoft.com/office/drawing/2014/main" id="{14254F57-5D70-B85A-E47E-7D8C85771541}"/>
              </a:ext>
            </a:extLst>
          </p:cNvPr>
          <p:cNvGrpSpPr/>
          <p:nvPr/>
        </p:nvGrpSpPr>
        <p:grpSpPr>
          <a:xfrm>
            <a:off x="3167102" y="5570353"/>
            <a:ext cx="2289148" cy="303266"/>
            <a:chOff x="3167102" y="5559912"/>
            <a:chExt cx="2289148" cy="303266"/>
          </a:xfrm>
        </p:grpSpPr>
        <p:sp>
          <p:nvSpPr>
            <p:cNvPr id="1358" name="Rectangle 3936">
              <a:extLst>
                <a:ext uri="{FF2B5EF4-FFF2-40B4-BE49-F238E27FC236}">
                  <a16:creationId xmlns:a16="http://schemas.microsoft.com/office/drawing/2014/main" id="{0DE1C2FB-C060-DEE4-B6AC-99EA79C6AF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7102" y="5562472"/>
              <a:ext cx="720000" cy="144000"/>
            </a:xfrm>
            <a:prstGeom prst="rect">
              <a:avLst/>
            </a:prstGeom>
            <a:solidFill>
              <a:srgbClr val="CC3300"/>
            </a:solidFill>
            <a:ln w="3175" cap="flat" cmpd="sng" algn="ctr">
              <a:solidFill>
                <a:srgbClr val="FFFFFF">
                  <a:lumMod val="50000"/>
                </a:srgbClr>
              </a:solidFill>
              <a:prstDash val="solid"/>
            </a:ln>
            <a:effectLst/>
          </p:spPr>
          <p:txBody>
            <a:bodyPr wrap="none" lIns="0" tIns="45714" rIns="72000" bIns="45714"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 Narrow"/>
                  <a:ea typeface="LG스마트체2.0 Regular"/>
                  <a:cs typeface="+mn-cs"/>
                </a:rPr>
                <a:t>QNED7EB</a:t>
              </a:r>
            </a:p>
          </p:txBody>
        </p:sp>
        <p:sp>
          <p:nvSpPr>
            <p:cNvPr id="1524" name="모서리가 둥근 직사각형 364">
              <a:extLst>
                <a:ext uri="{FF2B5EF4-FFF2-40B4-BE49-F238E27FC236}">
                  <a16:creationId xmlns:a16="http://schemas.microsoft.com/office/drawing/2014/main" id="{0239B1B1-47F3-E7F6-1025-82F952937C30}"/>
                </a:ext>
              </a:extLst>
            </p:cNvPr>
            <p:cNvSpPr/>
            <p:nvPr/>
          </p:nvSpPr>
          <p:spPr bwMode="auto">
            <a:xfrm>
              <a:off x="4608411" y="5559912"/>
              <a:ext cx="133200" cy="149120"/>
            </a:xfrm>
            <a:prstGeom prst="roundRect">
              <a:avLst/>
            </a:prstGeom>
            <a:solidFill>
              <a:srgbClr val="FFFFFF"/>
            </a:solidFill>
            <a:ln w="6350" algn="ctr">
              <a:solidFill>
                <a:srgbClr val="C00000"/>
              </a:solidFill>
              <a:prstDash val="solid"/>
              <a:round/>
              <a:headEnd/>
              <a:tailEnd/>
            </a:ln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 Narrow"/>
                  <a:ea typeface="LG스마트체 Regular" panose="020B0600000101010101" pitchFamily="50" charset="-127"/>
                  <a:cs typeface="Arial" panose="020B0604020202020204" pitchFamily="34" charset="0"/>
                </a:rPr>
                <a:t>75</a:t>
              </a:r>
              <a:endPara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546" name="모서리가 둥근 직사각형 365">
              <a:extLst>
                <a:ext uri="{FF2B5EF4-FFF2-40B4-BE49-F238E27FC236}">
                  <a16:creationId xmlns:a16="http://schemas.microsoft.com/office/drawing/2014/main" id="{E85066DD-DE1D-2B96-500A-A96AF5DE73CE}"/>
                </a:ext>
              </a:extLst>
            </p:cNvPr>
            <p:cNvSpPr/>
            <p:nvPr/>
          </p:nvSpPr>
          <p:spPr bwMode="auto">
            <a:xfrm>
              <a:off x="4441783" y="5559912"/>
              <a:ext cx="133200" cy="149120"/>
            </a:xfrm>
            <a:prstGeom prst="roundRect">
              <a:avLst/>
            </a:prstGeom>
            <a:solidFill>
              <a:srgbClr val="FFFFFF"/>
            </a:solidFill>
            <a:ln w="6350" algn="ctr">
              <a:solidFill>
                <a:srgbClr val="C00000"/>
              </a:solidFill>
              <a:prstDash val="solid"/>
              <a:round/>
              <a:headEnd/>
              <a:tailEnd/>
            </a:ln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 Narrow"/>
                  <a:ea typeface="LG스마트체 Regular" panose="020B0600000101010101" pitchFamily="50" charset="-127"/>
                  <a:cs typeface="Arial" panose="020B0604020202020204" pitchFamily="34" charset="0"/>
                </a:rPr>
                <a:t>8</a:t>
              </a:r>
              <a:r>
                <a:rPr kumimoji="0" lang="en-US" altLang="ko-KR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 Narrow"/>
                  <a:ea typeface="LG스마트체 Regular" panose="020B0600000101010101" pitchFamily="50" charset="-127"/>
                  <a:cs typeface="Arial" panose="020B0604020202020204" pitchFamily="34" charset="0"/>
                </a:rPr>
                <a:t>5</a:t>
              </a:r>
              <a:endPara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556" name="모서리가 둥근 직사각형 375">
              <a:extLst>
                <a:ext uri="{FF2B5EF4-FFF2-40B4-BE49-F238E27FC236}">
                  <a16:creationId xmlns:a16="http://schemas.microsoft.com/office/drawing/2014/main" id="{D7602C85-FF1E-1A92-065D-20B2DE0E641C}"/>
                </a:ext>
              </a:extLst>
            </p:cNvPr>
            <p:cNvSpPr/>
            <p:nvPr/>
          </p:nvSpPr>
          <p:spPr bwMode="auto">
            <a:xfrm>
              <a:off x="5323050" y="5559912"/>
              <a:ext cx="133200" cy="149120"/>
            </a:xfrm>
            <a:prstGeom prst="roundRect">
              <a:avLst/>
            </a:prstGeom>
            <a:solidFill>
              <a:srgbClr val="FFFFFF"/>
            </a:solidFill>
            <a:ln w="6350" algn="ctr">
              <a:solidFill>
                <a:srgbClr val="C00000"/>
              </a:solidFill>
              <a:prstDash val="solid"/>
              <a:round/>
              <a:headEnd/>
              <a:tailEnd/>
            </a:ln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 Narrow"/>
                  <a:ea typeface="LG스마트체 Regular" panose="020B0600000101010101" pitchFamily="50" charset="-127"/>
                  <a:cs typeface="Arial" panose="020B0604020202020204" pitchFamily="34" charset="0"/>
                </a:rPr>
                <a:t>43</a:t>
              </a:r>
              <a:endPara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572" name="모서리가 둥근 직사각형 376">
              <a:extLst>
                <a:ext uri="{FF2B5EF4-FFF2-40B4-BE49-F238E27FC236}">
                  <a16:creationId xmlns:a16="http://schemas.microsoft.com/office/drawing/2014/main" id="{CAEAEE89-AD78-23BC-964D-5FD7401B1D24}"/>
                </a:ext>
              </a:extLst>
            </p:cNvPr>
            <p:cNvSpPr/>
            <p:nvPr/>
          </p:nvSpPr>
          <p:spPr bwMode="auto">
            <a:xfrm>
              <a:off x="5139795" y="5559912"/>
              <a:ext cx="133200" cy="149120"/>
            </a:xfrm>
            <a:prstGeom prst="roundRect">
              <a:avLst/>
            </a:prstGeom>
            <a:solidFill>
              <a:srgbClr val="FFFFFF"/>
            </a:solidFill>
            <a:ln w="6350" algn="ctr">
              <a:solidFill>
                <a:srgbClr val="C00000"/>
              </a:solidFill>
              <a:prstDash val="solid"/>
              <a:round/>
              <a:headEnd/>
              <a:tailEnd/>
            </a:ln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 Narrow"/>
                  <a:ea typeface="LG스마트체 Regular" panose="020B0600000101010101" pitchFamily="50" charset="-127"/>
                  <a:cs typeface="Arial" panose="020B0604020202020204" pitchFamily="34" charset="0"/>
                </a:rPr>
                <a:t>50</a:t>
              </a:r>
              <a:endPara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602" name="모서리가 둥근 직사각형 377">
              <a:extLst>
                <a:ext uri="{FF2B5EF4-FFF2-40B4-BE49-F238E27FC236}">
                  <a16:creationId xmlns:a16="http://schemas.microsoft.com/office/drawing/2014/main" id="{0AB79CD1-003F-6D68-F1F3-9642247DB7BA}"/>
                </a:ext>
              </a:extLst>
            </p:cNvPr>
            <p:cNvSpPr/>
            <p:nvPr/>
          </p:nvSpPr>
          <p:spPr bwMode="auto">
            <a:xfrm>
              <a:off x="4787071" y="5559912"/>
              <a:ext cx="133200" cy="149120"/>
            </a:xfrm>
            <a:prstGeom prst="roundRect">
              <a:avLst/>
            </a:prstGeom>
            <a:solidFill>
              <a:srgbClr val="FFFFFF"/>
            </a:solidFill>
            <a:ln w="6350" algn="ctr">
              <a:solidFill>
                <a:srgbClr val="C00000"/>
              </a:solidFill>
              <a:prstDash val="solid"/>
              <a:round/>
              <a:headEnd/>
              <a:tailEnd/>
            </a:ln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 Narrow"/>
                  <a:ea typeface="LG스마트체 Regular" panose="020B0600000101010101" pitchFamily="50" charset="-127"/>
                  <a:cs typeface="Arial" panose="020B0604020202020204" pitchFamily="34" charset="0"/>
                </a:rPr>
                <a:t>65</a:t>
              </a:r>
              <a:endPara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703" name="모서리가 둥근 직사각형 378">
              <a:extLst>
                <a:ext uri="{FF2B5EF4-FFF2-40B4-BE49-F238E27FC236}">
                  <a16:creationId xmlns:a16="http://schemas.microsoft.com/office/drawing/2014/main" id="{B2CF21C8-311D-8174-BC53-DEAF9225F837}"/>
                </a:ext>
              </a:extLst>
            </p:cNvPr>
            <p:cNvSpPr/>
            <p:nvPr/>
          </p:nvSpPr>
          <p:spPr bwMode="auto">
            <a:xfrm>
              <a:off x="4965731" y="5559912"/>
              <a:ext cx="133200" cy="149120"/>
            </a:xfrm>
            <a:prstGeom prst="roundRect">
              <a:avLst/>
            </a:prstGeom>
            <a:solidFill>
              <a:srgbClr val="FFFFFF"/>
            </a:solidFill>
            <a:ln w="6350" algn="ctr">
              <a:solidFill>
                <a:srgbClr val="C00000"/>
              </a:solidFill>
              <a:prstDash val="solid"/>
              <a:round/>
              <a:headEnd/>
              <a:tailEnd/>
            </a:ln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 Narrow"/>
                  <a:ea typeface="LG스마트체 Regular" panose="020B0600000101010101" pitchFamily="50" charset="-127"/>
                  <a:cs typeface="Arial" panose="020B0604020202020204" pitchFamily="34" charset="0"/>
                </a:rPr>
                <a:t>55</a:t>
              </a:r>
              <a:endPara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57" name="Rectangle 3936">
              <a:extLst>
                <a:ext uri="{FF2B5EF4-FFF2-40B4-BE49-F238E27FC236}">
                  <a16:creationId xmlns:a16="http://schemas.microsoft.com/office/drawing/2014/main" id="{A97E91E6-4AE2-AEAE-B9C4-8CC0C40EF8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75811" y="5719178"/>
              <a:ext cx="720000" cy="144000"/>
            </a:xfrm>
            <a:prstGeom prst="rect">
              <a:avLst/>
            </a:prstGeom>
            <a:solidFill>
              <a:srgbClr val="CC3300"/>
            </a:solidFill>
            <a:ln w="3175" cap="flat" cmpd="sng" algn="ctr">
              <a:solidFill>
                <a:srgbClr val="FFFFFF">
                  <a:lumMod val="50000"/>
                </a:srgbClr>
              </a:solidFill>
              <a:prstDash val="solid"/>
            </a:ln>
            <a:effectLst/>
          </p:spPr>
          <p:txBody>
            <a:bodyPr wrap="none" lIns="0" tIns="45714" rIns="0" bIns="45714" rtlCol="0" anchor="ctr"/>
            <a:lstStyle/>
            <a:p>
              <a:pPr algn="ctr" latinLnBrk="0"/>
              <a:r>
                <a:rPr lang="en-US" altLang="ko-KR" sz="1000" b="1" kern="0" dirty="0">
                  <a:solidFill>
                    <a:srgbClr val="FFFFFF"/>
                  </a:solidFill>
                  <a:latin typeface="Arial Narrow"/>
                  <a:ea typeface="LG스마트체2.0 Regular"/>
                </a:rPr>
                <a:t>QNED50B</a:t>
              </a:r>
            </a:p>
          </p:txBody>
        </p:sp>
      </p:grpSp>
      <p:sp>
        <p:nvSpPr>
          <p:cNvPr id="1705" name="모서리가 둥근 직사각형 376">
            <a:extLst>
              <a:ext uri="{FF2B5EF4-FFF2-40B4-BE49-F238E27FC236}">
                <a16:creationId xmlns:a16="http://schemas.microsoft.com/office/drawing/2014/main" id="{DA938C49-F711-E7F7-D813-A8A7D17B3A53}"/>
              </a:ext>
            </a:extLst>
          </p:cNvPr>
          <p:cNvSpPr/>
          <p:nvPr/>
        </p:nvSpPr>
        <p:spPr bwMode="auto">
          <a:xfrm>
            <a:off x="5139795" y="3603472"/>
            <a:ext cx="133200" cy="149120"/>
          </a:xfrm>
          <a:prstGeom prst="roundRect">
            <a:avLst/>
          </a:prstGeom>
          <a:solidFill>
            <a:srgbClr val="FFFFFF">
              <a:lumMod val="75000"/>
            </a:srgbClr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50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706" name="모서리가 둥근 직사각형 375">
            <a:extLst>
              <a:ext uri="{FF2B5EF4-FFF2-40B4-BE49-F238E27FC236}">
                <a16:creationId xmlns:a16="http://schemas.microsoft.com/office/drawing/2014/main" id="{97F906B7-B009-1E76-DCD3-FDF6C4FCF907}"/>
              </a:ext>
            </a:extLst>
          </p:cNvPr>
          <p:cNvSpPr/>
          <p:nvPr/>
        </p:nvSpPr>
        <p:spPr bwMode="auto">
          <a:xfrm>
            <a:off x="5323007" y="3778244"/>
            <a:ext cx="133200" cy="149120"/>
          </a:xfrm>
          <a:prstGeom prst="roundRect">
            <a:avLst/>
          </a:prstGeom>
          <a:solidFill>
            <a:srgbClr val="FFFFFF">
              <a:lumMod val="75000"/>
            </a:srgbClr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43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715" name="Rectangle 5">
            <a:hlinkClick r:id="" action="ppaction://noaction"/>
            <a:extLst>
              <a:ext uri="{FF2B5EF4-FFF2-40B4-BE49-F238E27FC236}">
                <a16:creationId xmlns:a16="http://schemas.microsoft.com/office/drawing/2014/main" id="{86C53CBE-2D04-F0AF-036E-80719330169F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gray">
          <a:xfrm>
            <a:off x="6341899" y="958700"/>
            <a:ext cx="4086055" cy="23198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180975" marR="0" lvl="0" indent="-180975" algn="l" defTabSz="914400" rtl="0" eaLnBrk="1" fontAlgn="base" latinLnBrk="1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1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G/C </a:t>
            </a:r>
            <a:r>
              <a:rPr kumimoji="1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시리즈 </a:t>
            </a:r>
            <a:r>
              <a:rPr kumimoji="1" lang="ko-KR" alt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유통별</a:t>
            </a:r>
            <a:r>
              <a:rPr kumimoji="1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 파생운영 및 </a:t>
            </a:r>
            <a:r>
              <a:rPr kumimoji="1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48”</a:t>
            </a:r>
            <a:r>
              <a:rPr kumimoji="1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1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4 stack</a:t>
            </a:r>
            <a:r>
              <a:rPr kumimoji="1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 모델 휘도 차별화 운영</a:t>
            </a:r>
          </a:p>
        </p:txBody>
      </p:sp>
      <p:sp>
        <p:nvSpPr>
          <p:cNvPr id="1716" name="Rectangle 5">
            <a:hlinkClick r:id="" action="ppaction://noaction"/>
            <a:extLst>
              <a:ext uri="{FF2B5EF4-FFF2-40B4-BE49-F238E27FC236}">
                <a16:creationId xmlns:a16="http://schemas.microsoft.com/office/drawing/2014/main" id="{B49A5EE3-CAC8-5FEF-CEA0-6783FBAB7EDD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gray">
          <a:xfrm>
            <a:off x="6363280" y="3110874"/>
            <a:ext cx="1019510" cy="22788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180975" marR="0" lvl="0" indent="-180975" algn="l" defTabSz="914400" rtl="0" eaLnBrk="1" fontAlgn="base" latinLnBrk="1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1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ODM</a:t>
            </a:r>
            <a:r>
              <a:rPr kumimoji="1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1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QNED93</a:t>
            </a:r>
            <a:endParaRPr kumimoji="1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717" name="Rectangle 5">
            <a:hlinkClick r:id="" action="ppaction://noaction"/>
            <a:extLst>
              <a:ext uri="{FF2B5EF4-FFF2-40B4-BE49-F238E27FC236}">
                <a16:creationId xmlns:a16="http://schemas.microsoft.com/office/drawing/2014/main" id="{73E408F7-B7E0-B0F0-C0FC-13EF3F6E7FEE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gray">
          <a:xfrm>
            <a:off x="6348259" y="3330548"/>
            <a:ext cx="1357744" cy="22813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180975" marR="0" lvl="0" indent="-180975" algn="l" defTabSz="914400" rtl="0" eaLnBrk="1" fontAlgn="base" latinLnBrk="1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1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MRGB85</a:t>
            </a:r>
            <a:r>
              <a:rPr kumimoji="1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1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/</a:t>
            </a:r>
            <a:r>
              <a:rPr kumimoji="1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1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QNED85</a:t>
            </a:r>
            <a:r>
              <a:rPr kumimoji="1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 </a:t>
            </a:r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718" name="TextBox 1717">
            <a:extLst>
              <a:ext uri="{FF2B5EF4-FFF2-40B4-BE49-F238E27FC236}">
                <a16:creationId xmlns:a16="http://schemas.microsoft.com/office/drawing/2014/main" id="{9AEF0CEB-637B-8085-3A5F-89F75B86DF11}"/>
              </a:ext>
            </a:extLst>
          </p:cNvPr>
          <p:cNvSpPr txBox="1"/>
          <p:nvPr/>
        </p:nvSpPr>
        <p:spPr>
          <a:xfrm>
            <a:off x="6506208" y="6046230"/>
            <a:ext cx="5044971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- </a:t>
            </a:r>
            <a:r>
              <a:rPr kumimoji="1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매직 리모컨을 활용한 시리즈 분기</a:t>
            </a:r>
            <a: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 (NU85/90) / NU8E </a:t>
            </a:r>
            <a:r>
              <a:rPr kumimoji="1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에너지 등급 조정 월드컵 절기 운영</a:t>
            </a:r>
          </a:p>
        </p:txBody>
      </p:sp>
      <p:sp>
        <p:nvSpPr>
          <p:cNvPr id="1719" name="직사각형 1718">
            <a:extLst>
              <a:ext uri="{FF2B5EF4-FFF2-40B4-BE49-F238E27FC236}">
                <a16:creationId xmlns:a16="http://schemas.microsoft.com/office/drawing/2014/main" id="{4C27BBDF-788F-BB9E-3F01-E3F0BA444F65}"/>
              </a:ext>
            </a:extLst>
          </p:cNvPr>
          <p:cNvSpPr/>
          <p:nvPr/>
        </p:nvSpPr>
        <p:spPr>
          <a:xfrm>
            <a:off x="2712516" y="3304524"/>
            <a:ext cx="170838" cy="168618"/>
          </a:xfrm>
          <a:prstGeom prst="rect">
            <a:avLst/>
          </a:prstGeom>
          <a:ln w="9525">
            <a:solidFill>
              <a:srgbClr val="008000"/>
            </a:solidFill>
            <a:prstDash val="dash"/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</p:txBody>
      </p:sp>
      <p:sp>
        <p:nvSpPr>
          <p:cNvPr id="1720" name="TextBox 1719">
            <a:extLst>
              <a:ext uri="{FF2B5EF4-FFF2-40B4-BE49-F238E27FC236}">
                <a16:creationId xmlns:a16="http://schemas.microsoft.com/office/drawing/2014/main" id="{6FC411A6-A0FF-42CF-BF27-816D6A1ABC51}"/>
              </a:ext>
            </a:extLst>
          </p:cNvPr>
          <p:cNvSpPr txBox="1"/>
          <p:nvPr/>
        </p:nvSpPr>
        <p:spPr>
          <a:xfrm>
            <a:off x="2931992" y="3367920"/>
            <a:ext cx="195566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itchFamily="34" charset="0"/>
              </a:rPr>
              <a:t>60Hz</a:t>
            </a:r>
          </a:p>
        </p:txBody>
      </p:sp>
      <p:sp>
        <p:nvSpPr>
          <p:cNvPr id="1721" name="직사각형 1720">
            <a:extLst>
              <a:ext uri="{FF2B5EF4-FFF2-40B4-BE49-F238E27FC236}">
                <a16:creationId xmlns:a16="http://schemas.microsoft.com/office/drawing/2014/main" id="{EF0DF170-E596-ED73-0370-F46DF1056BF1}"/>
              </a:ext>
            </a:extLst>
          </p:cNvPr>
          <p:cNvSpPr/>
          <p:nvPr/>
        </p:nvSpPr>
        <p:spPr>
          <a:xfrm>
            <a:off x="2716128" y="3471627"/>
            <a:ext cx="346063" cy="335863"/>
          </a:xfrm>
          <a:prstGeom prst="rect">
            <a:avLst/>
          </a:prstGeom>
          <a:ln w="9525">
            <a:solidFill>
              <a:srgbClr val="008000"/>
            </a:solidFill>
            <a:prstDash val="dash"/>
          </a:ln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</p:txBody>
      </p:sp>
      <p:sp>
        <p:nvSpPr>
          <p:cNvPr id="1708" name="Rectangle 5">
            <a:hlinkClick r:id="" action="ppaction://noaction"/>
            <a:extLst>
              <a:ext uri="{FF2B5EF4-FFF2-40B4-BE49-F238E27FC236}">
                <a16:creationId xmlns:a16="http://schemas.microsoft.com/office/drawing/2014/main" id="{CF6F573E-23BF-CB79-749E-0C7CC462D842}"/>
              </a:ext>
            </a:extLst>
          </p:cNvPr>
          <p:cNvSpPr>
            <a:spLocks noChangeArrowheads="1"/>
          </p:cNvSpPr>
          <p:nvPr>
            <p:custDataLst>
              <p:tags r:id="rId6"/>
            </p:custDataLst>
          </p:nvPr>
        </p:nvSpPr>
        <p:spPr bwMode="gray">
          <a:xfrm>
            <a:off x="6339864" y="2641330"/>
            <a:ext cx="1593385" cy="23198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180975" marR="0" lvl="0" indent="-180975" algn="l" defTabSz="914400" rtl="0" eaLnBrk="1" fontAlgn="base" latinLnBrk="1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1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B6 (Pol-less) </a:t>
            </a:r>
            <a:r>
              <a:rPr kumimoji="1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단독 운영</a:t>
            </a:r>
          </a:p>
        </p:txBody>
      </p:sp>
      <p:sp>
        <p:nvSpPr>
          <p:cNvPr id="1725" name="모서리가 둥근 직사각형 375">
            <a:extLst>
              <a:ext uri="{FF2B5EF4-FFF2-40B4-BE49-F238E27FC236}">
                <a16:creationId xmlns:a16="http://schemas.microsoft.com/office/drawing/2014/main" id="{05DFD472-ADF7-BCD2-D04B-0A5E76ACB727}"/>
              </a:ext>
            </a:extLst>
          </p:cNvPr>
          <p:cNvSpPr/>
          <p:nvPr/>
        </p:nvSpPr>
        <p:spPr bwMode="auto">
          <a:xfrm>
            <a:off x="5323050" y="1917692"/>
            <a:ext cx="133200" cy="149120"/>
          </a:xfrm>
          <a:prstGeom prst="roundRect">
            <a:avLst/>
          </a:prstGeom>
          <a:solidFill>
            <a:srgbClr val="FFFFFF">
              <a:lumMod val="75000"/>
            </a:srgbClr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42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726" name="TextBox 1725">
            <a:extLst>
              <a:ext uri="{FF2B5EF4-FFF2-40B4-BE49-F238E27FC236}">
                <a16:creationId xmlns:a16="http://schemas.microsoft.com/office/drawing/2014/main" id="{3FDED95B-8EEB-21E4-943C-1B504DA19ED3}"/>
              </a:ext>
            </a:extLst>
          </p:cNvPr>
          <p:cNvSpPr txBox="1"/>
          <p:nvPr/>
        </p:nvSpPr>
        <p:spPr>
          <a:xfrm>
            <a:off x="7352416" y="3123100"/>
            <a:ext cx="4003019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- QNED92A </a:t>
            </a:r>
            <a:r>
              <a:rPr kumimoji="1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모델을 </a:t>
            </a:r>
            <a: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1</a:t>
            </a:r>
            <a:r>
              <a:rPr kumimoji="1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폴 스탠드 변경</a:t>
            </a:r>
            <a: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, 27</a:t>
            </a:r>
            <a:r>
              <a:rPr kumimoji="1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년 </a:t>
            </a:r>
            <a: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QNED93B</a:t>
            </a:r>
            <a:r>
              <a:rPr kumimoji="1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로 운영 </a:t>
            </a:r>
            <a: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(</a:t>
            </a:r>
            <a:r>
              <a:rPr kumimoji="1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샤시 </a:t>
            </a:r>
            <a: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C/O)</a:t>
            </a:r>
            <a:endParaRPr kumimoji="1" lang="ko-KR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729" name="Rectangle 5">
            <a:hlinkClick r:id="" action="ppaction://noaction"/>
            <a:extLst>
              <a:ext uri="{FF2B5EF4-FFF2-40B4-BE49-F238E27FC236}">
                <a16:creationId xmlns:a16="http://schemas.microsoft.com/office/drawing/2014/main" id="{2FBA0597-517F-AFE3-BA39-3FF51FEE70D5}"/>
              </a:ext>
            </a:extLst>
          </p:cNvPr>
          <p:cNvSpPr>
            <a:spLocks noChangeArrowheads="1"/>
          </p:cNvSpPr>
          <p:nvPr>
            <p:custDataLst>
              <p:tags r:id="rId7"/>
            </p:custDataLst>
          </p:nvPr>
        </p:nvSpPr>
        <p:spPr bwMode="gray">
          <a:xfrm>
            <a:off x="6341734" y="4304741"/>
            <a:ext cx="865622" cy="22813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180975" marR="0" lvl="0" indent="-180975" algn="l" defTabSz="914400" rtl="0" eaLnBrk="1" fontAlgn="base" latinLnBrk="1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1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QNED80/70</a:t>
            </a:r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732" name="Rectangle 5">
            <a:hlinkClick r:id="" action="ppaction://noaction"/>
            <a:extLst>
              <a:ext uri="{FF2B5EF4-FFF2-40B4-BE49-F238E27FC236}">
                <a16:creationId xmlns:a16="http://schemas.microsoft.com/office/drawing/2014/main" id="{8105EC84-FB47-CCF5-0702-325A54C64DE3}"/>
              </a:ext>
            </a:extLst>
          </p:cNvPr>
          <p:cNvSpPr>
            <a:spLocks noChangeArrowheads="1"/>
          </p:cNvSpPr>
          <p:nvPr>
            <p:custDataLst>
              <p:tags r:id="rId8"/>
            </p:custDataLst>
          </p:nvPr>
        </p:nvSpPr>
        <p:spPr bwMode="gray">
          <a:xfrm>
            <a:off x="6341734" y="5672992"/>
            <a:ext cx="804707" cy="23198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180975" marR="0" lvl="0" indent="-180975" algn="l" defTabSz="914400" rtl="0" eaLnBrk="1" fontAlgn="base" latinLnBrk="1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1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NU </a:t>
            </a:r>
            <a:r>
              <a:rPr kumimoji="1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시리즈</a:t>
            </a:r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733" name="TextBox 1732">
            <a:extLst>
              <a:ext uri="{FF2B5EF4-FFF2-40B4-BE49-F238E27FC236}">
                <a16:creationId xmlns:a16="http://schemas.microsoft.com/office/drawing/2014/main" id="{CF0B414E-2585-F5DB-2657-1A20CDA2DBD5}"/>
              </a:ext>
            </a:extLst>
          </p:cNvPr>
          <p:cNvSpPr txBox="1"/>
          <p:nvPr/>
        </p:nvSpPr>
        <p:spPr>
          <a:xfrm>
            <a:off x="3900780" y="2291750"/>
            <a:ext cx="298159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itchFamily="34" charset="0"/>
              </a:rPr>
              <a:t>Pol-less</a:t>
            </a:r>
          </a:p>
        </p:txBody>
      </p:sp>
      <p:sp>
        <p:nvSpPr>
          <p:cNvPr id="1734" name="직사각형 1733">
            <a:extLst>
              <a:ext uri="{FF2B5EF4-FFF2-40B4-BE49-F238E27FC236}">
                <a16:creationId xmlns:a16="http://schemas.microsoft.com/office/drawing/2014/main" id="{DE12D3ED-905E-F7AC-5E3A-5868CE0CDAAC}"/>
              </a:ext>
            </a:extLst>
          </p:cNvPr>
          <p:cNvSpPr/>
          <p:nvPr/>
        </p:nvSpPr>
        <p:spPr>
          <a:xfrm>
            <a:off x="3083741" y="3472418"/>
            <a:ext cx="180000" cy="108000"/>
          </a:xfrm>
          <a:prstGeom prst="rect">
            <a:avLst/>
          </a:prstGeom>
          <a:solidFill>
            <a:srgbClr val="FFC000"/>
          </a:solidFill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JDM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</p:txBody>
      </p:sp>
      <p:sp>
        <p:nvSpPr>
          <p:cNvPr id="1735" name="직사각형 1734">
            <a:extLst>
              <a:ext uri="{FF2B5EF4-FFF2-40B4-BE49-F238E27FC236}">
                <a16:creationId xmlns:a16="http://schemas.microsoft.com/office/drawing/2014/main" id="{566E3F81-4239-5D7C-9484-8EF041FB81A3}"/>
              </a:ext>
            </a:extLst>
          </p:cNvPr>
          <p:cNvSpPr/>
          <p:nvPr/>
        </p:nvSpPr>
        <p:spPr>
          <a:xfrm>
            <a:off x="491029" y="2980374"/>
            <a:ext cx="180000" cy="108000"/>
          </a:xfrm>
          <a:prstGeom prst="rect">
            <a:avLst/>
          </a:prstGeom>
          <a:solidFill>
            <a:srgbClr val="FFC000"/>
          </a:solidFill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JDM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</p:txBody>
      </p:sp>
      <p:sp>
        <p:nvSpPr>
          <p:cNvPr id="1736" name="직사각형 1735">
            <a:extLst>
              <a:ext uri="{FF2B5EF4-FFF2-40B4-BE49-F238E27FC236}">
                <a16:creationId xmlns:a16="http://schemas.microsoft.com/office/drawing/2014/main" id="{D03A3252-5021-D8E8-79D4-F88E3785ACF5}"/>
              </a:ext>
            </a:extLst>
          </p:cNvPr>
          <p:cNvSpPr/>
          <p:nvPr/>
        </p:nvSpPr>
        <p:spPr>
          <a:xfrm>
            <a:off x="491029" y="3162596"/>
            <a:ext cx="180000" cy="108000"/>
          </a:xfrm>
          <a:prstGeom prst="rect">
            <a:avLst/>
          </a:prstGeom>
          <a:solidFill>
            <a:srgbClr val="FFC000"/>
          </a:solidFill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JDM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</p:txBody>
      </p:sp>
      <p:grpSp>
        <p:nvGrpSpPr>
          <p:cNvPr id="1740" name="그룹 1739">
            <a:extLst>
              <a:ext uri="{FF2B5EF4-FFF2-40B4-BE49-F238E27FC236}">
                <a16:creationId xmlns:a16="http://schemas.microsoft.com/office/drawing/2014/main" id="{363D05B0-D833-778D-0962-20D2370435EC}"/>
              </a:ext>
            </a:extLst>
          </p:cNvPr>
          <p:cNvGrpSpPr/>
          <p:nvPr/>
        </p:nvGrpSpPr>
        <p:grpSpPr>
          <a:xfrm>
            <a:off x="3892590" y="4226304"/>
            <a:ext cx="1764000" cy="368340"/>
            <a:chOff x="5614542" y="3260949"/>
            <a:chExt cx="1764000" cy="368340"/>
          </a:xfrm>
        </p:grpSpPr>
        <p:sp>
          <p:nvSpPr>
            <p:cNvPr id="1741" name="TextBox 1740">
              <a:extLst>
                <a:ext uri="{FF2B5EF4-FFF2-40B4-BE49-F238E27FC236}">
                  <a16:creationId xmlns:a16="http://schemas.microsoft.com/office/drawing/2014/main" id="{FEF4E564-38C3-6257-288A-4F94455EB57B}"/>
                </a:ext>
              </a:extLst>
            </p:cNvPr>
            <p:cNvSpPr txBox="1"/>
            <p:nvPr/>
          </p:nvSpPr>
          <p:spPr>
            <a:xfrm>
              <a:off x="5733273" y="3454314"/>
              <a:ext cx="242054" cy="12311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6600"/>
                  </a:solidFill>
                  <a:effectLst/>
                  <a:uLnTx/>
                  <a:uFillTx/>
                  <a:latin typeface="Arial Narrow"/>
                  <a:ea typeface="LG스마트체 Regular" panose="020B0600000101010101" pitchFamily="50" charset="-127"/>
                  <a:cs typeface="Arial" pitchFamily="34" charset="0"/>
                </a:rPr>
                <a:t>120Hz</a:t>
              </a:r>
            </a:p>
          </p:txBody>
        </p:sp>
        <p:cxnSp>
          <p:nvCxnSpPr>
            <p:cNvPr id="1742" name="직선 연결선 1741">
              <a:extLst>
                <a:ext uri="{FF2B5EF4-FFF2-40B4-BE49-F238E27FC236}">
                  <a16:creationId xmlns:a16="http://schemas.microsoft.com/office/drawing/2014/main" id="{702E01FC-059A-03F4-EEEF-B3DF53BDE282}"/>
                </a:ext>
              </a:extLst>
            </p:cNvPr>
            <p:cNvCxnSpPr>
              <a:cxnSpLocks/>
            </p:cNvCxnSpPr>
            <p:nvPr/>
          </p:nvCxnSpPr>
          <p:spPr>
            <a:xfrm>
              <a:off x="5614542" y="3622939"/>
              <a:ext cx="1764000" cy="1"/>
            </a:xfrm>
            <a:prstGeom prst="line">
              <a:avLst/>
            </a:prstGeom>
            <a:noFill/>
            <a:ln w="6350" cap="flat" cmpd="sng" algn="ctr">
              <a:solidFill>
                <a:srgbClr val="008000"/>
              </a:solidFill>
              <a:prstDash val="dash"/>
            </a:ln>
            <a:effectLst/>
          </p:spPr>
        </p:cxnSp>
        <p:cxnSp>
          <p:nvCxnSpPr>
            <p:cNvPr id="1743" name="직선 화살표 연결선 1742">
              <a:extLst>
                <a:ext uri="{FF2B5EF4-FFF2-40B4-BE49-F238E27FC236}">
                  <a16:creationId xmlns:a16="http://schemas.microsoft.com/office/drawing/2014/main" id="{33768C38-D440-C055-6FBC-414C5477FB3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14017" y="3260949"/>
              <a:ext cx="0" cy="368340"/>
            </a:xfrm>
            <a:prstGeom prst="straightConnector1">
              <a:avLst/>
            </a:prstGeom>
            <a:noFill/>
            <a:ln w="6350" cap="flat" cmpd="sng" algn="ctr">
              <a:solidFill>
                <a:srgbClr val="008000"/>
              </a:solidFill>
              <a:prstDash val="dash"/>
              <a:tailEnd type="triangle"/>
            </a:ln>
            <a:effectLst/>
          </p:spPr>
        </p:cxnSp>
      </p:grpSp>
      <p:sp>
        <p:nvSpPr>
          <p:cNvPr id="1746" name="모서리가 둥근 직사각형 376">
            <a:extLst>
              <a:ext uri="{FF2B5EF4-FFF2-40B4-BE49-F238E27FC236}">
                <a16:creationId xmlns:a16="http://schemas.microsoft.com/office/drawing/2014/main" id="{3D9A31A2-D2E9-3ACB-CB5A-811F814030CB}"/>
              </a:ext>
            </a:extLst>
          </p:cNvPr>
          <p:cNvSpPr/>
          <p:nvPr/>
        </p:nvSpPr>
        <p:spPr bwMode="auto">
          <a:xfrm>
            <a:off x="5135199" y="1411225"/>
            <a:ext cx="133200" cy="149120"/>
          </a:xfrm>
          <a:prstGeom prst="roundRect">
            <a:avLst/>
          </a:prstGeom>
          <a:solidFill>
            <a:srgbClr val="FFFFFF">
              <a:lumMod val="75000"/>
            </a:srgbClr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48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748" name="모서리가 둥근 직사각형 365">
            <a:extLst>
              <a:ext uri="{FF2B5EF4-FFF2-40B4-BE49-F238E27FC236}">
                <a16:creationId xmlns:a16="http://schemas.microsoft.com/office/drawing/2014/main" id="{FC46398B-452D-37F3-081D-605DC922D4D5}"/>
              </a:ext>
            </a:extLst>
          </p:cNvPr>
          <p:cNvSpPr/>
          <p:nvPr/>
        </p:nvSpPr>
        <p:spPr bwMode="auto">
          <a:xfrm>
            <a:off x="4429751" y="1411225"/>
            <a:ext cx="133200" cy="149120"/>
          </a:xfrm>
          <a:prstGeom prst="roundRect">
            <a:avLst/>
          </a:prstGeom>
          <a:noFill/>
          <a:ln w="3175" cap="flat" cmpd="sng" algn="ctr">
            <a:solidFill>
              <a:srgbClr val="FFFFFF"/>
            </a:solidFill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86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752" name="직사각형 1751">
            <a:extLst>
              <a:ext uri="{FF2B5EF4-FFF2-40B4-BE49-F238E27FC236}">
                <a16:creationId xmlns:a16="http://schemas.microsoft.com/office/drawing/2014/main" id="{765C9072-D881-89DA-F9D3-E97E99782A2A}"/>
              </a:ext>
            </a:extLst>
          </p:cNvPr>
          <p:cNvSpPr/>
          <p:nvPr/>
        </p:nvSpPr>
        <p:spPr>
          <a:xfrm>
            <a:off x="5302966" y="3749111"/>
            <a:ext cx="178217" cy="357649"/>
          </a:xfrm>
          <a:prstGeom prst="rect">
            <a:avLst/>
          </a:prstGeom>
          <a:ln w="12700">
            <a:solidFill>
              <a:srgbClr val="FF0000"/>
            </a:solidFill>
          </a:ln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</p:txBody>
      </p:sp>
      <p:sp>
        <p:nvSpPr>
          <p:cNvPr id="1753" name="TextBox 1752">
            <a:extLst>
              <a:ext uri="{FF2B5EF4-FFF2-40B4-BE49-F238E27FC236}">
                <a16:creationId xmlns:a16="http://schemas.microsoft.com/office/drawing/2014/main" id="{CD4B55C0-0398-39F5-B824-AA1AC8803221}"/>
              </a:ext>
            </a:extLst>
          </p:cNvPr>
          <p:cNvSpPr txBox="1"/>
          <p:nvPr/>
        </p:nvSpPr>
        <p:spPr>
          <a:xfrm>
            <a:off x="5517352" y="4047767"/>
            <a:ext cx="623569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itchFamily="34" charset="0"/>
              </a:rPr>
              <a:t>60Hz, </a:t>
            </a: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itchFamily="34" charset="0"/>
              </a:rPr>
              <a:t>유럽 </a:t>
            </a: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itchFamily="34" charset="0"/>
              </a:rPr>
              <a:t>Only</a:t>
            </a:r>
          </a:p>
        </p:txBody>
      </p:sp>
      <p:grpSp>
        <p:nvGrpSpPr>
          <p:cNvPr id="1754" name="그룹 1753">
            <a:extLst>
              <a:ext uri="{FF2B5EF4-FFF2-40B4-BE49-F238E27FC236}">
                <a16:creationId xmlns:a16="http://schemas.microsoft.com/office/drawing/2014/main" id="{3306199B-29D0-76DA-0ADB-C62370102D49}"/>
              </a:ext>
            </a:extLst>
          </p:cNvPr>
          <p:cNvGrpSpPr/>
          <p:nvPr/>
        </p:nvGrpSpPr>
        <p:grpSpPr>
          <a:xfrm>
            <a:off x="1339078" y="3445213"/>
            <a:ext cx="1764000" cy="368340"/>
            <a:chOff x="5614542" y="3260949"/>
            <a:chExt cx="1764000" cy="368340"/>
          </a:xfrm>
        </p:grpSpPr>
        <p:sp>
          <p:nvSpPr>
            <p:cNvPr id="1755" name="TextBox 1754">
              <a:extLst>
                <a:ext uri="{FF2B5EF4-FFF2-40B4-BE49-F238E27FC236}">
                  <a16:creationId xmlns:a16="http://schemas.microsoft.com/office/drawing/2014/main" id="{2FE2DC34-EDD0-15A3-4A97-C8F2F11C8FA3}"/>
                </a:ext>
              </a:extLst>
            </p:cNvPr>
            <p:cNvSpPr txBox="1"/>
            <p:nvPr/>
          </p:nvSpPr>
          <p:spPr>
            <a:xfrm>
              <a:off x="5733273" y="3454314"/>
              <a:ext cx="242054" cy="12311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6600"/>
                  </a:solidFill>
                  <a:effectLst/>
                  <a:uLnTx/>
                  <a:uFillTx/>
                  <a:latin typeface="Arial Narrow"/>
                  <a:ea typeface="LG스마트체 Regular" panose="020B0600000101010101" pitchFamily="50" charset="-127"/>
                  <a:cs typeface="Arial" pitchFamily="34" charset="0"/>
                </a:rPr>
                <a:t>120Hz</a:t>
              </a:r>
            </a:p>
          </p:txBody>
        </p:sp>
        <p:cxnSp>
          <p:nvCxnSpPr>
            <p:cNvPr id="1756" name="직선 연결선 1755">
              <a:extLst>
                <a:ext uri="{FF2B5EF4-FFF2-40B4-BE49-F238E27FC236}">
                  <a16:creationId xmlns:a16="http://schemas.microsoft.com/office/drawing/2014/main" id="{0AC05D59-8946-EF78-4027-4E60D040450C}"/>
                </a:ext>
              </a:extLst>
            </p:cNvPr>
            <p:cNvCxnSpPr>
              <a:cxnSpLocks/>
            </p:cNvCxnSpPr>
            <p:nvPr/>
          </p:nvCxnSpPr>
          <p:spPr>
            <a:xfrm>
              <a:off x="5614542" y="3622939"/>
              <a:ext cx="1764000" cy="1"/>
            </a:xfrm>
            <a:prstGeom prst="line">
              <a:avLst/>
            </a:prstGeom>
            <a:noFill/>
            <a:ln w="6350" cap="flat" cmpd="sng" algn="ctr">
              <a:solidFill>
                <a:srgbClr val="008000"/>
              </a:solidFill>
              <a:prstDash val="dash"/>
            </a:ln>
            <a:effectLst/>
          </p:spPr>
        </p:cxnSp>
        <p:cxnSp>
          <p:nvCxnSpPr>
            <p:cNvPr id="1757" name="직선 화살표 연결선 1756">
              <a:extLst>
                <a:ext uri="{FF2B5EF4-FFF2-40B4-BE49-F238E27FC236}">
                  <a16:creationId xmlns:a16="http://schemas.microsoft.com/office/drawing/2014/main" id="{67893205-1574-CA7B-7D7B-D58D6AED77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14017" y="3260949"/>
              <a:ext cx="0" cy="368340"/>
            </a:xfrm>
            <a:prstGeom prst="straightConnector1">
              <a:avLst/>
            </a:prstGeom>
            <a:noFill/>
            <a:ln w="6350" cap="flat" cmpd="sng" algn="ctr">
              <a:solidFill>
                <a:srgbClr val="008000"/>
              </a:solidFill>
              <a:prstDash val="dash"/>
              <a:tailEnd type="triangle"/>
            </a:ln>
            <a:effectLst/>
          </p:spPr>
        </p:cxnSp>
      </p:grpSp>
      <p:sp>
        <p:nvSpPr>
          <p:cNvPr id="1763" name="TextBox 1762">
            <a:extLst>
              <a:ext uri="{FF2B5EF4-FFF2-40B4-BE49-F238E27FC236}">
                <a16:creationId xmlns:a16="http://schemas.microsoft.com/office/drawing/2014/main" id="{237A806D-1455-B278-0D53-8F90E323599D}"/>
              </a:ext>
            </a:extLst>
          </p:cNvPr>
          <p:cNvSpPr txBox="1"/>
          <p:nvPr/>
        </p:nvSpPr>
        <p:spPr>
          <a:xfrm>
            <a:off x="8989936" y="3422916"/>
            <a:ext cx="2672206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itchFamily="34" charset="0"/>
              </a:rPr>
              <a:t>※ 43QNED85 60Hz </a:t>
            </a: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itchFamily="34" charset="0"/>
              </a:rPr>
              <a:t>유럽 단독 모델  필요 </a:t>
            </a: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itchFamily="34" charset="0"/>
              </a:rPr>
              <a:t>(25</a:t>
            </a: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itchFamily="34" charset="0"/>
              </a:rPr>
              <a:t>년 모델 샤시 업데이트</a:t>
            </a: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itchFamily="34" charset="0"/>
              </a:rPr>
              <a:t>)</a:t>
            </a:r>
          </a:p>
        </p:txBody>
      </p:sp>
      <p:sp>
        <p:nvSpPr>
          <p:cNvPr id="446" name="TextBox 445">
            <a:extLst>
              <a:ext uri="{FF2B5EF4-FFF2-40B4-BE49-F238E27FC236}">
                <a16:creationId xmlns:a16="http://schemas.microsoft.com/office/drawing/2014/main" id="{CD4B55C0-0398-39F5-B824-AA1AC8803221}"/>
              </a:ext>
            </a:extLst>
          </p:cNvPr>
          <p:cNvSpPr txBox="1"/>
          <p:nvPr/>
        </p:nvSpPr>
        <p:spPr>
          <a:xfrm>
            <a:off x="5490272" y="2071838"/>
            <a:ext cx="849592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itchFamily="34" charset="0"/>
              </a:rPr>
              <a:t>WISA </a:t>
            </a: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itchFamily="34" charset="0"/>
              </a:rPr>
              <a:t>대신</a:t>
            </a:r>
            <a:b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itchFamily="34" charset="0"/>
              </a:rPr>
            </a:b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itchFamily="34" charset="0"/>
              </a:rPr>
              <a:t>Precision HDR</a:t>
            </a: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itchFamily="34" charset="0"/>
              </a:rPr>
              <a:t>로 파생</a:t>
            </a:r>
            <a:endParaRPr kumimoji="0" lang="en-US" altLang="ko-KR" sz="800" b="0" i="0" u="none" strike="noStrike" kern="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itchFamily="34" charset="0"/>
            </a:endParaRPr>
          </a:p>
        </p:txBody>
      </p:sp>
      <p:graphicFrame>
        <p:nvGraphicFramePr>
          <p:cNvPr id="447" name="표 446">
            <a:extLst>
              <a:ext uri="{FF2B5EF4-FFF2-40B4-BE49-F238E27FC236}">
                <a16:creationId xmlns:a16="http://schemas.microsoft.com/office/drawing/2014/main" id="{393B6011-F51A-4A92-B9BA-4A300A81EFC9}"/>
              </a:ext>
            </a:extLst>
          </p:cNvPr>
          <p:cNvGraphicFramePr>
            <a:graphicFrameLocks noGrp="1"/>
          </p:cNvGraphicFramePr>
          <p:nvPr/>
        </p:nvGraphicFramePr>
        <p:xfrm>
          <a:off x="6348259" y="1210090"/>
          <a:ext cx="2844300" cy="573533"/>
        </p:xfrm>
        <a:graphic>
          <a:graphicData uri="http://schemas.openxmlformats.org/drawingml/2006/table">
            <a:tbl>
              <a:tblPr/>
              <a:tblGrid>
                <a:gridCol w="292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79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79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7915">
                  <a:extLst>
                    <a:ext uri="{9D8B030D-6E8A-4147-A177-3AD203B41FA5}">
                      <a16:colId xmlns:a16="http://schemas.microsoft.com/office/drawing/2014/main" val="265337496"/>
                    </a:ext>
                  </a:extLst>
                </a:gridCol>
                <a:gridCol w="5617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156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703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13407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파생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벽걸이</a:t>
                      </a:r>
                      <a:endParaRPr lang="en-US" sz="700" b="0" i="0" u="none" strike="noStrike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스탠드</a:t>
                      </a:r>
                      <a:endParaRPr lang="en-US" sz="700" b="0" i="0" u="none" strike="noStrike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숫자키</a:t>
                      </a:r>
                      <a:br>
                        <a:rPr lang="en-US" altLang="ko-KR" sz="7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ko-KR" altLang="en-US" sz="7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리모컨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i="0" u="none" strike="noStrike" dirty="0" err="1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중유럽</a:t>
                      </a:r>
                      <a:br>
                        <a:rPr lang="en-US" altLang="ko-KR" sz="7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7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(Enhanced)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700" b="0" i="0" u="none" strike="noStrike" dirty="0" err="1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팬유럽</a:t>
                      </a:r>
                      <a:endParaRPr lang="en-US" altLang="ko-KR" sz="700" b="0" i="0" u="none" strike="noStrike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(Vivid)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서유럽</a:t>
                      </a:r>
                      <a:br>
                        <a:rPr lang="en-US" altLang="ko-KR" sz="7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7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(Dynamic)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0042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G6-2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X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O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O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7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G6</a:t>
                      </a:r>
                      <a:r>
                        <a:rPr lang="en-US" altLang="ko-KR" sz="700" b="1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</a:t>
                      </a:r>
                      <a:endParaRPr lang="ko-KR" altLang="en-US" sz="700" b="1" i="0" u="none" strike="noStrike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G6</a:t>
                      </a:r>
                      <a:r>
                        <a:rPr lang="en-US" sz="700" b="1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6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G6</a:t>
                      </a:r>
                      <a:r>
                        <a:rPr lang="en-US" sz="700" b="1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0042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G6-1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7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X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O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G6</a:t>
                      </a:r>
                      <a:r>
                        <a:rPr lang="en-US" altLang="ko-KR" sz="700" b="1" i="0" u="none" strike="noStrike" dirty="0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</a:t>
                      </a:r>
                      <a:endParaRPr lang="ko-KR" altLang="en-US" sz="700" b="1" i="0" u="none" strike="noStrike" dirty="0">
                        <a:solidFill>
                          <a:srgbClr val="FF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endParaRPr lang="en-US" sz="700" b="1" i="0" u="none" strike="noStrike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7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G6</a:t>
                      </a:r>
                      <a:r>
                        <a:rPr lang="en-US" altLang="ko-KR" sz="700" b="1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8</a:t>
                      </a:r>
                      <a:endParaRPr lang="en-US" sz="700" b="1" i="0" u="none" strike="noStrike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0042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G6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7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X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X</a:t>
                      </a:r>
                      <a:endParaRPr lang="en-US" sz="700" b="0" i="0" u="none" strike="noStrike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7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G6</a:t>
                      </a:r>
                      <a:r>
                        <a:rPr lang="en-US" altLang="ko-KR" sz="700" b="1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</a:t>
                      </a:r>
                      <a:endParaRPr lang="en-US" sz="700" b="1" i="0" u="none" strike="noStrike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G6</a:t>
                      </a:r>
                      <a:r>
                        <a:rPr lang="en-US" sz="700" b="1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G6</a:t>
                      </a:r>
                      <a:r>
                        <a:rPr lang="en-US" sz="700" b="1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7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Rectangle 3936">
            <a:extLst>
              <a:ext uri="{FF2B5EF4-FFF2-40B4-BE49-F238E27FC236}">
                <a16:creationId xmlns:a16="http://schemas.microsoft.com/office/drawing/2014/main" id="{65C64C33-A7D6-A17E-53D4-47CAB30D1E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9032" y="4764819"/>
            <a:ext cx="720000" cy="149120"/>
          </a:xfrm>
          <a:prstGeom prst="rect">
            <a:avLst/>
          </a:prstGeom>
          <a:solidFill>
            <a:srgbClr val="CC3300"/>
          </a:solidFill>
          <a:ln w="3175" cap="flat" cmpd="sng" algn="ctr">
            <a:solidFill>
              <a:srgbClr val="FFFFFF">
                <a:lumMod val="50000"/>
              </a:srgbClr>
            </a:solidFill>
            <a:prstDash val="solid"/>
          </a:ln>
          <a:effectLst/>
        </p:spPr>
        <p:txBody>
          <a:bodyPr wrap="none" lIns="0" tIns="45714" rIns="0" bIns="45714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/>
                <a:ea typeface="LG스마트체2.0 Regular"/>
                <a:cs typeface="+mn-cs"/>
              </a:rPr>
              <a:t>QNED8EB   </a:t>
            </a:r>
          </a:p>
        </p:txBody>
      </p:sp>
      <p:sp>
        <p:nvSpPr>
          <p:cNvPr id="4" name="모서리가 둥근 직사각형 364">
            <a:extLst>
              <a:ext uri="{FF2B5EF4-FFF2-40B4-BE49-F238E27FC236}">
                <a16:creationId xmlns:a16="http://schemas.microsoft.com/office/drawing/2014/main" id="{8AC7C653-C88B-ED4A-E466-9B2B592B24E1}"/>
              </a:ext>
            </a:extLst>
          </p:cNvPr>
          <p:cNvSpPr/>
          <p:nvPr/>
        </p:nvSpPr>
        <p:spPr bwMode="auto">
          <a:xfrm>
            <a:off x="4610341" y="4764819"/>
            <a:ext cx="133200" cy="149120"/>
          </a:xfrm>
          <a:prstGeom prst="roundRect">
            <a:avLst/>
          </a:prstGeom>
          <a:solidFill>
            <a:srgbClr val="FFFFFF"/>
          </a:solidFill>
          <a:ln w="6350" algn="ctr">
            <a:solidFill>
              <a:srgbClr val="C00000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75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5" name="모서리가 둥근 직사각형 365">
            <a:extLst>
              <a:ext uri="{FF2B5EF4-FFF2-40B4-BE49-F238E27FC236}">
                <a16:creationId xmlns:a16="http://schemas.microsoft.com/office/drawing/2014/main" id="{ACFCA9B6-048A-01B4-5699-F2FEDF1593B8}"/>
              </a:ext>
            </a:extLst>
          </p:cNvPr>
          <p:cNvSpPr/>
          <p:nvPr/>
        </p:nvSpPr>
        <p:spPr bwMode="auto">
          <a:xfrm>
            <a:off x="4431681" y="4764819"/>
            <a:ext cx="133200" cy="149120"/>
          </a:xfrm>
          <a:prstGeom prst="roundRect">
            <a:avLst/>
          </a:prstGeom>
          <a:solidFill>
            <a:srgbClr val="FFFFFF"/>
          </a:solidFill>
          <a:ln w="6350" algn="ctr">
            <a:solidFill>
              <a:srgbClr val="C00000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8</a:t>
            </a: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5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6" name="모서리가 둥근 직사각형 375">
            <a:extLst>
              <a:ext uri="{FF2B5EF4-FFF2-40B4-BE49-F238E27FC236}">
                <a16:creationId xmlns:a16="http://schemas.microsoft.com/office/drawing/2014/main" id="{2C32D05D-1EBB-5110-D875-15EE52AAB297}"/>
              </a:ext>
            </a:extLst>
          </p:cNvPr>
          <p:cNvSpPr/>
          <p:nvPr/>
        </p:nvSpPr>
        <p:spPr bwMode="auto">
          <a:xfrm>
            <a:off x="5324980" y="4764819"/>
            <a:ext cx="133200" cy="149120"/>
          </a:xfrm>
          <a:prstGeom prst="roundRect">
            <a:avLst/>
          </a:prstGeom>
          <a:solidFill>
            <a:srgbClr val="FFFFFF">
              <a:lumMod val="75000"/>
            </a:srgbClr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43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7" name="모서리가 둥근 직사각형 376">
            <a:extLst>
              <a:ext uri="{FF2B5EF4-FFF2-40B4-BE49-F238E27FC236}">
                <a16:creationId xmlns:a16="http://schemas.microsoft.com/office/drawing/2014/main" id="{E10A8684-3996-66F8-F108-3E399A692650}"/>
              </a:ext>
            </a:extLst>
          </p:cNvPr>
          <p:cNvSpPr/>
          <p:nvPr/>
        </p:nvSpPr>
        <p:spPr bwMode="auto">
          <a:xfrm>
            <a:off x="5141725" y="4764819"/>
            <a:ext cx="133200" cy="149120"/>
          </a:xfrm>
          <a:prstGeom prst="roundRect">
            <a:avLst/>
          </a:prstGeom>
          <a:solidFill>
            <a:srgbClr val="FFFFFF">
              <a:lumMod val="75000"/>
            </a:srgbClr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50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8" name="모서리가 둥근 직사각형 377">
            <a:extLst>
              <a:ext uri="{FF2B5EF4-FFF2-40B4-BE49-F238E27FC236}">
                <a16:creationId xmlns:a16="http://schemas.microsoft.com/office/drawing/2014/main" id="{8F514864-F3BD-7D5A-08D6-AB5E556D1BAD}"/>
              </a:ext>
            </a:extLst>
          </p:cNvPr>
          <p:cNvSpPr/>
          <p:nvPr/>
        </p:nvSpPr>
        <p:spPr bwMode="auto">
          <a:xfrm>
            <a:off x="4789001" y="4764819"/>
            <a:ext cx="133200" cy="149120"/>
          </a:xfrm>
          <a:prstGeom prst="roundRect">
            <a:avLst/>
          </a:prstGeom>
          <a:solidFill>
            <a:srgbClr val="FFFFFF">
              <a:lumMod val="75000"/>
            </a:srgbClr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65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9" name="모서리가 둥근 직사각형 378">
            <a:extLst>
              <a:ext uri="{FF2B5EF4-FFF2-40B4-BE49-F238E27FC236}">
                <a16:creationId xmlns:a16="http://schemas.microsoft.com/office/drawing/2014/main" id="{5F7DA9D1-BFE1-74AC-D21E-BE2B7785FE4F}"/>
              </a:ext>
            </a:extLst>
          </p:cNvPr>
          <p:cNvSpPr/>
          <p:nvPr/>
        </p:nvSpPr>
        <p:spPr bwMode="auto">
          <a:xfrm>
            <a:off x="4967661" y="4764819"/>
            <a:ext cx="133200" cy="149120"/>
          </a:xfrm>
          <a:prstGeom prst="roundRect">
            <a:avLst/>
          </a:prstGeom>
          <a:solidFill>
            <a:srgbClr val="FFFFFF">
              <a:lumMod val="75000"/>
            </a:srgbClr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55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EB4DF4-9798-07C5-2F83-63EEE6BBEFA8}"/>
              </a:ext>
            </a:extLst>
          </p:cNvPr>
          <p:cNvSpPr txBox="1"/>
          <p:nvPr/>
        </p:nvSpPr>
        <p:spPr>
          <a:xfrm>
            <a:off x="3888694" y="1425668"/>
            <a:ext cx="397545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itchFamily="34" charset="0"/>
              </a:rPr>
              <a:t>Stand only</a:t>
            </a:r>
          </a:p>
        </p:txBody>
      </p:sp>
      <p:sp>
        <p:nvSpPr>
          <p:cNvPr id="12" name="Rectangle 3936">
            <a:extLst>
              <a:ext uri="{FF2B5EF4-FFF2-40B4-BE49-F238E27FC236}">
                <a16:creationId xmlns:a16="http://schemas.microsoft.com/office/drawing/2014/main" id="{F968D674-212B-7972-73EA-0D9BFDF203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0622" y="2093113"/>
            <a:ext cx="720000" cy="149120"/>
          </a:xfrm>
          <a:prstGeom prst="rect">
            <a:avLst/>
          </a:prstGeom>
          <a:solidFill>
            <a:srgbClr val="000000"/>
          </a:solidFill>
          <a:ln w="3175" cap="flat" cmpd="sng" algn="ctr">
            <a:solidFill>
              <a:srgbClr val="FFFFFF">
                <a:lumMod val="50000"/>
              </a:srgbClr>
            </a:solidFill>
            <a:prstDash val="solid"/>
          </a:ln>
          <a:effectLst/>
        </p:spPr>
        <p:txBody>
          <a:bodyPr wrap="none" lIns="0" tIns="45714" rIns="72000" bIns="45714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/>
                <a:ea typeface="LG스마트체2.0 Regular"/>
                <a:cs typeface="+mn-cs"/>
              </a:rPr>
              <a:t>C6E</a:t>
            </a:r>
          </a:p>
        </p:txBody>
      </p:sp>
      <p:sp>
        <p:nvSpPr>
          <p:cNvPr id="13" name="모서리가 둥근 직사각형 364">
            <a:extLst>
              <a:ext uri="{FF2B5EF4-FFF2-40B4-BE49-F238E27FC236}">
                <a16:creationId xmlns:a16="http://schemas.microsoft.com/office/drawing/2014/main" id="{6BAC4576-4D92-0AB1-66E3-8E9FE6387E95}"/>
              </a:ext>
            </a:extLst>
          </p:cNvPr>
          <p:cNvSpPr/>
          <p:nvPr/>
        </p:nvSpPr>
        <p:spPr bwMode="auto">
          <a:xfrm>
            <a:off x="4610411" y="2081081"/>
            <a:ext cx="133200" cy="149120"/>
          </a:xfrm>
          <a:prstGeom prst="roundRect">
            <a:avLst/>
          </a:prstGeom>
          <a:solidFill>
            <a:srgbClr val="FFFFFF">
              <a:lumMod val="75000"/>
            </a:srgbClr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77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4" name="모서리가 둥근 직사각형 364">
            <a:extLst>
              <a:ext uri="{FF2B5EF4-FFF2-40B4-BE49-F238E27FC236}">
                <a16:creationId xmlns:a16="http://schemas.microsoft.com/office/drawing/2014/main" id="{60D97AF1-5B09-5953-B46F-F294EAAE3825}"/>
              </a:ext>
            </a:extLst>
          </p:cNvPr>
          <p:cNvSpPr/>
          <p:nvPr/>
        </p:nvSpPr>
        <p:spPr bwMode="auto">
          <a:xfrm>
            <a:off x="4431751" y="2081081"/>
            <a:ext cx="133200" cy="149120"/>
          </a:xfrm>
          <a:prstGeom prst="roundRect">
            <a:avLst/>
          </a:prstGeom>
          <a:solidFill>
            <a:srgbClr val="FFFFFF">
              <a:lumMod val="75000"/>
            </a:srgbClr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83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5" name="모서리가 둥근 직사각형 376">
            <a:extLst>
              <a:ext uri="{FF2B5EF4-FFF2-40B4-BE49-F238E27FC236}">
                <a16:creationId xmlns:a16="http://schemas.microsoft.com/office/drawing/2014/main" id="{09A1D307-E8B9-9C80-1448-1A0F20971066}"/>
              </a:ext>
            </a:extLst>
          </p:cNvPr>
          <p:cNvSpPr/>
          <p:nvPr/>
        </p:nvSpPr>
        <p:spPr bwMode="auto">
          <a:xfrm>
            <a:off x="5155722" y="2081081"/>
            <a:ext cx="133200" cy="149120"/>
          </a:xfrm>
          <a:prstGeom prst="roundRect">
            <a:avLst/>
          </a:prstGeom>
          <a:solidFill>
            <a:srgbClr val="FFFFFF">
              <a:lumMod val="75000"/>
            </a:srgbClr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48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6" name="모서리가 둥근 직사각형 377">
            <a:extLst>
              <a:ext uri="{FF2B5EF4-FFF2-40B4-BE49-F238E27FC236}">
                <a16:creationId xmlns:a16="http://schemas.microsoft.com/office/drawing/2014/main" id="{D8EDAE08-77F3-8D70-F0DA-37D5594DF021}"/>
              </a:ext>
            </a:extLst>
          </p:cNvPr>
          <p:cNvSpPr/>
          <p:nvPr/>
        </p:nvSpPr>
        <p:spPr bwMode="auto">
          <a:xfrm>
            <a:off x="4789071" y="2081081"/>
            <a:ext cx="133200" cy="149120"/>
          </a:xfrm>
          <a:prstGeom prst="roundRect">
            <a:avLst/>
          </a:prstGeom>
          <a:solidFill>
            <a:srgbClr val="FFFFFF">
              <a:lumMod val="75000"/>
            </a:srgbClr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65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7" name="모서리가 둥근 직사각형 378">
            <a:extLst>
              <a:ext uri="{FF2B5EF4-FFF2-40B4-BE49-F238E27FC236}">
                <a16:creationId xmlns:a16="http://schemas.microsoft.com/office/drawing/2014/main" id="{0B8EC706-EEF8-A925-9826-2CCB83363B89}"/>
              </a:ext>
            </a:extLst>
          </p:cNvPr>
          <p:cNvSpPr/>
          <p:nvPr/>
        </p:nvSpPr>
        <p:spPr bwMode="auto">
          <a:xfrm>
            <a:off x="4967731" y="2081081"/>
            <a:ext cx="133200" cy="149120"/>
          </a:xfrm>
          <a:prstGeom prst="roundRect">
            <a:avLst/>
          </a:prstGeom>
          <a:solidFill>
            <a:srgbClr val="FFFFFF">
              <a:lumMod val="75000"/>
            </a:srgbClr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55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8" name="모서리가 둥근 직사각형 375">
            <a:extLst>
              <a:ext uri="{FF2B5EF4-FFF2-40B4-BE49-F238E27FC236}">
                <a16:creationId xmlns:a16="http://schemas.microsoft.com/office/drawing/2014/main" id="{F3241DD4-B644-BBC1-8AF7-DCE94EB8CA64}"/>
              </a:ext>
            </a:extLst>
          </p:cNvPr>
          <p:cNvSpPr/>
          <p:nvPr/>
        </p:nvSpPr>
        <p:spPr bwMode="auto">
          <a:xfrm>
            <a:off x="5325050" y="2082124"/>
            <a:ext cx="133200" cy="149120"/>
          </a:xfrm>
          <a:prstGeom prst="roundRect">
            <a:avLst/>
          </a:prstGeom>
          <a:solidFill>
            <a:srgbClr val="FFFFFF">
              <a:lumMod val="75000"/>
            </a:srgbClr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42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9" name="모서리가 둥근 직사각형 365">
            <a:extLst>
              <a:ext uri="{FF2B5EF4-FFF2-40B4-BE49-F238E27FC236}">
                <a16:creationId xmlns:a16="http://schemas.microsoft.com/office/drawing/2014/main" id="{DC2B954F-0900-67CA-EF59-94FF1F931FB4}"/>
              </a:ext>
            </a:extLst>
          </p:cNvPr>
          <p:cNvSpPr/>
          <p:nvPr/>
        </p:nvSpPr>
        <p:spPr bwMode="auto">
          <a:xfrm>
            <a:off x="4432112" y="5096254"/>
            <a:ext cx="133200" cy="149120"/>
          </a:xfrm>
          <a:prstGeom prst="roundRect">
            <a:avLst/>
          </a:prstGeom>
          <a:solidFill>
            <a:srgbClr val="FFFFFF"/>
          </a:solidFill>
          <a:ln w="6350" algn="ctr">
            <a:solidFill>
              <a:srgbClr val="C00000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85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0E2E4ED9-DF02-3171-3FD0-1513E3927CA0}"/>
              </a:ext>
            </a:extLst>
          </p:cNvPr>
          <p:cNvGraphicFramePr>
            <a:graphicFrameLocks noGrp="1"/>
          </p:cNvGraphicFramePr>
          <p:nvPr/>
        </p:nvGraphicFramePr>
        <p:xfrm>
          <a:off x="9317562" y="1207118"/>
          <a:ext cx="2408152" cy="652893"/>
        </p:xfrm>
        <a:graphic>
          <a:graphicData uri="http://schemas.openxmlformats.org/drawingml/2006/table">
            <a:tbl>
              <a:tblPr/>
              <a:tblGrid>
                <a:gridCol w="3211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2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46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763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시리즈</a:t>
                      </a:r>
                      <a:endParaRPr lang="en-US" sz="700" b="0" i="0" u="none" strike="noStrike" kern="120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’25</a:t>
                      </a:r>
                      <a:r>
                        <a:rPr lang="ko-KR" altLang="en-US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 </a:t>
                      </a:r>
                      <a:r>
                        <a:rPr lang="en-US" altLang="ko-KR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(Set </a:t>
                      </a:r>
                      <a:r>
                        <a:rPr lang="ko-KR" altLang="en-US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기준</a:t>
                      </a:r>
                      <a:r>
                        <a:rPr lang="en-US" altLang="ko-KR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endParaRPr lang="ko-KR" altLang="en-US" sz="700" b="0" i="0" u="none" strike="noStrike" kern="120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’26</a:t>
                      </a:r>
                      <a:r>
                        <a:rPr lang="ko-KR" altLang="en-US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 </a:t>
                      </a:r>
                      <a:r>
                        <a:rPr lang="en-US" altLang="ko-KR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(Set</a:t>
                      </a:r>
                      <a:r>
                        <a:rPr lang="en-US" altLang="ko-KR" sz="700" b="0" i="0" u="none" strike="noStrike" kern="1200" baseline="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ko-KR" altLang="en-US" sz="700" b="0" i="0" u="none" strike="noStrike" kern="1200" baseline="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기준</a:t>
                      </a:r>
                      <a:r>
                        <a:rPr lang="en-US" altLang="ko-KR" sz="700" b="0" i="0" u="none" strike="noStrike" kern="1200" baseline="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endParaRPr lang="ko-KR" altLang="en-US" sz="700" b="0" i="0" u="none" strike="noStrike" kern="120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63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marL="0" marR="0" lvl="0" indent="0" algn="ctr" defTabSz="914395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i="0" u="none" strike="noStrike" kern="1200" baseline="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G</a:t>
                      </a:r>
                      <a:endParaRPr lang="en-US" altLang="ko-KR" sz="700" b="0" i="0" u="none" strike="noStrike" kern="120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2,900 / 2,200 / 1,100 / 330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3,500 / 2,500 / 1,200</a:t>
                      </a:r>
                      <a:r>
                        <a:rPr lang="ko-KR" altLang="en-US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↑</a:t>
                      </a:r>
                      <a:r>
                        <a:rPr lang="en-US" altLang="ko-KR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/ 400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63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sz="700" b="0" i="0" u="none" strike="noStrike" kern="1200" baseline="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C</a:t>
                      </a:r>
                      <a:endParaRPr lang="en-US" sz="700" b="0" i="0" u="none" strike="noStrike" kern="120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1,350 / 1,080 / 700</a:t>
                      </a:r>
                      <a:r>
                        <a:rPr lang="ko-KR" altLang="en-US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↑</a:t>
                      </a:r>
                      <a:r>
                        <a:rPr lang="en-US" altLang="ko-KR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/ 180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1,900 / 1,500 / 700</a:t>
                      </a:r>
                      <a:r>
                        <a:rPr lang="ko-KR" altLang="en-US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↑</a:t>
                      </a:r>
                      <a:r>
                        <a:rPr lang="en-US" altLang="ko-KR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/ 300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0A43AF3E-ACA8-355E-C217-C58A54DCEB40}"/>
              </a:ext>
            </a:extLst>
          </p:cNvPr>
          <p:cNvSpPr txBox="1"/>
          <p:nvPr/>
        </p:nvSpPr>
        <p:spPr>
          <a:xfrm>
            <a:off x="6506208" y="5857589"/>
            <a:ext cx="2156360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- UB </a:t>
            </a:r>
            <a:r>
              <a:rPr kumimoji="1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→ </a:t>
            </a:r>
            <a: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NU NANO UHD </a:t>
            </a:r>
            <a:r>
              <a:rPr kumimoji="1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모델 명 변경</a:t>
            </a:r>
          </a:p>
        </p:txBody>
      </p:sp>
      <p:sp>
        <p:nvSpPr>
          <p:cNvPr id="33" name="Rectangle 3936">
            <a:extLst>
              <a:ext uri="{FF2B5EF4-FFF2-40B4-BE49-F238E27FC236}">
                <a16:creationId xmlns:a16="http://schemas.microsoft.com/office/drawing/2014/main" id="{85FC7F00-A93E-4C93-3023-A80B83DEDA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6961" y="4435779"/>
            <a:ext cx="720000" cy="149120"/>
          </a:xfrm>
          <a:prstGeom prst="rect">
            <a:avLst/>
          </a:prstGeom>
          <a:solidFill>
            <a:srgbClr val="CC3300"/>
          </a:solidFill>
          <a:ln w="3175" cap="flat" cmpd="sng" algn="ctr">
            <a:solidFill>
              <a:srgbClr val="FFFFFF">
                <a:lumMod val="50000"/>
              </a:srgbClr>
            </a:solidFill>
            <a:prstDash val="solid"/>
          </a:ln>
          <a:effectLst/>
        </p:spPr>
        <p:txBody>
          <a:bodyPr wrap="none" lIns="0" tIns="45714" rIns="0" bIns="45714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/>
                <a:ea typeface="LG스마트체2.0 Regular"/>
                <a:cs typeface="+mn-cs"/>
              </a:rPr>
              <a:t>QNED8M</a:t>
            </a:r>
          </a:p>
        </p:txBody>
      </p:sp>
      <p:sp>
        <p:nvSpPr>
          <p:cNvPr id="34" name="모서리가 둥근 직사각형 364">
            <a:extLst>
              <a:ext uri="{FF2B5EF4-FFF2-40B4-BE49-F238E27FC236}">
                <a16:creationId xmlns:a16="http://schemas.microsoft.com/office/drawing/2014/main" id="{DE5EFDB3-7F90-101E-28AE-298286E7DDDF}"/>
              </a:ext>
            </a:extLst>
          </p:cNvPr>
          <p:cNvSpPr/>
          <p:nvPr/>
        </p:nvSpPr>
        <p:spPr bwMode="auto">
          <a:xfrm>
            <a:off x="4603607" y="4423789"/>
            <a:ext cx="133200" cy="149120"/>
          </a:xfrm>
          <a:prstGeom prst="roundRect">
            <a:avLst/>
          </a:prstGeom>
          <a:solidFill>
            <a:srgbClr val="FFFFFF"/>
          </a:solidFill>
          <a:ln w="6350" algn="ctr">
            <a:solidFill>
              <a:srgbClr val="C00000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75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35" name="모서리가 둥근 직사각형 365">
            <a:extLst>
              <a:ext uri="{FF2B5EF4-FFF2-40B4-BE49-F238E27FC236}">
                <a16:creationId xmlns:a16="http://schemas.microsoft.com/office/drawing/2014/main" id="{EC50A870-6D97-F5CA-4BCE-4FA99E8157F6}"/>
              </a:ext>
            </a:extLst>
          </p:cNvPr>
          <p:cNvSpPr/>
          <p:nvPr/>
        </p:nvSpPr>
        <p:spPr bwMode="auto">
          <a:xfrm>
            <a:off x="4436979" y="4429064"/>
            <a:ext cx="133200" cy="149120"/>
          </a:xfrm>
          <a:prstGeom prst="roundRect">
            <a:avLst/>
          </a:prstGeom>
          <a:solidFill>
            <a:srgbClr val="FFFFFF"/>
          </a:solidFill>
          <a:ln w="6350" algn="ctr">
            <a:solidFill>
              <a:srgbClr val="C00000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8</a:t>
            </a: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5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36" name="모서리가 둥근 직사각형 376">
            <a:extLst>
              <a:ext uri="{FF2B5EF4-FFF2-40B4-BE49-F238E27FC236}">
                <a16:creationId xmlns:a16="http://schemas.microsoft.com/office/drawing/2014/main" id="{F7456B27-5177-09F9-F7A7-62612479BAD4}"/>
              </a:ext>
            </a:extLst>
          </p:cNvPr>
          <p:cNvSpPr/>
          <p:nvPr/>
        </p:nvSpPr>
        <p:spPr bwMode="auto">
          <a:xfrm>
            <a:off x="5134991" y="4423789"/>
            <a:ext cx="133200" cy="149120"/>
          </a:xfrm>
          <a:prstGeom prst="roundRect">
            <a:avLst/>
          </a:prstGeom>
          <a:solidFill>
            <a:srgbClr val="FFFFFF"/>
          </a:solidFill>
          <a:ln w="6350" algn="ctr">
            <a:solidFill>
              <a:srgbClr val="C00000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50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37" name="모서리가 둥근 직사각형 377">
            <a:extLst>
              <a:ext uri="{FF2B5EF4-FFF2-40B4-BE49-F238E27FC236}">
                <a16:creationId xmlns:a16="http://schemas.microsoft.com/office/drawing/2014/main" id="{6BA99FD5-4BC1-F155-2E33-83D00B9D3A12}"/>
              </a:ext>
            </a:extLst>
          </p:cNvPr>
          <p:cNvSpPr/>
          <p:nvPr/>
        </p:nvSpPr>
        <p:spPr bwMode="auto">
          <a:xfrm>
            <a:off x="4782267" y="4423789"/>
            <a:ext cx="133200" cy="149120"/>
          </a:xfrm>
          <a:prstGeom prst="roundRect">
            <a:avLst/>
          </a:prstGeom>
          <a:solidFill>
            <a:srgbClr val="FFFFFF"/>
          </a:solidFill>
          <a:ln w="6350" algn="ctr">
            <a:solidFill>
              <a:srgbClr val="C00000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65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38" name="모서리가 둥근 직사각형 378">
            <a:extLst>
              <a:ext uri="{FF2B5EF4-FFF2-40B4-BE49-F238E27FC236}">
                <a16:creationId xmlns:a16="http://schemas.microsoft.com/office/drawing/2014/main" id="{B6011B4F-8E03-7FC7-0953-7B75A69FE5A6}"/>
              </a:ext>
            </a:extLst>
          </p:cNvPr>
          <p:cNvSpPr/>
          <p:nvPr/>
        </p:nvSpPr>
        <p:spPr bwMode="auto">
          <a:xfrm>
            <a:off x="4960927" y="4423789"/>
            <a:ext cx="133200" cy="149120"/>
          </a:xfrm>
          <a:prstGeom prst="roundRect">
            <a:avLst/>
          </a:prstGeom>
          <a:solidFill>
            <a:srgbClr val="FFFFFF"/>
          </a:solidFill>
          <a:ln w="6350" algn="ctr">
            <a:solidFill>
              <a:srgbClr val="C00000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55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724E32D-ACAB-77F2-07A2-28CEC56406EC}"/>
              </a:ext>
            </a:extLst>
          </p:cNvPr>
          <p:cNvSpPr txBox="1"/>
          <p:nvPr/>
        </p:nvSpPr>
        <p:spPr>
          <a:xfrm>
            <a:off x="5364746" y="4441686"/>
            <a:ext cx="609141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itchFamily="34" charset="0"/>
              </a:rPr>
              <a:t>절기 </a:t>
            </a: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itchFamily="34" charset="0"/>
              </a:rPr>
              <a:t>NU85 Tool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4664B0F-166C-1AA4-CDDC-E273FC47D8E0}"/>
              </a:ext>
            </a:extLst>
          </p:cNvPr>
          <p:cNvSpPr txBox="1"/>
          <p:nvPr/>
        </p:nvSpPr>
        <p:spPr>
          <a:xfrm>
            <a:off x="6507490" y="6614196"/>
            <a:ext cx="527405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- NU85 Tool(</a:t>
            </a:r>
            <a:r>
              <a:rPr kumimoji="1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외관화</a:t>
            </a:r>
            <a: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) + “500 x 990 </a:t>
            </a:r>
            <a:r>
              <a:rPr kumimoji="1" lang="el-GR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μ</a:t>
            </a:r>
            <a: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m” chip size </a:t>
            </a:r>
            <a:r>
              <a:rPr kumimoji="1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개선 통한 </a:t>
            </a:r>
            <a: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Mini-LED </a:t>
            </a:r>
            <a:r>
              <a:rPr kumimoji="1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초 염가형 모델</a:t>
            </a:r>
          </a:p>
        </p:txBody>
      </p:sp>
      <p:sp>
        <p:nvSpPr>
          <p:cNvPr id="41" name="Rectangle 5">
            <a:hlinkClick r:id="" action="ppaction://noaction"/>
            <a:extLst>
              <a:ext uri="{FF2B5EF4-FFF2-40B4-BE49-F238E27FC236}">
                <a16:creationId xmlns:a16="http://schemas.microsoft.com/office/drawing/2014/main" id="{BCA778D6-670F-577B-11A5-FAA30C7E6486}"/>
              </a:ext>
            </a:extLst>
          </p:cNvPr>
          <p:cNvSpPr>
            <a:spLocks noChangeArrowheads="1"/>
          </p:cNvSpPr>
          <p:nvPr>
            <p:custDataLst>
              <p:tags r:id="rId9"/>
            </p:custDataLst>
          </p:nvPr>
        </p:nvSpPr>
        <p:spPr bwMode="gray">
          <a:xfrm>
            <a:off x="6343016" y="6240958"/>
            <a:ext cx="724557" cy="22813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180975" marR="0" lvl="0" indent="-180975" algn="l" defTabSz="914400" rtl="0" eaLnBrk="1" fontAlgn="base" latinLnBrk="1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1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QNED8M</a:t>
            </a:r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A4DEA61-BAC4-753A-810F-421058AFBC13}"/>
              </a:ext>
            </a:extLst>
          </p:cNvPr>
          <p:cNvSpPr txBox="1"/>
          <p:nvPr/>
        </p:nvSpPr>
        <p:spPr>
          <a:xfrm>
            <a:off x="6507490" y="6425555"/>
            <a:ext cx="3323346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-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120Hz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와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60Hz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경계 파괴를 위한 염가형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120Hz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절기 모델</a:t>
            </a:r>
            <a:endParaRPr kumimoji="1" lang="ko-KR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9C9B308-9288-CF1B-6A79-8EA5DABB353D}"/>
              </a:ext>
            </a:extLst>
          </p:cNvPr>
          <p:cNvSpPr txBox="1"/>
          <p:nvPr/>
        </p:nvSpPr>
        <p:spPr bwMode="auto">
          <a:xfrm>
            <a:off x="3900780" y="873184"/>
            <a:ext cx="168316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fontAlgn="ctr" latinLnBrk="0">
              <a:buSzPct val="65000"/>
              <a:defRPr sz="80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65000"/>
              <a:buFontTx/>
              <a:buNone/>
              <a:tabLst/>
              <a:defRPr/>
            </a:pPr>
            <a:r>
              <a:rPr kumimoji="1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Arial" panose="020B0604020202020204" pitchFamily="34" charset="0"/>
              </a:rPr>
              <a:t>C/O</a:t>
            </a:r>
            <a:endParaRPr kumimoji="1" lang="ko-KR" altLang="en-US" sz="900" b="0" i="0" u="none" strike="noStrike" kern="120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/>
              <a:ea typeface="LG스마트체 Regular"/>
              <a:cs typeface="Arial" panose="020B0604020202020204" pitchFamily="34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F5F7CF5-0D05-F5FC-2534-015678590BBD}"/>
              </a:ext>
            </a:extLst>
          </p:cNvPr>
          <p:cNvSpPr txBox="1"/>
          <p:nvPr/>
        </p:nvSpPr>
        <p:spPr bwMode="auto">
          <a:xfrm>
            <a:off x="1418700" y="1013054"/>
            <a:ext cx="567463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fontAlgn="ctr" latinLnBrk="0">
              <a:buSzPct val="65000"/>
              <a:defRPr sz="80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65000"/>
              <a:buFontTx/>
              <a:buNone/>
              <a:tabLst/>
              <a:defRPr/>
            </a:pPr>
            <a:r>
              <a:rPr kumimoji="1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Arial" panose="020B0604020202020204" pitchFamily="34" charset="0"/>
              </a:rPr>
              <a:t>25</a:t>
            </a:r>
            <a:r>
              <a:rPr kumimoji="1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Arial" panose="020B0604020202020204" pitchFamily="34" charset="0"/>
              </a:rPr>
              <a:t>년 내 단종</a:t>
            </a: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BACACA47-EBBC-1609-2C76-4EFAE4F54357}"/>
              </a:ext>
            </a:extLst>
          </p:cNvPr>
          <p:cNvGraphicFramePr>
            <a:graphicFrameLocks noGrp="1"/>
          </p:cNvGraphicFramePr>
          <p:nvPr/>
        </p:nvGraphicFramePr>
        <p:xfrm>
          <a:off x="6363280" y="1891560"/>
          <a:ext cx="2849515" cy="649524"/>
        </p:xfrm>
        <a:graphic>
          <a:graphicData uri="http://schemas.openxmlformats.org/drawingml/2006/table">
            <a:tbl>
              <a:tblPr/>
              <a:tblGrid>
                <a:gridCol w="4341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2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1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65337496"/>
                    </a:ext>
                  </a:extLst>
                </a:gridCol>
                <a:gridCol w="450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952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0586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9385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파생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700" b="0" i="0" u="none" strike="noStrike" dirty="0" err="1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출하휘도</a:t>
                      </a:r>
                      <a:br>
                        <a:rPr lang="en-US" altLang="ko-KR" sz="7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7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+Stripe DP</a:t>
                      </a:r>
                      <a:endParaRPr lang="en-US" sz="700" b="0" i="0" u="none" strike="noStrike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Precision</a:t>
                      </a:r>
                      <a:br>
                        <a:rPr lang="en-US" sz="7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sz="7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HDR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숫자키</a:t>
                      </a:r>
                      <a:br>
                        <a:rPr lang="en-US" altLang="ko-KR" sz="7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ko-KR" altLang="en-US" sz="7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리모컨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i="0" u="none" strike="noStrike" dirty="0" err="1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중유럽</a:t>
                      </a:r>
                      <a:br>
                        <a:rPr lang="en-US" altLang="ko-KR" sz="7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7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(Enhanced)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700" b="0" i="0" u="none" strike="noStrike" dirty="0" err="1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팬유럽</a:t>
                      </a:r>
                      <a:endParaRPr lang="en-US" altLang="ko-KR" sz="700" b="0" i="0" u="none" strike="noStrike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(Vivid)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서유럽</a:t>
                      </a:r>
                      <a:br>
                        <a:rPr lang="en-US" altLang="ko-KR" sz="7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7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(Dynamic)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904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C6E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7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O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O</a:t>
                      </a:r>
                      <a:endParaRPr lang="ko-KR" altLang="en-US" sz="700" b="0" i="0" u="none" strike="noStrike" kern="120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7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C6</a:t>
                      </a:r>
                      <a:r>
                        <a:rPr lang="en-US" altLang="ko-KR" sz="700" b="1" i="0" u="none" strike="noStrike" dirty="0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E</a:t>
                      </a:r>
                      <a:endParaRPr lang="ko-KR" altLang="en-US" sz="700" b="1" i="0" u="none" strike="noStrike" dirty="0">
                        <a:solidFill>
                          <a:srgbClr val="FF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endParaRPr lang="en-US" sz="700" b="1" i="0" u="none" strike="noStrike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endParaRPr lang="en-US" sz="700" b="1" i="0" u="none" strike="noStrike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904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C6-2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7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O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X</a:t>
                      </a:r>
                      <a:endParaRPr lang="ko-KR" altLang="en-US" sz="700" b="0" i="0" u="none" strike="noStrike" kern="120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endParaRPr lang="ko-KR" altLang="en-US" sz="700" b="1" i="0" u="none" strike="noStrike" dirty="0">
                        <a:solidFill>
                          <a:srgbClr val="FF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C6</a:t>
                      </a:r>
                      <a:r>
                        <a:rPr lang="en-US" sz="700" b="1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6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C6</a:t>
                      </a:r>
                      <a:r>
                        <a:rPr lang="en-US" sz="700" b="1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770655"/>
                  </a:ext>
                </a:extLst>
              </a:tr>
              <a:tr h="10904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C6-1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X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7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O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X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7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C6</a:t>
                      </a:r>
                      <a:r>
                        <a:rPr lang="en-US" altLang="ko-KR" sz="700" b="1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</a:t>
                      </a:r>
                      <a:endParaRPr lang="en-US" sz="700" b="1" i="0" u="none" strike="noStrike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7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C6</a:t>
                      </a:r>
                      <a:r>
                        <a:rPr lang="en-US" altLang="ko-KR" sz="700" b="1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</a:t>
                      </a:r>
                      <a:endParaRPr lang="en-US" sz="700" b="1" i="0" u="none" strike="noStrike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7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C6</a:t>
                      </a:r>
                      <a:r>
                        <a:rPr lang="en-US" altLang="ko-KR" sz="700" b="1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8</a:t>
                      </a:r>
                      <a:endParaRPr lang="en-US" sz="700" b="1" i="0" u="none" strike="noStrike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904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C6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7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X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X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X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7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C6</a:t>
                      </a:r>
                      <a:r>
                        <a:rPr lang="en-US" altLang="ko-KR" sz="700" b="1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</a:t>
                      </a:r>
                      <a:endParaRPr lang="en-US" sz="700" b="1" i="0" u="none" strike="noStrike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C6</a:t>
                      </a:r>
                      <a:r>
                        <a:rPr lang="en-US" sz="700" b="1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C6</a:t>
                      </a:r>
                      <a:r>
                        <a:rPr lang="en-US" sz="700" b="1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7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6" name="표 45">
            <a:extLst>
              <a:ext uri="{FF2B5EF4-FFF2-40B4-BE49-F238E27FC236}">
                <a16:creationId xmlns:a16="http://schemas.microsoft.com/office/drawing/2014/main" id="{512D1C0C-0DC5-C539-3245-3C76FFD6BCD7}"/>
              </a:ext>
            </a:extLst>
          </p:cNvPr>
          <p:cNvGraphicFramePr>
            <a:graphicFrameLocks noGrp="1"/>
          </p:cNvGraphicFramePr>
          <p:nvPr/>
        </p:nvGraphicFramePr>
        <p:xfrm>
          <a:off x="9317562" y="1898551"/>
          <a:ext cx="2408151" cy="662114"/>
        </p:xfrm>
        <a:graphic>
          <a:graphicData uri="http://schemas.openxmlformats.org/drawingml/2006/table">
            <a:tbl>
              <a:tblPr/>
              <a:tblGrid>
                <a:gridCol w="329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45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0370">
                  <a:extLst>
                    <a:ext uri="{9D8B030D-6E8A-4147-A177-3AD203B41FA5}">
                      <a16:colId xmlns:a16="http://schemas.microsoft.com/office/drawing/2014/main" val="2277339164"/>
                    </a:ext>
                  </a:extLst>
                </a:gridCol>
                <a:gridCol w="4933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6852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시리즈</a:t>
                      </a:r>
                      <a:endParaRPr lang="en-US" altLang="ko-KR" sz="700" b="0" i="0" u="none" strike="noStrike" kern="120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휘도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kern="120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700" b="0" i="0" u="none" strike="noStrike" kern="1200" dirty="0" err="1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패널가</a:t>
                      </a:r>
                      <a:endParaRPr lang="en-US" altLang="ko-KR" sz="700" b="0" i="0" u="none" strike="noStrike" kern="120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63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48G6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1,900/1,500/700/300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700" b="0" i="0" u="none" strike="noStrike" kern="1200" dirty="0" err="1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타지역</a:t>
                      </a:r>
                      <a:r>
                        <a:rPr lang="en-US" altLang="ko-KR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C6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$305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63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48C6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marL="0" marR="0" lvl="0" indent="0" algn="ctr" defTabSz="914395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1,500/1,200/600/200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marL="0" marR="0" lvl="0" indent="0" algn="ctr" defTabSz="914395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유럽 단독</a:t>
                      </a:r>
                      <a:endParaRPr lang="en-US" altLang="ko-KR" sz="700" b="0" i="0" u="none" strike="noStrike" kern="120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$303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3" name="표 62">
            <a:extLst>
              <a:ext uri="{FF2B5EF4-FFF2-40B4-BE49-F238E27FC236}">
                <a16:creationId xmlns:a16="http://schemas.microsoft.com/office/drawing/2014/main" id="{1DE09317-74F7-6C49-D464-E31CEFA6F6DD}"/>
              </a:ext>
            </a:extLst>
          </p:cNvPr>
          <p:cNvGraphicFramePr>
            <a:graphicFrameLocks noGrp="1"/>
          </p:cNvGraphicFramePr>
          <p:nvPr/>
        </p:nvGraphicFramePr>
        <p:xfrm>
          <a:off x="6521047" y="3580012"/>
          <a:ext cx="2200951" cy="757404"/>
        </p:xfrm>
        <a:graphic>
          <a:graphicData uri="http://schemas.openxmlformats.org/drawingml/2006/table">
            <a:tbl>
              <a:tblPr/>
              <a:tblGrid>
                <a:gridCol w="527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01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27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935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marL="0" algn="ctr" defTabSz="914400" rtl="0" eaLnBrk="1" fontAlgn="ctr" latinLnBrk="1" hangingPunct="1"/>
                      <a:r>
                        <a:rPr lang="ko-KR" altLang="en-US" sz="8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시리즈</a:t>
                      </a:r>
                      <a:endParaRPr lang="en-US" altLang="ko-KR" sz="800" b="0" i="0" u="none" strike="noStrike" kern="120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marL="0" algn="ctr" defTabSz="914400" rtl="0" eaLnBrk="1" fontAlgn="ctr" latinLnBrk="1" hangingPunct="1"/>
                      <a:r>
                        <a:rPr lang="ko-KR" altLang="en-US" sz="8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스탠드</a:t>
                      </a:r>
                      <a:endParaRPr lang="en-US" altLang="ko-KR" sz="800" b="0" i="0" u="none" strike="noStrike" kern="120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marL="0" algn="ctr" defTabSz="914400" rtl="0" eaLnBrk="1" fontAlgn="ctr" latinLnBrk="1" hangingPunct="1"/>
                      <a:r>
                        <a:rPr lang="ko-KR" altLang="en-US" sz="8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색상 </a:t>
                      </a:r>
                      <a:r>
                        <a:rPr lang="en-US" altLang="ko-KR" sz="8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 </a:t>
                      </a:r>
                      <a:r>
                        <a:rPr lang="ko-KR" altLang="en-US" sz="8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스펙</a:t>
                      </a:r>
                      <a:endParaRPr lang="en-US" altLang="ko-KR" sz="800" b="0" i="0" u="none" strike="noStrike" kern="120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935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marL="0" algn="ctr" defTabSz="914400" rtl="0" eaLnBrk="1" fontAlgn="ctr" latinLnBrk="1" hangingPunct="1"/>
                      <a:r>
                        <a:rPr lang="en-US" altLang="ko-KR" sz="8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MRGB86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marL="0" algn="ctr" defTabSz="914400" rtl="0" eaLnBrk="1" fontAlgn="ctr" latinLnBrk="1" hangingPunct="1"/>
                      <a:r>
                        <a:rPr lang="ko-KR" altLang="en-US" sz="800" b="0" i="0" u="none" strike="noStrike" kern="1200" dirty="0" err="1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에센스스퀘어</a:t>
                      </a:r>
                      <a:endParaRPr lang="en-US" altLang="ko-KR" sz="800" b="0" i="0" u="none" strike="noStrike" kern="120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algn="ctr" defTabSz="914400" rtl="0" eaLnBrk="1" fontAlgn="ctr" latinLnBrk="1" hangingPunct="1"/>
                      <a:r>
                        <a:rPr lang="en-US" altLang="ko-KR" sz="8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폴</a:t>
                      </a:r>
                      <a:endParaRPr lang="en-US" altLang="ko-KR" sz="800" b="0" i="0" u="none" strike="noStrike" kern="120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marL="0" algn="ctr" defTabSz="914400" rtl="0" eaLnBrk="1" fontAlgn="ctr" latinLnBrk="1" hangingPunct="1"/>
                      <a:r>
                        <a:rPr lang="ko-KR" altLang="en-US" sz="800" b="0" i="0" u="none" strike="noStrike" kern="1200" dirty="0" err="1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차콜블랙</a:t>
                      </a:r>
                      <a:endParaRPr lang="en-US" altLang="ko-KR" sz="800" b="0" i="0" u="none" strike="noStrike" kern="120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2933269"/>
                  </a:ext>
                </a:extLst>
              </a:tr>
              <a:tr h="18935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marL="0" algn="ctr" defTabSz="914400" rtl="0" eaLnBrk="1" fontAlgn="ctr" latinLnBrk="1" hangingPunct="1"/>
                      <a:r>
                        <a:rPr lang="en-US" altLang="ko-KR" sz="8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MRGB87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marL="0" algn="ctr" defTabSz="914400" rtl="0" eaLnBrk="1" fontAlgn="ctr" latinLnBrk="1" hangingPunct="1"/>
                      <a:r>
                        <a:rPr lang="ko-KR" altLang="en-US" sz="800" b="0" i="0" u="none" strike="noStrike" kern="1200" dirty="0" err="1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애쉬드블루</a:t>
                      </a:r>
                      <a:endParaRPr lang="en-US" altLang="ko-KR" sz="800" b="0" i="0" u="none" strike="noStrike" kern="120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935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marL="0" algn="ctr" defTabSz="914400" rtl="0" eaLnBrk="1" fontAlgn="ctr" latinLnBrk="1" hangingPunct="1"/>
                      <a:r>
                        <a:rPr lang="en-US" altLang="ko-KR" sz="8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MRGB88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Precision HDR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505" name="표 1504">
            <a:extLst>
              <a:ext uri="{FF2B5EF4-FFF2-40B4-BE49-F238E27FC236}">
                <a16:creationId xmlns:a16="http://schemas.microsoft.com/office/drawing/2014/main" id="{85DA1FFF-2A6A-BC8F-E45A-577210A867D8}"/>
              </a:ext>
            </a:extLst>
          </p:cNvPr>
          <p:cNvGraphicFramePr>
            <a:graphicFrameLocks noGrp="1"/>
          </p:cNvGraphicFramePr>
          <p:nvPr/>
        </p:nvGraphicFramePr>
        <p:xfrm>
          <a:off x="8989936" y="3580012"/>
          <a:ext cx="2248664" cy="757404"/>
        </p:xfrm>
        <a:graphic>
          <a:graphicData uri="http://schemas.openxmlformats.org/drawingml/2006/table">
            <a:tbl>
              <a:tblPr/>
              <a:tblGrid>
                <a:gridCol w="4550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84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5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935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marL="0" algn="ctr" defTabSz="914400" rtl="0" eaLnBrk="1" fontAlgn="ctr" latinLnBrk="1" hangingPunct="1"/>
                      <a:r>
                        <a:rPr lang="ko-KR" altLang="en-US" sz="8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시리즈</a:t>
                      </a:r>
                      <a:endParaRPr lang="en-US" altLang="ko-KR" sz="800" b="0" i="0" u="none" strike="noStrike" kern="120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marL="0" algn="ctr" defTabSz="914400" rtl="0" eaLnBrk="1" fontAlgn="ctr" latinLnBrk="1" hangingPunct="1"/>
                      <a:r>
                        <a:rPr lang="ko-KR" altLang="en-US" sz="8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스탠드</a:t>
                      </a:r>
                      <a:endParaRPr lang="en-US" altLang="ko-KR" sz="800" b="0" i="0" u="none" strike="noStrike" kern="120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marL="0" algn="ctr" defTabSz="914400" rtl="0" eaLnBrk="1" fontAlgn="ctr" latinLnBrk="1" hangingPunct="1"/>
                      <a:r>
                        <a:rPr lang="ko-KR" altLang="en-US" sz="8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색상</a:t>
                      </a:r>
                      <a:endParaRPr lang="en-US" altLang="ko-KR" sz="800" b="0" i="0" u="none" strike="noStrike" kern="120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935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marL="0" algn="ctr" defTabSz="914400" rtl="0" eaLnBrk="1" fontAlgn="ctr" latinLnBrk="1" hangingPunct="1"/>
                      <a:r>
                        <a:rPr lang="en-US" altLang="ko-KR" sz="8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QNED85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marL="0" algn="ctr" defTabSz="914400" rtl="0" eaLnBrk="1" fontAlgn="ctr" latinLnBrk="1" hangingPunct="1"/>
                      <a:r>
                        <a:rPr lang="ko-KR" altLang="en-US" sz="800" b="0" i="0" u="none" strike="noStrike" kern="1200" dirty="0" err="1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샤이니엣지</a:t>
                      </a:r>
                      <a:r>
                        <a:rPr lang="ko-KR" altLang="en-US" sz="8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8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</a:t>
                      </a:r>
                      <a:r>
                        <a:rPr lang="ko-KR" altLang="en-US" sz="8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폴</a:t>
                      </a:r>
                      <a:endParaRPr lang="en-US" altLang="ko-KR" sz="800" b="0" i="0" u="none" strike="noStrike" kern="120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marL="0" algn="ctr" defTabSz="914400" rtl="0" eaLnBrk="1" fontAlgn="ctr" latinLnBrk="1" hangingPunct="1"/>
                      <a:r>
                        <a:rPr lang="ko-KR" altLang="en-US" sz="800" b="0" i="0" u="none" strike="noStrike" kern="1200" dirty="0" err="1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애쉬드블루</a:t>
                      </a:r>
                      <a:endParaRPr lang="en-US" altLang="ko-KR" sz="800" b="0" i="0" u="none" strike="noStrike" kern="120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2933269"/>
                  </a:ext>
                </a:extLst>
              </a:tr>
              <a:tr h="18935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marL="0" algn="ctr" defTabSz="914400" rtl="0" eaLnBrk="1" fontAlgn="ctr" latinLnBrk="1" hangingPunct="1"/>
                      <a:r>
                        <a:rPr lang="en-US" altLang="ko-KR" sz="8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QNED86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marL="0" algn="ctr" defTabSz="914400" rtl="0" eaLnBrk="1" fontAlgn="ctr" latinLnBrk="1" hangingPunct="1"/>
                      <a:r>
                        <a:rPr lang="ko-KR" altLang="en-US" sz="8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에센스 스퀘어 </a:t>
                      </a:r>
                      <a:r>
                        <a:rPr lang="en-US" altLang="ko-KR" sz="8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폴</a:t>
                      </a:r>
                      <a:endParaRPr lang="en-US" altLang="ko-KR" sz="800" b="0" i="0" u="none" strike="noStrike" kern="120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marL="0" algn="ctr" defTabSz="914400" rtl="0" eaLnBrk="1" fontAlgn="ctr" latinLnBrk="1" hangingPunct="1"/>
                      <a:r>
                        <a:rPr lang="ko-KR" altLang="en-US" sz="800" b="0" i="0" u="none" strike="noStrike" kern="1200" dirty="0" err="1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애쉬드블루</a:t>
                      </a:r>
                      <a:endParaRPr lang="en-US" altLang="ko-KR" sz="800" b="0" i="0" u="none" strike="noStrike" kern="120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935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marL="0" algn="ctr" defTabSz="914400" rtl="0" eaLnBrk="1" fontAlgn="ctr" latinLnBrk="1" hangingPunct="1"/>
                      <a:r>
                        <a:rPr lang="en-US" altLang="ko-KR" sz="8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QNED87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marL="0" algn="ctr" defTabSz="914400" rtl="0" eaLnBrk="1" fontAlgn="ctr" latinLnBrk="1" hangingPunct="1"/>
                      <a:r>
                        <a:rPr lang="ko-KR" altLang="en-US" sz="8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에센스 스퀘어 </a:t>
                      </a:r>
                      <a:r>
                        <a:rPr lang="en-US" altLang="ko-KR" sz="8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폴</a:t>
                      </a:r>
                      <a:endParaRPr lang="en-US" altLang="ko-KR" sz="800" b="0" i="0" u="none" strike="noStrike" kern="120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marL="0" algn="ctr" defTabSz="914400" rtl="0" eaLnBrk="1" fontAlgn="ctr" latinLnBrk="1" hangingPunct="1"/>
                      <a:r>
                        <a:rPr lang="ko-KR" altLang="en-US" sz="800" b="0" i="0" u="none" strike="noStrike" kern="1200" dirty="0" err="1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차콜블랙</a:t>
                      </a:r>
                      <a:endParaRPr lang="en-US" altLang="ko-KR" sz="800" b="0" i="0" u="none" strike="noStrike" kern="120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525" name="표 1524">
            <a:extLst>
              <a:ext uri="{FF2B5EF4-FFF2-40B4-BE49-F238E27FC236}">
                <a16:creationId xmlns:a16="http://schemas.microsoft.com/office/drawing/2014/main" id="{74969166-1BD2-B09B-0A59-7D568213D2EB}"/>
              </a:ext>
            </a:extLst>
          </p:cNvPr>
          <p:cNvGraphicFramePr>
            <a:graphicFrameLocks noGrp="1"/>
          </p:cNvGraphicFramePr>
          <p:nvPr/>
        </p:nvGraphicFramePr>
        <p:xfrm>
          <a:off x="6510069" y="4567432"/>
          <a:ext cx="2200951" cy="1136106"/>
        </p:xfrm>
        <a:graphic>
          <a:graphicData uri="http://schemas.openxmlformats.org/drawingml/2006/table">
            <a:tbl>
              <a:tblPr/>
              <a:tblGrid>
                <a:gridCol w="4829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4117">
                  <a:extLst>
                    <a:ext uri="{9D8B030D-6E8A-4147-A177-3AD203B41FA5}">
                      <a16:colId xmlns:a16="http://schemas.microsoft.com/office/drawing/2014/main" val="510460015"/>
                    </a:ext>
                  </a:extLst>
                </a:gridCol>
                <a:gridCol w="6251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87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935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8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시리즈</a:t>
                      </a:r>
                      <a:endParaRPr lang="en-US" altLang="ko-KR" sz="800" b="0" i="0" u="none" strike="noStrike" kern="120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8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Hz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8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스탠드</a:t>
                      </a:r>
                      <a:endParaRPr lang="en-US" altLang="ko-KR" sz="800" b="0" i="0" u="none" strike="noStrike" kern="120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8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색상</a:t>
                      </a:r>
                      <a:endParaRPr lang="en-US" altLang="ko-KR" sz="800" b="0" i="0" u="none" strike="noStrike" kern="120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935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QEND80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60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marL="0" marR="0" lvl="0" indent="0" algn="ctr" defTabSz="914395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kern="1200" dirty="0" err="1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몰드엣지</a:t>
                      </a:r>
                      <a:r>
                        <a:rPr lang="en-US" altLang="ko-KR" sz="8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</a:t>
                      </a:r>
                      <a:r>
                        <a:rPr lang="ko-KR" altLang="en-US" sz="8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폴</a:t>
                      </a:r>
                      <a:endParaRPr lang="en-US" altLang="ko-KR" sz="800" b="0" i="0" u="none" strike="noStrike" kern="120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800" b="0" i="0" u="none" strike="noStrike" kern="1200" dirty="0" err="1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애쉬드블루</a:t>
                      </a:r>
                      <a:endParaRPr lang="en-US" altLang="ko-KR" sz="800" b="0" i="0" u="none" strike="noStrike" kern="120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2933269"/>
                  </a:ext>
                </a:extLst>
              </a:tr>
              <a:tr h="18935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8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QNED81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endParaRPr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marL="0" marR="0" lvl="0" indent="0" algn="ctr" defTabSz="914395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신규</a:t>
                      </a:r>
                      <a:r>
                        <a:rPr lang="en-US" altLang="ko-KR" sz="8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폴</a:t>
                      </a:r>
                      <a:endParaRPr lang="en-US" altLang="ko-KR" sz="800" b="0" i="0" u="none" strike="noStrike" kern="120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marL="0" marR="0" lvl="0" indent="0" algn="ctr" defTabSz="914395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kern="1200" dirty="0" err="1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차콜블랙</a:t>
                      </a:r>
                      <a:endParaRPr lang="en-US" altLang="ko-KR" sz="800" b="0" i="0" u="none" strike="noStrike" kern="120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935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8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QNED8E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marL="0" marR="0" lvl="0" indent="0" algn="ctr" defTabSz="914395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신규</a:t>
                      </a:r>
                      <a:r>
                        <a:rPr lang="en-US" altLang="ko-KR" sz="8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폴</a:t>
                      </a:r>
                      <a:endParaRPr lang="en-US" altLang="ko-KR" sz="800" b="0" i="0" u="none" strike="noStrike" kern="120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800" b="0" i="0" u="none" strike="noStrike" kern="1200" dirty="0" err="1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애쉬드블루</a:t>
                      </a:r>
                      <a:endParaRPr lang="en-US" altLang="ko-KR" sz="800" b="0" i="0" u="none" strike="noStrike" kern="120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935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8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QNED82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8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120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800" b="0" i="0" u="none" strike="noStrike" kern="1200" dirty="0" err="1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몰드엣지</a:t>
                      </a:r>
                      <a:r>
                        <a:rPr lang="en-US" altLang="ko-KR" sz="8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</a:t>
                      </a:r>
                      <a:r>
                        <a:rPr lang="ko-KR" altLang="en-US" sz="8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폴</a:t>
                      </a:r>
                      <a:endParaRPr lang="en-US" altLang="ko-KR" sz="800" b="0" i="0" u="none" strike="noStrike" kern="120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marL="0" marR="0" lvl="0" indent="0" algn="ctr" defTabSz="914395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kern="1200" dirty="0" err="1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애쉬드블루</a:t>
                      </a:r>
                      <a:endParaRPr lang="en-US" altLang="ko-KR" sz="800" b="0" i="0" u="none" strike="noStrike" kern="120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7226944"/>
                  </a:ext>
                </a:extLst>
              </a:tr>
              <a:tr h="18935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8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QNED83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marL="0" marR="0" lvl="0" indent="0" algn="ctr" defTabSz="914395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신규</a:t>
                      </a:r>
                      <a:r>
                        <a:rPr lang="en-US" altLang="ko-KR" sz="8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</a:t>
                      </a:r>
                      <a:r>
                        <a:rPr lang="ko-KR" altLang="en-US" sz="8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폴</a:t>
                      </a:r>
                      <a:endParaRPr lang="en-US" altLang="ko-KR" sz="800" b="0" i="0" u="none" strike="noStrike" kern="120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marL="0" marR="0" lvl="0" indent="0" algn="ctr" defTabSz="914395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kern="1200" dirty="0" err="1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차콜블랙</a:t>
                      </a:r>
                      <a:endParaRPr lang="en-US" altLang="ko-KR" sz="800" b="0" i="0" u="none" strike="noStrike" kern="120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2013708"/>
                  </a:ext>
                </a:extLst>
              </a:tr>
            </a:tbl>
          </a:graphicData>
        </a:graphic>
      </p:graphicFrame>
      <p:graphicFrame>
        <p:nvGraphicFramePr>
          <p:cNvPr id="1561" name="표 1560">
            <a:extLst>
              <a:ext uri="{FF2B5EF4-FFF2-40B4-BE49-F238E27FC236}">
                <a16:creationId xmlns:a16="http://schemas.microsoft.com/office/drawing/2014/main" id="{821F1662-B207-0B67-51C5-43BC5A487D53}"/>
              </a:ext>
            </a:extLst>
          </p:cNvPr>
          <p:cNvGraphicFramePr>
            <a:graphicFrameLocks noGrp="1"/>
          </p:cNvGraphicFramePr>
          <p:nvPr/>
        </p:nvGraphicFramePr>
        <p:xfrm>
          <a:off x="8980174" y="4561741"/>
          <a:ext cx="2258426" cy="946755"/>
        </p:xfrm>
        <a:graphic>
          <a:graphicData uri="http://schemas.openxmlformats.org/drawingml/2006/table">
            <a:tbl>
              <a:tblPr/>
              <a:tblGrid>
                <a:gridCol w="4622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484">
                  <a:extLst>
                    <a:ext uri="{9D8B030D-6E8A-4147-A177-3AD203B41FA5}">
                      <a16:colId xmlns:a16="http://schemas.microsoft.com/office/drawing/2014/main" val="510460015"/>
                    </a:ext>
                  </a:extLst>
                </a:gridCol>
                <a:gridCol w="944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28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935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8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시리즈</a:t>
                      </a:r>
                      <a:endParaRPr lang="en-US" altLang="ko-KR" sz="800" b="0" i="0" u="none" strike="noStrike" kern="120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8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Hz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8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스탠드</a:t>
                      </a:r>
                      <a:endParaRPr lang="en-US" altLang="ko-KR" sz="800" b="0" i="0" u="none" strike="noStrike" kern="120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8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스펙</a:t>
                      </a:r>
                      <a:endParaRPr lang="en-US" altLang="ko-KR" sz="800" b="0" i="0" u="none" strike="noStrike" kern="120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935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8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QNED70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4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8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60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8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’17</a:t>
                      </a:r>
                      <a:r>
                        <a:rPr lang="ko-KR" altLang="en-US" sz="8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</a:t>
                      </a:r>
                      <a:r>
                        <a:rPr lang="en-US" altLang="ko-KR" sz="8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ko-KR" altLang="en-US" sz="800" b="0" i="0" u="none" strike="noStrike" kern="1200" dirty="0" err="1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세미리니어</a:t>
                      </a:r>
                      <a:r>
                        <a:rPr lang="en-US" altLang="ko-KR" sz="8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2</a:t>
                      </a:r>
                      <a:r>
                        <a:rPr lang="ko-KR" altLang="en-US" sz="8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폴</a:t>
                      </a:r>
                      <a:endParaRPr lang="en-US" altLang="ko-KR" sz="800" b="0" i="0" u="none" strike="noStrike" kern="120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/>
                      <a:endParaRPr lang="en-US" altLang="ko-KR" sz="800" b="0" i="0" u="none" strike="noStrike" kern="120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2933269"/>
                  </a:ext>
                </a:extLst>
              </a:tr>
              <a:tr h="18935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8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QNED7E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8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’17</a:t>
                      </a:r>
                      <a:r>
                        <a:rPr lang="ko-KR" altLang="en-US" sz="8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</a:t>
                      </a:r>
                      <a:r>
                        <a:rPr lang="en-US" altLang="ko-KR" sz="8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ko-KR" altLang="en-US" sz="800" b="0" i="0" u="none" strike="noStrike" kern="1200" dirty="0" err="1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세미리니어</a:t>
                      </a:r>
                      <a:r>
                        <a:rPr lang="en-US" altLang="ko-KR" sz="8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2</a:t>
                      </a:r>
                      <a:r>
                        <a:rPr lang="ko-KR" altLang="en-US" sz="8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폴</a:t>
                      </a:r>
                      <a:endParaRPr lang="en-US" altLang="ko-KR" sz="800" b="0" i="0" u="none" strike="noStrike" kern="120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800" b="0" i="0" u="none" strike="noStrike" kern="1200" dirty="0" err="1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숫자키</a:t>
                      </a:r>
                      <a:r>
                        <a:rPr lang="ko-KR" altLang="en-US" sz="8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리모컨</a:t>
                      </a:r>
                      <a:endParaRPr lang="en-US" altLang="ko-KR" sz="800" b="0" i="0" u="none" strike="noStrike" kern="120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935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8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QNED71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8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‘18</a:t>
                      </a:r>
                      <a:r>
                        <a:rPr lang="ko-KR" altLang="en-US" sz="8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</a:t>
                      </a:r>
                      <a:r>
                        <a:rPr lang="en-US" altLang="ko-KR" sz="8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ko-KR" altLang="en-US" sz="8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리니어</a:t>
                      </a:r>
                      <a:r>
                        <a:rPr lang="en-US" altLang="ko-KR" sz="8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2</a:t>
                      </a:r>
                      <a:r>
                        <a:rPr lang="ko-KR" altLang="en-US" sz="8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폴</a:t>
                      </a:r>
                      <a:endParaRPr lang="en-US" altLang="ko-KR" sz="800" b="0" i="0" u="none" strike="noStrike" kern="120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/>
                      <a:endParaRPr lang="en-US" altLang="ko-KR" sz="800" b="0" i="0" u="none" strike="noStrike" kern="120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935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8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QNED72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8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‘18</a:t>
                      </a:r>
                      <a:r>
                        <a:rPr lang="ko-KR" altLang="en-US" sz="800" b="0" i="0" u="none" strike="noStrike" kern="120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년</a:t>
                      </a:r>
                      <a:r>
                        <a:rPr lang="en-US" altLang="ko-KR" sz="8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ko-KR" altLang="en-US" sz="800" b="0" i="0" u="none" strike="noStrike" kern="120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리니어</a:t>
                      </a:r>
                      <a:r>
                        <a:rPr lang="en-US" altLang="ko-KR" sz="8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2</a:t>
                      </a:r>
                      <a:r>
                        <a:rPr lang="ko-KR" altLang="en-US" sz="800" b="0" i="0" u="none" strike="noStrike" kern="120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폴</a:t>
                      </a:r>
                      <a:endParaRPr lang="en-US" altLang="ko-KR" sz="800" b="0" i="0" u="none" strike="noStrike" kern="120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8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Precision HDR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7226944"/>
                  </a:ext>
                </a:extLst>
              </a:tr>
            </a:tbl>
          </a:graphicData>
        </a:graphic>
      </p:graphicFrame>
      <p:sp>
        <p:nvSpPr>
          <p:cNvPr id="1704" name="TextBox 1703">
            <a:extLst>
              <a:ext uri="{FF2B5EF4-FFF2-40B4-BE49-F238E27FC236}">
                <a16:creationId xmlns:a16="http://schemas.microsoft.com/office/drawing/2014/main" id="{DB08D769-8CD5-0533-73CE-3DE4C1D862A9}"/>
              </a:ext>
            </a:extLst>
          </p:cNvPr>
          <p:cNvSpPr txBox="1"/>
          <p:nvPr/>
        </p:nvSpPr>
        <p:spPr>
          <a:xfrm>
            <a:off x="10332296" y="551376"/>
            <a:ext cx="527388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 dirty="0" err="1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itchFamily="34" charset="0"/>
              </a:rPr>
              <a:t>모델별</a:t>
            </a: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itchFamily="34" charset="0"/>
              </a:rPr>
              <a:t> </a:t>
            </a: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itchFamily="34" charset="0"/>
              </a:rPr>
              <a:t>SPEC</a:t>
            </a:r>
          </a:p>
        </p:txBody>
      </p:sp>
      <p:sp>
        <p:nvSpPr>
          <p:cNvPr id="1714" name="TextBox 1713">
            <a:extLst>
              <a:ext uri="{FF2B5EF4-FFF2-40B4-BE49-F238E27FC236}">
                <a16:creationId xmlns:a16="http://schemas.microsoft.com/office/drawing/2014/main" id="{974B2F02-6862-508F-4B2A-8CF72FD76C02}"/>
              </a:ext>
            </a:extLst>
          </p:cNvPr>
          <p:cNvSpPr txBox="1"/>
          <p:nvPr/>
        </p:nvSpPr>
        <p:spPr>
          <a:xfrm>
            <a:off x="11103550" y="551376"/>
            <a:ext cx="575479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 dirty="0" err="1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itchFamily="34" charset="0"/>
              </a:rPr>
              <a:t>권역별</a:t>
            </a: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itchFamily="34" charset="0"/>
              </a:rPr>
              <a:t> </a:t>
            </a: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itchFamily="34" charset="0"/>
              </a:rPr>
              <a:t>MODE </a:t>
            </a:r>
          </a:p>
        </p:txBody>
      </p:sp>
      <p:sp>
        <p:nvSpPr>
          <p:cNvPr id="1281" name="TextBox 1280">
            <a:extLst>
              <a:ext uri="{FF2B5EF4-FFF2-40B4-BE49-F238E27FC236}">
                <a16:creationId xmlns:a16="http://schemas.microsoft.com/office/drawing/2014/main" id="{17DF6A15-B6D6-A1DB-CBE3-A1FFFF0B9EB5}"/>
              </a:ext>
            </a:extLst>
          </p:cNvPr>
          <p:cNvSpPr txBox="1"/>
          <p:nvPr/>
        </p:nvSpPr>
        <p:spPr>
          <a:xfrm>
            <a:off x="11103550" y="760257"/>
            <a:ext cx="779059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itchFamily="34" charset="0"/>
              </a:rPr>
              <a:t>시리즈별 파생</a:t>
            </a: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itchFamily="34" charset="0"/>
              </a:rPr>
              <a:t>,</a:t>
            </a: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itchFamily="34" charset="0"/>
              </a:rPr>
              <a:t>스펙</a:t>
            </a:r>
            <a:endParaRPr kumimoji="0" lang="en-US" altLang="ko-KR" sz="8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itchFamily="34" charset="0"/>
            </a:endParaRPr>
          </a:p>
        </p:txBody>
      </p:sp>
      <p:sp>
        <p:nvSpPr>
          <p:cNvPr id="1283" name="TextBox 1282">
            <a:extLst>
              <a:ext uri="{FF2B5EF4-FFF2-40B4-BE49-F238E27FC236}">
                <a16:creationId xmlns:a16="http://schemas.microsoft.com/office/drawing/2014/main" id="{4505F265-C544-B2D2-3255-8F2BBAD24D92}"/>
              </a:ext>
            </a:extLst>
          </p:cNvPr>
          <p:cNvSpPr txBox="1"/>
          <p:nvPr/>
        </p:nvSpPr>
        <p:spPr>
          <a:xfrm>
            <a:off x="10556874" y="5553522"/>
            <a:ext cx="663643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itchFamily="34" charset="0"/>
              </a:rPr>
              <a:t>시리즈별 </a:t>
            </a:r>
            <a:r>
              <a:rPr kumimoji="0" lang="ko-KR" altLang="en-US" sz="800" b="0" i="0" u="none" strike="noStrike" kern="0" cap="none" spc="0" normalizeH="0" baseline="0" noProof="0" dirty="0" err="1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itchFamily="34" charset="0"/>
              </a:rPr>
              <a:t>의장안</a:t>
            </a:r>
            <a:endParaRPr kumimoji="0" lang="en-US" altLang="ko-KR" sz="8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itchFamily="34" charset="0"/>
            </a:endParaRPr>
          </a:p>
        </p:txBody>
      </p:sp>
      <p:sp>
        <p:nvSpPr>
          <p:cNvPr id="22" name="Rectangle 3936">
            <a:extLst>
              <a:ext uri="{FF2B5EF4-FFF2-40B4-BE49-F238E27FC236}">
                <a16:creationId xmlns:a16="http://schemas.microsoft.com/office/drawing/2014/main" id="{EE1ACED5-F613-BC1C-715B-C655590E36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4326" y="2414103"/>
            <a:ext cx="720000" cy="149120"/>
          </a:xfrm>
          <a:prstGeom prst="rect">
            <a:avLst/>
          </a:prstGeom>
          <a:solidFill>
            <a:srgbClr val="000000"/>
          </a:solidFill>
          <a:ln w="3175" cap="flat" cmpd="sng" algn="ctr">
            <a:solidFill>
              <a:srgbClr val="FFFFFF">
                <a:lumMod val="50000"/>
              </a:srgbClr>
            </a:solidFill>
            <a:prstDash val="solid"/>
          </a:ln>
          <a:effectLst/>
        </p:spPr>
        <p:txBody>
          <a:bodyPr wrap="none" lIns="91429" tIns="45714" rIns="91429" bIns="45714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/>
                <a:ea typeface="LG스마트체2.0 Regular"/>
                <a:cs typeface="+mn-cs"/>
              </a:rPr>
              <a:t>B6E</a:t>
            </a:r>
          </a:p>
        </p:txBody>
      </p:sp>
      <p:sp>
        <p:nvSpPr>
          <p:cNvPr id="44" name="모서리가 둥근 직사각형 364">
            <a:extLst>
              <a:ext uri="{FF2B5EF4-FFF2-40B4-BE49-F238E27FC236}">
                <a16:creationId xmlns:a16="http://schemas.microsoft.com/office/drawing/2014/main" id="{72DD7CD7-034A-B385-3966-013E4A9A2E35}"/>
              </a:ext>
            </a:extLst>
          </p:cNvPr>
          <p:cNvSpPr/>
          <p:nvPr/>
        </p:nvSpPr>
        <p:spPr bwMode="auto">
          <a:xfrm>
            <a:off x="4605635" y="2414103"/>
            <a:ext cx="133200" cy="149120"/>
          </a:xfrm>
          <a:prstGeom prst="roundRect">
            <a:avLst/>
          </a:prstGeom>
          <a:solidFill>
            <a:srgbClr val="FFFFFF">
              <a:lumMod val="75000"/>
            </a:srgbClr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77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7" name="모서리가 둥근 직사각형 364">
            <a:extLst>
              <a:ext uri="{FF2B5EF4-FFF2-40B4-BE49-F238E27FC236}">
                <a16:creationId xmlns:a16="http://schemas.microsoft.com/office/drawing/2014/main" id="{25628C6F-E68A-F606-92A5-3714C9B5CCC1}"/>
              </a:ext>
            </a:extLst>
          </p:cNvPr>
          <p:cNvSpPr/>
          <p:nvPr/>
        </p:nvSpPr>
        <p:spPr bwMode="auto">
          <a:xfrm>
            <a:off x="4426975" y="2414103"/>
            <a:ext cx="133200" cy="149120"/>
          </a:xfrm>
          <a:prstGeom prst="roundRect">
            <a:avLst/>
          </a:prstGeom>
          <a:solidFill>
            <a:srgbClr val="FFFFFF">
              <a:lumMod val="75000"/>
            </a:srgbClr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83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58" name="모서리가 둥근 직사각형 376">
            <a:extLst>
              <a:ext uri="{FF2B5EF4-FFF2-40B4-BE49-F238E27FC236}">
                <a16:creationId xmlns:a16="http://schemas.microsoft.com/office/drawing/2014/main" id="{DC74BFB4-65D7-AF8A-9669-2F248AA3302B}"/>
              </a:ext>
            </a:extLst>
          </p:cNvPr>
          <p:cNvSpPr/>
          <p:nvPr/>
        </p:nvSpPr>
        <p:spPr bwMode="auto">
          <a:xfrm>
            <a:off x="5141615" y="2414103"/>
            <a:ext cx="133200" cy="149120"/>
          </a:xfrm>
          <a:prstGeom prst="roundRect">
            <a:avLst/>
          </a:prstGeom>
          <a:solidFill>
            <a:srgbClr val="FFFFFF">
              <a:lumMod val="75000"/>
            </a:srgbClr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48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59" name="모서리가 둥근 직사각형 377">
            <a:extLst>
              <a:ext uri="{FF2B5EF4-FFF2-40B4-BE49-F238E27FC236}">
                <a16:creationId xmlns:a16="http://schemas.microsoft.com/office/drawing/2014/main" id="{59C19134-7944-BDCA-6751-44EFC9C3D4C8}"/>
              </a:ext>
            </a:extLst>
          </p:cNvPr>
          <p:cNvSpPr/>
          <p:nvPr/>
        </p:nvSpPr>
        <p:spPr bwMode="auto">
          <a:xfrm>
            <a:off x="4784295" y="2414103"/>
            <a:ext cx="133200" cy="149120"/>
          </a:xfrm>
          <a:prstGeom prst="roundRect">
            <a:avLst/>
          </a:prstGeom>
          <a:solidFill>
            <a:srgbClr val="FFFFFF">
              <a:lumMod val="75000"/>
            </a:srgbClr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65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60" name="모서리가 둥근 직사각형 378">
            <a:extLst>
              <a:ext uri="{FF2B5EF4-FFF2-40B4-BE49-F238E27FC236}">
                <a16:creationId xmlns:a16="http://schemas.microsoft.com/office/drawing/2014/main" id="{27DACF44-00F7-6BA9-A259-69DF83D36455}"/>
              </a:ext>
            </a:extLst>
          </p:cNvPr>
          <p:cNvSpPr/>
          <p:nvPr/>
        </p:nvSpPr>
        <p:spPr bwMode="auto">
          <a:xfrm>
            <a:off x="4962955" y="2414103"/>
            <a:ext cx="133200" cy="149120"/>
          </a:xfrm>
          <a:prstGeom prst="roundRect">
            <a:avLst/>
          </a:prstGeom>
          <a:solidFill>
            <a:srgbClr val="FFFFFF">
              <a:lumMod val="75000"/>
            </a:srgbClr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55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0A65781-9355-83A5-63C6-E58AC0D9FF62}"/>
              </a:ext>
            </a:extLst>
          </p:cNvPr>
          <p:cNvSpPr txBox="1"/>
          <p:nvPr/>
        </p:nvSpPr>
        <p:spPr>
          <a:xfrm>
            <a:off x="3898004" y="2444150"/>
            <a:ext cx="298159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itchFamily="34" charset="0"/>
              </a:rPr>
              <a:t>Pol-less</a:t>
            </a:r>
          </a:p>
        </p:txBody>
      </p:sp>
      <p:graphicFrame>
        <p:nvGraphicFramePr>
          <p:cNvPr id="1285" name="표 1284">
            <a:extLst>
              <a:ext uri="{FF2B5EF4-FFF2-40B4-BE49-F238E27FC236}">
                <a16:creationId xmlns:a16="http://schemas.microsoft.com/office/drawing/2014/main" id="{CE803405-F889-530C-E722-7F6EF3F87CC1}"/>
              </a:ext>
            </a:extLst>
          </p:cNvPr>
          <p:cNvGraphicFramePr>
            <a:graphicFrameLocks noGrp="1"/>
          </p:cNvGraphicFramePr>
          <p:nvPr/>
        </p:nvGraphicFramePr>
        <p:xfrm>
          <a:off x="7935456" y="2707545"/>
          <a:ext cx="2904341" cy="426720"/>
        </p:xfrm>
        <a:graphic>
          <a:graphicData uri="http://schemas.openxmlformats.org/drawingml/2006/table">
            <a:tbl>
              <a:tblPr/>
              <a:tblGrid>
                <a:gridCol w="507579">
                  <a:extLst>
                    <a:ext uri="{9D8B030D-6E8A-4147-A177-3AD203B41FA5}">
                      <a16:colId xmlns:a16="http://schemas.microsoft.com/office/drawing/2014/main" val="1060707293"/>
                    </a:ext>
                  </a:extLst>
                </a:gridCol>
                <a:gridCol w="502934">
                  <a:extLst>
                    <a:ext uri="{9D8B030D-6E8A-4147-A177-3AD203B41FA5}">
                      <a16:colId xmlns:a16="http://schemas.microsoft.com/office/drawing/2014/main" val="2085228337"/>
                    </a:ext>
                  </a:extLst>
                </a:gridCol>
                <a:gridCol w="547109">
                  <a:extLst>
                    <a:ext uri="{9D8B030D-6E8A-4147-A177-3AD203B41FA5}">
                      <a16:colId xmlns:a16="http://schemas.microsoft.com/office/drawing/2014/main" val="391095627"/>
                    </a:ext>
                  </a:extLst>
                </a:gridCol>
                <a:gridCol w="527060">
                  <a:extLst>
                    <a:ext uri="{9D8B030D-6E8A-4147-A177-3AD203B41FA5}">
                      <a16:colId xmlns:a16="http://schemas.microsoft.com/office/drawing/2014/main" val="3032307473"/>
                    </a:ext>
                  </a:extLst>
                </a:gridCol>
                <a:gridCol w="345187">
                  <a:extLst>
                    <a:ext uri="{9D8B030D-6E8A-4147-A177-3AD203B41FA5}">
                      <a16:colId xmlns:a16="http://schemas.microsoft.com/office/drawing/2014/main" val="2869951254"/>
                    </a:ext>
                  </a:extLst>
                </a:gridCol>
                <a:gridCol w="474472">
                  <a:extLst>
                    <a:ext uri="{9D8B030D-6E8A-4147-A177-3AD203B41FA5}">
                      <a16:colId xmlns:a16="http://schemas.microsoft.com/office/drawing/2014/main" val="912149493"/>
                    </a:ext>
                  </a:extLst>
                </a:gridCol>
              </a:tblGrid>
              <a:tr h="115994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파생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7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Stripe DP</a:t>
                      </a:r>
                      <a:endParaRPr lang="en-US" sz="700" b="0" i="0" u="none" strike="noStrike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숫자키</a:t>
                      </a:r>
                      <a:br>
                        <a:rPr lang="en-US" altLang="ko-KR" sz="7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ko-KR" altLang="en-US" sz="7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리모컨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i="0" u="none" strike="noStrike" dirty="0" err="1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중유럽</a:t>
                      </a:r>
                      <a:br>
                        <a:rPr lang="en-US" altLang="ko-KR" sz="7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7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(Enhanced)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700" b="0" i="0" u="none" strike="noStrike" dirty="0" err="1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팬유럽</a:t>
                      </a:r>
                      <a:endParaRPr lang="en-US" altLang="ko-KR" sz="700" b="0" i="0" u="none" strike="noStrike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(Vivid)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서유럽</a:t>
                      </a:r>
                      <a:br>
                        <a:rPr lang="en-US" altLang="ko-KR" sz="7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7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(Dynamic)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8962137"/>
                  </a:ext>
                </a:extLst>
              </a:tr>
              <a:tr h="57997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B6E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O</a:t>
                      </a:r>
                      <a:endParaRPr lang="ko-KR" altLang="en-US" sz="700" b="0" i="0" u="none" strike="noStrike" kern="120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7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B6</a:t>
                      </a:r>
                      <a:r>
                        <a:rPr lang="en-US" altLang="ko-KR" sz="700" b="1" i="0" u="none" strike="noStrike" dirty="0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E</a:t>
                      </a:r>
                      <a:endParaRPr lang="ko-KR" altLang="en-US" sz="700" b="1" i="0" u="none" strike="noStrike" dirty="0">
                        <a:solidFill>
                          <a:srgbClr val="FF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endParaRPr lang="en-US" sz="700" b="1" i="0" u="none" strike="noStrike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endParaRPr lang="en-US" sz="700" b="1" i="0" u="none" strike="noStrike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3964454"/>
                  </a:ext>
                </a:extLst>
              </a:tr>
              <a:tr h="57997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B6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X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7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X</a:t>
                      </a:r>
                      <a:endParaRPr lang="ko-KR" altLang="en-US" sz="700" b="0" i="0" u="none" strike="noStrike" kern="120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7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B62</a:t>
                      </a:r>
                      <a:endParaRPr lang="ko-KR" altLang="en-US" sz="700" b="1" i="0" u="none" strike="noStrike" dirty="0">
                        <a:solidFill>
                          <a:srgbClr val="FF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B6</a:t>
                      </a:r>
                      <a:r>
                        <a:rPr lang="en-US" sz="700" b="1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B6</a:t>
                      </a:r>
                      <a:r>
                        <a:rPr lang="en-US" sz="700" b="1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8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0220078"/>
                  </a:ext>
                </a:extLst>
              </a:tr>
            </a:tbl>
          </a:graphicData>
        </a:graphic>
      </p:graphicFrame>
      <p:sp>
        <p:nvSpPr>
          <p:cNvPr id="1287" name="모서리가 둥근 직사각형 377">
            <a:extLst>
              <a:ext uri="{FF2B5EF4-FFF2-40B4-BE49-F238E27FC236}">
                <a16:creationId xmlns:a16="http://schemas.microsoft.com/office/drawing/2014/main" id="{F353C724-2A6E-CC97-4A86-706D01B63FA0}"/>
              </a:ext>
            </a:extLst>
          </p:cNvPr>
          <p:cNvSpPr/>
          <p:nvPr/>
        </p:nvSpPr>
        <p:spPr bwMode="auto">
          <a:xfrm>
            <a:off x="4789837" y="5863573"/>
            <a:ext cx="133200" cy="149120"/>
          </a:xfrm>
          <a:prstGeom prst="roundRect">
            <a:avLst/>
          </a:prstGeom>
          <a:solidFill>
            <a:srgbClr val="FFFFFF"/>
          </a:solidFill>
          <a:ln w="6350" algn="ctr">
            <a:solidFill>
              <a:srgbClr val="C00000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65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288" name="모서리가 둥근 직사각형 378">
            <a:extLst>
              <a:ext uri="{FF2B5EF4-FFF2-40B4-BE49-F238E27FC236}">
                <a16:creationId xmlns:a16="http://schemas.microsoft.com/office/drawing/2014/main" id="{71CADB81-CD4A-28F2-179E-6A4327C73160}"/>
              </a:ext>
            </a:extLst>
          </p:cNvPr>
          <p:cNvSpPr/>
          <p:nvPr/>
        </p:nvSpPr>
        <p:spPr bwMode="auto">
          <a:xfrm>
            <a:off x="4968497" y="5863573"/>
            <a:ext cx="133200" cy="149120"/>
          </a:xfrm>
          <a:prstGeom prst="roundRect">
            <a:avLst/>
          </a:prstGeom>
          <a:solidFill>
            <a:srgbClr val="FFFFFF"/>
          </a:solidFill>
          <a:ln w="6350" algn="ctr">
            <a:solidFill>
              <a:srgbClr val="C00000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55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F6CF7FA-57DC-D6C9-F11F-8F6451D59EC4}"/>
              </a:ext>
            </a:extLst>
          </p:cNvPr>
          <p:cNvSpPr txBox="1"/>
          <p:nvPr/>
        </p:nvSpPr>
        <p:spPr>
          <a:xfrm>
            <a:off x="3047258" y="2433260"/>
            <a:ext cx="269306" cy="12311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>
            <a:noAutofit/>
          </a:bodyPr>
          <a:lstStyle>
            <a:defPPr>
              <a:defRPr lang="ko-KR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1" i="0" u="none" strike="noStrike" cap="none" spc="0" normalizeH="0" baseline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월드컵</a:t>
            </a:r>
            <a:endParaRPr kumimoji="0" lang="en-US" altLang="ko-KR" sz="800" b="1" i="0" u="none" strike="noStrike" kern="120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</p:txBody>
      </p:sp>
      <p:sp>
        <p:nvSpPr>
          <p:cNvPr id="1327" name="직사각형 128">
            <a:extLst>
              <a:ext uri="{FF2B5EF4-FFF2-40B4-BE49-F238E27FC236}">
                <a16:creationId xmlns:a16="http://schemas.microsoft.com/office/drawing/2014/main" id="{0EE2FC53-5AA1-345A-871F-5DCA735E2365}"/>
              </a:ext>
            </a:extLst>
          </p:cNvPr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115690" y="5984076"/>
            <a:ext cx="391672" cy="680032"/>
          </a:xfrm>
          <a:prstGeom prst="roundRect">
            <a:avLst>
              <a:gd name="adj" fmla="val 9786"/>
            </a:avLst>
          </a:prstGeom>
          <a:solidFill>
            <a:sysClr val="window" lastClr="FFFFFF"/>
          </a:solidFill>
          <a:ln w="6350">
            <a:solidFill>
              <a:srgbClr val="231F2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2.0 Regular"/>
                <a:cs typeface="Arial" panose="020B0604020202020204" pitchFamily="34" charset="0"/>
              </a:rPr>
              <a:t>NANO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2.0 Regular"/>
                <a:cs typeface="Arial" panose="020B0604020202020204" pitchFamily="34" charset="0"/>
              </a:rPr>
              <a:t>UHD</a:t>
            </a:r>
            <a:endParaRPr kumimoji="0" lang="ko-KR" altLang="en-US" sz="1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LG스마트체2.0 Regular"/>
              <a:cs typeface="Arial" panose="020B0604020202020204" pitchFamily="34" charset="0"/>
            </a:endParaRPr>
          </a:p>
        </p:txBody>
      </p:sp>
      <p:sp>
        <p:nvSpPr>
          <p:cNvPr id="1350" name="Rectangle 3936">
            <a:extLst>
              <a:ext uri="{FF2B5EF4-FFF2-40B4-BE49-F238E27FC236}">
                <a16:creationId xmlns:a16="http://schemas.microsoft.com/office/drawing/2014/main" id="{7DE5A6D3-EAA5-6920-B4E9-5AEC7601AF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0160" y="6039116"/>
            <a:ext cx="720000" cy="149120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3175" algn="ctr">
            <a:solidFill>
              <a:srgbClr val="FFFFFF">
                <a:lumMod val="50000"/>
              </a:srgbClr>
            </a:solidFill>
            <a:miter lim="800000"/>
            <a:headEnd/>
            <a:tailEnd/>
          </a:ln>
        </p:spPr>
        <p:txBody>
          <a:bodyPr wrap="none" lIns="26928" tIns="26928" rIns="26928" bIns="26928" anchor="ctr"/>
          <a:lstStyle/>
          <a:p>
            <a:pPr marL="0" marR="0" lvl="0" indent="0" algn="ctr" defTabSz="9142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/>
                <a:cs typeface="Arial" panose="020B0604020202020204" pitchFamily="34" charset="0"/>
              </a:rPr>
              <a:t>NU85</a:t>
            </a:r>
          </a:p>
        </p:txBody>
      </p:sp>
      <p:sp>
        <p:nvSpPr>
          <p:cNvPr id="1352" name="Rectangle 3936">
            <a:extLst>
              <a:ext uri="{FF2B5EF4-FFF2-40B4-BE49-F238E27FC236}">
                <a16:creationId xmlns:a16="http://schemas.microsoft.com/office/drawing/2014/main" id="{2177A25E-6528-2E4A-45E9-585993FE7D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0160" y="6368845"/>
            <a:ext cx="720000" cy="149120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3175" algn="ctr">
            <a:solidFill>
              <a:srgbClr val="FFFFFF">
                <a:lumMod val="50000"/>
              </a:srgbClr>
            </a:solidFill>
            <a:miter lim="800000"/>
            <a:headEnd/>
            <a:tailEnd/>
          </a:ln>
        </p:spPr>
        <p:txBody>
          <a:bodyPr wrap="none" lIns="26928" tIns="26928" rIns="72000" bIns="26928" anchor="ctr"/>
          <a:lstStyle/>
          <a:p>
            <a:pPr marL="0" marR="0" lvl="0" indent="0" algn="r" defTabSz="9142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/>
                <a:cs typeface="Arial" panose="020B0604020202020204" pitchFamily="34" charset="0"/>
              </a:rPr>
              <a:t>NU90</a:t>
            </a:r>
          </a:p>
        </p:txBody>
      </p:sp>
      <p:sp>
        <p:nvSpPr>
          <p:cNvPr id="1353" name="Rectangle 3936">
            <a:extLst>
              <a:ext uri="{FF2B5EF4-FFF2-40B4-BE49-F238E27FC236}">
                <a16:creationId xmlns:a16="http://schemas.microsoft.com/office/drawing/2014/main" id="{BC162319-0FA0-0E15-CA15-40808AA06C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0160" y="6531591"/>
            <a:ext cx="720000" cy="149120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3175" algn="ctr">
            <a:solidFill>
              <a:srgbClr val="FFFFFF">
                <a:lumMod val="50000"/>
              </a:srgbClr>
            </a:solidFill>
            <a:miter lim="800000"/>
            <a:headEnd/>
            <a:tailEnd/>
          </a:ln>
        </p:spPr>
        <p:txBody>
          <a:bodyPr wrap="none" lIns="26928" tIns="26928" rIns="26928" bIns="26928" anchor="ctr"/>
          <a:lstStyle/>
          <a:p>
            <a:pPr marL="0" marR="0" lvl="0" indent="0" algn="ctr" defTabSz="9142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/>
                <a:cs typeface="Arial" panose="020B0604020202020204" pitchFamily="34" charset="0"/>
              </a:rPr>
              <a:t>NU80</a:t>
            </a: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AFD87456-2213-828A-DD86-A7DC9B837686}"/>
              </a:ext>
            </a:extLst>
          </p:cNvPr>
          <p:cNvGrpSpPr/>
          <p:nvPr/>
        </p:nvGrpSpPr>
        <p:grpSpPr>
          <a:xfrm>
            <a:off x="674994" y="6186627"/>
            <a:ext cx="2375993" cy="149120"/>
            <a:chOff x="674994" y="6476483"/>
            <a:chExt cx="2375993" cy="149120"/>
          </a:xfrm>
        </p:grpSpPr>
        <p:sp>
          <p:nvSpPr>
            <p:cNvPr id="1349" name="Rectangle 3936">
              <a:extLst>
                <a:ext uri="{FF2B5EF4-FFF2-40B4-BE49-F238E27FC236}">
                  <a16:creationId xmlns:a16="http://schemas.microsoft.com/office/drawing/2014/main" id="{171FD1E6-4455-8894-C1EA-802B2F3DB3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4994" y="6476483"/>
              <a:ext cx="720000" cy="149120"/>
            </a:xfrm>
            <a:prstGeom prst="rect">
              <a:avLst/>
            </a:prstGeom>
            <a:solidFill>
              <a:sysClr val="window" lastClr="FFFFFF">
                <a:lumMod val="85000"/>
              </a:sysClr>
            </a:solidFill>
            <a:ln w="3175" algn="ctr">
              <a:solidFill>
                <a:srgbClr val="FFFFFF">
                  <a:lumMod val="50000"/>
                </a:srgbClr>
              </a:solidFill>
              <a:miter lim="800000"/>
              <a:headEnd/>
              <a:tailEnd/>
            </a:ln>
          </p:spPr>
          <p:txBody>
            <a:bodyPr wrap="none" lIns="26928" tIns="26928" rIns="72000" bIns="26928" anchor="ctr"/>
            <a:lstStyle/>
            <a:p>
              <a:pPr marL="0" marR="0" lvl="0" indent="0" algn="r" defTabSz="9142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/>
                  <a:ea typeface="LG스마트체 Regular"/>
                  <a:cs typeface="Arial" panose="020B0604020202020204" pitchFamily="34" charset="0"/>
                </a:rPr>
                <a:t>UA74</a:t>
              </a:r>
            </a:p>
          </p:txBody>
        </p:sp>
        <p:sp>
          <p:nvSpPr>
            <p:cNvPr id="1483" name="모서리가 둥근 직사각형 364">
              <a:extLst>
                <a:ext uri="{FF2B5EF4-FFF2-40B4-BE49-F238E27FC236}">
                  <a16:creationId xmlns:a16="http://schemas.microsoft.com/office/drawing/2014/main" id="{2436B913-5D26-3A97-63D4-1BA29E4E8108}"/>
                </a:ext>
              </a:extLst>
            </p:cNvPr>
            <p:cNvSpPr/>
            <p:nvPr/>
          </p:nvSpPr>
          <p:spPr bwMode="auto">
            <a:xfrm>
              <a:off x="2159689" y="6476483"/>
              <a:ext cx="133200" cy="149120"/>
            </a:xfrm>
            <a:prstGeom prst="roundRect">
              <a:avLst/>
            </a:prstGeom>
            <a:solidFill>
              <a:srgbClr val="FFFFFF">
                <a:lumMod val="75000"/>
              </a:srgbClr>
            </a:solidFill>
            <a:ln w="3175" cap="flat" cmpd="sng" algn="ctr">
              <a:noFill/>
              <a:prstDash val="dash"/>
            </a:ln>
            <a:effectLst/>
          </p:spPr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/>
                  <a:ea typeface="LG스마트체 Regular" panose="020B0600000101010101" pitchFamily="50" charset="-127"/>
                  <a:cs typeface="Arial" panose="020B0604020202020204" pitchFamily="34" charset="0"/>
                </a:rPr>
                <a:t>75</a:t>
              </a:r>
              <a:endPara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485" name="모서리가 둥근 직사각형 365">
              <a:extLst>
                <a:ext uri="{FF2B5EF4-FFF2-40B4-BE49-F238E27FC236}">
                  <a16:creationId xmlns:a16="http://schemas.microsoft.com/office/drawing/2014/main" id="{07362CA0-BD60-1610-6307-F549D7D1E293}"/>
                </a:ext>
              </a:extLst>
            </p:cNvPr>
            <p:cNvSpPr/>
            <p:nvPr/>
          </p:nvSpPr>
          <p:spPr bwMode="auto">
            <a:xfrm>
              <a:off x="1970483" y="6476483"/>
              <a:ext cx="133200" cy="149120"/>
            </a:xfrm>
            <a:prstGeom prst="roundRect">
              <a:avLst/>
            </a:prstGeom>
            <a:solidFill>
              <a:srgbClr val="FFFFFF">
                <a:lumMod val="75000"/>
              </a:srgbClr>
            </a:solidFill>
            <a:ln w="3175" cap="flat" cmpd="sng" algn="ctr">
              <a:noFill/>
              <a:prstDash val="dash"/>
            </a:ln>
            <a:effectLst/>
          </p:spPr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/>
                  <a:ea typeface="LG스마트체 Regular" panose="020B0600000101010101" pitchFamily="50" charset="-127"/>
                  <a:cs typeface="Arial" panose="020B0604020202020204" pitchFamily="34" charset="0"/>
                </a:rPr>
                <a:t>86</a:t>
              </a:r>
              <a:endPara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488" name="모서리가 둥근 직사각형 375">
              <a:extLst>
                <a:ext uri="{FF2B5EF4-FFF2-40B4-BE49-F238E27FC236}">
                  <a16:creationId xmlns:a16="http://schemas.microsoft.com/office/drawing/2014/main" id="{6DE9F8EC-C3A7-68D2-55C7-0FA7EED42840}"/>
                </a:ext>
              </a:extLst>
            </p:cNvPr>
            <p:cNvSpPr/>
            <p:nvPr/>
          </p:nvSpPr>
          <p:spPr bwMode="auto">
            <a:xfrm>
              <a:off x="2917787" y="6476483"/>
              <a:ext cx="133200" cy="149120"/>
            </a:xfrm>
            <a:prstGeom prst="roundRect">
              <a:avLst/>
            </a:prstGeom>
            <a:solidFill>
              <a:srgbClr val="FFFFFF">
                <a:lumMod val="75000"/>
              </a:srgbClr>
            </a:solidFill>
            <a:ln w="3175" cap="flat" cmpd="sng" algn="ctr">
              <a:noFill/>
              <a:prstDash val="dash"/>
            </a:ln>
            <a:effectLst/>
          </p:spPr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/>
                  <a:ea typeface="LG스마트체 Regular" panose="020B0600000101010101" pitchFamily="50" charset="-127"/>
                  <a:cs typeface="Arial" panose="020B0604020202020204" pitchFamily="34" charset="0"/>
                </a:rPr>
                <a:t>43</a:t>
              </a:r>
              <a:endPara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491" name="모서리가 둥근 직사각형 376">
              <a:extLst>
                <a:ext uri="{FF2B5EF4-FFF2-40B4-BE49-F238E27FC236}">
                  <a16:creationId xmlns:a16="http://schemas.microsoft.com/office/drawing/2014/main" id="{20C49164-11F4-9584-F2C7-7C7BE3E3DC55}"/>
                </a:ext>
              </a:extLst>
            </p:cNvPr>
            <p:cNvSpPr/>
            <p:nvPr/>
          </p:nvSpPr>
          <p:spPr bwMode="auto">
            <a:xfrm>
              <a:off x="2728261" y="6476483"/>
              <a:ext cx="133200" cy="149120"/>
            </a:xfrm>
            <a:prstGeom prst="roundRect">
              <a:avLst/>
            </a:prstGeom>
            <a:solidFill>
              <a:srgbClr val="FFFFFF">
                <a:lumMod val="75000"/>
              </a:srgbClr>
            </a:solidFill>
            <a:ln w="3175" cap="flat" cmpd="sng" algn="ctr">
              <a:noFill/>
              <a:prstDash val="dash"/>
            </a:ln>
            <a:effectLst/>
          </p:spPr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/>
                  <a:ea typeface="LG스마트체 Regular" panose="020B0600000101010101" pitchFamily="50" charset="-127"/>
                  <a:cs typeface="Arial" panose="020B0604020202020204" pitchFamily="34" charset="0"/>
                </a:rPr>
                <a:t>50</a:t>
              </a:r>
              <a:endPara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494" name="모서리가 둥근 직사각형 377">
              <a:extLst>
                <a:ext uri="{FF2B5EF4-FFF2-40B4-BE49-F238E27FC236}">
                  <a16:creationId xmlns:a16="http://schemas.microsoft.com/office/drawing/2014/main" id="{A08D9F93-9579-5083-8B2F-514F26900286}"/>
                </a:ext>
              </a:extLst>
            </p:cNvPr>
            <p:cNvSpPr/>
            <p:nvPr/>
          </p:nvSpPr>
          <p:spPr bwMode="auto">
            <a:xfrm>
              <a:off x="2349213" y="6476483"/>
              <a:ext cx="133200" cy="149120"/>
            </a:xfrm>
            <a:prstGeom prst="roundRect">
              <a:avLst/>
            </a:prstGeom>
            <a:solidFill>
              <a:srgbClr val="FFFFFF">
                <a:lumMod val="75000"/>
              </a:srgbClr>
            </a:solidFill>
            <a:ln w="3175" cap="flat" cmpd="sng" algn="ctr">
              <a:noFill/>
              <a:prstDash val="dash"/>
            </a:ln>
            <a:effectLst/>
          </p:spPr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/>
                  <a:ea typeface="LG스마트체 Regular" panose="020B0600000101010101" pitchFamily="50" charset="-127"/>
                  <a:cs typeface="Arial" panose="020B0604020202020204" pitchFamily="34" charset="0"/>
                </a:rPr>
                <a:t>65</a:t>
              </a:r>
              <a:endPara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497" name="모서리가 둥근 직사각형 378">
              <a:extLst>
                <a:ext uri="{FF2B5EF4-FFF2-40B4-BE49-F238E27FC236}">
                  <a16:creationId xmlns:a16="http://schemas.microsoft.com/office/drawing/2014/main" id="{BCC64423-1451-A30E-C407-B57BABF46AE6}"/>
                </a:ext>
              </a:extLst>
            </p:cNvPr>
            <p:cNvSpPr/>
            <p:nvPr/>
          </p:nvSpPr>
          <p:spPr bwMode="auto">
            <a:xfrm>
              <a:off x="2538737" y="6476483"/>
              <a:ext cx="133200" cy="149120"/>
            </a:xfrm>
            <a:prstGeom prst="roundRect">
              <a:avLst/>
            </a:prstGeom>
            <a:solidFill>
              <a:srgbClr val="FFFFFF">
                <a:lumMod val="75000"/>
              </a:srgbClr>
            </a:solidFill>
            <a:ln w="3175" cap="flat" cmpd="sng" algn="ctr">
              <a:noFill/>
              <a:prstDash val="dash"/>
            </a:ln>
            <a:effectLst/>
          </p:spPr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/>
                  <a:ea typeface="LG스마트체 Regular" panose="020B0600000101010101" pitchFamily="50" charset="-127"/>
                  <a:cs typeface="Arial" panose="020B0604020202020204" pitchFamily="34" charset="0"/>
                </a:rPr>
                <a:t>55</a:t>
              </a:r>
              <a:endPara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73A5AE62-489B-605D-AD22-AD28FA5D5F9B}"/>
              </a:ext>
            </a:extLst>
          </p:cNvPr>
          <p:cNvGrpSpPr/>
          <p:nvPr/>
        </p:nvGrpSpPr>
        <p:grpSpPr>
          <a:xfrm>
            <a:off x="674994" y="6012919"/>
            <a:ext cx="2375993" cy="149120"/>
            <a:chOff x="674994" y="6302775"/>
            <a:chExt cx="2375993" cy="149120"/>
          </a:xfrm>
        </p:grpSpPr>
        <p:sp>
          <p:nvSpPr>
            <p:cNvPr id="1344" name="Rectangle 3936">
              <a:extLst>
                <a:ext uri="{FF2B5EF4-FFF2-40B4-BE49-F238E27FC236}">
                  <a16:creationId xmlns:a16="http://schemas.microsoft.com/office/drawing/2014/main" id="{AB33D806-E01F-DD6B-3632-1D5611BD5C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4994" y="6302775"/>
              <a:ext cx="720000" cy="149120"/>
            </a:xfrm>
            <a:prstGeom prst="rect">
              <a:avLst/>
            </a:prstGeom>
            <a:solidFill>
              <a:sysClr val="window" lastClr="FFFFFF">
                <a:lumMod val="85000"/>
              </a:sysClr>
            </a:solidFill>
            <a:ln w="3175" algn="ctr">
              <a:solidFill>
                <a:srgbClr val="FFFFFF">
                  <a:lumMod val="50000"/>
                </a:srgbClr>
              </a:solidFill>
              <a:miter lim="800000"/>
              <a:headEnd/>
              <a:tailEnd/>
            </a:ln>
          </p:spPr>
          <p:txBody>
            <a:bodyPr wrap="none" lIns="26928" tIns="26928" rIns="26928" bIns="26928" anchor="ctr"/>
            <a:lstStyle/>
            <a:p>
              <a:pPr marL="0" marR="0" lvl="0" indent="0" algn="ctr" defTabSz="9142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/>
                  <a:ea typeface="LG스마트체 Regular"/>
                  <a:cs typeface="Arial" panose="020B0604020202020204" pitchFamily="34" charset="0"/>
                </a:rPr>
                <a:t>UA75</a:t>
              </a:r>
            </a:p>
          </p:txBody>
        </p:sp>
        <p:sp>
          <p:nvSpPr>
            <p:cNvPr id="1484" name="모서리가 둥근 직사각형 364">
              <a:extLst>
                <a:ext uri="{FF2B5EF4-FFF2-40B4-BE49-F238E27FC236}">
                  <a16:creationId xmlns:a16="http://schemas.microsoft.com/office/drawing/2014/main" id="{B8950669-AB2C-D14C-2DEF-4CE347900D19}"/>
                </a:ext>
              </a:extLst>
            </p:cNvPr>
            <p:cNvSpPr/>
            <p:nvPr/>
          </p:nvSpPr>
          <p:spPr bwMode="auto">
            <a:xfrm>
              <a:off x="2159689" y="6302775"/>
              <a:ext cx="133200" cy="149120"/>
            </a:xfrm>
            <a:prstGeom prst="roundRect">
              <a:avLst/>
            </a:prstGeom>
            <a:solidFill>
              <a:srgbClr val="FFFFFF">
                <a:lumMod val="75000"/>
              </a:srgbClr>
            </a:solidFill>
            <a:ln w="3175" cap="flat" cmpd="sng" algn="ctr">
              <a:noFill/>
              <a:prstDash val="dash"/>
            </a:ln>
            <a:effectLst/>
          </p:spPr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/>
                  <a:ea typeface="LG스마트체 Regular" panose="020B0600000101010101" pitchFamily="50" charset="-127"/>
                  <a:cs typeface="Arial" panose="020B0604020202020204" pitchFamily="34" charset="0"/>
                </a:rPr>
                <a:t>75</a:t>
              </a:r>
              <a:endPara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486" name="모서리가 둥근 직사각형 365">
              <a:extLst>
                <a:ext uri="{FF2B5EF4-FFF2-40B4-BE49-F238E27FC236}">
                  <a16:creationId xmlns:a16="http://schemas.microsoft.com/office/drawing/2014/main" id="{B29E3D56-8E04-D17A-6B0F-B86AA9D85C0F}"/>
                </a:ext>
              </a:extLst>
            </p:cNvPr>
            <p:cNvSpPr/>
            <p:nvPr/>
          </p:nvSpPr>
          <p:spPr bwMode="auto">
            <a:xfrm>
              <a:off x="1970483" y="6302775"/>
              <a:ext cx="133200" cy="149120"/>
            </a:xfrm>
            <a:prstGeom prst="roundRect">
              <a:avLst/>
            </a:prstGeom>
            <a:solidFill>
              <a:srgbClr val="FFFFFF">
                <a:lumMod val="75000"/>
              </a:srgbClr>
            </a:solidFill>
            <a:ln w="3175" cap="flat" cmpd="sng" algn="ctr">
              <a:noFill/>
              <a:prstDash val="dash"/>
            </a:ln>
            <a:effectLst/>
          </p:spPr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/>
                  <a:ea typeface="LG스마트체 Regular" panose="020B0600000101010101" pitchFamily="50" charset="-127"/>
                  <a:cs typeface="Arial" panose="020B0604020202020204" pitchFamily="34" charset="0"/>
                </a:rPr>
                <a:t>86</a:t>
              </a:r>
              <a:endPara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489" name="모서리가 둥근 직사각형 375">
              <a:extLst>
                <a:ext uri="{FF2B5EF4-FFF2-40B4-BE49-F238E27FC236}">
                  <a16:creationId xmlns:a16="http://schemas.microsoft.com/office/drawing/2014/main" id="{A9C7A1C7-FD61-B1C8-1138-EFE2FF189F58}"/>
                </a:ext>
              </a:extLst>
            </p:cNvPr>
            <p:cNvSpPr/>
            <p:nvPr/>
          </p:nvSpPr>
          <p:spPr bwMode="auto">
            <a:xfrm>
              <a:off x="2917787" y="6302775"/>
              <a:ext cx="133200" cy="149120"/>
            </a:xfrm>
            <a:prstGeom prst="roundRect">
              <a:avLst/>
            </a:prstGeom>
            <a:solidFill>
              <a:srgbClr val="FFFFFF">
                <a:lumMod val="75000"/>
              </a:srgbClr>
            </a:solidFill>
            <a:ln w="3175" cap="flat" cmpd="sng" algn="ctr">
              <a:noFill/>
              <a:prstDash val="dash"/>
            </a:ln>
            <a:effectLst/>
          </p:spPr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/>
                  <a:ea typeface="LG스마트체 Regular" panose="020B0600000101010101" pitchFamily="50" charset="-127"/>
                  <a:cs typeface="Arial" panose="020B0604020202020204" pitchFamily="34" charset="0"/>
                </a:rPr>
                <a:t>43</a:t>
              </a:r>
              <a:endPara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492" name="모서리가 둥근 직사각형 376">
              <a:extLst>
                <a:ext uri="{FF2B5EF4-FFF2-40B4-BE49-F238E27FC236}">
                  <a16:creationId xmlns:a16="http://schemas.microsoft.com/office/drawing/2014/main" id="{5B12D109-08A7-EAAB-B7A7-2BACD827107B}"/>
                </a:ext>
              </a:extLst>
            </p:cNvPr>
            <p:cNvSpPr/>
            <p:nvPr/>
          </p:nvSpPr>
          <p:spPr bwMode="auto">
            <a:xfrm>
              <a:off x="2728261" y="6302775"/>
              <a:ext cx="133200" cy="149120"/>
            </a:xfrm>
            <a:prstGeom prst="roundRect">
              <a:avLst/>
            </a:prstGeom>
            <a:solidFill>
              <a:srgbClr val="FFFFFF">
                <a:lumMod val="75000"/>
              </a:srgbClr>
            </a:solidFill>
            <a:ln w="3175" cap="flat" cmpd="sng" algn="ctr">
              <a:noFill/>
              <a:prstDash val="dash"/>
            </a:ln>
            <a:effectLst/>
          </p:spPr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/>
                  <a:ea typeface="LG스마트체 Regular" panose="020B0600000101010101" pitchFamily="50" charset="-127"/>
                  <a:cs typeface="Arial" panose="020B0604020202020204" pitchFamily="34" charset="0"/>
                </a:rPr>
                <a:t>50</a:t>
              </a:r>
              <a:endPara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495" name="모서리가 둥근 직사각형 377">
              <a:extLst>
                <a:ext uri="{FF2B5EF4-FFF2-40B4-BE49-F238E27FC236}">
                  <a16:creationId xmlns:a16="http://schemas.microsoft.com/office/drawing/2014/main" id="{6DD45B7E-9B2B-79F0-AAB1-C0FA362872EA}"/>
                </a:ext>
              </a:extLst>
            </p:cNvPr>
            <p:cNvSpPr/>
            <p:nvPr/>
          </p:nvSpPr>
          <p:spPr bwMode="auto">
            <a:xfrm>
              <a:off x="2349213" y="6302775"/>
              <a:ext cx="133200" cy="149120"/>
            </a:xfrm>
            <a:prstGeom prst="roundRect">
              <a:avLst/>
            </a:prstGeom>
            <a:solidFill>
              <a:srgbClr val="FFFFFF">
                <a:lumMod val="75000"/>
              </a:srgbClr>
            </a:solidFill>
            <a:ln w="3175" cap="flat" cmpd="sng" algn="ctr">
              <a:noFill/>
              <a:prstDash val="dash"/>
            </a:ln>
            <a:effectLst/>
          </p:spPr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/>
                  <a:ea typeface="LG스마트체 Regular" panose="020B0600000101010101" pitchFamily="50" charset="-127"/>
                  <a:cs typeface="Arial" panose="020B0604020202020204" pitchFamily="34" charset="0"/>
                </a:rPr>
                <a:t>65</a:t>
              </a:r>
              <a:endPara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498" name="모서리가 둥근 직사각형 378">
              <a:extLst>
                <a:ext uri="{FF2B5EF4-FFF2-40B4-BE49-F238E27FC236}">
                  <a16:creationId xmlns:a16="http://schemas.microsoft.com/office/drawing/2014/main" id="{3660DAF3-023A-F992-5089-32A995610351}"/>
                </a:ext>
              </a:extLst>
            </p:cNvPr>
            <p:cNvSpPr/>
            <p:nvPr/>
          </p:nvSpPr>
          <p:spPr bwMode="auto">
            <a:xfrm>
              <a:off x="2538737" y="6302775"/>
              <a:ext cx="133200" cy="149120"/>
            </a:xfrm>
            <a:prstGeom prst="roundRect">
              <a:avLst/>
            </a:prstGeom>
            <a:solidFill>
              <a:srgbClr val="FFFFFF">
                <a:lumMod val="75000"/>
              </a:srgbClr>
            </a:solidFill>
            <a:ln w="3175" cap="flat" cmpd="sng" algn="ctr">
              <a:noFill/>
              <a:prstDash val="dash"/>
            </a:ln>
            <a:effectLst/>
          </p:spPr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/>
                  <a:ea typeface="LG스마트체 Regular" panose="020B0600000101010101" pitchFamily="50" charset="-127"/>
                  <a:cs typeface="Arial" panose="020B0604020202020204" pitchFamily="34" charset="0"/>
                </a:rPr>
                <a:t>55</a:t>
              </a:r>
              <a:endPara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endParaRPr>
            </a:p>
          </p:txBody>
        </p:sp>
      </p:grpSp>
      <p:sp>
        <p:nvSpPr>
          <p:cNvPr id="1519" name="모서리가 둥근 직사각형 364">
            <a:extLst>
              <a:ext uri="{FF2B5EF4-FFF2-40B4-BE49-F238E27FC236}">
                <a16:creationId xmlns:a16="http://schemas.microsoft.com/office/drawing/2014/main" id="{66C0F505-4234-3819-5C3D-FE7DBE67F4C8}"/>
              </a:ext>
            </a:extLst>
          </p:cNvPr>
          <p:cNvSpPr/>
          <p:nvPr/>
        </p:nvSpPr>
        <p:spPr bwMode="auto">
          <a:xfrm>
            <a:off x="4608411" y="6535840"/>
            <a:ext cx="133200" cy="149120"/>
          </a:xfrm>
          <a:prstGeom prst="roundRect">
            <a:avLst/>
          </a:prstGeom>
          <a:solidFill>
            <a:srgbClr val="FFFFFF"/>
          </a:solidFill>
          <a:ln w="6350" algn="ctr">
            <a:solidFill>
              <a:srgbClr val="C00000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75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520" name="모서리가 둥근 직사각형 364">
            <a:extLst>
              <a:ext uri="{FF2B5EF4-FFF2-40B4-BE49-F238E27FC236}">
                <a16:creationId xmlns:a16="http://schemas.microsoft.com/office/drawing/2014/main" id="{1675FDA3-59FF-306D-FC56-39691823EBF3}"/>
              </a:ext>
            </a:extLst>
          </p:cNvPr>
          <p:cNvSpPr/>
          <p:nvPr/>
        </p:nvSpPr>
        <p:spPr bwMode="auto">
          <a:xfrm>
            <a:off x="4608411" y="6366899"/>
            <a:ext cx="133200" cy="149120"/>
          </a:xfrm>
          <a:prstGeom prst="roundRect">
            <a:avLst/>
          </a:prstGeom>
          <a:solidFill>
            <a:srgbClr val="FFFFFF"/>
          </a:solidFill>
          <a:ln w="6350" algn="ctr">
            <a:solidFill>
              <a:srgbClr val="C00000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75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521" name="모서리가 둥근 직사각형 364">
            <a:extLst>
              <a:ext uri="{FF2B5EF4-FFF2-40B4-BE49-F238E27FC236}">
                <a16:creationId xmlns:a16="http://schemas.microsoft.com/office/drawing/2014/main" id="{A639CB04-A3A3-89DD-24B0-C40BA81EEE16}"/>
              </a:ext>
            </a:extLst>
          </p:cNvPr>
          <p:cNvSpPr/>
          <p:nvPr/>
        </p:nvSpPr>
        <p:spPr bwMode="auto">
          <a:xfrm>
            <a:off x="4608411" y="6042700"/>
            <a:ext cx="133200" cy="149120"/>
          </a:xfrm>
          <a:prstGeom prst="roundRect">
            <a:avLst/>
          </a:prstGeom>
          <a:solidFill>
            <a:srgbClr val="FFFFFF"/>
          </a:solidFill>
          <a:ln w="6350" algn="ctr">
            <a:solidFill>
              <a:srgbClr val="C00000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75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537" name="모서리가 둥근 직사각형 365">
            <a:extLst>
              <a:ext uri="{FF2B5EF4-FFF2-40B4-BE49-F238E27FC236}">
                <a16:creationId xmlns:a16="http://schemas.microsoft.com/office/drawing/2014/main" id="{65BDEDE0-6161-8882-1868-FC1E25B81598}"/>
              </a:ext>
            </a:extLst>
          </p:cNvPr>
          <p:cNvSpPr/>
          <p:nvPr/>
        </p:nvSpPr>
        <p:spPr bwMode="auto">
          <a:xfrm>
            <a:off x="4429751" y="6541115"/>
            <a:ext cx="133200" cy="149120"/>
          </a:xfrm>
          <a:prstGeom prst="roundRect">
            <a:avLst/>
          </a:prstGeom>
          <a:solidFill>
            <a:srgbClr val="FFFFFF"/>
          </a:solidFill>
          <a:ln w="6350" algn="ctr">
            <a:solidFill>
              <a:srgbClr val="C00000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86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538" name="모서리가 둥근 직사각형 365">
            <a:extLst>
              <a:ext uri="{FF2B5EF4-FFF2-40B4-BE49-F238E27FC236}">
                <a16:creationId xmlns:a16="http://schemas.microsoft.com/office/drawing/2014/main" id="{4A374BC4-6D87-3706-9985-9833FC0F899C}"/>
              </a:ext>
            </a:extLst>
          </p:cNvPr>
          <p:cNvSpPr/>
          <p:nvPr/>
        </p:nvSpPr>
        <p:spPr bwMode="auto">
          <a:xfrm>
            <a:off x="4429751" y="6372174"/>
            <a:ext cx="133200" cy="149120"/>
          </a:xfrm>
          <a:prstGeom prst="roundRect">
            <a:avLst/>
          </a:prstGeom>
          <a:solidFill>
            <a:srgbClr val="FFFFFF"/>
          </a:solidFill>
          <a:ln w="6350" algn="ctr">
            <a:solidFill>
              <a:srgbClr val="C00000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85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539" name="모서리가 둥근 직사각형 365">
            <a:extLst>
              <a:ext uri="{FF2B5EF4-FFF2-40B4-BE49-F238E27FC236}">
                <a16:creationId xmlns:a16="http://schemas.microsoft.com/office/drawing/2014/main" id="{98D1F451-FA2B-BF29-CABC-473747504A11}"/>
              </a:ext>
            </a:extLst>
          </p:cNvPr>
          <p:cNvSpPr/>
          <p:nvPr/>
        </p:nvSpPr>
        <p:spPr bwMode="auto">
          <a:xfrm>
            <a:off x="4429751" y="6047975"/>
            <a:ext cx="133200" cy="149120"/>
          </a:xfrm>
          <a:prstGeom prst="roundRect">
            <a:avLst/>
          </a:prstGeom>
          <a:solidFill>
            <a:srgbClr val="FFFFFF"/>
          </a:solidFill>
          <a:ln w="6350" algn="ctr">
            <a:solidFill>
              <a:srgbClr val="C00000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8</a:t>
            </a: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5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547" name="모서리가 둥근 직사각형 375">
            <a:extLst>
              <a:ext uri="{FF2B5EF4-FFF2-40B4-BE49-F238E27FC236}">
                <a16:creationId xmlns:a16="http://schemas.microsoft.com/office/drawing/2014/main" id="{EECA2004-19D5-B9FC-1544-E621C343CE77}"/>
              </a:ext>
            </a:extLst>
          </p:cNvPr>
          <p:cNvSpPr/>
          <p:nvPr/>
        </p:nvSpPr>
        <p:spPr bwMode="auto">
          <a:xfrm>
            <a:off x="5323050" y="6535840"/>
            <a:ext cx="133200" cy="149120"/>
          </a:xfrm>
          <a:prstGeom prst="roundRect">
            <a:avLst/>
          </a:prstGeom>
          <a:solidFill>
            <a:srgbClr val="FFFFFF"/>
          </a:solidFill>
          <a:ln w="6350" algn="ctr">
            <a:solidFill>
              <a:srgbClr val="C00000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43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552" name="모서리가 둥근 직사각형 375">
            <a:extLst>
              <a:ext uri="{FF2B5EF4-FFF2-40B4-BE49-F238E27FC236}">
                <a16:creationId xmlns:a16="http://schemas.microsoft.com/office/drawing/2014/main" id="{67A38F4B-189E-65F8-6C4E-A3CB2FDE60E6}"/>
              </a:ext>
            </a:extLst>
          </p:cNvPr>
          <p:cNvSpPr/>
          <p:nvPr/>
        </p:nvSpPr>
        <p:spPr bwMode="auto">
          <a:xfrm>
            <a:off x="5323050" y="6366899"/>
            <a:ext cx="133200" cy="149120"/>
          </a:xfrm>
          <a:prstGeom prst="roundRect">
            <a:avLst/>
          </a:prstGeom>
          <a:solidFill>
            <a:srgbClr val="FFFFFF"/>
          </a:solidFill>
          <a:ln w="6350" algn="ctr">
            <a:solidFill>
              <a:srgbClr val="C00000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43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553" name="모서리가 둥근 직사각형 375">
            <a:extLst>
              <a:ext uri="{FF2B5EF4-FFF2-40B4-BE49-F238E27FC236}">
                <a16:creationId xmlns:a16="http://schemas.microsoft.com/office/drawing/2014/main" id="{D791DAD6-BDB8-DE56-7D38-65B1410857DA}"/>
              </a:ext>
            </a:extLst>
          </p:cNvPr>
          <p:cNvSpPr/>
          <p:nvPr/>
        </p:nvSpPr>
        <p:spPr bwMode="auto">
          <a:xfrm>
            <a:off x="5323050" y="6042700"/>
            <a:ext cx="133200" cy="149120"/>
          </a:xfrm>
          <a:prstGeom prst="roundRect">
            <a:avLst/>
          </a:prstGeom>
          <a:solidFill>
            <a:srgbClr val="FFFFFF"/>
          </a:solidFill>
          <a:ln w="6350" algn="ctr">
            <a:solidFill>
              <a:srgbClr val="C00000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43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568" name="모서리가 둥근 직사각형 376">
            <a:extLst>
              <a:ext uri="{FF2B5EF4-FFF2-40B4-BE49-F238E27FC236}">
                <a16:creationId xmlns:a16="http://schemas.microsoft.com/office/drawing/2014/main" id="{168AE3A2-5FBC-D5DD-2D67-89251D562D11}"/>
              </a:ext>
            </a:extLst>
          </p:cNvPr>
          <p:cNvSpPr/>
          <p:nvPr/>
        </p:nvSpPr>
        <p:spPr bwMode="auto">
          <a:xfrm>
            <a:off x="5144391" y="6535840"/>
            <a:ext cx="133200" cy="149120"/>
          </a:xfrm>
          <a:prstGeom prst="roundRect">
            <a:avLst/>
          </a:prstGeom>
          <a:solidFill>
            <a:srgbClr val="FFFFFF"/>
          </a:solidFill>
          <a:ln w="6350" algn="ctr">
            <a:solidFill>
              <a:srgbClr val="C00000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50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569" name="모서리가 둥근 직사각형 376">
            <a:extLst>
              <a:ext uri="{FF2B5EF4-FFF2-40B4-BE49-F238E27FC236}">
                <a16:creationId xmlns:a16="http://schemas.microsoft.com/office/drawing/2014/main" id="{B91F2558-5E12-0A83-2B66-368F42298D80}"/>
              </a:ext>
            </a:extLst>
          </p:cNvPr>
          <p:cNvSpPr/>
          <p:nvPr/>
        </p:nvSpPr>
        <p:spPr bwMode="auto">
          <a:xfrm>
            <a:off x="5144391" y="6366899"/>
            <a:ext cx="133200" cy="149120"/>
          </a:xfrm>
          <a:prstGeom prst="roundRect">
            <a:avLst/>
          </a:prstGeom>
          <a:solidFill>
            <a:srgbClr val="FFFFFF"/>
          </a:solidFill>
          <a:ln w="6350" algn="ctr">
            <a:solidFill>
              <a:srgbClr val="C00000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50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570" name="모서리가 둥근 직사각형 376">
            <a:extLst>
              <a:ext uri="{FF2B5EF4-FFF2-40B4-BE49-F238E27FC236}">
                <a16:creationId xmlns:a16="http://schemas.microsoft.com/office/drawing/2014/main" id="{5039A182-2C4D-BCFE-2C5B-21C1D442A13C}"/>
              </a:ext>
            </a:extLst>
          </p:cNvPr>
          <p:cNvSpPr/>
          <p:nvPr/>
        </p:nvSpPr>
        <p:spPr bwMode="auto">
          <a:xfrm>
            <a:off x="5144391" y="6042700"/>
            <a:ext cx="133200" cy="149120"/>
          </a:xfrm>
          <a:prstGeom prst="roundRect">
            <a:avLst/>
          </a:prstGeom>
          <a:solidFill>
            <a:srgbClr val="FFFFFF"/>
          </a:solidFill>
          <a:ln w="6350" algn="ctr">
            <a:solidFill>
              <a:srgbClr val="C00000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50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598" name="모서리가 둥근 직사각형 377">
            <a:extLst>
              <a:ext uri="{FF2B5EF4-FFF2-40B4-BE49-F238E27FC236}">
                <a16:creationId xmlns:a16="http://schemas.microsoft.com/office/drawing/2014/main" id="{477B4317-2A87-E3F6-0C6B-A095AE2D553F}"/>
              </a:ext>
            </a:extLst>
          </p:cNvPr>
          <p:cNvSpPr/>
          <p:nvPr/>
        </p:nvSpPr>
        <p:spPr bwMode="auto">
          <a:xfrm>
            <a:off x="4787071" y="6535840"/>
            <a:ext cx="133200" cy="149120"/>
          </a:xfrm>
          <a:prstGeom prst="roundRect">
            <a:avLst/>
          </a:prstGeom>
          <a:solidFill>
            <a:srgbClr val="FFFFFF"/>
          </a:solidFill>
          <a:ln w="6350" algn="ctr">
            <a:solidFill>
              <a:srgbClr val="C00000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65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599" name="모서리가 둥근 직사각형 377">
            <a:extLst>
              <a:ext uri="{FF2B5EF4-FFF2-40B4-BE49-F238E27FC236}">
                <a16:creationId xmlns:a16="http://schemas.microsoft.com/office/drawing/2014/main" id="{4AF16D13-4320-E04C-0471-82962ECAB550}"/>
              </a:ext>
            </a:extLst>
          </p:cNvPr>
          <p:cNvSpPr/>
          <p:nvPr/>
        </p:nvSpPr>
        <p:spPr bwMode="auto">
          <a:xfrm>
            <a:off x="4787071" y="6366899"/>
            <a:ext cx="133200" cy="149120"/>
          </a:xfrm>
          <a:prstGeom prst="roundRect">
            <a:avLst/>
          </a:prstGeom>
          <a:solidFill>
            <a:srgbClr val="FFFFFF"/>
          </a:solidFill>
          <a:ln w="6350" algn="ctr">
            <a:solidFill>
              <a:srgbClr val="C00000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65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600" name="모서리가 둥근 직사각형 377">
            <a:extLst>
              <a:ext uri="{FF2B5EF4-FFF2-40B4-BE49-F238E27FC236}">
                <a16:creationId xmlns:a16="http://schemas.microsoft.com/office/drawing/2014/main" id="{03858D6F-FABB-B02D-07DA-EBF315E105B2}"/>
              </a:ext>
            </a:extLst>
          </p:cNvPr>
          <p:cNvSpPr/>
          <p:nvPr/>
        </p:nvSpPr>
        <p:spPr bwMode="auto">
          <a:xfrm>
            <a:off x="4787071" y="6042700"/>
            <a:ext cx="133200" cy="149120"/>
          </a:xfrm>
          <a:prstGeom prst="roundRect">
            <a:avLst/>
          </a:prstGeom>
          <a:solidFill>
            <a:srgbClr val="FFFFFF"/>
          </a:solidFill>
          <a:ln w="6350" algn="ctr">
            <a:solidFill>
              <a:srgbClr val="C00000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65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688" name="모서리가 둥근 직사각형 378">
            <a:extLst>
              <a:ext uri="{FF2B5EF4-FFF2-40B4-BE49-F238E27FC236}">
                <a16:creationId xmlns:a16="http://schemas.microsoft.com/office/drawing/2014/main" id="{D22762F2-FFB4-D110-1265-1B22737B0A60}"/>
              </a:ext>
            </a:extLst>
          </p:cNvPr>
          <p:cNvSpPr/>
          <p:nvPr/>
        </p:nvSpPr>
        <p:spPr bwMode="auto">
          <a:xfrm>
            <a:off x="4965731" y="6535840"/>
            <a:ext cx="133200" cy="149120"/>
          </a:xfrm>
          <a:prstGeom prst="roundRect">
            <a:avLst/>
          </a:prstGeom>
          <a:solidFill>
            <a:srgbClr val="FFFFFF"/>
          </a:solidFill>
          <a:ln w="6350" algn="ctr">
            <a:solidFill>
              <a:srgbClr val="C00000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55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689" name="모서리가 둥근 직사각형 378">
            <a:extLst>
              <a:ext uri="{FF2B5EF4-FFF2-40B4-BE49-F238E27FC236}">
                <a16:creationId xmlns:a16="http://schemas.microsoft.com/office/drawing/2014/main" id="{8108FC27-5EA7-AD78-30B8-563D2AAC41AC}"/>
              </a:ext>
            </a:extLst>
          </p:cNvPr>
          <p:cNvSpPr/>
          <p:nvPr/>
        </p:nvSpPr>
        <p:spPr bwMode="auto">
          <a:xfrm>
            <a:off x="4965731" y="6366899"/>
            <a:ext cx="133200" cy="149120"/>
          </a:xfrm>
          <a:prstGeom prst="roundRect">
            <a:avLst/>
          </a:prstGeom>
          <a:solidFill>
            <a:srgbClr val="FFFFFF"/>
          </a:solidFill>
          <a:ln w="6350" algn="ctr">
            <a:solidFill>
              <a:srgbClr val="C00000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55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690" name="모서리가 둥근 직사각형 378">
            <a:extLst>
              <a:ext uri="{FF2B5EF4-FFF2-40B4-BE49-F238E27FC236}">
                <a16:creationId xmlns:a16="http://schemas.microsoft.com/office/drawing/2014/main" id="{D56F7AEA-76F2-40D6-73D3-4F9918D01640}"/>
              </a:ext>
            </a:extLst>
          </p:cNvPr>
          <p:cNvSpPr/>
          <p:nvPr/>
        </p:nvSpPr>
        <p:spPr bwMode="auto">
          <a:xfrm>
            <a:off x="4965731" y="6042700"/>
            <a:ext cx="133200" cy="149120"/>
          </a:xfrm>
          <a:prstGeom prst="roundRect">
            <a:avLst/>
          </a:prstGeom>
          <a:solidFill>
            <a:srgbClr val="FFFFFF"/>
          </a:solidFill>
          <a:ln w="6350" algn="ctr">
            <a:solidFill>
              <a:srgbClr val="C00000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55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707" name="모서리가 둥근 직사각형 365">
            <a:extLst>
              <a:ext uri="{FF2B5EF4-FFF2-40B4-BE49-F238E27FC236}">
                <a16:creationId xmlns:a16="http://schemas.microsoft.com/office/drawing/2014/main" id="{AE7E30B1-C858-35FF-91FF-A1434FB677C3}"/>
              </a:ext>
            </a:extLst>
          </p:cNvPr>
          <p:cNvSpPr/>
          <p:nvPr/>
        </p:nvSpPr>
        <p:spPr bwMode="auto">
          <a:xfrm>
            <a:off x="4244584" y="6376089"/>
            <a:ext cx="133200" cy="149120"/>
          </a:xfrm>
          <a:prstGeom prst="roundRect">
            <a:avLst/>
          </a:prstGeom>
          <a:solidFill>
            <a:srgbClr val="FFFFFF"/>
          </a:solidFill>
          <a:ln w="6350" algn="ctr">
            <a:solidFill>
              <a:srgbClr val="C00000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98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7F798D45-E30F-2720-DB68-AAACE19B602A}"/>
              </a:ext>
            </a:extLst>
          </p:cNvPr>
          <p:cNvGrpSpPr/>
          <p:nvPr/>
        </p:nvGrpSpPr>
        <p:grpSpPr>
          <a:xfrm>
            <a:off x="579109" y="6503455"/>
            <a:ext cx="2471878" cy="149120"/>
            <a:chOff x="579109" y="6653967"/>
            <a:chExt cx="2471878" cy="149120"/>
          </a:xfrm>
        </p:grpSpPr>
        <p:sp>
          <p:nvSpPr>
            <p:cNvPr id="1345" name="Rectangle 3936">
              <a:extLst>
                <a:ext uri="{FF2B5EF4-FFF2-40B4-BE49-F238E27FC236}">
                  <a16:creationId xmlns:a16="http://schemas.microsoft.com/office/drawing/2014/main" id="{3BB7801E-0104-A48C-A1E0-B0D75CFA79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4994" y="6653967"/>
              <a:ext cx="720000" cy="149120"/>
            </a:xfrm>
            <a:prstGeom prst="rect">
              <a:avLst/>
            </a:prstGeom>
            <a:solidFill>
              <a:sysClr val="window" lastClr="FFFFFF">
                <a:lumMod val="85000"/>
              </a:sysClr>
            </a:solidFill>
            <a:ln w="3175" algn="ctr">
              <a:solidFill>
                <a:srgbClr val="FFFFFF">
                  <a:lumMod val="50000"/>
                </a:srgbClr>
              </a:solidFill>
              <a:miter lim="800000"/>
              <a:headEnd/>
              <a:tailEnd/>
            </a:ln>
          </p:spPr>
          <p:txBody>
            <a:bodyPr wrap="none" lIns="26928" tIns="26928" rIns="26928" bIns="26928" anchor="ctr"/>
            <a:lstStyle/>
            <a:p>
              <a:pPr marL="0" marR="0" lvl="0" indent="0" algn="ctr" defTabSz="9142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/>
                  <a:ea typeface="LG스마트체 Regular"/>
                  <a:cs typeface="Arial" panose="020B0604020202020204" pitchFamily="34" charset="0"/>
                </a:rPr>
                <a:t>UA73</a:t>
              </a:r>
            </a:p>
          </p:txBody>
        </p:sp>
        <p:sp>
          <p:nvSpPr>
            <p:cNvPr id="1487" name="모서리가 둥근 직사각형 375">
              <a:extLst>
                <a:ext uri="{FF2B5EF4-FFF2-40B4-BE49-F238E27FC236}">
                  <a16:creationId xmlns:a16="http://schemas.microsoft.com/office/drawing/2014/main" id="{A46C6004-5F29-A0B2-3DCB-1061E39393E7}"/>
                </a:ext>
              </a:extLst>
            </p:cNvPr>
            <p:cNvSpPr/>
            <p:nvPr/>
          </p:nvSpPr>
          <p:spPr bwMode="auto">
            <a:xfrm>
              <a:off x="2917787" y="6653967"/>
              <a:ext cx="133200" cy="149120"/>
            </a:xfrm>
            <a:prstGeom prst="roundRect">
              <a:avLst/>
            </a:prstGeom>
            <a:solidFill>
              <a:srgbClr val="FFFFFF">
                <a:lumMod val="75000"/>
              </a:srgbClr>
            </a:solidFill>
            <a:ln w="3175" cap="flat" cmpd="sng" algn="ctr">
              <a:noFill/>
              <a:prstDash val="dash"/>
            </a:ln>
            <a:effectLst/>
          </p:spPr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/>
                  <a:ea typeface="LG스마트체 Regular" panose="020B0600000101010101" pitchFamily="50" charset="-127"/>
                  <a:cs typeface="Arial" panose="020B0604020202020204" pitchFamily="34" charset="0"/>
                </a:rPr>
                <a:t>43</a:t>
              </a:r>
              <a:endPara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490" name="모서리가 둥근 직사각형 376">
              <a:extLst>
                <a:ext uri="{FF2B5EF4-FFF2-40B4-BE49-F238E27FC236}">
                  <a16:creationId xmlns:a16="http://schemas.microsoft.com/office/drawing/2014/main" id="{33AE6D5F-93FC-0A15-C51A-21CE9F61F473}"/>
                </a:ext>
              </a:extLst>
            </p:cNvPr>
            <p:cNvSpPr/>
            <p:nvPr/>
          </p:nvSpPr>
          <p:spPr bwMode="auto">
            <a:xfrm>
              <a:off x="2728261" y="6653967"/>
              <a:ext cx="133200" cy="149120"/>
            </a:xfrm>
            <a:prstGeom prst="roundRect">
              <a:avLst/>
            </a:prstGeom>
            <a:solidFill>
              <a:srgbClr val="FFFFFF">
                <a:lumMod val="75000"/>
              </a:srgbClr>
            </a:solidFill>
            <a:ln w="3175" cap="flat" cmpd="sng" algn="ctr">
              <a:noFill/>
              <a:prstDash val="dash"/>
            </a:ln>
            <a:effectLst/>
          </p:spPr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/>
                  <a:ea typeface="LG스마트체 Regular" panose="020B0600000101010101" pitchFamily="50" charset="-127"/>
                  <a:cs typeface="Arial" panose="020B0604020202020204" pitchFamily="34" charset="0"/>
                </a:rPr>
                <a:t>50</a:t>
              </a:r>
              <a:endPara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493" name="모서리가 둥근 직사각형 377">
              <a:extLst>
                <a:ext uri="{FF2B5EF4-FFF2-40B4-BE49-F238E27FC236}">
                  <a16:creationId xmlns:a16="http://schemas.microsoft.com/office/drawing/2014/main" id="{974B779C-AD81-AAAF-8C10-C997D9EB6ABC}"/>
                </a:ext>
              </a:extLst>
            </p:cNvPr>
            <p:cNvSpPr/>
            <p:nvPr/>
          </p:nvSpPr>
          <p:spPr bwMode="auto">
            <a:xfrm>
              <a:off x="2349213" y="6653967"/>
              <a:ext cx="133200" cy="149120"/>
            </a:xfrm>
            <a:prstGeom prst="roundRect">
              <a:avLst/>
            </a:prstGeom>
            <a:solidFill>
              <a:srgbClr val="FFFFFF">
                <a:lumMod val="75000"/>
              </a:srgbClr>
            </a:solidFill>
            <a:ln w="3175" cap="flat" cmpd="sng" algn="ctr">
              <a:noFill/>
              <a:prstDash val="dash"/>
            </a:ln>
            <a:effectLst/>
          </p:spPr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/>
                  <a:ea typeface="LG스마트체 Regular" panose="020B0600000101010101" pitchFamily="50" charset="-127"/>
                  <a:cs typeface="Arial" panose="020B0604020202020204" pitchFamily="34" charset="0"/>
                </a:rPr>
                <a:t>65</a:t>
              </a:r>
              <a:endPara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496" name="모서리가 둥근 직사각형 378">
              <a:extLst>
                <a:ext uri="{FF2B5EF4-FFF2-40B4-BE49-F238E27FC236}">
                  <a16:creationId xmlns:a16="http://schemas.microsoft.com/office/drawing/2014/main" id="{8286998E-D3DC-C7B1-3634-F52D47811B11}"/>
                </a:ext>
              </a:extLst>
            </p:cNvPr>
            <p:cNvSpPr/>
            <p:nvPr/>
          </p:nvSpPr>
          <p:spPr bwMode="auto">
            <a:xfrm>
              <a:off x="2538737" y="6653967"/>
              <a:ext cx="133200" cy="149120"/>
            </a:xfrm>
            <a:prstGeom prst="roundRect">
              <a:avLst/>
            </a:prstGeom>
            <a:solidFill>
              <a:srgbClr val="FFFFFF">
                <a:lumMod val="75000"/>
              </a:srgbClr>
            </a:solidFill>
            <a:ln w="3175" cap="flat" cmpd="sng" algn="ctr">
              <a:noFill/>
              <a:prstDash val="dash"/>
            </a:ln>
            <a:effectLst/>
          </p:spPr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/>
                  <a:ea typeface="LG스마트체 Regular" panose="020B0600000101010101" pitchFamily="50" charset="-127"/>
                  <a:cs typeface="Arial" panose="020B0604020202020204" pitchFamily="34" charset="0"/>
                </a:rPr>
                <a:t>55</a:t>
              </a:r>
              <a:endPara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737" name="직사각형 1736">
              <a:extLst>
                <a:ext uri="{FF2B5EF4-FFF2-40B4-BE49-F238E27FC236}">
                  <a16:creationId xmlns:a16="http://schemas.microsoft.com/office/drawing/2014/main" id="{E0C8778F-5465-8980-9F91-50BC256B5F7C}"/>
                </a:ext>
              </a:extLst>
            </p:cNvPr>
            <p:cNvSpPr/>
            <p:nvPr/>
          </p:nvSpPr>
          <p:spPr>
            <a:xfrm>
              <a:off x="579109" y="6674527"/>
              <a:ext cx="180000" cy="108000"/>
            </a:xfrm>
            <a:prstGeom prst="rect">
              <a:avLst/>
            </a:prstGeom>
            <a:solidFill>
              <a:srgbClr val="FFC000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1" i="0" u="none" strike="noStrike" kern="1200" cap="none" spc="0" normalizeH="0" baseline="0" noProof="0" dirty="0">
                  <a:ln>
                    <a:noFill/>
                  </a:ln>
                  <a:solidFill>
                    <a:srgbClr val="008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pitchFamily="34" charset="0"/>
                </a:rPr>
                <a:t>JDM</a:t>
              </a:r>
              <a:endPara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endParaRPr>
            </a:p>
          </p:txBody>
        </p:sp>
      </p:grpSp>
      <p:sp>
        <p:nvSpPr>
          <p:cNvPr id="1738" name="직사각형 1737">
            <a:extLst>
              <a:ext uri="{FF2B5EF4-FFF2-40B4-BE49-F238E27FC236}">
                <a16:creationId xmlns:a16="http://schemas.microsoft.com/office/drawing/2014/main" id="{16DE6939-D0F5-B9EC-5557-A2F56E5AC49C}"/>
              </a:ext>
            </a:extLst>
          </p:cNvPr>
          <p:cNvSpPr/>
          <p:nvPr/>
        </p:nvSpPr>
        <p:spPr>
          <a:xfrm>
            <a:off x="4109124" y="6285786"/>
            <a:ext cx="180000" cy="108000"/>
          </a:xfrm>
          <a:prstGeom prst="rect">
            <a:avLst/>
          </a:prstGeom>
          <a:solidFill>
            <a:srgbClr val="FFC000"/>
          </a:solidFill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JDM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</p:txBody>
      </p:sp>
      <p:sp>
        <p:nvSpPr>
          <p:cNvPr id="1739" name="직사각형 1738">
            <a:extLst>
              <a:ext uri="{FF2B5EF4-FFF2-40B4-BE49-F238E27FC236}">
                <a16:creationId xmlns:a16="http://schemas.microsoft.com/office/drawing/2014/main" id="{32679C6A-4854-FAAF-D4E4-07EE788BD418}"/>
              </a:ext>
            </a:extLst>
          </p:cNvPr>
          <p:cNvSpPr/>
          <p:nvPr/>
        </p:nvSpPr>
        <p:spPr>
          <a:xfrm>
            <a:off x="3103078" y="6547198"/>
            <a:ext cx="180000" cy="108000"/>
          </a:xfrm>
          <a:prstGeom prst="rect">
            <a:avLst/>
          </a:prstGeom>
          <a:solidFill>
            <a:srgbClr val="FFC000"/>
          </a:solidFill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JDM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</p:txBody>
      </p:sp>
      <p:sp>
        <p:nvSpPr>
          <p:cNvPr id="48" name="Rectangle 3936">
            <a:extLst>
              <a:ext uri="{FF2B5EF4-FFF2-40B4-BE49-F238E27FC236}">
                <a16:creationId xmlns:a16="http://schemas.microsoft.com/office/drawing/2014/main" id="{4F5BE8E9-1895-B911-C2A8-7891502879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0148" y="6206721"/>
            <a:ext cx="720000" cy="149120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3175" algn="ctr">
            <a:solidFill>
              <a:srgbClr val="FFFFFF">
                <a:lumMod val="50000"/>
              </a:srgbClr>
            </a:solidFill>
            <a:miter lim="800000"/>
            <a:headEnd/>
            <a:tailEnd/>
          </a:ln>
        </p:spPr>
        <p:txBody>
          <a:bodyPr wrap="none" lIns="26928" tIns="26928" rIns="72000" bIns="26928" anchor="ctr"/>
          <a:lstStyle/>
          <a:p>
            <a:pPr marL="0" marR="0" lvl="0" indent="0" algn="r" defTabSz="9142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/>
                <a:cs typeface="Arial" panose="020B0604020202020204" pitchFamily="34" charset="0"/>
              </a:rPr>
              <a:t>NU8E</a:t>
            </a:r>
          </a:p>
        </p:txBody>
      </p:sp>
      <p:sp>
        <p:nvSpPr>
          <p:cNvPr id="49" name="모서리가 둥근 직사각형 364">
            <a:extLst>
              <a:ext uri="{FF2B5EF4-FFF2-40B4-BE49-F238E27FC236}">
                <a16:creationId xmlns:a16="http://schemas.microsoft.com/office/drawing/2014/main" id="{533A2B3B-137D-766C-D261-DC0EB255582D}"/>
              </a:ext>
            </a:extLst>
          </p:cNvPr>
          <p:cNvSpPr/>
          <p:nvPr/>
        </p:nvSpPr>
        <p:spPr bwMode="auto">
          <a:xfrm>
            <a:off x="4614261" y="6208616"/>
            <a:ext cx="133200" cy="149120"/>
          </a:xfrm>
          <a:prstGeom prst="roundRect">
            <a:avLst/>
          </a:prstGeom>
          <a:solidFill>
            <a:srgbClr val="FFFFFF"/>
          </a:solidFill>
          <a:ln w="6350" algn="ctr">
            <a:solidFill>
              <a:srgbClr val="C00000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75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50" name="모서리가 둥근 직사각형 365">
            <a:extLst>
              <a:ext uri="{FF2B5EF4-FFF2-40B4-BE49-F238E27FC236}">
                <a16:creationId xmlns:a16="http://schemas.microsoft.com/office/drawing/2014/main" id="{6DB465E1-33FD-9B84-CD1F-857E3087193A}"/>
              </a:ext>
            </a:extLst>
          </p:cNvPr>
          <p:cNvSpPr/>
          <p:nvPr/>
        </p:nvSpPr>
        <p:spPr bwMode="auto">
          <a:xfrm>
            <a:off x="4435601" y="6213891"/>
            <a:ext cx="133200" cy="149120"/>
          </a:xfrm>
          <a:prstGeom prst="roundRect">
            <a:avLst/>
          </a:prstGeom>
          <a:solidFill>
            <a:srgbClr val="FFFFFF"/>
          </a:solidFill>
          <a:ln w="6350" algn="ctr">
            <a:solidFill>
              <a:srgbClr val="C00000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85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51" name="모서리가 둥근 직사각형 375">
            <a:extLst>
              <a:ext uri="{FF2B5EF4-FFF2-40B4-BE49-F238E27FC236}">
                <a16:creationId xmlns:a16="http://schemas.microsoft.com/office/drawing/2014/main" id="{02104794-064D-C204-880D-E22CC9ED27F0}"/>
              </a:ext>
            </a:extLst>
          </p:cNvPr>
          <p:cNvSpPr/>
          <p:nvPr/>
        </p:nvSpPr>
        <p:spPr bwMode="auto">
          <a:xfrm>
            <a:off x="5328900" y="6208616"/>
            <a:ext cx="133200" cy="149120"/>
          </a:xfrm>
          <a:prstGeom prst="roundRect">
            <a:avLst/>
          </a:prstGeom>
          <a:solidFill>
            <a:srgbClr val="FFFFFF"/>
          </a:solidFill>
          <a:ln w="6350" algn="ctr">
            <a:solidFill>
              <a:srgbClr val="C00000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43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52" name="모서리가 둥근 직사각형 376">
            <a:extLst>
              <a:ext uri="{FF2B5EF4-FFF2-40B4-BE49-F238E27FC236}">
                <a16:creationId xmlns:a16="http://schemas.microsoft.com/office/drawing/2014/main" id="{82717A1B-2C24-ACD1-6B3B-DA21C046CB04}"/>
              </a:ext>
            </a:extLst>
          </p:cNvPr>
          <p:cNvSpPr/>
          <p:nvPr/>
        </p:nvSpPr>
        <p:spPr bwMode="auto">
          <a:xfrm>
            <a:off x="5150241" y="6208616"/>
            <a:ext cx="133200" cy="149120"/>
          </a:xfrm>
          <a:prstGeom prst="roundRect">
            <a:avLst/>
          </a:prstGeom>
          <a:solidFill>
            <a:srgbClr val="FFFFFF"/>
          </a:solidFill>
          <a:ln w="6350" algn="ctr">
            <a:solidFill>
              <a:srgbClr val="C00000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50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53" name="모서리가 둥근 직사각형 377">
            <a:extLst>
              <a:ext uri="{FF2B5EF4-FFF2-40B4-BE49-F238E27FC236}">
                <a16:creationId xmlns:a16="http://schemas.microsoft.com/office/drawing/2014/main" id="{1EBEC066-FF60-A877-7568-09E8AFEAB081}"/>
              </a:ext>
            </a:extLst>
          </p:cNvPr>
          <p:cNvSpPr/>
          <p:nvPr/>
        </p:nvSpPr>
        <p:spPr bwMode="auto">
          <a:xfrm>
            <a:off x="4792921" y="6208616"/>
            <a:ext cx="133200" cy="149120"/>
          </a:xfrm>
          <a:prstGeom prst="roundRect">
            <a:avLst/>
          </a:prstGeom>
          <a:solidFill>
            <a:srgbClr val="FFFFFF"/>
          </a:solidFill>
          <a:ln w="6350" algn="ctr">
            <a:solidFill>
              <a:srgbClr val="C00000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65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54" name="모서리가 둥근 직사각형 378">
            <a:extLst>
              <a:ext uri="{FF2B5EF4-FFF2-40B4-BE49-F238E27FC236}">
                <a16:creationId xmlns:a16="http://schemas.microsoft.com/office/drawing/2014/main" id="{AB6F95D6-C969-A59E-D60B-ED85CA083E71}"/>
              </a:ext>
            </a:extLst>
          </p:cNvPr>
          <p:cNvSpPr/>
          <p:nvPr/>
        </p:nvSpPr>
        <p:spPr bwMode="auto">
          <a:xfrm>
            <a:off x="4971581" y="6208616"/>
            <a:ext cx="133200" cy="149120"/>
          </a:xfrm>
          <a:prstGeom prst="roundRect">
            <a:avLst/>
          </a:prstGeom>
          <a:solidFill>
            <a:srgbClr val="FFFFFF"/>
          </a:solidFill>
          <a:ln w="6350" algn="ctr">
            <a:solidFill>
              <a:srgbClr val="C00000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55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712" name="TextBox 1711">
            <a:extLst>
              <a:ext uri="{FF2B5EF4-FFF2-40B4-BE49-F238E27FC236}">
                <a16:creationId xmlns:a16="http://schemas.microsoft.com/office/drawing/2014/main" id="{5882C2A3-0A68-7801-C80D-AB00637CE72D}"/>
              </a:ext>
            </a:extLst>
          </p:cNvPr>
          <p:cNvSpPr txBox="1"/>
          <p:nvPr/>
        </p:nvSpPr>
        <p:spPr>
          <a:xfrm>
            <a:off x="10333619" y="753849"/>
            <a:ext cx="480901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itchFamily="34" charset="0"/>
              </a:rPr>
              <a:t>에너지 등급</a:t>
            </a:r>
            <a:endParaRPr kumimoji="0" lang="en-US" altLang="ko-KR" sz="8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itchFamily="34" charset="0"/>
            </a:endParaRPr>
          </a:p>
        </p:txBody>
      </p:sp>
      <p:sp>
        <p:nvSpPr>
          <p:cNvPr id="1286" name="Rectangle 3936">
            <a:extLst>
              <a:ext uri="{FF2B5EF4-FFF2-40B4-BE49-F238E27FC236}">
                <a16:creationId xmlns:a16="http://schemas.microsoft.com/office/drawing/2014/main" id="{C7C52E02-84C7-F624-9BFA-CA250535C6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9868" y="5874842"/>
            <a:ext cx="720000" cy="144000"/>
          </a:xfrm>
          <a:prstGeom prst="rect">
            <a:avLst/>
          </a:prstGeom>
          <a:solidFill>
            <a:srgbClr val="CC3300"/>
          </a:solidFill>
          <a:ln w="3175" cap="flat" cmpd="sng" algn="ctr">
            <a:solidFill>
              <a:srgbClr val="FFFFFF">
                <a:lumMod val="50000"/>
              </a:srgbClr>
            </a:solidFill>
            <a:prstDash val="solid"/>
          </a:ln>
          <a:effectLst/>
        </p:spPr>
        <p:txBody>
          <a:bodyPr wrap="none" lIns="0" tIns="45714" rIns="72000" bIns="45714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/>
                <a:ea typeface="LG스마트체2.0 Regular"/>
                <a:cs typeface="+mn-cs"/>
              </a:rPr>
              <a:t>LX7B6LA</a:t>
            </a:r>
          </a:p>
        </p:txBody>
      </p:sp>
      <p:sp>
        <p:nvSpPr>
          <p:cNvPr id="1289" name="직사각형 1288">
            <a:extLst>
              <a:ext uri="{FF2B5EF4-FFF2-40B4-BE49-F238E27FC236}">
                <a16:creationId xmlns:a16="http://schemas.microsoft.com/office/drawing/2014/main" id="{DFD9CD94-5195-FC91-6564-BD707185F0D4}"/>
              </a:ext>
            </a:extLst>
          </p:cNvPr>
          <p:cNvSpPr/>
          <p:nvPr/>
        </p:nvSpPr>
        <p:spPr>
          <a:xfrm>
            <a:off x="3088834" y="5909890"/>
            <a:ext cx="180000" cy="108000"/>
          </a:xfrm>
          <a:prstGeom prst="rect">
            <a:avLst/>
          </a:prstGeom>
          <a:solidFill>
            <a:srgbClr val="FFC000"/>
          </a:solidFill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JDM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</p:txBody>
      </p:sp>
      <p:sp>
        <p:nvSpPr>
          <p:cNvPr id="1290" name="TextBox 1289">
            <a:extLst>
              <a:ext uri="{FF2B5EF4-FFF2-40B4-BE49-F238E27FC236}">
                <a16:creationId xmlns:a16="http://schemas.microsoft.com/office/drawing/2014/main" id="{ADFF1557-7CA6-1181-D8CC-F866534A6D1F}"/>
              </a:ext>
            </a:extLst>
          </p:cNvPr>
          <p:cNvSpPr txBox="1"/>
          <p:nvPr/>
        </p:nvSpPr>
        <p:spPr>
          <a:xfrm>
            <a:off x="3902688" y="5897749"/>
            <a:ext cx="838371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itchFamily="34" charset="0"/>
              </a:rPr>
              <a:t>Gallery</a:t>
            </a: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itchFamily="34" charset="0"/>
              </a:rPr>
              <a:t> </a:t>
            </a: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itchFamily="34" charset="0"/>
              </a:rPr>
              <a:t>TV</a:t>
            </a: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itchFamily="34" charset="0"/>
              </a:rPr>
              <a:t> </a:t>
            </a: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itchFamily="34" charset="0"/>
              </a:rPr>
              <a:t>with</a:t>
            </a: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itchFamily="34" charset="0"/>
              </a:rPr>
              <a:t> </a:t>
            </a: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itchFamily="34" charset="0"/>
              </a:rPr>
              <a:t>Frame</a:t>
            </a:r>
          </a:p>
        </p:txBody>
      </p:sp>
      <p:sp>
        <p:nvSpPr>
          <p:cNvPr id="1727" name="TextBox 1726">
            <a:extLst>
              <a:ext uri="{FF2B5EF4-FFF2-40B4-BE49-F238E27FC236}">
                <a16:creationId xmlns:a16="http://schemas.microsoft.com/office/drawing/2014/main" id="{4B776C8B-D4A8-46A3-6265-374B442F18CF}"/>
              </a:ext>
            </a:extLst>
          </p:cNvPr>
          <p:cNvSpPr txBox="1"/>
          <p:nvPr/>
        </p:nvSpPr>
        <p:spPr>
          <a:xfrm>
            <a:off x="3077890" y="5590795"/>
            <a:ext cx="269306" cy="12311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>
            <a:noAutofit/>
          </a:bodyPr>
          <a:lstStyle>
            <a:defPPr>
              <a:defRPr lang="ko-KR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1" i="0" u="none" strike="noStrike" cap="none" spc="0" normalizeH="0" baseline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월드컵</a:t>
            </a:r>
            <a:endParaRPr kumimoji="0" lang="en-US" altLang="ko-KR" sz="800" b="1" i="0" u="none" strike="noStrike" kern="120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</p:txBody>
      </p:sp>
      <p:sp>
        <p:nvSpPr>
          <p:cNvPr id="1291" name="TextBox 1290">
            <a:extLst>
              <a:ext uri="{FF2B5EF4-FFF2-40B4-BE49-F238E27FC236}">
                <a16:creationId xmlns:a16="http://schemas.microsoft.com/office/drawing/2014/main" id="{8C7BFE47-6C2A-3362-2953-7A9BE4691DD0}"/>
              </a:ext>
            </a:extLst>
          </p:cNvPr>
          <p:cNvSpPr txBox="1"/>
          <p:nvPr/>
        </p:nvSpPr>
        <p:spPr>
          <a:xfrm>
            <a:off x="3077890" y="6217650"/>
            <a:ext cx="269306" cy="12311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>
            <a:noAutofit/>
          </a:bodyPr>
          <a:lstStyle>
            <a:defPPr>
              <a:defRPr lang="ko-KR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1" i="0" u="none" strike="noStrike" cap="none" spc="0" normalizeH="0" baseline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월드컵</a:t>
            </a:r>
            <a:endParaRPr kumimoji="0" lang="en-US" altLang="ko-KR" sz="800" b="1" i="0" u="none" strike="noStrike" kern="120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</p:txBody>
      </p:sp>
      <p:sp>
        <p:nvSpPr>
          <p:cNvPr id="1642" name="모서리가 둥근 직사각형 375">
            <a:extLst>
              <a:ext uri="{FF2B5EF4-FFF2-40B4-BE49-F238E27FC236}">
                <a16:creationId xmlns:a16="http://schemas.microsoft.com/office/drawing/2014/main" id="{7779EB75-C238-3A02-A7DA-B47255817637}"/>
              </a:ext>
            </a:extLst>
          </p:cNvPr>
          <p:cNvSpPr/>
          <p:nvPr/>
        </p:nvSpPr>
        <p:spPr bwMode="auto">
          <a:xfrm>
            <a:off x="5474607" y="5748629"/>
            <a:ext cx="133200" cy="149120"/>
          </a:xfrm>
          <a:prstGeom prst="roundRect">
            <a:avLst/>
          </a:prstGeom>
          <a:solidFill>
            <a:srgbClr val="FFFFFF"/>
          </a:solidFill>
          <a:ln w="6350" algn="ctr">
            <a:solidFill>
              <a:srgbClr val="C00000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32</a:t>
            </a: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724" name="실행 단추: 앞으로 또는 다음으로 이동 1723">
            <a:hlinkClick r:id="rId13" action="ppaction://hlinksldjump" highlightClick="1"/>
            <a:extLst>
              <a:ext uri="{FF2B5EF4-FFF2-40B4-BE49-F238E27FC236}">
                <a16:creationId xmlns:a16="http://schemas.microsoft.com/office/drawing/2014/main" id="{8F235565-4F22-E246-0421-A6EE5EB976F8}"/>
              </a:ext>
            </a:extLst>
          </p:cNvPr>
          <p:cNvSpPr/>
          <p:nvPr/>
        </p:nvSpPr>
        <p:spPr>
          <a:xfrm>
            <a:off x="5961561" y="2066812"/>
            <a:ext cx="131636" cy="112441"/>
          </a:xfrm>
          <a:prstGeom prst="actionButtonForwardNex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92" name="실행 단추: 앞으로 또는 다음으로 이동 1291">
            <a:hlinkClick r:id="rId14" action="ppaction://hlinksldjump" highlightClick="1"/>
            <a:extLst>
              <a:ext uri="{FF2B5EF4-FFF2-40B4-BE49-F238E27FC236}">
                <a16:creationId xmlns:a16="http://schemas.microsoft.com/office/drawing/2014/main" id="{1CCAB3B2-7BA8-DBB0-1A41-66AB4A2DF38B}"/>
              </a:ext>
            </a:extLst>
          </p:cNvPr>
          <p:cNvSpPr/>
          <p:nvPr/>
        </p:nvSpPr>
        <p:spPr>
          <a:xfrm>
            <a:off x="6009022" y="4440420"/>
            <a:ext cx="131636" cy="112441"/>
          </a:xfrm>
          <a:prstGeom prst="actionButtonForwardNex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93" name="실행 단추: 앞으로 또는 다음으로 이동 1292">
            <a:hlinkClick r:id="rId15" action="ppaction://hlinksldjump" highlightClick="1"/>
            <a:extLst>
              <a:ext uri="{FF2B5EF4-FFF2-40B4-BE49-F238E27FC236}">
                <a16:creationId xmlns:a16="http://schemas.microsoft.com/office/drawing/2014/main" id="{C697B1CA-17A1-BDC6-5088-41A57323397E}"/>
              </a:ext>
            </a:extLst>
          </p:cNvPr>
          <p:cNvSpPr/>
          <p:nvPr/>
        </p:nvSpPr>
        <p:spPr>
          <a:xfrm>
            <a:off x="10146174" y="769686"/>
            <a:ext cx="131636" cy="112441"/>
          </a:xfrm>
          <a:prstGeom prst="actionButtonForwardNex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94" name="실행 단추: 앞으로 또는 다음으로 이동 1293">
            <a:hlinkClick r:id="rId16" action="ppaction://hlinksldjump" highlightClick="1"/>
            <a:extLst>
              <a:ext uri="{FF2B5EF4-FFF2-40B4-BE49-F238E27FC236}">
                <a16:creationId xmlns:a16="http://schemas.microsoft.com/office/drawing/2014/main" id="{267F27EC-D681-BCEC-8EB6-59A667998EAF}"/>
              </a:ext>
            </a:extLst>
          </p:cNvPr>
          <p:cNvSpPr/>
          <p:nvPr/>
        </p:nvSpPr>
        <p:spPr>
          <a:xfrm>
            <a:off x="10146174" y="555745"/>
            <a:ext cx="131636" cy="112441"/>
          </a:xfrm>
          <a:prstGeom prst="actionButtonForwardNex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95" name="실행 단추: 앞으로 또는 다음으로 이동 1294">
            <a:hlinkClick r:id="rId17" action="ppaction://hlinksldjump" highlightClick="1"/>
            <a:extLst>
              <a:ext uri="{FF2B5EF4-FFF2-40B4-BE49-F238E27FC236}">
                <a16:creationId xmlns:a16="http://schemas.microsoft.com/office/drawing/2014/main" id="{947674B8-07CE-90CA-0C96-32A305399D15}"/>
              </a:ext>
            </a:extLst>
          </p:cNvPr>
          <p:cNvSpPr/>
          <p:nvPr/>
        </p:nvSpPr>
        <p:spPr>
          <a:xfrm>
            <a:off x="10927662" y="555745"/>
            <a:ext cx="131636" cy="112441"/>
          </a:xfrm>
          <a:prstGeom prst="actionButtonForwardNex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96" name="실행 단추: 앞으로 또는 다음으로 이동 1295">
            <a:hlinkClick r:id="rId18" action="ppaction://hlinksldjump" highlightClick="1"/>
            <a:extLst>
              <a:ext uri="{FF2B5EF4-FFF2-40B4-BE49-F238E27FC236}">
                <a16:creationId xmlns:a16="http://schemas.microsoft.com/office/drawing/2014/main" id="{D31FB0E9-E1D9-0608-A8CE-7E52B0B5D434}"/>
              </a:ext>
            </a:extLst>
          </p:cNvPr>
          <p:cNvSpPr/>
          <p:nvPr/>
        </p:nvSpPr>
        <p:spPr>
          <a:xfrm>
            <a:off x="10927662" y="756973"/>
            <a:ext cx="131636" cy="112441"/>
          </a:xfrm>
          <a:prstGeom prst="actionButtonForwardNex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97" name="실행 단추: 앞으로 또는 다음으로 이동 1296">
            <a:hlinkClick r:id="rId19" action="ppaction://hlinksldjump" highlightClick="1"/>
            <a:extLst>
              <a:ext uri="{FF2B5EF4-FFF2-40B4-BE49-F238E27FC236}">
                <a16:creationId xmlns:a16="http://schemas.microsoft.com/office/drawing/2014/main" id="{54731EC3-805F-B27B-92E8-0CDBB19E1DF1}"/>
              </a:ext>
            </a:extLst>
          </p:cNvPr>
          <p:cNvSpPr/>
          <p:nvPr/>
        </p:nvSpPr>
        <p:spPr>
          <a:xfrm>
            <a:off x="10390001" y="5562857"/>
            <a:ext cx="131636" cy="112441"/>
          </a:xfrm>
          <a:prstGeom prst="actionButtonForwardNex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24632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>
            <a:spLocks noChangeArrowheads="1"/>
          </p:cNvSpPr>
          <p:nvPr/>
        </p:nvSpPr>
        <p:spPr bwMode="auto">
          <a:xfrm>
            <a:off x="293657" y="72162"/>
            <a:ext cx="2790939" cy="4000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91336" tIns="45671" rIns="91336" bIns="45671">
            <a:spAutoFit/>
          </a:bodyPr>
          <a:lstStyle>
            <a:defPPr>
              <a:defRPr lang="ko-KR"/>
            </a:defPPr>
            <a:lvl1pPr marL="342651" indent="-342651" defTabSz="913739" eaLnBrk="0" hangingPunct="0">
              <a:defRPr sz="2000" b="1">
                <a:solidFill>
                  <a:prstClr val="black">
                    <a:lumMod val="95000"/>
                    <a:lumOff val="5000"/>
                  </a:prstClr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defRPr>
            </a:lvl1pPr>
          </a:lstStyle>
          <a:p>
            <a:pPr marL="342651" marR="0" lvl="0" indent="-342651" algn="l" defTabSz="913739" rtl="0" eaLnBrk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/>
                <a:ea typeface="LG스마트체 Regular" pitchFamily="50" charset="-127"/>
                <a:cs typeface="Arial" pitchFamily="34" charset="0"/>
              </a:rPr>
              <a:t>’26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/>
                <a:ea typeface="LG스마트체 Regular" pitchFamily="50" charset="-127"/>
                <a:cs typeface="Arial" pitchFamily="34" charset="0"/>
              </a:rPr>
              <a:t>년 유럽 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/>
                <a:ea typeface="LG스마트체 Regular" pitchFamily="50" charset="-127"/>
                <a:cs typeface="Arial" pitchFamily="34" charset="0"/>
              </a:rPr>
              <a:t>TV PRM 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/>
                <a:ea typeface="LG스마트체 Regular" pitchFamily="50" charset="-127"/>
                <a:cs typeface="Arial" pitchFamily="34" charset="0"/>
              </a:rPr>
              <a:t>운영안</a:t>
            </a:r>
            <a:endParaRPr kumimoji="0" lang="en-US" altLang="ko-KR" sz="2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Arial Narrow"/>
              <a:ea typeface="LG스마트체 Regular" pitchFamily="50" charset="-127"/>
              <a:cs typeface="Arial" pitchFamily="34" charset="0"/>
            </a:endParaRPr>
          </a:p>
        </p:txBody>
      </p:sp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8580590" y="65191"/>
            <a:ext cx="3611410" cy="4000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lIns="91336" tIns="45671" rIns="91336" bIns="45671">
            <a:spAutoFit/>
          </a:bodyPr>
          <a:lstStyle>
            <a:defPPr>
              <a:defRPr lang="ko-KR"/>
            </a:defPPr>
            <a:lvl1pPr marL="342651" indent="-342651" defTabSz="913739" eaLnBrk="0" hangingPunct="0">
              <a:defRPr sz="2000" b="1">
                <a:solidFill>
                  <a:prstClr val="black">
                    <a:lumMod val="95000"/>
                    <a:lumOff val="5000"/>
                  </a:prstClr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defRPr>
            </a:lvl1pPr>
          </a:lstStyle>
          <a:p>
            <a:pPr marL="342651" marR="0" lvl="0" indent="-342651" algn="l" defTabSz="913739" rtl="0" eaLnBrk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/>
                <a:ea typeface="LG스마트체 Regular" pitchFamily="50" charset="-127"/>
                <a:cs typeface="Arial" pitchFamily="34" charset="0"/>
              </a:rPr>
              <a:t>디자인 의장 및 스펙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/>
                <a:ea typeface="LG스마트체 Regular" pitchFamily="50" charset="-127"/>
                <a:cs typeface="Arial" pitchFamily="34" charset="0"/>
              </a:rPr>
              <a:t>(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/>
                <a:ea typeface="LG스마트체 Regular" pitchFamily="50" charset="-127"/>
                <a:cs typeface="Arial" pitchFamily="34" charset="0"/>
              </a:rPr>
              <a:t>리모컨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/>
                <a:ea typeface="LG스마트체 Regular" pitchFamily="50" charset="-127"/>
                <a:cs typeface="Arial" pitchFamily="34" charset="0"/>
              </a:rPr>
              <a:t>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/>
                <a:ea typeface="LG스마트체 Regular" pitchFamily="50" charset="-127"/>
                <a:cs typeface="Arial" pitchFamily="34" charset="0"/>
              </a:rPr>
              <a:t>변경 가능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/>
                <a:ea typeface="LG스마트체 Regular" pitchFamily="50" charset="-127"/>
                <a:cs typeface="Arial" pitchFamily="34" charset="0"/>
              </a:rPr>
              <a:t>)</a:t>
            </a:r>
            <a:endParaRPr kumimoji="0" lang="ko-KR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Arial Narrow"/>
              <a:ea typeface="LG스마트체 Regular" pitchFamily="50" charset="-127"/>
              <a:cs typeface="Arial" pitchFamily="34" charset="0"/>
            </a:endParaRPr>
          </a:p>
        </p:txBody>
      </p:sp>
      <p:sp>
        <p:nvSpPr>
          <p:cNvPr id="223" name="직사각형 128">
            <a:extLst>
              <a:ext uri="{FF2B5EF4-FFF2-40B4-BE49-F238E27FC236}">
                <a16:creationId xmlns:a16="http://schemas.microsoft.com/office/drawing/2014/main" id="{E7309CB7-A407-4112-B73D-1C584EA426BD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201446" y="685225"/>
            <a:ext cx="479348" cy="1771980"/>
          </a:xfrm>
          <a:prstGeom prst="rect">
            <a:avLst/>
          </a:prstGeom>
          <a:solidFill>
            <a:sysClr val="window" lastClr="FFFFFF"/>
          </a:solidFill>
          <a:ln w="6350">
            <a:solidFill>
              <a:srgbClr val="231F2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OLED</a:t>
            </a:r>
            <a:endParaRPr kumimoji="0" lang="ko-KR" altLang="en-US" sz="12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24" name="직사각형 128">
            <a:extLst>
              <a:ext uri="{FF2B5EF4-FFF2-40B4-BE49-F238E27FC236}">
                <a16:creationId xmlns:a16="http://schemas.microsoft.com/office/drawing/2014/main" id="{15DFB7FD-2D5D-483A-AB3B-851FC448B81B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99573" y="2489862"/>
            <a:ext cx="479348" cy="956778"/>
          </a:xfrm>
          <a:prstGeom prst="rect">
            <a:avLst/>
          </a:prstGeom>
          <a:solidFill>
            <a:sysClr val="window" lastClr="FFFFFF"/>
          </a:solidFill>
          <a:ln w="6350">
            <a:solidFill>
              <a:srgbClr val="231F2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MLED</a:t>
            </a:r>
            <a:endParaRPr kumimoji="0" lang="ko-KR" altLang="en-US" sz="12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grpSp>
        <p:nvGrpSpPr>
          <p:cNvPr id="225" name="그룹 224">
            <a:extLst>
              <a:ext uri="{FF2B5EF4-FFF2-40B4-BE49-F238E27FC236}">
                <a16:creationId xmlns:a16="http://schemas.microsoft.com/office/drawing/2014/main" id="{60DE5677-050B-408E-809B-4FCD0BE3E361}"/>
              </a:ext>
            </a:extLst>
          </p:cNvPr>
          <p:cNvGrpSpPr/>
          <p:nvPr/>
        </p:nvGrpSpPr>
        <p:grpSpPr>
          <a:xfrm>
            <a:off x="7082963" y="498421"/>
            <a:ext cx="540946" cy="180155"/>
            <a:chOff x="7437679" y="1129146"/>
            <a:chExt cx="540946" cy="232905"/>
          </a:xfrm>
        </p:grpSpPr>
        <p:sp>
          <p:nvSpPr>
            <p:cNvPr id="226" name="TextBox 225">
              <a:extLst>
                <a:ext uri="{FF2B5EF4-FFF2-40B4-BE49-F238E27FC236}">
                  <a16:creationId xmlns:a16="http://schemas.microsoft.com/office/drawing/2014/main" id="{A9DE47B2-0BDA-490F-9D42-2C07EC021D1A}"/>
                </a:ext>
              </a:extLst>
            </p:cNvPr>
            <p:cNvSpPr txBox="1"/>
            <p:nvPr/>
          </p:nvSpPr>
          <p:spPr>
            <a:xfrm>
              <a:off x="7584721" y="1129146"/>
              <a:ext cx="246862" cy="1692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LG스마트체 Regular"/>
                  <a:cs typeface="+mn-cs"/>
                </a:rPr>
                <a:t>밝기</a:t>
              </a:r>
              <a:endPara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endParaRPr>
            </a:p>
          </p:txBody>
        </p:sp>
        <p:cxnSp>
          <p:nvCxnSpPr>
            <p:cNvPr id="227" name="직선 연결선 226">
              <a:extLst>
                <a:ext uri="{FF2B5EF4-FFF2-40B4-BE49-F238E27FC236}">
                  <a16:creationId xmlns:a16="http://schemas.microsoft.com/office/drawing/2014/main" id="{83C844E9-02E8-4BFE-948E-5A14FC159DA1}"/>
                </a:ext>
              </a:extLst>
            </p:cNvPr>
            <p:cNvCxnSpPr/>
            <p:nvPr/>
          </p:nvCxnSpPr>
          <p:spPr>
            <a:xfrm>
              <a:off x="7437679" y="1362051"/>
              <a:ext cx="540946" cy="0"/>
            </a:xfrm>
            <a:prstGeom prst="line">
              <a:avLst/>
            </a:prstGeom>
            <a:noFill/>
            <a:ln w="6350" cap="flat" cmpd="sng" algn="ctr">
              <a:solidFill>
                <a:srgbClr val="000000"/>
              </a:solidFill>
              <a:prstDash val="solid"/>
            </a:ln>
            <a:effectLst/>
          </p:spPr>
        </p:cxnSp>
      </p:grpSp>
      <p:grpSp>
        <p:nvGrpSpPr>
          <p:cNvPr id="228" name="그룹 227">
            <a:extLst>
              <a:ext uri="{FF2B5EF4-FFF2-40B4-BE49-F238E27FC236}">
                <a16:creationId xmlns:a16="http://schemas.microsoft.com/office/drawing/2014/main" id="{481978BE-9AFA-471A-8EFD-AC89681E10AF}"/>
              </a:ext>
            </a:extLst>
          </p:cNvPr>
          <p:cNvGrpSpPr/>
          <p:nvPr/>
        </p:nvGrpSpPr>
        <p:grpSpPr>
          <a:xfrm>
            <a:off x="8169460" y="498421"/>
            <a:ext cx="411872" cy="180155"/>
            <a:chOff x="8054179" y="1129146"/>
            <a:chExt cx="411872" cy="232905"/>
          </a:xfrm>
        </p:grpSpPr>
        <p:sp>
          <p:nvSpPr>
            <p:cNvPr id="229" name="TextBox 228">
              <a:extLst>
                <a:ext uri="{FF2B5EF4-FFF2-40B4-BE49-F238E27FC236}">
                  <a16:creationId xmlns:a16="http://schemas.microsoft.com/office/drawing/2014/main" id="{D9B1E32B-4DC0-4F3C-8448-AAFB467A9A8D}"/>
                </a:ext>
              </a:extLst>
            </p:cNvPr>
            <p:cNvSpPr txBox="1"/>
            <p:nvPr/>
          </p:nvSpPr>
          <p:spPr>
            <a:xfrm>
              <a:off x="8144699" y="1129146"/>
              <a:ext cx="230832" cy="1692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100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LG스마트체 Regular"/>
                  <a:cs typeface="+mn-cs"/>
                </a:rPr>
                <a:t>SoC</a:t>
              </a:r>
              <a:endPara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endParaRPr>
            </a:p>
          </p:txBody>
        </p:sp>
        <p:cxnSp>
          <p:nvCxnSpPr>
            <p:cNvPr id="230" name="직선 연결선 229">
              <a:extLst>
                <a:ext uri="{FF2B5EF4-FFF2-40B4-BE49-F238E27FC236}">
                  <a16:creationId xmlns:a16="http://schemas.microsoft.com/office/drawing/2014/main" id="{45BB367A-CF0E-4985-9E46-AE418C7B00A6}"/>
                </a:ext>
              </a:extLst>
            </p:cNvPr>
            <p:cNvCxnSpPr/>
            <p:nvPr/>
          </p:nvCxnSpPr>
          <p:spPr>
            <a:xfrm>
              <a:off x="8054179" y="1362051"/>
              <a:ext cx="411872" cy="0"/>
            </a:xfrm>
            <a:prstGeom prst="line">
              <a:avLst/>
            </a:prstGeom>
            <a:noFill/>
            <a:ln w="6350" cap="flat" cmpd="sng" algn="ctr">
              <a:solidFill>
                <a:srgbClr val="000000"/>
              </a:solidFill>
              <a:prstDash val="solid"/>
            </a:ln>
            <a:effectLst/>
          </p:spPr>
        </p:cxnSp>
      </p:grpSp>
      <p:grpSp>
        <p:nvGrpSpPr>
          <p:cNvPr id="231" name="그룹 230">
            <a:extLst>
              <a:ext uri="{FF2B5EF4-FFF2-40B4-BE49-F238E27FC236}">
                <a16:creationId xmlns:a16="http://schemas.microsoft.com/office/drawing/2014/main" id="{DD3A71F3-5780-41AF-AF81-C078BD6B25B5}"/>
              </a:ext>
            </a:extLst>
          </p:cNvPr>
          <p:cNvGrpSpPr/>
          <p:nvPr/>
        </p:nvGrpSpPr>
        <p:grpSpPr>
          <a:xfrm>
            <a:off x="9185264" y="498421"/>
            <a:ext cx="411872" cy="180155"/>
            <a:chOff x="8964156" y="1129146"/>
            <a:chExt cx="411872" cy="232905"/>
          </a:xfrm>
        </p:grpSpPr>
        <p:sp>
          <p:nvSpPr>
            <p:cNvPr id="232" name="TextBox 231">
              <a:extLst>
                <a:ext uri="{FF2B5EF4-FFF2-40B4-BE49-F238E27FC236}">
                  <a16:creationId xmlns:a16="http://schemas.microsoft.com/office/drawing/2014/main" id="{CCED7E79-31B4-412B-A05A-F0F5499488AB}"/>
                </a:ext>
              </a:extLst>
            </p:cNvPr>
            <p:cNvSpPr txBox="1"/>
            <p:nvPr/>
          </p:nvSpPr>
          <p:spPr>
            <a:xfrm>
              <a:off x="8984946" y="1129146"/>
              <a:ext cx="370293" cy="1692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LG스마트체 Regular"/>
                  <a:cs typeface="+mn-cs"/>
                </a:rPr>
                <a:t>사운드</a:t>
              </a:r>
            </a:p>
          </p:txBody>
        </p:sp>
        <p:cxnSp>
          <p:nvCxnSpPr>
            <p:cNvPr id="233" name="직선 연결선 232">
              <a:extLst>
                <a:ext uri="{FF2B5EF4-FFF2-40B4-BE49-F238E27FC236}">
                  <a16:creationId xmlns:a16="http://schemas.microsoft.com/office/drawing/2014/main" id="{663D8A1C-2508-45C4-A4A5-39DA020545AE}"/>
                </a:ext>
              </a:extLst>
            </p:cNvPr>
            <p:cNvCxnSpPr/>
            <p:nvPr/>
          </p:nvCxnSpPr>
          <p:spPr>
            <a:xfrm>
              <a:off x="8964156" y="1362051"/>
              <a:ext cx="411872" cy="0"/>
            </a:xfrm>
            <a:prstGeom prst="line">
              <a:avLst/>
            </a:prstGeom>
            <a:noFill/>
            <a:ln w="6350" cap="flat" cmpd="sng" algn="ctr">
              <a:solidFill>
                <a:srgbClr val="000000"/>
              </a:solidFill>
              <a:prstDash val="solid"/>
            </a:ln>
            <a:effectLst/>
          </p:spPr>
        </p:cxnSp>
      </p:grpSp>
      <p:grpSp>
        <p:nvGrpSpPr>
          <p:cNvPr id="234" name="그룹 233">
            <a:extLst>
              <a:ext uri="{FF2B5EF4-FFF2-40B4-BE49-F238E27FC236}">
                <a16:creationId xmlns:a16="http://schemas.microsoft.com/office/drawing/2014/main" id="{6CAFDA3A-E988-411B-ACC5-D04202DDD1CC}"/>
              </a:ext>
            </a:extLst>
          </p:cNvPr>
          <p:cNvGrpSpPr/>
          <p:nvPr/>
        </p:nvGrpSpPr>
        <p:grpSpPr>
          <a:xfrm>
            <a:off x="10161926" y="476066"/>
            <a:ext cx="411872" cy="257606"/>
            <a:chOff x="9404439" y="1000894"/>
            <a:chExt cx="411872" cy="361157"/>
          </a:xfrm>
        </p:grpSpPr>
        <p:sp>
          <p:nvSpPr>
            <p:cNvPr id="235" name="TextBox 234">
              <a:extLst>
                <a:ext uri="{FF2B5EF4-FFF2-40B4-BE49-F238E27FC236}">
                  <a16:creationId xmlns:a16="http://schemas.microsoft.com/office/drawing/2014/main" id="{92630895-9D94-436E-BC91-D8DD2F89C3A8}"/>
                </a:ext>
              </a:extLst>
            </p:cNvPr>
            <p:cNvSpPr txBox="1"/>
            <p:nvPr/>
          </p:nvSpPr>
          <p:spPr>
            <a:xfrm>
              <a:off x="9482135" y="1000894"/>
              <a:ext cx="256480" cy="1692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LG스마트체 Regular"/>
                  <a:cs typeface="+mn-cs"/>
                </a:rPr>
                <a:t>Jack</a:t>
              </a:r>
              <a:endPara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endParaRPr>
            </a:p>
          </p:txBody>
        </p:sp>
        <p:cxnSp>
          <p:nvCxnSpPr>
            <p:cNvPr id="236" name="직선 연결선 235">
              <a:extLst>
                <a:ext uri="{FF2B5EF4-FFF2-40B4-BE49-F238E27FC236}">
                  <a16:creationId xmlns:a16="http://schemas.microsoft.com/office/drawing/2014/main" id="{F1BF065E-ED15-4039-BB4E-5096EFE18CE7}"/>
                </a:ext>
              </a:extLst>
            </p:cNvPr>
            <p:cNvCxnSpPr>
              <a:cxnSpLocks/>
            </p:cNvCxnSpPr>
            <p:nvPr/>
          </p:nvCxnSpPr>
          <p:spPr>
            <a:xfrm>
              <a:off x="9404439" y="1362051"/>
              <a:ext cx="411872" cy="0"/>
            </a:xfrm>
            <a:prstGeom prst="line">
              <a:avLst/>
            </a:prstGeom>
            <a:noFill/>
            <a:ln w="6350" cap="flat" cmpd="sng" algn="ctr">
              <a:solidFill>
                <a:srgbClr val="000000"/>
              </a:solidFill>
              <a:prstDash val="solid"/>
            </a:ln>
            <a:effectLst/>
          </p:spPr>
        </p:cxnSp>
      </p:grpSp>
      <p:grpSp>
        <p:nvGrpSpPr>
          <p:cNvPr id="237" name="그룹 236">
            <a:extLst>
              <a:ext uri="{FF2B5EF4-FFF2-40B4-BE49-F238E27FC236}">
                <a16:creationId xmlns:a16="http://schemas.microsoft.com/office/drawing/2014/main" id="{9F0C408C-4595-43B5-BE4E-313FA3DED644}"/>
              </a:ext>
            </a:extLst>
          </p:cNvPr>
          <p:cNvGrpSpPr/>
          <p:nvPr/>
        </p:nvGrpSpPr>
        <p:grpSpPr>
          <a:xfrm>
            <a:off x="11266047" y="498421"/>
            <a:ext cx="411872" cy="180155"/>
            <a:chOff x="9928802" y="1129146"/>
            <a:chExt cx="411872" cy="232905"/>
          </a:xfrm>
        </p:grpSpPr>
        <p:sp>
          <p:nvSpPr>
            <p:cNvPr id="238" name="TextBox 237">
              <a:extLst>
                <a:ext uri="{FF2B5EF4-FFF2-40B4-BE49-F238E27FC236}">
                  <a16:creationId xmlns:a16="http://schemas.microsoft.com/office/drawing/2014/main" id="{D4CCFC88-E2D2-4BC5-8004-415D207D8E6C}"/>
                </a:ext>
              </a:extLst>
            </p:cNvPr>
            <p:cNvSpPr txBox="1"/>
            <p:nvPr/>
          </p:nvSpPr>
          <p:spPr>
            <a:xfrm>
              <a:off x="9949591" y="1129146"/>
              <a:ext cx="370294" cy="1692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100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LG스마트체 Regular"/>
                  <a:cs typeface="+mn-cs"/>
                </a:rPr>
                <a:t>리모콘</a:t>
              </a:r>
              <a:endPara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endParaRPr>
            </a:p>
          </p:txBody>
        </p:sp>
        <p:cxnSp>
          <p:nvCxnSpPr>
            <p:cNvPr id="239" name="직선 연결선 238">
              <a:extLst>
                <a:ext uri="{FF2B5EF4-FFF2-40B4-BE49-F238E27FC236}">
                  <a16:creationId xmlns:a16="http://schemas.microsoft.com/office/drawing/2014/main" id="{0161D3C0-2F76-419A-B41C-4714C0AA462B}"/>
                </a:ext>
              </a:extLst>
            </p:cNvPr>
            <p:cNvCxnSpPr/>
            <p:nvPr/>
          </p:nvCxnSpPr>
          <p:spPr>
            <a:xfrm>
              <a:off x="9928802" y="1362051"/>
              <a:ext cx="411872" cy="0"/>
            </a:xfrm>
            <a:prstGeom prst="line">
              <a:avLst/>
            </a:prstGeom>
            <a:noFill/>
            <a:ln w="6350" cap="flat" cmpd="sng" algn="ctr">
              <a:solidFill>
                <a:srgbClr val="000000"/>
              </a:solidFill>
              <a:prstDash val="solid"/>
            </a:ln>
            <a:effectLst/>
          </p:spPr>
        </p:cxnSp>
      </p:grpSp>
      <p:grpSp>
        <p:nvGrpSpPr>
          <p:cNvPr id="240" name="그룹 239">
            <a:extLst>
              <a:ext uri="{FF2B5EF4-FFF2-40B4-BE49-F238E27FC236}">
                <a16:creationId xmlns:a16="http://schemas.microsoft.com/office/drawing/2014/main" id="{0900DED5-6A11-4B6D-B21C-B61C1EACC56C}"/>
              </a:ext>
            </a:extLst>
          </p:cNvPr>
          <p:cNvGrpSpPr/>
          <p:nvPr/>
        </p:nvGrpSpPr>
        <p:grpSpPr>
          <a:xfrm>
            <a:off x="2441637" y="498421"/>
            <a:ext cx="576000" cy="189785"/>
            <a:chOff x="3912723" y="1129146"/>
            <a:chExt cx="576000" cy="232905"/>
          </a:xfrm>
        </p:grpSpPr>
        <p:sp>
          <p:nvSpPr>
            <p:cNvPr id="241" name="TextBox 240">
              <a:extLst>
                <a:ext uri="{FF2B5EF4-FFF2-40B4-BE49-F238E27FC236}">
                  <a16:creationId xmlns:a16="http://schemas.microsoft.com/office/drawing/2014/main" id="{3695DD13-DF98-4AE4-AA4A-931E175370C9}"/>
                </a:ext>
              </a:extLst>
            </p:cNvPr>
            <p:cNvSpPr txBox="1"/>
            <p:nvPr/>
          </p:nvSpPr>
          <p:spPr>
            <a:xfrm>
              <a:off x="4015576" y="1129146"/>
              <a:ext cx="370293" cy="1692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스탠드</a:t>
              </a:r>
              <a:endPara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cxnSp>
          <p:nvCxnSpPr>
            <p:cNvPr id="242" name="직선 연결선 241">
              <a:extLst>
                <a:ext uri="{FF2B5EF4-FFF2-40B4-BE49-F238E27FC236}">
                  <a16:creationId xmlns:a16="http://schemas.microsoft.com/office/drawing/2014/main" id="{315FABED-4891-4F49-B650-4EF2ABBC3C9F}"/>
                </a:ext>
              </a:extLst>
            </p:cNvPr>
            <p:cNvCxnSpPr/>
            <p:nvPr/>
          </p:nvCxnSpPr>
          <p:spPr>
            <a:xfrm>
              <a:off x="3912723" y="1362051"/>
              <a:ext cx="576000" cy="0"/>
            </a:xfrm>
            <a:prstGeom prst="line">
              <a:avLst/>
            </a:prstGeom>
            <a:noFill/>
            <a:ln w="6350" cap="flat" cmpd="sng" algn="ctr">
              <a:solidFill>
                <a:srgbClr val="000000"/>
              </a:solidFill>
              <a:prstDash val="solid"/>
            </a:ln>
            <a:effectLst/>
          </p:spPr>
        </p:cxnSp>
      </p:grpSp>
      <p:grpSp>
        <p:nvGrpSpPr>
          <p:cNvPr id="243" name="그룹 242">
            <a:extLst>
              <a:ext uri="{FF2B5EF4-FFF2-40B4-BE49-F238E27FC236}">
                <a16:creationId xmlns:a16="http://schemas.microsoft.com/office/drawing/2014/main" id="{B9AB2B68-A18E-4180-9D66-64922DED9FAD}"/>
              </a:ext>
            </a:extLst>
          </p:cNvPr>
          <p:cNvGrpSpPr/>
          <p:nvPr/>
        </p:nvGrpSpPr>
        <p:grpSpPr>
          <a:xfrm>
            <a:off x="4109115" y="498421"/>
            <a:ext cx="720111" cy="180155"/>
            <a:chOff x="4869893" y="1129146"/>
            <a:chExt cx="785872" cy="232905"/>
          </a:xfrm>
        </p:grpSpPr>
        <p:sp>
          <p:nvSpPr>
            <p:cNvPr id="244" name="TextBox 243">
              <a:extLst>
                <a:ext uri="{FF2B5EF4-FFF2-40B4-BE49-F238E27FC236}">
                  <a16:creationId xmlns:a16="http://schemas.microsoft.com/office/drawing/2014/main" id="{258AA566-50B8-4010-83E2-EDA0F5373215}"/>
                </a:ext>
              </a:extLst>
            </p:cNvPr>
            <p:cNvSpPr txBox="1"/>
            <p:nvPr/>
          </p:nvSpPr>
          <p:spPr>
            <a:xfrm>
              <a:off x="5128127" y="1129146"/>
              <a:ext cx="269406" cy="1692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두께</a:t>
              </a:r>
              <a:endPara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cxnSp>
          <p:nvCxnSpPr>
            <p:cNvPr id="245" name="직선 연결선 244">
              <a:extLst>
                <a:ext uri="{FF2B5EF4-FFF2-40B4-BE49-F238E27FC236}">
                  <a16:creationId xmlns:a16="http://schemas.microsoft.com/office/drawing/2014/main" id="{FD051038-8480-4BF4-9B53-3DB6AA6D9C7E}"/>
                </a:ext>
              </a:extLst>
            </p:cNvPr>
            <p:cNvCxnSpPr/>
            <p:nvPr/>
          </p:nvCxnSpPr>
          <p:spPr>
            <a:xfrm>
              <a:off x="4869893" y="1362051"/>
              <a:ext cx="785872" cy="0"/>
            </a:xfrm>
            <a:prstGeom prst="line">
              <a:avLst/>
            </a:prstGeom>
            <a:noFill/>
            <a:ln w="6350" cap="flat" cmpd="sng" algn="ctr">
              <a:solidFill>
                <a:srgbClr val="000000"/>
              </a:solidFill>
              <a:prstDash val="solid"/>
            </a:ln>
            <a:effectLst/>
          </p:spPr>
        </p:cxnSp>
      </p:grpSp>
      <p:grpSp>
        <p:nvGrpSpPr>
          <p:cNvPr id="246" name="그룹 245">
            <a:extLst>
              <a:ext uri="{FF2B5EF4-FFF2-40B4-BE49-F238E27FC236}">
                <a16:creationId xmlns:a16="http://schemas.microsoft.com/office/drawing/2014/main" id="{F19A004A-373F-4DF6-938D-3DBFDBEAA278}"/>
              </a:ext>
            </a:extLst>
          </p:cNvPr>
          <p:cNvGrpSpPr/>
          <p:nvPr/>
        </p:nvGrpSpPr>
        <p:grpSpPr>
          <a:xfrm>
            <a:off x="5842744" y="498421"/>
            <a:ext cx="576000" cy="180155"/>
            <a:chOff x="5875746" y="1129146"/>
            <a:chExt cx="576000" cy="232905"/>
          </a:xfrm>
        </p:grpSpPr>
        <p:sp>
          <p:nvSpPr>
            <p:cNvPr id="247" name="TextBox 246">
              <a:extLst>
                <a:ext uri="{FF2B5EF4-FFF2-40B4-BE49-F238E27FC236}">
                  <a16:creationId xmlns:a16="http://schemas.microsoft.com/office/drawing/2014/main" id="{B9897F31-D302-44EE-911B-0EFEDADD51D7}"/>
                </a:ext>
              </a:extLst>
            </p:cNvPr>
            <p:cNvSpPr txBox="1"/>
            <p:nvPr/>
          </p:nvSpPr>
          <p:spPr>
            <a:xfrm>
              <a:off x="5876809" y="1129146"/>
              <a:ext cx="573875" cy="21884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100" b="1" kern="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Front </a:t>
              </a:r>
              <a:r>
                <a:rPr kumimoji="0" lang="ko-KR" altLang="en-US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컬러</a:t>
              </a:r>
              <a:endPara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cxnSp>
          <p:nvCxnSpPr>
            <p:cNvPr id="248" name="직선 연결선 247">
              <a:extLst>
                <a:ext uri="{FF2B5EF4-FFF2-40B4-BE49-F238E27FC236}">
                  <a16:creationId xmlns:a16="http://schemas.microsoft.com/office/drawing/2014/main" id="{7201AEBC-EFDC-4401-8A35-5AF24FE3F38E}"/>
                </a:ext>
              </a:extLst>
            </p:cNvPr>
            <p:cNvCxnSpPr/>
            <p:nvPr/>
          </p:nvCxnSpPr>
          <p:spPr>
            <a:xfrm>
              <a:off x="5875746" y="1362051"/>
              <a:ext cx="576000" cy="0"/>
            </a:xfrm>
            <a:prstGeom prst="line">
              <a:avLst/>
            </a:prstGeom>
            <a:noFill/>
            <a:ln w="6350" cap="flat" cmpd="sng" algn="ctr">
              <a:solidFill>
                <a:srgbClr val="000000"/>
              </a:solidFill>
              <a:prstDash val="solid"/>
            </a:ln>
            <a:effectLst/>
          </p:spPr>
        </p:cxnSp>
      </p:grpSp>
      <p:sp>
        <p:nvSpPr>
          <p:cNvPr id="249" name="TextBox 248">
            <a:extLst>
              <a:ext uri="{FF2B5EF4-FFF2-40B4-BE49-F238E27FC236}">
                <a16:creationId xmlns:a16="http://schemas.microsoft.com/office/drawing/2014/main" id="{158CBFEA-BAD7-40CF-8CA8-81994D28FD63}"/>
              </a:ext>
            </a:extLst>
          </p:cNvPr>
          <p:cNvSpPr txBox="1"/>
          <p:nvPr/>
        </p:nvSpPr>
        <p:spPr>
          <a:xfrm>
            <a:off x="10019048" y="545623"/>
            <a:ext cx="697627" cy="2308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HDMI / USB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50" name="직사각형 249"/>
          <p:cNvSpPr/>
          <p:nvPr/>
        </p:nvSpPr>
        <p:spPr>
          <a:xfrm>
            <a:off x="7415299" y="464470"/>
            <a:ext cx="341113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65”</a:t>
            </a:r>
            <a:endParaRPr kumimoji="0" lang="ko-KR" alt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  <a:lumOff val="50000"/>
                </a:srgbClr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</p:txBody>
      </p:sp>
      <p:cxnSp>
        <p:nvCxnSpPr>
          <p:cNvPr id="251" name="직선 연결선 77"/>
          <p:cNvCxnSpPr>
            <a:cxnSpLocks/>
          </p:cNvCxnSpPr>
          <p:nvPr/>
        </p:nvCxnSpPr>
        <p:spPr bwMode="auto">
          <a:xfrm>
            <a:off x="201560" y="3467009"/>
            <a:ext cx="11628000" cy="0"/>
          </a:xfrm>
          <a:prstGeom prst="line">
            <a:avLst/>
          </a:prstGeom>
          <a:noFill/>
          <a:ln w="6350" algn="ctr">
            <a:solidFill>
              <a:srgbClr val="A6A6A6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52" name="직사각형 251"/>
          <p:cNvSpPr/>
          <p:nvPr/>
        </p:nvSpPr>
        <p:spPr>
          <a:xfrm>
            <a:off x="2853958" y="461810"/>
            <a:ext cx="341113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65”</a:t>
            </a:r>
            <a:endParaRPr kumimoji="0" lang="ko-KR" alt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  <a:lumOff val="50000"/>
                </a:srgbClr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53" name="TextBox 252">
            <a:extLst>
              <a:ext uri="{FF2B5EF4-FFF2-40B4-BE49-F238E27FC236}">
                <a16:creationId xmlns:a16="http://schemas.microsoft.com/office/drawing/2014/main" id="{1BD13292-D6A2-462D-B790-7885D63BD8F3}"/>
              </a:ext>
            </a:extLst>
          </p:cNvPr>
          <p:cNvSpPr txBox="1"/>
          <p:nvPr/>
        </p:nvSpPr>
        <p:spPr>
          <a:xfrm>
            <a:off x="1666294" y="4813287"/>
            <a:ext cx="222818" cy="138499"/>
          </a:xfrm>
          <a:prstGeom prst="rect">
            <a:avLst/>
          </a:prstGeom>
          <a:solidFill>
            <a:srgbClr val="FFFFFF"/>
          </a:solidFill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60Hz</a:t>
            </a:r>
          </a:p>
        </p:txBody>
      </p:sp>
      <p:sp>
        <p:nvSpPr>
          <p:cNvPr id="254" name="Rectangle 3936">
            <a:extLst>
              <a:ext uri="{FF2B5EF4-FFF2-40B4-BE49-F238E27FC236}">
                <a16:creationId xmlns:a16="http://schemas.microsoft.com/office/drawing/2014/main" id="{C6C6A7B9-FCE6-E9A1-9171-7D386C78B0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922" y="2502497"/>
            <a:ext cx="860400" cy="180000"/>
          </a:xfrm>
          <a:prstGeom prst="rect">
            <a:avLst/>
          </a:prstGeom>
          <a:solidFill>
            <a:srgbClr val="00B050"/>
          </a:solidFill>
          <a:ln w="3175" cap="flat" cmpd="sng" algn="ctr">
            <a:noFill/>
            <a:prstDash val="solid"/>
          </a:ln>
          <a:effectLst/>
        </p:spPr>
        <p:txBody>
          <a:bodyPr wrap="none" lIns="91429" tIns="45714" rIns="91429" bIns="45714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/>
                <a:cs typeface="+mn-cs"/>
              </a:rPr>
              <a:t>MRGB96B</a:t>
            </a:r>
          </a:p>
        </p:txBody>
      </p:sp>
      <p:sp>
        <p:nvSpPr>
          <p:cNvPr id="255" name="Rectangle 3936">
            <a:extLst>
              <a:ext uri="{FF2B5EF4-FFF2-40B4-BE49-F238E27FC236}">
                <a16:creationId xmlns:a16="http://schemas.microsoft.com/office/drawing/2014/main" id="{055EF430-2CC6-1226-7EFF-D70AB71299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922" y="4078812"/>
            <a:ext cx="860400" cy="180000"/>
          </a:xfrm>
          <a:prstGeom prst="rect">
            <a:avLst/>
          </a:prstGeom>
          <a:solidFill>
            <a:srgbClr val="CC3300"/>
          </a:solidFill>
          <a:ln w="3175" cap="flat" cmpd="sng" algn="ctr">
            <a:solidFill>
              <a:srgbClr val="FFFFFF">
                <a:lumMod val="50000"/>
              </a:srgbClr>
            </a:solidFill>
            <a:prstDash val="solid"/>
          </a:ln>
          <a:effectLst/>
        </p:spPr>
        <p:txBody>
          <a:bodyPr wrap="none" lIns="0" tIns="45714" rIns="72000" bIns="45714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/>
                <a:cs typeface="+mn-cs"/>
              </a:rPr>
              <a:t>QNED87B</a:t>
            </a:r>
          </a:p>
        </p:txBody>
      </p:sp>
      <p:sp>
        <p:nvSpPr>
          <p:cNvPr id="256" name="Rectangle 3936">
            <a:extLst>
              <a:ext uri="{FF2B5EF4-FFF2-40B4-BE49-F238E27FC236}">
                <a16:creationId xmlns:a16="http://schemas.microsoft.com/office/drawing/2014/main" id="{419BBB68-DA93-9C67-D4B0-86DF43AB0F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922" y="3874776"/>
            <a:ext cx="860400" cy="180000"/>
          </a:xfrm>
          <a:prstGeom prst="rect">
            <a:avLst/>
          </a:prstGeom>
          <a:solidFill>
            <a:srgbClr val="CC3300"/>
          </a:solidFill>
          <a:ln w="3175" cap="flat" cmpd="sng" algn="ctr">
            <a:solidFill>
              <a:srgbClr val="FFFFFF">
                <a:lumMod val="50000"/>
              </a:srgbClr>
            </a:solidFill>
            <a:prstDash val="solid"/>
          </a:ln>
          <a:effectLst/>
        </p:spPr>
        <p:txBody>
          <a:bodyPr wrap="none" lIns="0" tIns="45714" rIns="72000" bIns="45714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/>
                <a:cs typeface="+mn-cs"/>
              </a:rPr>
              <a:t>QNED86B</a:t>
            </a:r>
          </a:p>
        </p:txBody>
      </p:sp>
      <p:sp>
        <p:nvSpPr>
          <p:cNvPr id="257" name="Rectangle 3936">
            <a:extLst>
              <a:ext uri="{FF2B5EF4-FFF2-40B4-BE49-F238E27FC236}">
                <a16:creationId xmlns:a16="http://schemas.microsoft.com/office/drawing/2014/main" id="{CCB5B66E-DE6B-1174-1EFE-77E2D3A6A3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922" y="3679449"/>
            <a:ext cx="860400" cy="180000"/>
          </a:xfrm>
          <a:prstGeom prst="rect">
            <a:avLst/>
          </a:prstGeom>
          <a:solidFill>
            <a:srgbClr val="CC3300"/>
          </a:solidFill>
          <a:ln w="3175" cap="flat" cmpd="sng" algn="ctr">
            <a:solidFill>
              <a:srgbClr val="FFFFFF">
                <a:lumMod val="50000"/>
              </a:srgbClr>
            </a:solidFill>
            <a:prstDash val="solid"/>
          </a:ln>
          <a:effectLst/>
        </p:spPr>
        <p:txBody>
          <a:bodyPr wrap="none" lIns="0" tIns="45714" rIns="0" bIns="45714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/>
                <a:cs typeface="+mn-cs"/>
              </a:rPr>
              <a:t>QNED85B</a:t>
            </a:r>
          </a:p>
        </p:txBody>
      </p:sp>
      <p:sp>
        <p:nvSpPr>
          <p:cNvPr id="258" name="Rectangle 3936">
            <a:extLst>
              <a:ext uri="{FF2B5EF4-FFF2-40B4-BE49-F238E27FC236}">
                <a16:creationId xmlns:a16="http://schemas.microsoft.com/office/drawing/2014/main" id="{E661E7FA-E271-A260-9718-C99C5A7D8C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922" y="3475413"/>
            <a:ext cx="860400" cy="180000"/>
          </a:xfrm>
          <a:prstGeom prst="rect">
            <a:avLst/>
          </a:prstGeom>
          <a:solidFill>
            <a:srgbClr val="CC3300"/>
          </a:solidFill>
          <a:ln w="3175" cap="flat" cmpd="sng" algn="ctr">
            <a:solidFill>
              <a:srgbClr val="FFFFFF">
                <a:lumMod val="50000"/>
              </a:srgbClr>
            </a:solidFill>
            <a:prstDash val="solid"/>
          </a:ln>
          <a:effectLst/>
        </p:spPr>
        <p:txBody>
          <a:bodyPr wrap="none" lIns="0" tIns="45714" rIns="0" bIns="45714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/>
                <a:cs typeface="+mn-cs"/>
              </a:rPr>
              <a:t>QNED93B</a:t>
            </a:r>
          </a:p>
        </p:txBody>
      </p:sp>
      <p:sp>
        <p:nvSpPr>
          <p:cNvPr id="259" name="Rectangle 3936">
            <a:extLst>
              <a:ext uri="{FF2B5EF4-FFF2-40B4-BE49-F238E27FC236}">
                <a16:creationId xmlns:a16="http://schemas.microsoft.com/office/drawing/2014/main" id="{874E08C6-A4AE-58AB-EC57-A2F4CE23A3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922" y="3275261"/>
            <a:ext cx="860400" cy="180000"/>
          </a:xfrm>
          <a:prstGeom prst="rect">
            <a:avLst/>
          </a:prstGeom>
          <a:solidFill>
            <a:srgbClr val="00B050"/>
          </a:solidFill>
          <a:ln w="3175" cap="flat" cmpd="sng" algn="ctr">
            <a:noFill/>
            <a:prstDash val="solid"/>
          </a:ln>
          <a:effectLst/>
        </p:spPr>
        <p:txBody>
          <a:bodyPr wrap="none" lIns="91429" tIns="45714" rIns="91429" bIns="45714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/>
                <a:cs typeface="+mn-cs"/>
              </a:rPr>
              <a:t>MRGB88B</a:t>
            </a:r>
          </a:p>
        </p:txBody>
      </p:sp>
      <p:sp>
        <p:nvSpPr>
          <p:cNvPr id="260" name="Rectangle 3936">
            <a:extLst>
              <a:ext uri="{FF2B5EF4-FFF2-40B4-BE49-F238E27FC236}">
                <a16:creationId xmlns:a16="http://schemas.microsoft.com/office/drawing/2014/main" id="{2F89B40A-5F48-D620-1243-9F2988DD5E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922" y="2695619"/>
            <a:ext cx="860400" cy="180000"/>
          </a:xfrm>
          <a:prstGeom prst="rect">
            <a:avLst/>
          </a:prstGeom>
          <a:solidFill>
            <a:srgbClr val="00B050"/>
          </a:solidFill>
          <a:ln w="3175" cap="flat" cmpd="sng" algn="ctr">
            <a:noFill/>
            <a:prstDash val="solid"/>
          </a:ln>
          <a:effectLst/>
        </p:spPr>
        <p:txBody>
          <a:bodyPr wrap="none" lIns="91429" tIns="45714" rIns="91429" bIns="45714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/>
                <a:cs typeface="+mn-cs"/>
              </a:rPr>
              <a:t>MRGB9MB</a:t>
            </a:r>
          </a:p>
        </p:txBody>
      </p:sp>
      <p:sp>
        <p:nvSpPr>
          <p:cNvPr id="261" name="Rectangle 3936">
            <a:extLst>
              <a:ext uri="{FF2B5EF4-FFF2-40B4-BE49-F238E27FC236}">
                <a16:creationId xmlns:a16="http://schemas.microsoft.com/office/drawing/2014/main" id="{B1076682-6675-3EEB-F9DA-3B250D311A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922" y="2888833"/>
            <a:ext cx="860400" cy="180000"/>
          </a:xfrm>
          <a:prstGeom prst="rect">
            <a:avLst/>
          </a:prstGeom>
          <a:solidFill>
            <a:srgbClr val="00B050"/>
          </a:solidFill>
          <a:ln w="3175" cap="flat" cmpd="sng" algn="ctr">
            <a:noFill/>
            <a:prstDash val="solid"/>
          </a:ln>
          <a:effectLst/>
        </p:spPr>
        <p:txBody>
          <a:bodyPr wrap="none" lIns="91429" tIns="45714" rIns="91429" bIns="45714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/>
                <a:cs typeface="+mn-cs"/>
              </a:rPr>
              <a:t>MRGB86B</a:t>
            </a:r>
          </a:p>
        </p:txBody>
      </p:sp>
      <p:sp>
        <p:nvSpPr>
          <p:cNvPr id="262" name="Rectangle 3936">
            <a:extLst>
              <a:ext uri="{FF2B5EF4-FFF2-40B4-BE49-F238E27FC236}">
                <a16:creationId xmlns:a16="http://schemas.microsoft.com/office/drawing/2014/main" id="{E5D65BBA-DA9D-8572-EA29-A42C1F01C7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922" y="3082047"/>
            <a:ext cx="860400" cy="180000"/>
          </a:xfrm>
          <a:prstGeom prst="rect">
            <a:avLst/>
          </a:prstGeom>
          <a:solidFill>
            <a:srgbClr val="00B050"/>
          </a:solidFill>
          <a:ln w="3175" cap="flat" cmpd="sng" algn="ctr">
            <a:noFill/>
            <a:prstDash val="solid"/>
          </a:ln>
          <a:effectLst/>
        </p:spPr>
        <p:txBody>
          <a:bodyPr wrap="none" lIns="91429" tIns="45714" rIns="91429" bIns="45714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/>
                <a:cs typeface="+mn-cs"/>
              </a:rPr>
              <a:t> MRGB87B</a:t>
            </a:r>
          </a:p>
        </p:txBody>
      </p:sp>
      <p:sp>
        <p:nvSpPr>
          <p:cNvPr id="263" name="Rectangle 3936">
            <a:extLst>
              <a:ext uri="{FF2B5EF4-FFF2-40B4-BE49-F238E27FC236}">
                <a16:creationId xmlns:a16="http://schemas.microsoft.com/office/drawing/2014/main" id="{BC27FE86-FC41-DCCA-9F20-880B180E96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1716" y="683127"/>
            <a:ext cx="860400" cy="180000"/>
          </a:xfrm>
          <a:prstGeom prst="rect">
            <a:avLst/>
          </a:prstGeom>
          <a:solidFill>
            <a:srgbClr val="000000"/>
          </a:solidFill>
          <a:ln w="3175" cap="flat" cmpd="sng" algn="ctr">
            <a:solidFill>
              <a:srgbClr val="000000"/>
            </a:solidFill>
            <a:prstDash val="solid"/>
          </a:ln>
          <a:effectLst/>
        </p:spPr>
        <p:txBody>
          <a:bodyPr wrap="none" lIns="91429" tIns="45714" rIns="91429" bIns="45714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/>
                <a:cs typeface="+mn-cs"/>
              </a:rPr>
              <a:t>W6</a:t>
            </a:r>
          </a:p>
        </p:txBody>
      </p:sp>
      <p:sp>
        <p:nvSpPr>
          <p:cNvPr id="264" name="Rectangle 3936">
            <a:extLst>
              <a:ext uri="{FF2B5EF4-FFF2-40B4-BE49-F238E27FC236}">
                <a16:creationId xmlns:a16="http://schemas.microsoft.com/office/drawing/2014/main" id="{1C13F1B2-4E10-BA22-D172-B1B9D7CBA6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1716" y="880894"/>
            <a:ext cx="860400" cy="180000"/>
          </a:xfrm>
          <a:prstGeom prst="rect">
            <a:avLst/>
          </a:prstGeom>
          <a:solidFill>
            <a:srgbClr val="000000"/>
          </a:solidFill>
          <a:ln w="3175" cap="flat" cmpd="sng" algn="ctr">
            <a:solidFill>
              <a:srgbClr val="000000"/>
            </a:solidFill>
            <a:prstDash val="solid"/>
          </a:ln>
          <a:effectLst/>
        </p:spPr>
        <p:txBody>
          <a:bodyPr wrap="none" lIns="91429" tIns="45714" rIns="91429" bIns="45714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/>
                <a:cs typeface="+mn-cs"/>
              </a:rPr>
              <a:t>M5</a:t>
            </a:r>
          </a:p>
        </p:txBody>
      </p:sp>
      <p:sp>
        <p:nvSpPr>
          <p:cNvPr id="265" name="Rectangle 3936">
            <a:extLst>
              <a:ext uri="{FF2B5EF4-FFF2-40B4-BE49-F238E27FC236}">
                <a16:creationId xmlns:a16="http://schemas.microsoft.com/office/drawing/2014/main" id="{D54665AA-DF8C-D316-979E-EC1DEFC772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1716" y="1084496"/>
            <a:ext cx="860400" cy="180000"/>
          </a:xfrm>
          <a:prstGeom prst="rect">
            <a:avLst/>
          </a:prstGeom>
          <a:solidFill>
            <a:srgbClr val="000000"/>
          </a:solidFill>
          <a:ln w="3175" cap="flat" cmpd="sng" algn="ctr">
            <a:solidFill>
              <a:srgbClr val="000000"/>
            </a:solidFill>
            <a:prstDash val="solid"/>
          </a:ln>
          <a:effectLst/>
        </p:spPr>
        <p:txBody>
          <a:bodyPr wrap="none" lIns="91429" tIns="45714" rIns="91429" bIns="45714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/>
                <a:cs typeface="+mn-cs"/>
              </a:rPr>
              <a:t>G6</a:t>
            </a:r>
          </a:p>
        </p:txBody>
      </p:sp>
      <p:sp>
        <p:nvSpPr>
          <p:cNvPr id="266" name="Rectangle 3936">
            <a:extLst>
              <a:ext uri="{FF2B5EF4-FFF2-40B4-BE49-F238E27FC236}">
                <a16:creationId xmlns:a16="http://schemas.microsoft.com/office/drawing/2014/main" id="{78131907-419B-71B4-B102-253B18796A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9252" y="1871895"/>
            <a:ext cx="860400" cy="180000"/>
          </a:xfrm>
          <a:prstGeom prst="rect">
            <a:avLst/>
          </a:prstGeom>
          <a:solidFill>
            <a:srgbClr val="000000"/>
          </a:solidFill>
          <a:ln w="3175" cap="flat" cmpd="sng" algn="ctr">
            <a:solidFill>
              <a:srgbClr val="000000"/>
            </a:solidFill>
            <a:prstDash val="solid"/>
          </a:ln>
          <a:effectLst/>
        </p:spPr>
        <p:txBody>
          <a:bodyPr wrap="none" lIns="91429" tIns="45714" rIns="91429" bIns="45714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/>
                <a:cs typeface="+mn-cs"/>
              </a:rPr>
              <a:t>C6 - 1</a:t>
            </a:r>
          </a:p>
        </p:txBody>
      </p:sp>
      <p:sp>
        <p:nvSpPr>
          <p:cNvPr id="267" name="Rectangle 3936">
            <a:extLst>
              <a:ext uri="{FF2B5EF4-FFF2-40B4-BE49-F238E27FC236}">
                <a16:creationId xmlns:a16="http://schemas.microsoft.com/office/drawing/2014/main" id="{1EC82D7D-3CA8-C54B-5F60-30E7D00F66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9252" y="2075414"/>
            <a:ext cx="860400" cy="180000"/>
          </a:xfrm>
          <a:prstGeom prst="rect">
            <a:avLst/>
          </a:prstGeom>
          <a:solidFill>
            <a:srgbClr val="000000"/>
          </a:solidFill>
          <a:ln w="3175" cap="flat" cmpd="sng" algn="ctr">
            <a:solidFill>
              <a:srgbClr val="000000"/>
            </a:solidFill>
            <a:prstDash val="solid"/>
          </a:ln>
          <a:effectLst/>
        </p:spPr>
        <p:txBody>
          <a:bodyPr wrap="none" lIns="91429" tIns="45714" rIns="91429" bIns="45714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/>
                <a:cs typeface="+mn-cs"/>
              </a:rPr>
              <a:t>C6 - 2(E)</a:t>
            </a:r>
          </a:p>
        </p:txBody>
      </p:sp>
      <p:sp>
        <p:nvSpPr>
          <p:cNvPr id="268" name="Rectangle 3936">
            <a:extLst>
              <a:ext uri="{FF2B5EF4-FFF2-40B4-BE49-F238E27FC236}">
                <a16:creationId xmlns:a16="http://schemas.microsoft.com/office/drawing/2014/main" id="{8364442C-FD89-5112-88F5-23888D9E8A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1716" y="1482275"/>
            <a:ext cx="860400" cy="180000"/>
          </a:xfrm>
          <a:prstGeom prst="rect">
            <a:avLst/>
          </a:prstGeom>
          <a:solidFill>
            <a:srgbClr val="000000"/>
          </a:solidFill>
          <a:ln w="3175" cap="flat" cmpd="sng" algn="ctr">
            <a:solidFill>
              <a:srgbClr val="000000"/>
            </a:solidFill>
            <a:prstDash val="solid"/>
          </a:ln>
          <a:effectLst/>
        </p:spPr>
        <p:txBody>
          <a:bodyPr wrap="none" lIns="91429" tIns="45714" rIns="91429" bIns="45714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/>
                <a:cs typeface="+mn-cs"/>
              </a:rPr>
              <a:t>G6 </a:t>
            </a:r>
            <a:r>
              <a:rPr kumimoji="0" lang="en-US" altLang="ko-KR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/>
                <a:cs typeface="+mn-cs"/>
              </a:rPr>
              <a:t>- 2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arrow" panose="020B0606020202030204" pitchFamily="34" charset="0"/>
              <a:ea typeface="LG스마트체2.0 Regular"/>
              <a:cs typeface="+mn-cs"/>
            </a:endParaRPr>
          </a:p>
        </p:txBody>
      </p:sp>
      <p:sp>
        <p:nvSpPr>
          <p:cNvPr id="270" name="Rectangle 3936">
            <a:extLst>
              <a:ext uri="{FF2B5EF4-FFF2-40B4-BE49-F238E27FC236}">
                <a16:creationId xmlns:a16="http://schemas.microsoft.com/office/drawing/2014/main" id="{A6DE644F-0D7D-E02A-5B1F-3DA137C2D8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9252" y="1677085"/>
            <a:ext cx="860400" cy="180000"/>
          </a:xfrm>
          <a:prstGeom prst="rect">
            <a:avLst/>
          </a:prstGeom>
          <a:solidFill>
            <a:srgbClr val="000000"/>
          </a:solidFill>
          <a:ln w="3175" cap="flat" cmpd="sng" algn="ctr">
            <a:solidFill>
              <a:srgbClr val="000000"/>
            </a:solidFill>
            <a:prstDash val="solid"/>
          </a:ln>
          <a:effectLst/>
        </p:spPr>
        <p:txBody>
          <a:bodyPr wrap="none" lIns="91429" tIns="45714" rIns="91429" bIns="45714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/>
                <a:cs typeface="+mn-cs"/>
              </a:rPr>
              <a:t>C6</a:t>
            </a:r>
          </a:p>
        </p:txBody>
      </p:sp>
      <p:sp>
        <p:nvSpPr>
          <p:cNvPr id="271" name="Rectangle 3936">
            <a:extLst>
              <a:ext uri="{FF2B5EF4-FFF2-40B4-BE49-F238E27FC236}">
                <a16:creationId xmlns:a16="http://schemas.microsoft.com/office/drawing/2014/main" id="{ED162A8A-AE7B-B9C9-C199-A428E4A309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1716" y="1287711"/>
            <a:ext cx="860400" cy="180000"/>
          </a:xfrm>
          <a:prstGeom prst="rect">
            <a:avLst/>
          </a:prstGeom>
          <a:solidFill>
            <a:srgbClr val="000000"/>
          </a:solidFill>
          <a:ln w="3175" cap="flat" cmpd="sng" algn="ctr">
            <a:solidFill>
              <a:srgbClr val="000000"/>
            </a:solidFill>
            <a:prstDash val="solid"/>
          </a:ln>
          <a:effectLst/>
        </p:spPr>
        <p:txBody>
          <a:bodyPr wrap="none" lIns="91429" tIns="45714" rIns="91429" bIns="45714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/>
                <a:cs typeface="+mn-cs"/>
              </a:rPr>
              <a:t>G6 - 1</a:t>
            </a:r>
          </a:p>
        </p:txBody>
      </p:sp>
      <p:sp>
        <p:nvSpPr>
          <p:cNvPr id="272" name="Rectangle 3936">
            <a:extLst>
              <a:ext uri="{FF2B5EF4-FFF2-40B4-BE49-F238E27FC236}">
                <a16:creationId xmlns:a16="http://schemas.microsoft.com/office/drawing/2014/main" id="{0D1FA7BB-14CD-F9FE-0858-76B2EEFF33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922" y="2283211"/>
            <a:ext cx="860400" cy="180000"/>
          </a:xfrm>
          <a:prstGeom prst="rect">
            <a:avLst/>
          </a:prstGeom>
          <a:solidFill>
            <a:srgbClr val="000000"/>
          </a:solidFill>
          <a:ln w="3175" cap="flat" cmpd="sng" algn="ctr">
            <a:solidFill>
              <a:srgbClr val="000000"/>
            </a:solidFill>
            <a:prstDash val="solid"/>
          </a:ln>
          <a:effectLst/>
        </p:spPr>
        <p:txBody>
          <a:bodyPr wrap="none" lIns="91429" tIns="45714" rIns="91429" bIns="45714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/>
                <a:cs typeface="+mn-cs"/>
              </a:rPr>
              <a:t>B6 / B6E</a:t>
            </a:r>
          </a:p>
        </p:txBody>
      </p:sp>
      <p:cxnSp>
        <p:nvCxnSpPr>
          <p:cNvPr id="273" name="직선 연결선 77"/>
          <p:cNvCxnSpPr>
            <a:cxnSpLocks/>
          </p:cNvCxnSpPr>
          <p:nvPr/>
        </p:nvCxnSpPr>
        <p:spPr bwMode="auto">
          <a:xfrm>
            <a:off x="201560" y="6274937"/>
            <a:ext cx="11628000" cy="0"/>
          </a:xfrm>
          <a:prstGeom prst="line">
            <a:avLst/>
          </a:prstGeom>
          <a:noFill/>
          <a:ln w="6350" algn="ctr">
            <a:solidFill>
              <a:srgbClr val="A6A6A6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74" name="직사각형 128">
            <a:extLst>
              <a:ext uri="{FF2B5EF4-FFF2-40B4-BE49-F238E27FC236}">
                <a16:creationId xmlns:a16="http://schemas.microsoft.com/office/drawing/2014/main" id="{15DFB7FD-2D5D-483A-AB3B-851FC448B81B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99573" y="3479297"/>
            <a:ext cx="479348" cy="2789077"/>
          </a:xfrm>
          <a:prstGeom prst="rect">
            <a:avLst/>
          </a:prstGeom>
          <a:solidFill>
            <a:sysClr val="window" lastClr="FFFFFF"/>
          </a:solidFill>
          <a:ln w="6350">
            <a:solidFill>
              <a:srgbClr val="231F2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QNED</a:t>
            </a:r>
            <a:endParaRPr kumimoji="0" lang="ko-KR" altLang="en-US" sz="12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75" name="TextBox 274">
            <a:extLst>
              <a:ext uri="{FF2B5EF4-FFF2-40B4-BE49-F238E27FC236}">
                <a16:creationId xmlns:a16="http://schemas.microsoft.com/office/drawing/2014/main" id="{CDB56C2C-FDEF-47AB-8DD0-1A74FA7659DE}"/>
              </a:ext>
            </a:extLst>
          </p:cNvPr>
          <p:cNvSpPr txBox="1"/>
          <p:nvPr/>
        </p:nvSpPr>
        <p:spPr>
          <a:xfrm>
            <a:off x="2242965" y="676207"/>
            <a:ext cx="973344" cy="193841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벽걸이</a:t>
            </a:r>
          </a:p>
        </p:txBody>
      </p:sp>
      <p:sp>
        <p:nvSpPr>
          <p:cNvPr id="277" name="Rectangle 3936">
            <a:extLst>
              <a:ext uri="{FF2B5EF4-FFF2-40B4-BE49-F238E27FC236}">
                <a16:creationId xmlns:a16="http://schemas.microsoft.com/office/drawing/2014/main" id="{2177A25E-6528-2E4A-45E9-585993FE7D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922" y="6503371"/>
            <a:ext cx="860400" cy="180000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FFFFFF">
                <a:lumMod val="75000"/>
              </a:srgbClr>
            </a:solidFill>
            <a:miter lim="800000"/>
            <a:headEnd/>
            <a:tailEnd/>
          </a:ln>
        </p:spPr>
        <p:txBody>
          <a:bodyPr wrap="none" lIns="26928" tIns="26928" rIns="72000" bIns="26928" anchor="ctr"/>
          <a:lstStyle/>
          <a:p>
            <a:pPr marL="0" marR="0" lvl="0" indent="0" algn="r" defTabSz="9142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/>
                <a:cs typeface="Arial" panose="020B0604020202020204" pitchFamily="34" charset="0"/>
              </a:rPr>
              <a:t>NU90</a:t>
            </a:r>
          </a:p>
        </p:txBody>
      </p:sp>
      <p:sp>
        <p:nvSpPr>
          <p:cNvPr id="278" name="Rectangle 3936">
            <a:extLst>
              <a:ext uri="{FF2B5EF4-FFF2-40B4-BE49-F238E27FC236}">
                <a16:creationId xmlns:a16="http://schemas.microsoft.com/office/drawing/2014/main" id="{BC162319-0FA0-0E15-CA15-40808AA06C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922" y="6688745"/>
            <a:ext cx="860400" cy="180000"/>
          </a:xfrm>
          <a:prstGeom prst="rect">
            <a:avLst/>
          </a:prstGeom>
          <a:solidFill>
            <a:srgbClr val="FFFFFF"/>
          </a:solidFill>
          <a:ln w="6350" algn="ctr">
            <a:solidFill>
              <a:srgbClr val="FFFFFF">
                <a:lumMod val="75000"/>
              </a:srgbClr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2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Arial" panose="020B0604020202020204" pitchFamily="34" charset="0"/>
              </a:rPr>
              <a:t>NU80</a:t>
            </a:r>
          </a:p>
        </p:txBody>
      </p:sp>
      <p:sp>
        <p:nvSpPr>
          <p:cNvPr id="279" name="Rectangle 3936">
            <a:extLst>
              <a:ext uri="{FF2B5EF4-FFF2-40B4-BE49-F238E27FC236}">
                <a16:creationId xmlns:a16="http://schemas.microsoft.com/office/drawing/2014/main" id="{1DBA86C5-7647-FBA5-392D-270AB813C5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922" y="5916060"/>
            <a:ext cx="860400" cy="180000"/>
          </a:xfrm>
          <a:prstGeom prst="rect">
            <a:avLst/>
          </a:prstGeom>
          <a:solidFill>
            <a:srgbClr val="CC3300"/>
          </a:solidFill>
          <a:ln w="3175" cap="flat" cmpd="sng" algn="ctr">
            <a:solidFill>
              <a:srgbClr val="FFFFFF">
                <a:lumMod val="50000"/>
              </a:srgbClr>
            </a:solidFill>
            <a:prstDash val="solid"/>
          </a:ln>
          <a:effectLst/>
        </p:spPr>
        <p:txBody>
          <a:bodyPr wrap="none" lIns="0" tIns="45714" rIns="72000" bIns="45714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/>
                <a:cs typeface="+mn-cs"/>
              </a:rPr>
              <a:t>QNED72B</a:t>
            </a:r>
          </a:p>
        </p:txBody>
      </p:sp>
      <p:sp>
        <p:nvSpPr>
          <p:cNvPr id="280" name="Rectangle 3936">
            <a:extLst>
              <a:ext uri="{FF2B5EF4-FFF2-40B4-BE49-F238E27FC236}">
                <a16:creationId xmlns:a16="http://schemas.microsoft.com/office/drawing/2014/main" id="{0DE1C2FB-C060-DEE4-B6AC-99EA79C6AF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922" y="5715738"/>
            <a:ext cx="860400" cy="180000"/>
          </a:xfrm>
          <a:prstGeom prst="rect">
            <a:avLst/>
          </a:prstGeom>
          <a:solidFill>
            <a:srgbClr val="CC3300"/>
          </a:solidFill>
          <a:ln w="3175" cap="flat" cmpd="sng" algn="ctr">
            <a:solidFill>
              <a:srgbClr val="FFFFFF">
                <a:lumMod val="50000"/>
              </a:srgbClr>
            </a:solidFill>
            <a:prstDash val="solid"/>
          </a:ln>
          <a:effectLst/>
        </p:spPr>
        <p:txBody>
          <a:bodyPr wrap="none" lIns="0" tIns="45714" rIns="72000" bIns="45714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/>
                <a:cs typeface="+mn-cs"/>
              </a:rPr>
              <a:t>QNED7EB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arrow" panose="020B0606020202030204" pitchFamily="34" charset="0"/>
              <a:ea typeface="LG스마트체2.0 Regular"/>
              <a:cs typeface="+mn-cs"/>
            </a:endParaRPr>
          </a:p>
        </p:txBody>
      </p:sp>
      <p:sp>
        <p:nvSpPr>
          <p:cNvPr id="281" name="Rectangle 3936">
            <a:extLst>
              <a:ext uri="{FF2B5EF4-FFF2-40B4-BE49-F238E27FC236}">
                <a16:creationId xmlns:a16="http://schemas.microsoft.com/office/drawing/2014/main" id="{FD48FF18-D3E8-91AC-8C3B-0D9FC6907E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922" y="5529750"/>
            <a:ext cx="860400" cy="180000"/>
          </a:xfrm>
          <a:prstGeom prst="rect">
            <a:avLst/>
          </a:prstGeom>
          <a:solidFill>
            <a:srgbClr val="CC3300"/>
          </a:solidFill>
          <a:ln w="3175" cap="flat" cmpd="sng" algn="ctr">
            <a:solidFill>
              <a:srgbClr val="FFFFFF">
                <a:lumMod val="50000"/>
              </a:srgbClr>
            </a:solidFill>
            <a:prstDash val="solid"/>
          </a:ln>
          <a:effectLst/>
        </p:spPr>
        <p:txBody>
          <a:bodyPr wrap="none" lIns="0" tIns="45714" rIns="72000" bIns="45714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/>
                <a:cs typeface="+mn-cs"/>
              </a:rPr>
              <a:t>QNED71B</a:t>
            </a:r>
          </a:p>
        </p:txBody>
      </p:sp>
      <p:sp>
        <p:nvSpPr>
          <p:cNvPr id="282" name="Rectangle 3936">
            <a:extLst>
              <a:ext uri="{FF2B5EF4-FFF2-40B4-BE49-F238E27FC236}">
                <a16:creationId xmlns:a16="http://schemas.microsoft.com/office/drawing/2014/main" id="{EDEBFBAE-940D-96C9-515B-CD3F267A6F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922" y="5340462"/>
            <a:ext cx="860400" cy="180000"/>
          </a:xfrm>
          <a:prstGeom prst="rect">
            <a:avLst/>
          </a:prstGeom>
          <a:solidFill>
            <a:srgbClr val="CC3300"/>
          </a:solidFill>
          <a:ln w="3175" cap="flat" cmpd="sng" algn="ctr">
            <a:solidFill>
              <a:srgbClr val="FFFFFF">
                <a:lumMod val="50000"/>
              </a:srgbClr>
            </a:solidFill>
            <a:prstDash val="solid"/>
          </a:ln>
          <a:effectLst/>
        </p:spPr>
        <p:txBody>
          <a:bodyPr wrap="none" lIns="0" tIns="45714" rIns="0" bIns="45714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/>
                <a:cs typeface="+mn-cs"/>
              </a:rPr>
              <a:t>QNED70B</a:t>
            </a:r>
          </a:p>
        </p:txBody>
      </p:sp>
      <p:sp>
        <p:nvSpPr>
          <p:cNvPr id="283" name="Rectangle 3936">
            <a:extLst>
              <a:ext uri="{FF2B5EF4-FFF2-40B4-BE49-F238E27FC236}">
                <a16:creationId xmlns:a16="http://schemas.microsoft.com/office/drawing/2014/main" id="{78445AB9-286C-A495-F309-09A92790AE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922" y="4970134"/>
            <a:ext cx="860400" cy="180000"/>
          </a:xfrm>
          <a:prstGeom prst="rect">
            <a:avLst/>
          </a:prstGeom>
          <a:solidFill>
            <a:srgbClr val="CC3300"/>
          </a:solidFill>
          <a:ln w="3175" cap="flat" cmpd="sng" algn="ctr">
            <a:solidFill>
              <a:srgbClr val="FFFFFF">
                <a:lumMod val="50000"/>
              </a:srgbClr>
            </a:solidFill>
            <a:prstDash val="solid"/>
          </a:ln>
          <a:effectLst/>
        </p:spPr>
        <p:txBody>
          <a:bodyPr wrap="none" lIns="0" tIns="45714" rIns="72000" bIns="45714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/>
                <a:cs typeface="+mn-cs"/>
              </a:rPr>
              <a:t>QNED81B</a:t>
            </a:r>
          </a:p>
        </p:txBody>
      </p:sp>
      <p:sp>
        <p:nvSpPr>
          <p:cNvPr id="284" name="Rectangle 3936">
            <a:extLst>
              <a:ext uri="{FF2B5EF4-FFF2-40B4-BE49-F238E27FC236}">
                <a16:creationId xmlns:a16="http://schemas.microsoft.com/office/drawing/2014/main" id="{47E278BC-CB21-2AA2-3C01-0710E7D9E3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922" y="4796178"/>
            <a:ext cx="860400" cy="180000"/>
          </a:xfrm>
          <a:prstGeom prst="rect">
            <a:avLst/>
          </a:prstGeom>
          <a:solidFill>
            <a:srgbClr val="CC3300"/>
          </a:solidFill>
          <a:ln w="3175" cap="flat" cmpd="sng" algn="ctr">
            <a:solidFill>
              <a:srgbClr val="FFFFFF">
                <a:lumMod val="50000"/>
              </a:srgbClr>
            </a:solidFill>
            <a:prstDash val="solid"/>
          </a:ln>
          <a:effectLst/>
        </p:spPr>
        <p:txBody>
          <a:bodyPr wrap="none" lIns="0" tIns="45714" rIns="0" bIns="45714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/>
                <a:cs typeface="+mn-cs"/>
              </a:rPr>
              <a:t>QNED80B</a:t>
            </a:r>
          </a:p>
        </p:txBody>
      </p:sp>
      <p:sp>
        <p:nvSpPr>
          <p:cNvPr id="285" name="Rectangle 3936">
            <a:extLst>
              <a:ext uri="{FF2B5EF4-FFF2-40B4-BE49-F238E27FC236}">
                <a16:creationId xmlns:a16="http://schemas.microsoft.com/office/drawing/2014/main" id="{1D2F35AB-FBAA-FBDD-5271-E8457EAF1D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922" y="4460757"/>
            <a:ext cx="860400" cy="180000"/>
          </a:xfrm>
          <a:prstGeom prst="rect">
            <a:avLst/>
          </a:prstGeom>
          <a:solidFill>
            <a:srgbClr val="CC3300"/>
          </a:solidFill>
          <a:ln w="3175" cap="flat" cmpd="sng" algn="ctr">
            <a:solidFill>
              <a:srgbClr val="FFFFFF">
                <a:lumMod val="50000"/>
              </a:srgbClr>
            </a:solidFill>
            <a:prstDash val="solid"/>
          </a:ln>
          <a:effectLst/>
        </p:spPr>
        <p:txBody>
          <a:bodyPr wrap="none" lIns="0" tIns="45714" rIns="72000" bIns="45714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/>
                <a:cs typeface="+mn-cs"/>
              </a:rPr>
              <a:t>QNED83B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arrow" panose="020B0606020202030204" pitchFamily="34" charset="0"/>
              <a:ea typeface="LG스마트체2.0 Regular"/>
              <a:cs typeface="+mn-cs"/>
            </a:endParaRPr>
          </a:p>
        </p:txBody>
      </p:sp>
      <p:sp>
        <p:nvSpPr>
          <p:cNvPr id="286" name="Rectangle 3936">
            <a:extLst>
              <a:ext uri="{FF2B5EF4-FFF2-40B4-BE49-F238E27FC236}">
                <a16:creationId xmlns:a16="http://schemas.microsoft.com/office/drawing/2014/main" id="{2DEBCE16-3119-76F1-1AB6-2F59501FC6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922" y="4274139"/>
            <a:ext cx="860400" cy="180000"/>
          </a:xfrm>
          <a:prstGeom prst="rect">
            <a:avLst/>
          </a:prstGeom>
          <a:solidFill>
            <a:srgbClr val="CC3300"/>
          </a:solidFill>
          <a:ln w="3175" cap="flat" cmpd="sng" algn="ctr">
            <a:solidFill>
              <a:srgbClr val="FFFFFF">
                <a:lumMod val="50000"/>
              </a:srgbClr>
            </a:solidFill>
            <a:prstDash val="solid"/>
          </a:ln>
          <a:effectLst/>
        </p:spPr>
        <p:txBody>
          <a:bodyPr wrap="none" lIns="0" tIns="45714" rIns="0" bIns="45714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/>
                <a:cs typeface="+mn-cs"/>
              </a:rPr>
              <a:t>QNED82B</a:t>
            </a:r>
          </a:p>
        </p:txBody>
      </p:sp>
      <p:sp>
        <p:nvSpPr>
          <p:cNvPr id="287" name="직사각형 128">
            <a:extLst>
              <a:ext uri="{FF2B5EF4-FFF2-40B4-BE49-F238E27FC236}">
                <a16:creationId xmlns:a16="http://schemas.microsoft.com/office/drawing/2014/main" id="{15DFB7FD-2D5D-483A-AB3B-851FC448B81B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99573" y="6295336"/>
            <a:ext cx="479348" cy="554060"/>
          </a:xfrm>
          <a:prstGeom prst="rect">
            <a:avLst/>
          </a:prstGeom>
          <a:solidFill>
            <a:sysClr val="window" lastClr="FFFFFF"/>
          </a:solidFill>
          <a:ln w="6350">
            <a:solidFill>
              <a:srgbClr val="231F2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UHD</a:t>
            </a:r>
            <a:endParaRPr kumimoji="0" lang="ko-KR" altLang="en-US" sz="12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cxnSp>
        <p:nvCxnSpPr>
          <p:cNvPr id="288" name="직선 연결선 77"/>
          <p:cNvCxnSpPr>
            <a:cxnSpLocks/>
          </p:cNvCxnSpPr>
          <p:nvPr/>
        </p:nvCxnSpPr>
        <p:spPr bwMode="auto">
          <a:xfrm>
            <a:off x="201560" y="2471401"/>
            <a:ext cx="11628000" cy="0"/>
          </a:xfrm>
          <a:prstGeom prst="line">
            <a:avLst/>
          </a:prstGeom>
          <a:noFill/>
          <a:ln w="6350" algn="ctr">
            <a:solidFill>
              <a:srgbClr val="A6A6A6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89" name="TextBox 288">
            <a:extLst>
              <a:ext uri="{FF2B5EF4-FFF2-40B4-BE49-F238E27FC236}">
                <a16:creationId xmlns:a16="http://schemas.microsoft.com/office/drawing/2014/main" id="{CDB56C2C-FDEF-47AB-8DD0-1A74FA7659DE}"/>
              </a:ext>
            </a:extLst>
          </p:cNvPr>
          <p:cNvSpPr txBox="1"/>
          <p:nvPr/>
        </p:nvSpPr>
        <p:spPr>
          <a:xfrm>
            <a:off x="2242965" y="869429"/>
            <a:ext cx="973344" cy="193841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벽걸이</a:t>
            </a:r>
          </a:p>
        </p:txBody>
      </p:sp>
      <p:sp>
        <p:nvSpPr>
          <p:cNvPr id="290" name="TextBox 289">
            <a:extLst>
              <a:ext uri="{FF2B5EF4-FFF2-40B4-BE49-F238E27FC236}">
                <a16:creationId xmlns:a16="http://schemas.microsoft.com/office/drawing/2014/main" id="{CDB56C2C-FDEF-47AB-8DD0-1A74FA7659DE}"/>
              </a:ext>
            </a:extLst>
          </p:cNvPr>
          <p:cNvSpPr txBox="1"/>
          <p:nvPr/>
        </p:nvSpPr>
        <p:spPr>
          <a:xfrm>
            <a:off x="2242965" y="1464657"/>
            <a:ext cx="973344" cy="193841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1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폴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Essence Floating / 48” 2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폴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Edge Slope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  <a:lumOff val="50000"/>
                </a:srgbClr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91" name="TextBox 290">
            <a:extLst>
              <a:ext uri="{FF2B5EF4-FFF2-40B4-BE49-F238E27FC236}">
                <a16:creationId xmlns:a16="http://schemas.microsoft.com/office/drawing/2014/main" id="{CDB56C2C-FDEF-47AB-8DD0-1A74FA7659DE}"/>
              </a:ext>
            </a:extLst>
          </p:cNvPr>
          <p:cNvSpPr txBox="1"/>
          <p:nvPr/>
        </p:nvSpPr>
        <p:spPr>
          <a:xfrm>
            <a:off x="2242965" y="1276650"/>
            <a:ext cx="973344" cy="193841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벽걸이</a:t>
            </a:r>
          </a:p>
        </p:txBody>
      </p:sp>
      <p:sp>
        <p:nvSpPr>
          <p:cNvPr id="292" name="TextBox 291">
            <a:extLst>
              <a:ext uri="{FF2B5EF4-FFF2-40B4-BE49-F238E27FC236}">
                <a16:creationId xmlns:a16="http://schemas.microsoft.com/office/drawing/2014/main" id="{CDB56C2C-FDEF-47AB-8DD0-1A74FA7659DE}"/>
              </a:ext>
            </a:extLst>
          </p:cNvPr>
          <p:cNvSpPr txBox="1"/>
          <p:nvPr/>
        </p:nvSpPr>
        <p:spPr>
          <a:xfrm>
            <a:off x="2242965" y="1078471"/>
            <a:ext cx="973344" cy="193841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벽걸이</a:t>
            </a:r>
          </a:p>
        </p:txBody>
      </p:sp>
      <p:sp>
        <p:nvSpPr>
          <p:cNvPr id="293" name="TextBox 292">
            <a:extLst>
              <a:ext uri="{FF2B5EF4-FFF2-40B4-BE49-F238E27FC236}">
                <a16:creationId xmlns:a16="http://schemas.microsoft.com/office/drawing/2014/main" id="{CDB56C2C-FDEF-47AB-8DD0-1A74FA7659DE}"/>
              </a:ext>
            </a:extLst>
          </p:cNvPr>
          <p:cNvSpPr txBox="1"/>
          <p:nvPr/>
        </p:nvSpPr>
        <p:spPr>
          <a:xfrm>
            <a:off x="2242965" y="1673614"/>
            <a:ext cx="973344" cy="193841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1</a:t>
            </a: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폴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Edge Slope / 42” 2</a:t>
            </a: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폴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Edge Plate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  <a:lumOff val="50000"/>
                </a:srgbClr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94" name="TextBox 293">
            <a:extLst>
              <a:ext uri="{FF2B5EF4-FFF2-40B4-BE49-F238E27FC236}">
                <a16:creationId xmlns:a16="http://schemas.microsoft.com/office/drawing/2014/main" id="{CDB56C2C-FDEF-47AB-8DD0-1A74FA7659DE}"/>
              </a:ext>
            </a:extLst>
          </p:cNvPr>
          <p:cNvSpPr txBox="1"/>
          <p:nvPr/>
        </p:nvSpPr>
        <p:spPr>
          <a:xfrm>
            <a:off x="2242965" y="2268971"/>
            <a:ext cx="973344" cy="193841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2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폴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Blade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  <a:lumOff val="50000"/>
                </a:srgbClr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95" name="TextBox 294">
            <a:extLst>
              <a:ext uri="{FF2B5EF4-FFF2-40B4-BE49-F238E27FC236}">
                <a16:creationId xmlns:a16="http://schemas.microsoft.com/office/drawing/2014/main" id="{CDB56C2C-FDEF-47AB-8DD0-1A74FA7659DE}"/>
              </a:ext>
            </a:extLst>
          </p:cNvPr>
          <p:cNvSpPr txBox="1"/>
          <p:nvPr/>
        </p:nvSpPr>
        <p:spPr>
          <a:xfrm>
            <a:off x="2242965" y="2482031"/>
            <a:ext cx="973344" cy="193841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1</a:t>
            </a: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폴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Essence Square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  <a:lumOff val="50000"/>
                </a:srgbClr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96" name="TextBox 295">
            <a:extLst>
              <a:ext uri="{FF2B5EF4-FFF2-40B4-BE49-F238E27FC236}">
                <a16:creationId xmlns:a16="http://schemas.microsoft.com/office/drawing/2014/main" id="{CDB56C2C-FDEF-47AB-8DD0-1A74FA7659DE}"/>
              </a:ext>
            </a:extLst>
          </p:cNvPr>
          <p:cNvSpPr txBox="1"/>
          <p:nvPr/>
        </p:nvSpPr>
        <p:spPr>
          <a:xfrm>
            <a:off x="2242965" y="3472679"/>
            <a:ext cx="973344" cy="193841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1</a:t>
            </a: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폴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ODM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  <a:lumOff val="50000"/>
                </a:srgbClr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97" name="TextBox 296">
            <a:extLst>
              <a:ext uri="{FF2B5EF4-FFF2-40B4-BE49-F238E27FC236}">
                <a16:creationId xmlns:a16="http://schemas.microsoft.com/office/drawing/2014/main" id="{CDB56C2C-FDEF-47AB-8DD0-1A74FA7659DE}"/>
              </a:ext>
            </a:extLst>
          </p:cNvPr>
          <p:cNvSpPr txBox="1"/>
          <p:nvPr/>
        </p:nvSpPr>
        <p:spPr>
          <a:xfrm>
            <a:off x="2242965" y="3675227"/>
            <a:ext cx="973344" cy="193841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2</a:t>
            </a: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폴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Shiny Edge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  <a:lumOff val="50000"/>
                </a:srgbClr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99" name="TextBox 298">
            <a:extLst>
              <a:ext uri="{FF2B5EF4-FFF2-40B4-BE49-F238E27FC236}">
                <a16:creationId xmlns:a16="http://schemas.microsoft.com/office/drawing/2014/main" id="{CDB56C2C-FDEF-47AB-8DD0-1A74FA7659DE}"/>
              </a:ext>
            </a:extLst>
          </p:cNvPr>
          <p:cNvSpPr txBox="1"/>
          <p:nvPr/>
        </p:nvSpPr>
        <p:spPr>
          <a:xfrm>
            <a:off x="2242965" y="4071614"/>
            <a:ext cx="973344" cy="193841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1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폴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Essence Square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  <a:lumOff val="50000"/>
                </a:srgbClr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300" name="TextBox 299">
            <a:extLst>
              <a:ext uri="{FF2B5EF4-FFF2-40B4-BE49-F238E27FC236}">
                <a16:creationId xmlns:a16="http://schemas.microsoft.com/office/drawing/2014/main" id="{CDB56C2C-FDEF-47AB-8DD0-1A74FA7659DE}"/>
              </a:ext>
            </a:extLst>
          </p:cNvPr>
          <p:cNvSpPr txBox="1"/>
          <p:nvPr/>
        </p:nvSpPr>
        <p:spPr>
          <a:xfrm>
            <a:off x="2242965" y="4273920"/>
            <a:ext cx="973344" cy="193841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2</a:t>
            </a: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폴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Mold Edge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  <a:lumOff val="50000"/>
                </a:srgbClr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301" name="TextBox 300">
            <a:extLst>
              <a:ext uri="{FF2B5EF4-FFF2-40B4-BE49-F238E27FC236}">
                <a16:creationId xmlns:a16="http://schemas.microsoft.com/office/drawing/2014/main" id="{CDB56C2C-FDEF-47AB-8DD0-1A74FA7659DE}"/>
              </a:ext>
            </a:extLst>
          </p:cNvPr>
          <p:cNvSpPr txBox="1"/>
          <p:nvPr/>
        </p:nvSpPr>
        <p:spPr>
          <a:xfrm>
            <a:off x="2242965" y="4467759"/>
            <a:ext cx="973344" cy="193841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1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폴 신규</a:t>
            </a:r>
          </a:p>
        </p:txBody>
      </p:sp>
      <p:sp>
        <p:nvSpPr>
          <p:cNvPr id="302" name="TextBox 301">
            <a:extLst>
              <a:ext uri="{FF2B5EF4-FFF2-40B4-BE49-F238E27FC236}">
                <a16:creationId xmlns:a16="http://schemas.microsoft.com/office/drawing/2014/main" id="{CDB56C2C-FDEF-47AB-8DD0-1A74FA7659DE}"/>
              </a:ext>
            </a:extLst>
          </p:cNvPr>
          <p:cNvSpPr txBox="1"/>
          <p:nvPr/>
        </p:nvSpPr>
        <p:spPr>
          <a:xfrm>
            <a:off x="2242965" y="4792983"/>
            <a:ext cx="973344" cy="193841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2</a:t>
            </a: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폴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Mold Edge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  <a:lumOff val="50000"/>
                </a:srgbClr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303" name="TextBox 302">
            <a:extLst>
              <a:ext uri="{FF2B5EF4-FFF2-40B4-BE49-F238E27FC236}">
                <a16:creationId xmlns:a16="http://schemas.microsoft.com/office/drawing/2014/main" id="{CDB56C2C-FDEF-47AB-8DD0-1A74FA7659DE}"/>
              </a:ext>
            </a:extLst>
          </p:cNvPr>
          <p:cNvSpPr txBox="1"/>
          <p:nvPr/>
        </p:nvSpPr>
        <p:spPr>
          <a:xfrm>
            <a:off x="2242965" y="4965451"/>
            <a:ext cx="973344" cy="193841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1</a:t>
            </a: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폴 신규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  <a:lumOff val="50000"/>
                </a:srgbClr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304" name="TextBox 303">
            <a:extLst>
              <a:ext uri="{FF2B5EF4-FFF2-40B4-BE49-F238E27FC236}">
                <a16:creationId xmlns:a16="http://schemas.microsoft.com/office/drawing/2014/main" id="{CDB56C2C-FDEF-47AB-8DD0-1A74FA7659DE}"/>
              </a:ext>
            </a:extLst>
          </p:cNvPr>
          <p:cNvSpPr txBox="1"/>
          <p:nvPr/>
        </p:nvSpPr>
        <p:spPr>
          <a:xfrm>
            <a:off x="2242965" y="5333542"/>
            <a:ext cx="973344" cy="193841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2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폴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‘17 Semi Linear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  <a:lumOff val="50000"/>
                </a:srgbClr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305" name="TextBox 304">
            <a:extLst>
              <a:ext uri="{FF2B5EF4-FFF2-40B4-BE49-F238E27FC236}">
                <a16:creationId xmlns:a16="http://schemas.microsoft.com/office/drawing/2014/main" id="{CDB56C2C-FDEF-47AB-8DD0-1A74FA7659DE}"/>
              </a:ext>
            </a:extLst>
          </p:cNvPr>
          <p:cNvSpPr txBox="1"/>
          <p:nvPr/>
        </p:nvSpPr>
        <p:spPr>
          <a:xfrm>
            <a:off x="2242965" y="5504043"/>
            <a:ext cx="973344" cy="193841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2</a:t>
            </a: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폴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‘18 Linear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  <a:lumOff val="50000"/>
                </a:srgbClr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306" name="TextBox 305">
            <a:extLst>
              <a:ext uri="{FF2B5EF4-FFF2-40B4-BE49-F238E27FC236}">
                <a16:creationId xmlns:a16="http://schemas.microsoft.com/office/drawing/2014/main" id="{CDB56C2C-FDEF-47AB-8DD0-1A74FA7659DE}"/>
              </a:ext>
            </a:extLst>
          </p:cNvPr>
          <p:cNvSpPr txBox="1"/>
          <p:nvPr/>
        </p:nvSpPr>
        <p:spPr>
          <a:xfrm>
            <a:off x="2242965" y="5706591"/>
            <a:ext cx="973344" cy="193841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2</a:t>
            </a: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폴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‘17 Semi Linear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  <a:lumOff val="50000"/>
                </a:srgbClr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307" name="TextBox 306">
            <a:extLst>
              <a:ext uri="{FF2B5EF4-FFF2-40B4-BE49-F238E27FC236}">
                <a16:creationId xmlns:a16="http://schemas.microsoft.com/office/drawing/2014/main" id="{CDB56C2C-FDEF-47AB-8DD0-1A74FA7659DE}"/>
              </a:ext>
            </a:extLst>
          </p:cNvPr>
          <p:cNvSpPr txBox="1"/>
          <p:nvPr/>
        </p:nvSpPr>
        <p:spPr>
          <a:xfrm>
            <a:off x="2242965" y="5909140"/>
            <a:ext cx="973344" cy="193841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2</a:t>
            </a: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폴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‘18 Linear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  <a:lumOff val="50000"/>
                </a:srgbClr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309" name="TextBox 308">
            <a:extLst>
              <a:ext uri="{FF2B5EF4-FFF2-40B4-BE49-F238E27FC236}">
                <a16:creationId xmlns:a16="http://schemas.microsoft.com/office/drawing/2014/main" id="{CDB56C2C-FDEF-47AB-8DD0-1A74FA7659DE}"/>
              </a:ext>
            </a:extLst>
          </p:cNvPr>
          <p:cNvSpPr txBox="1"/>
          <p:nvPr/>
        </p:nvSpPr>
        <p:spPr>
          <a:xfrm>
            <a:off x="3982498" y="676207"/>
            <a:ext cx="973344" cy="193841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9.9mm </a:t>
            </a: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초슬림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  <a:lumOff val="50000"/>
                </a:srgbClr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310" name="TextBox 309">
            <a:extLst>
              <a:ext uri="{FF2B5EF4-FFF2-40B4-BE49-F238E27FC236}">
                <a16:creationId xmlns:a16="http://schemas.microsoft.com/office/drawing/2014/main" id="{CDB56C2C-FDEF-47AB-8DD0-1A74FA7659DE}"/>
              </a:ext>
            </a:extLst>
          </p:cNvPr>
          <p:cNvSpPr txBox="1"/>
          <p:nvPr/>
        </p:nvSpPr>
        <p:spPr>
          <a:xfrm>
            <a:off x="3982498" y="880215"/>
            <a:ext cx="973344" cy="193841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24.3mm </a:t>
            </a: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무선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  <a:lumOff val="50000"/>
                </a:srgbClr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311" name="TextBox 310">
            <a:extLst>
              <a:ext uri="{FF2B5EF4-FFF2-40B4-BE49-F238E27FC236}">
                <a16:creationId xmlns:a16="http://schemas.microsoft.com/office/drawing/2014/main" id="{CDB56C2C-FDEF-47AB-8DD0-1A74FA7659DE}"/>
              </a:ext>
            </a:extLst>
          </p:cNvPr>
          <p:cNvSpPr txBox="1"/>
          <p:nvPr/>
        </p:nvSpPr>
        <p:spPr>
          <a:xfrm>
            <a:off x="3982498" y="1075003"/>
            <a:ext cx="973344" cy="193841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24.3mm </a:t>
            </a: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갤러리</a:t>
            </a:r>
          </a:p>
        </p:txBody>
      </p:sp>
      <p:sp>
        <p:nvSpPr>
          <p:cNvPr id="312" name="TextBox 311">
            <a:extLst>
              <a:ext uri="{FF2B5EF4-FFF2-40B4-BE49-F238E27FC236}">
                <a16:creationId xmlns:a16="http://schemas.microsoft.com/office/drawing/2014/main" id="{CDB56C2C-FDEF-47AB-8DD0-1A74FA7659DE}"/>
              </a:ext>
            </a:extLst>
          </p:cNvPr>
          <p:cNvSpPr txBox="1"/>
          <p:nvPr/>
        </p:nvSpPr>
        <p:spPr>
          <a:xfrm>
            <a:off x="3982498" y="1676337"/>
            <a:ext cx="973344" cy="193841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45.1mm </a:t>
            </a: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최박부</a:t>
            </a:r>
          </a:p>
        </p:txBody>
      </p:sp>
      <p:sp>
        <p:nvSpPr>
          <p:cNvPr id="314" name="TextBox 313">
            <a:extLst>
              <a:ext uri="{FF2B5EF4-FFF2-40B4-BE49-F238E27FC236}">
                <a16:creationId xmlns:a16="http://schemas.microsoft.com/office/drawing/2014/main" id="{CDB56C2C-FDEF-47AB-8DD0-1A74FA7659DE}"/>
              </a:ext>
            </a:extLst>
          </p:cNvPr>
          <p:cNvSpPr txBox="1"/>
          <p:nvPr/>
        </p:nvSpPr>
        <p:spPr>
          <a:xfrm>
            <a:off x="3982498" y="2265015"/>
            <a:ext cx="973344" cy="193841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Pol-less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  <a:lumOff val="50000"/>
                </a:srgbClr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315" name="TextBox 314">
            <a:extLst>
              <a:ext uri="{FF2B5EF4-FFF2-40B4-BE49-F238E27FC236}">
                <a16:creationId xmlns:a16="http://schemas.microsoft.com/office/drawing/2014/main" id="{CDB56C2C-FDEF-47AB-8DD0-1A74FA7659DE}"/>
              </a:ext>
            </a:extLst>
          </p:cNvPr>
          <p:cNvSpPr txBox="1"/>
          <p:nvPr/>
        </p:nvSpPr>
        <p:spPr>
          <a:xfrm>
            <a:off x="3982498" y="2492817"/>
            <a:ext cx="973344" cy="193841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RGB Mini</a:t>
            </a:r>
          </a:p>
        </p:txBody>
      </p:sp>
      <p:sp>
        <p:nvSpPr>
          <p:cNvPr id="316" name="TextBox 315">
            <a:extLst>
              <a:ext uri="{FF2B5EF4-FFF2-40B4-BE49-F238E27FC236}">
                <a16:creationId xmlns:a16="http://schemas.microsoft.com/office/drawing/2014/main" id="{CDB56C2C-FDEF-47AB-8DD0-1A74FA7659DE}"/>
              </a:ext>
            </a:extLst>
          </p:cNvPr>
          <p:cNvSpPr txBox="1"/>
          <p:nvPr/>
        </p:nvSpPr>
        <p:spPr>
          <a:xfrm>
            <a:off x="3982498" y="2688316"/>
            <a:ext cx="973344" cy="193841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B/G + KSF_ Mini LED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  <a:lumOff val="50000"/>
                </a:srgbClr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317" name="TextBox 316">
            <a:extLst>
              <a:ext uri="{FF2B5EF4-FFF2-40B4-BE49-F238E27FC236}">
                <a16:creationId xmlns:a16="http://schemas.microsoft.com/office/drawing/2014/main" id="{CDB56C2C-FDEF-47AB-8DD0-1A74FA7659DE}"/>
              </a:ext>
            </a:extLst>
          </p:cNvPr>
          <p:cNvSpPr txBox="1"/>
          <p:nvPr/>
        </p:nvSpPr>
        <p:spPr>
          <a:xfrm>
            <a:off x="3982498" y="3483465"/>
            <a:ext cx="973344" cy="193841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33.3mm Direct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  <a:lumOff val="50000"/>
                </a:srgbClr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318" name="TextBox 317">
            <a:extLst>
              <a:ext uri="{FF2B5EF4-FFF2-40B4-BE49-F238E27FC236}">
                <a16:creationId xmlns:a16="http://schemas.microsoft.com/office/drawing/2014/main" id="{CDB56C2C-FDEF-47AB-8DD0-1A74FA7659DE}"/>
              </a:ext>
            </a:extLst>
          </p:cNvPr>
          <p:cNvSpPr txBox="1"/>
          <p:nvPr/>
        </p:nvSpPr>
        <p:spPr>
          <a:xfrm>
            <a:off x="3982498" y="3686013"/>
            <a:ext cx="973344" cy="193841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29.7mm Edge</a:t>
            </a:r>
          </a:p>
        </p:txBody>
      </p:sp>
      <p:sp>
        <p:nvSpPr>
          <p:cNvPr id="322" name="TextBox 321">
            <a:extLst>
              <a:ext uri="{FF2B5EF4-FFF2-40B4-BE49-F238E27FC236}">
                <a16:creationId xmlns:a16="http://schemas.microsoft.com/office/drawing/2014/main" id="{CDB56C2C-FDEF-47AB-8DD0-1A74FA7659DE}"/>
              </a:ext>
            </a:extLst>
          </p:cNvPr>
          <p:cNvSpPr txBox="1"/>
          <p:nvPr/>
        </p:nvSpPr>
        <p:spPr>
          <a:xfrm>
            <a:off x="3982498" y="6681825"/>
            <a:ext cx="973344" cy="193841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59.9mm, JDM</a:t>
            </a:r>
          </a:p>
        </p:txBody>
      </p:sp>
      <p:sp>
        <p:nvSpPr>
          <p:cNvPr id="323" name="TextBox 322">
            <a:extLst>
              <a:ext uri="{FF2B5EF4-FFF2-40B4-BE49-F238E27FC236}">
                <a16:creationId xmlns:a16="http://schemas.microsoft.com/office/drawing/2014/main" id="{CDB56C2C-FDEF-47AB-8DD0-1A74FA7659DE}"/>
              </a:ext>
            </a:extLst>
          </p:cNvPr>
          <p:cNvSpPr txBox="1"/>
          <p:nvPr/>
        </p:nvSpPr>
        <p:spPr>
          <a:xfrm>
            <a:off x="5644072" y="676207"/>
            <a:ext cx="973344" cy="193841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dirty="0">
                <a:solidFill>
                  <a:srgbClr val="000000">
                    <a:lumMod val="50000"/>
                    <a:lumOff val="50000"/>
                  </a:srgbClr>
                </a:solidFill>
                <a:latin typeface="Arial Narrow"/>
                <a:ea typeface="LG스마트체 Regular" panose="020B0600000101010101" pitchFamily="50" charset="-127"/>
              </a:rPr>
              <a:t>Warm Silver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  <a:lumOff val="50000"/>
                </a:srgbClr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324" name="TextBox 323">
            <a:extLst>
              <a:ext uri="{FF2B5EF4-FFF2-40B4-BE49-F238E27FC236}">
                <a16:creationId xmlns:a16="http://schemas.microsoft.com/office/drawing/2014/main" id="{CDB56C2C-FDEF-47AB-8DD0-1A74FA7659DE}"/>
              </a:ext>
            </a:extLst>
          </p:cNvPr>
          <p:cNvSpPr txBox="1"/>
          <p:nvPr/>
        </p:nvSpPr>
        <p:spPr>
          <a:xfrm>
            <a:off x="5644072" y="880215"/>
            <a:ext cx="973344" cy="193841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Satin Silver</a:t>
            </a:r>
          </a:p>
        </p:txBody>
      </p:sp>
      <p:sp>
        <p:nvSpPr>
          <p:cNvPr id="325" name="TextBox 324">
            <a:extLst>
              <a:ext uri="{FF2B5EF4-FFF2-40B4-BE49-F238E27FC236}">
                <a16:creationId xmlns:a16="http://schemas.microsoft.com/office/drawing/2014/main" id="{CDB56C2C-FDEF-47AB-8DD0-1A74FA7659DE}"/>
              </a:ext>
            </a:extLst>
          </p:cNvPr>
          <p:cNvSpPr txBox="1"/>
          <p:nvPr/>
        </p:nvSpPr>
        <p:spPr>
          <a:xfrm>
            <a:off x="5644072" y="1075003"/>
            <a:ext cx="973344" cy="193841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Satin Silver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  <a:lumOff val="50000"/>
                </a:srgbClr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326" name="TextBox 325">
            <a:extLst>
              <a:ext uri="{FF2B5EF4-FFF2-40B4-BE49-F238E27FC236}">
                <a16:creationId xmlns:a16="http://schemas.microsoft.com/office/drawing/2014/main" id="{CDB56C2C-FDEF-47AB-8DD0-1A74FA7659DE}"/>
              </a:ext>
            </a:extLst>
          </p:cNvPr>
          <p:cNvSpPr txBox="1"/>
          <p:nvPr/>
        </p:nvSpPr>
        <p:spPr>
          <a:xfrm>
            <a:off x="5644072" y="1684400"/>
            <a:ext cx="973344" cy="193841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Dark Titan Silver</a:t>
            </a:r>
          </a:p>
        </p:txBody>
      </p:sp>
      <p:sp>
        <p:nvSpPr>
          <p:cNvPr id="328" name="TextBox 327">
            <a:extLst>
              <a:ext uri="{FF2B5EF4-FFF2-40B4-BE49-F238E27FC236}">
                <a16:creationId xmlns:a16="http://schemas.microsoft.com/office/drawing/2014/main" id="{CDB56C2C-FDEF-47AB-8DD0-1A74FA7659DE}"/>
              </a:ext>
            </a:extLst>
          </p:cNvPr>
          <p:cNvSpPr txBox="1"/>
          <p:nvPr/>
        </p:nvSpPr>
        <p:spPr>
          <a:xfrm>
            <a:off x="5644072" y="2265015"/>
            <a:ext cx="973344" cy="193841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BK</a:t>
            </a:r>
          </a:p>
        </p:txBody>
      </p:sp>
      <p:sp>
        <p:nvSpPr>
          <p:cNvPr id="329" name="TextBox 328">
            <a:extLst>
              <a:ext uri="{FF2B5EF4-FFF2-40B4-BE49-F238E27FC236}">
                <a16:creationId xmlns:a16="http://schemas.microsoft.com/office/drawing/2014/main" id="{CDB56C2C-FDEF-47AB-8DD0-1A74FA7659DE}"/>
              </a:ext>
            </a:extLst>
          </p:cNvPr>
          <p:cNvSpPr txBox="1"/>
          <p:nvPr/>
        </p:nvSpPr>
        <p:spPr>
          <a:xfrm>
            <a:off x="5644072" y="2492817"/>
            <a:ext cx="973344" cy="193841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Ashed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 Blue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  <a:lumOff val="50000"/>
                </a:srgbClr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330" name="TextBox 329">
            <a:extLst>
              <a:ext uri="{FF2B5EF4-FFF2-40B4-BE49-F238E27FC236}">
                <a16:creationId xmlns:a16="http://schemas.microsoft.com/office/drawing/2014/main" id="{CDB56C2C-FDEF-47AB-8DD0-1A74FA7659DE}"/>
              </a:ext>
            </a:extLst>
          </p:cNvPr>
          <p:cNvSpPr txBox="1"/>
          <p:nvPr/>
        </p:nvSpPr>
        <p:spPr>
          <a:xfrm>
            <a:off x="5644072" y="2688316"/>
            <a:ext cx="973344" cy="193841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Charcoal Black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  <a:lumOff val="50000"/>
                </a:srgbClr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331" name="TextBox 330">
            <a:extLst>
              <a:ext uri="{FF2B5EF4-FFF2-40B4-BE49-F238E27FC236}">
                <a16:creationId xmlns:a16="http://schemas.microsoft.com/office/drawing/2014/main" id="{CDB56C2C-FDEF-47AB-8DD0-1A74FA7659DE}"/>
              </a:ext>
            </a:extLst>
          </p:cNvPr>
          <p:cNvSpPr txBox="1"/>
          <p:nvPr/>
        </p:nvSpPr>
        <p:spPr>
          <a:xfrm>
            <a:off x="5644072" y="3079214"/>
            <a:ext cx="973344" cy="193841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Ashed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 Blue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  <a:lumOff val="50000"/>
                </a:srgbClr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332" name="TextBox 331">
            <a:extLst>
              <a:ext uri="{FF2B5EF4-FFF2-40B4-BE49-F238E27FC236}">
                <a16:creationId xmlns:a16="http://schemas.microsoft.com/office/drawing/2014/main" id="{CDB56C2C-FDEF-47AB-8DD0-1A74FA7659DE}"/>
              </a:ext>
            </a:extLst>
          </p:cNvPr>
          <p:cNvSpPr txBox="1"/>
          <p:nvPr/>
        </p:nvSpPr>
        <p:spPr>
          <a:xfrm>
            <a:off x="5644072" y="3483465"/>
            <a:ext cx="973344" cy="193841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2.0 Regular"/>
                <a:cs typeface="+mn-cs"/>
              </a:rPr>
              <a:t>(ODM) BK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  <a:lumOff val="50000"/>
                </a:srgbClr>
              </a:solidFill>
              <a:effectLst/>
              <a:uLnTx/>
              <a:uFillTx/>
              <a:latin typeface="Arial Narrow"/>
              <a:ea typeface="LG스마트체2.0 Regular"/>
              <a:cs typeface="+mn-cs"/>
            </a:endParaRPr>
          </a:p>
        </p:txBody>
      </p:sp>
      <p:sp>
        <p:nvSpPr>
          <p:cNvPr id="333" name="TextBox 332">
            <a:extLst>
              <a:ext uri="{FF2B5EF4-FFF2-40B4-BE49-F238E27FC236}">
                <a16:creationId xmlns:a16="http://schemas.microsoft.com/office/drawing/2014/main" id="{CDB56C2C-FDEF-47AB-8DD0-1A74FA7659DE}"/>
              </a:ext>
            </a:extLst>
          </p:cNvPr>
          <p:cNvSpPr txBox="1"/>
          <p:nvPr/>
        </p:nvSpPr>
        <p:spPr>
          <a:xfrm>
            <a:off x="5644072" y="3686013"/>
            <a:ext cx="973344" cy="193841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Ashed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 Blue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  <a:lumOff val="50000"/>
                </a:srgbClr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334" name="TextBox 333">
            <a:extLst>
              <a:ext uri="{FF2B5EF4-FFF2-40B4-BE49-F238E27FC236}">
                <a16:creationId xmlns:a16="http://schemas.microsoft.com/office/drawing/2014/main" id="{CDB56C2C-FDEF-47AB-8DD0-1A74FA7659DE}"/>
              </a:ext>
            </a:extLst>
          </p:cNvPr>
          <p:cNvSpPr txBox="1"/>
          <p:nvPr/>
        </p:nvSpPr>
        <p:spPr>
          <a:xfrm>
            <a:off x="5644072" y="4082400"/>
            <a:ext cx="973344" cy="193841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Charcoal Black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  <a:lumOff val="50000"/>
                </a:srgbClr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335" name="TextBox 334">
            <a:extLst>
              <a:ext uri="{FF2B5EF4-FFF2-40B4-BE49-F238E27FC236}">
                <a16:creationId xmlns:a16="http://schemas.microsoft.com/office/drawing/2014/main" id="{CDB56C2C-FDEF-47AB-8DD0-1A74FA7659DE}"/>
              </a:ext>
            </a:extLst>
          </p:cNvPr>
          <p:cNvSpPr txBox="1"/>
          <p:nvPr/>
        </p:nvSpPr>
        <p:spPr>
          <a:xfrm>
            <a:off x="5644072" y="4257300"/>
            <a:ext cx="973344" cy="193841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Ashed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 Blue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  <a:lumOff val="50000"/>
                </a:srgbClr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336" name="TextBox 335">
            <a:extLst>
              <a:ext uri="{FF2B5EF4-FFF2-40B4-BE49-F238E27FC236}">
                <a16:creationId xmlns:a16="http://schemas.microsoft.com/office/drawing/2014/main" id="{CDB56C2C-FDEF-47AB-8DD0-1A74FA7659DE}"/>
              </a:ext>
            </a:extLst>
          </p:cNvPr>
          <p:cNvSpPr txBox="1"/>
          <p:nvPr/>
        </p:nvSpPr>
        <p:spPr>
          <a:xfrm>
            <a:off x="5644072" y="4443956"/>
            <a:ext cx="973344" cy="193841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Charcoal Black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  <a:lumOff val="50000"/>
                </a:srgbClr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337" name="TextBox 336">
            <a:extLst>
              <a:ext uri="{FF2B5EF4-FFF2-40B4-BE49-F238E27FC236}">
                <a16:creationId xmlns:a16="http://schemas.microsoft.com/office/drawing/2014/main" id="{CDB56C2C-FDEF-47AB-8DD0-1A74FA7659DE}"/>
              </a:ext>
            </a:extLst>
          </p:cNvPr>
          <p:cNvSpPr txBox="1"/>
          <p:nvPr/>
        </p:nvSpPr>
        <p:spPr>
          <a:xfrm>
            <a:off x="5644072" y="4803769"/>
            <a:ext cx="973344" cy="193841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Ashed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 Blue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  <a:lumOff val="50000"/>
                </a:srgbClr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338" name="TextBox 337">
            <a:extLst>
              <a:ext uri="{FF2B5EF4-FFF2-40B4-BE49-F238E27FC236}">
                <a16:creationId xmlns:a16="http://schemas.microsoft.com/office/drawing/2014/main" id="{CDB56C2C-FDEF-47AB-8DD0-1A74FA7659DE}"/>
              </a:ext>
            </a:extLst>
          </p:cNvPr>
          <p:cNvSpPr txBox="1"/>
          <p:nvPr/>
        </p:nvSpPr>
        <p:spPr>
          <a:xfrm>
            <a:off x="5644072" y="5006317"/>
            <a:ext cx="973344" cy="193841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Charcoal Black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  <a:lumOff val="50000"/>
                </a:srgbClr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339" name="TextBox 338">
            <a:extLst>
              <a:ext uri="{FF2B5EF4-FFF2-40B4-BE49-F238E27FC236}">
                <a16:creationId xmlns:a16="http://schemas.microsoft.com/office/drawing/2014/main" id="{CDB56C2C-FDEF-47AB-8DD0-1A74FA7659DE}"/>
              </a:ext>
            </a:extLst>
          </p:cNvPr>
          <p:cNvSpPr txBox="1"/>
          <p:nvPr/>
        </p:nvSpPr>
        <p:spPr>
          <a:xfrm>
            <a:off x="6866764" y="676207"/>
            <a:ext cx="973344" cy="193841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1,200↑ / 400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  <a:lumOff val="50000"/>
                </a:srgbClr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340" name="TextBox 339">
            <a:extLst>
              <a:ext uri="{FF2B5EF4-FFF2-40B4-BE49-F238E27FC236}">
                <a16:creationId xmlns:a16="http://schemas.microsoft.com/office/drawing/2014/main" id="{CDB56C2C-FDEF-47AB-8DD0-1A74FA7659DE}"/>
              </a:ext>
            </a:extLst>
          </p:cNvPr>
          <p:cNvSpPr txBox="1"/>
          <p:nvPr/>
        </p:nvSpPr>
        <p:spPr>
          <a:xfrm>
            <a:off x="6866764" y="1135960"/>
            <a:ext cx="973344" cy="294252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65” 1,200↑ / 400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48” 700 / 350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  <a:lumOff val="50000"/>
                </a:srgbClr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341" name="TextBox 340">
            <a:extLst>
              <a:ext uri="{FF2B5EF4-FFF2-40B4-BE49-F238E27FC236}">
                <a16:creationId xmlns:a16="http://schemas.microsoft.com/office/drawing/2014/main" id="{CDB56C2C-FDEF-47AB-8DD0-1A74FA7659DE}"/>
              </a:ext>
            </a:extLst>
          </p:cNvPr>
          <p:cNvSpPr txBox="1"/>
          <p:nvPr/>
        </p:nvSpPr>
        <p:spPr>
          <a:xfrm>
            <a:off x="6866764" y="1682922"/>
            <a:ext cx="973344" cy="275594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>
            <a:defPPr>
              <a:defRPr lang="ko-KR"/>
            </a:defPPr>
            <a:lvl1pPr algn="ctr">
              <a:defRPr sz="1000">
                <a:solidFill>
                  <a:srgbClr val="000000">
                    <a:lumMod val="50000"/>
                    <a:lumOff val="50000"/>
                  </a:srgbClr>
                </a:solidFill>
                <a:ea typeface="LG스마트체 Regular" panose="020B0600000101010101" pitchFamily="50" charset="-127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65” 700↑ / 250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48” 600 / 200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  <a:lumOff val="50000"/>
                </a:srgbClr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342" name="TextBox 341">
            <a:extLst>
              <a:ext uri="{FF2B5EF4-FFF2-40B4-BE49-F238E27FC236}">
                <a16:creationId xmlns:a16="http://schemas.microsoft.com/office/drawing/2014/main" id="{CDB56C2C-FDEF-47AB-8DD0-1A74FA7659DE}"/>
              </a:ext>
            </a:extLst>
          </p:cNvPr>
          <p:cNvSpPr txBox="1"/>
          <p:nvPr/>
        </p:nvSpPr>
        <p:spPr>
          <a:xfrm>
            <a:off x="6866764" y="2271522"/>
            <a:ext cx="973344" cy="193841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550 / 135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  <a:lumOff val="50000"/>
                </a:srgbClr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343" name="TextBox 342">
            <a:extLst>
              <a:ext uri="{FF2B5EF4-FFF2-40B4-BE49-F238E27FC236}">
                <a16:creationId xmlns:a16="http://schemas.microsoft.com/office/drawing/2014/main" id="{CDB56C2C-FDEF-47AB-8DD0-1A74FA7659DE}"/>
              </a:ext>
            </a:extLst>
          </p:cNvPr>
          <p:cNvSpPr txBox="1"/>
          <p:nvPr/>
        </p:nvSpPr>
        <p:spPr>
          <a:xfrm>
            <a:off x="6866764" y="2492817"/>
            <a:ext cx="973344" cy="193841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>
            <a:defPPr>
              <a:defRPr lang="ko-KR"/>
            </a:defPPr>
            <a:lvl1pPr marR="0" lvl="0" indent="0" algn="ctr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00" b="0" i="0" u="none" strike="noStrike" cap="none" spc="0" normalizeH="0" baseline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</a:defRPr>
            </a:lvl1pPr>
          </a:lstStyle>
          <a:p>
            <a:r>
              <a:rPr lang="fi-FI" altLang="ko-KR" dirty="0"/>
              <a:t>100/86" 300 / 75" 500</a:t>
            </a:r>
            <a:endParaRPr lang="ko-KR" altLang="en-US" dirty="0"/>
          </a:p>
        </p:txBody>
      </p:sp>
      <p:sp>
        <p:nvSpPr>
          <p:cNvPr id="344" name="TextBox 343">
            <a:extLst>
              <a:ext uri="{FF2B5EF4-FFF2-40B4-BE49-F238E27FC236}">
                <a16:creationId xmlns:a16="http://schemas.microsoft.com/office/drawing/2014/main" id="{CDB56C2C-FDEF-47AB-8DD0-1A74FA7659DE}"/>
              </a:ext>
            </a:extLst>
          </p:cNvPr>
          <p:cNvSpPr txBox="1"/>
          <p:nvPr/>
        </p:nvSpPr>
        <p:spPr>
          <a:xfrm>
            <a:off x="6866764" y="2678720"/>
            <a:ext cx="973344" cy="193841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800 / 500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  <a:lumOff val="50000"/>
                </a:srgbClr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346" name="TextBox 345">
            <a:extLst>
              <a:ext uri="{FF2B5EF4-FFF2-40B4-BE49-F238E27FC236}">
                <a16:creationId xmlns:a16="http://schemas.microsoft.com/office/drawing/2014/main" id="{CDB56C2C-FDEF-47AB-8DD0-1A74FA7659DE}"/>
              </a:ext>
            </a:extLst>
          </p:cNvPr>
          <p:cNvSpPr txBox="1"/>
          <p:nvPr/>
        </p:nvSpPr>
        <p:spPr>
          <a:xfrm>
            <a:off x="6866764" y="3483465"/>
            <a:ext cx="973344" cy="193841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800 / 500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  <a:lumOff val="50000"/>
                </a:srgbClr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347" name="TextBox 346">
            <a:extLst>
              <a:ext uri="{FF2B5EF4-FFF2-40B4-BE49-F238E27FC236}">
                <a16:creationId xmlns:a16="http://schemas.microsoft.com/office/drawing/2014/main" id="{CDB56C2C-FDEF-47AB-8DD0-1A74FA7659DE}"/>
              </a:ext>
            </a:extLst>
          </p:cNvPr>
          <p:cNvSpPr txBox="1"/>
          <p:nvPr/>
        </p:nvSpPr>
        <p:spPr>
          <a:xfrm>
            <a:off x="6866764" y="4259070"/>
            <a:ext cx="973344" cy="193841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350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  <a:lumOff val="50000"/>
                </a:srgbClr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348" name="TextBox 347">
            <a:extLst>
              <a:ext uri="{FF2B5EF4-FFF2-40B4-BE49-F238E27FC236}">
                <a16:creationId xmlns:a16="http://schemas.microsoft.com/office/drawing/2014/main" id="{CDB56C2C-FDEF-47AB-8DD0-1A74FA7659DE}"/>
              </a:ext>
            </a:extLst>
          </p:cNvPr>
          <p:cNvSpPr txBox="1"/>
          <p:nvPr/>
        </p:nvSpPr>
        <p:spPr>
          <a:xfrm>
            <a:off x="6866764" y="5333542"/>
            <a:ext cx="973344" cy="193841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300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  <a:lumOff val="50000"/>
                </a:srgbClr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349" name="TextBox 348">
            <a:extLst>
              <a:ext uri="{FF2B5EF4-FFF2-40B4-BE49-F238E27FC236}">
                <a16:creationId xmlns:a16="http://schemas.microsoft.com/office/drawing/2014/main" id="{CDB56C2C-FDEF-47AB-8DD0-1A74FA7659DE}"/>
              </a:ext>
            </a:extLst>
          </p:cNvPr>
          <p:cNvSpPr txBox="1"/>
          <p:nvPr/>
        </p:nvSpPr>
        <p:spPr>
          <a:xfrm>
            <a:off x="6866764" y="6681825"/>
            <a:ext cx="973344" cy="193841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250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  <a:lumOff val="50000"/>
                </a:srgbClr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350" name="TextBox 349">
            <a:extLst>
              <a:ext uri="{FF2B5EF4-FFF2-40B4-BE49-F238E27FC236}">
                <a16:creationId xmlns:a16="http://schemas.microsoft.com/office/drawing/2014/main" id="{CDB56C2C-FDEF-47AB-8DD0-1A74FA7659DE}"/>
              </a:ext>
            </a:extLst>
          </p:cNvPr>
          <p:cNvSpPr txBox="1"/>
          <p:nvPr/>
        </p:nvSpPr>
        <p:spPr>
          <a:xfrm>
            <a:off x="7888724" y="676207"/>
            <a:ext cx="973344" cy="193841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O26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  <a:lumOff val="50000"/>
                </a:srgbClr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351" name="TextBox 350">
            <a:extLst>
              <a:ext uri="{FF2B5EF4-FFF2-40B4-BE49-F238E27FC236}">
                <a16:creationId xmlns:a16="http://schemas.microsoft.com/office/drawing/2014/main" id="{CDB56C2C-FDEF-47AB-8DD0-1A74FA7659DE}"/>
              </a:ext>
            </a:extLst>
          </p:cNvPr>
          <p:cNvSpPr txBox="1"/>
          <p:nvPr/>
        </p:nvSpPr>
        <p:spPr>
          <a:xfrm>
            <a:off x="7888724" y="880215"/>
            <a:ext cx="973344" cy="193841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O24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  <a:lumOff val="50000"/>
                </a:srgbClr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352" name="TextBox 351">
            <a:extLst>
              <a:ext uri="{FF2B5EF4-FFF2-40B4-BE49-F238E27FC236}">
                <a16:creationId xmlns:a16="http://schemas.microsoft.com/office/drawing/2014/main" id="{CDB56C2C-FDEF-47AB-8DD0-1A74FA7659DE}"/>
              </a:ext>
            </a:extLst>
          </p:cNvPr>
          <p:cNvSpPr txBox="1"/>
          <p:nvPr/>
        </p:nvSpPr>
        <p:spPr>
          <a:xfrm>
            <a:off x="7888724" y="1075003"/>
            <a:ext cx="973344" cy="193841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O26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  <a:lumOff val="50000"/>
                </a:srgbClr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353" name="TextBox 352">
            <a:extLst>
              <a:ext uri="{FF2B5EF4-FFF2-40B4-BE49-F238E27FC236}">
                <a16:creationId xmlns:a16="http://schemas.microsoft.com/office/drawing/2014/main" id="{CDB56C2C-FDEF-47AB-8DD0-1A74FA7659DE}"/>
              </a:ext>
            </a:extLst>
          </p:cNvPr>
          <p:cNvSpPr txBox="1"/>
          <p:nvPr/>
        </p:nvSpPr>
        <p:spPr>
          <a:xfrm>
            <a:off x="7888724" y="2271522"/>
            <a:ext cx="973344" cy="193841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K26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  <a:lumOff val="50000"/>
                </a:srgbClr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354" name="TextBox 353">
            <a:extLst>
              <a:ext uri="{FF2B5EF4-FFF2-40B4-BE49-F238E27FC236}">
                <a16:creationId xmlns:a16="http://schemas.microsoft.com/office/drawing/2014/main" id="{CDB56C2C-FDEF-47AB-8DD0-1A74FA7659DE}"/>
              </a:ext>
            </a:extLst>
          </p:cNvPr>
          <p:cNvSpPr txBox="1"/>
          <p:nvPr/>
        </p:nvSpPr>
        <p:spPr>
          <a:xfrm>
            <a:off x="7888724" y="2492817"/>
            <a:ext cx="973344" cy="193841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O26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  <a:lumOff val="50000"/>
                </a:srgbClr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355" name="TextBox 354">
            <a:extLst>
              <a:ext uri="{FF2B5EF4-FFF2-40B4-BE49-F238E27FC236}">
                <a16:creationId xmlns:a16="http://schemas.microsoft.com/office/drawing/2014/main" id="{CDB56C2C-FDEF-47AB-8DD0-1A74FA7659DE}"/>
              </a:ext>
            </a:extLst>
          </p:cNvPr>
          <p:cNvSpPr txBox="1"/>
          <p:nvPr/>
        </p:nvSpPr>
        <p:spPr>
          <a:xfrm>
            <a:off x="7888724" y="2688316"/>
            <a:ext cx="973344" cy="193841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O26 + WAV26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  <a:lumOff val="50000"/>
                </a:srgbClr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356" name="TextBox 355">
            <a:extLst>
              <a:ext uri="{FF2B5EF4-FFF2-40B4-BE49-F238E27FC236}">
                <a16:creationId xmlns:a16="http://schemas.microsoft.com/office/drawing/2014/main" id="{CDB56C2C-FDEF-47AB-8DD0-1A74FA7659DE}"/>
              </a:ext>
            </a:extLst>
          </p:cNvPr>
          <p:cNvSpPr txBox="1"/>
          <p:nvPr/>
        </p:nvSpPr>
        <p:spPr>
          <a:xfrm>
            <a:off x="7888724" y="2890624"/>
            <a:ext cx="973344" cy="193841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K26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  <a:lumOff val="50000"/>
                </a:srgbClr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357" name="TextBox 356">
            <a:extLst>
              <a:ext uri="{FF2B5EF4-FFF2-40B4-BE49-F238E27FC236}">
                <a16:creationId xmlns:a16="http://schemas.microsoft.com/office/drawing/2014/main" id="{CDB56C2C-FDEF-47AB-8DD0-1A74FA7659DE}"/>
              </a:ext>
            </a:extLst>
          </p:cNvPr>
          <p:cNvSpPr txBox="1"/>
          <p:nvPr/>
        </p:nvSpPr>
        <p:spPr>
          <a:xfrm>
            <a:off x="7888724" y="3483465"/>
            <a:ext cx="973344" cy="193841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K24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  <a:lumOff val="50000"/>
                </a:srgbClr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359" name="TextBox 358">
            <a:extLst>
              <a:ext uri="{FF2B5EF4-FFF2-40B4-BE49-F238E27FC236}">
                <a16:creationId xmlns:a16="http://schemas.microsoft.com/office/drawing/2014/main" id="{CDB56C2C-FDEF-47AB-8DD0-1A74FA7659DE}"/>
              </a:ext>
            </a:extLst>
          </p:cNvPr>
          <p:cNvSpPr txBox="1"/>
          <p:nvPr/>
        </p:nvSpPr>
        <p:spPr>
          <a:xfrm>
            <a:off x="7888724" y="6681825"/>
            <a:ext cx="973344" cy="193841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LM24F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  <a:lumOff val="50000"/>
                </a:srgbClr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360" name="TextBox 359">
            <a:extLst>
              <a:ext uri="{FF2B5EF4-FFF2-40B4-BE49-F238E27FC236}">
                <a16:creationId xmlns:a16="http://schemas.microsoft.com/office/drawing/2014/main" id="{CDB56C2C-FDEF-47AB-8DD0-1A74FA7659DE}"/>
              </a:ext>
            </a:extLst>
          </p:cNvPr>
          <p:cNvSpPr txBox="1"/>
          <p:nvPr/>
        </p:nvSpPr>
        <p:spPr>
          <a:xfrm>
            <a:off x="8904528" y="676207"/>
            <a:ext cx="973344" cy="193841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60W / 4.2ch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  <a:lumOff val="50000"/>
                </a:srgbClr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361" name="TextBox 360">
            <a:extLst>
              <a:ext uri="{FF2B5EF4-FFF2-40B4-BE49-F238E27FC236}">
                <a16:creationId xmlns:a16="http://schemas.microsoft.com/office/drawing/2014/main" id="{CDB56C2C-FDEF-47AB-8DD0-1A74FA7659DE}"/>
              </a:ext>
            </a:extLst>
          </p:cNvPr>
          <p:cNvSpPr txBox="1"/>
          <p:nvPr/>
        </p:nvSpPr>
        <p:spPr>
          <a:xfrm>
            <a:off x="8904528" y="1684400"/>
            <a:ext cx="973344" cy="193841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40W  2.2ch</a:t>
            </a:r>
          </a:p>
        </p:txBody>
      </p:sp>
      <p:sp>
        <p:nvSpPr>
          <p:cNvPr id="362" name="TextBox 361">
            <a:extLst>
              <a:ext uri="{FF2B5EF4-FFF2-40B4-BE49-F238E27FC236}">
                <a16:creationId xmlns:a16="http://schemas.microsoft.com/office/drawing/2014/main" id="{CDB56C2C-FDEF-47AB-8DD0-1A74FA7659DE}"/>
              </a:ext>
            </a:extLst>
          </p:cNvPr>
          <p:cNvSpPr txBox="1"/>
          <p:nvPr/>
        </p:nvSpPr>
        <p:spPr>
          <a:xfrm>
            <a:off x="8904528" y="2264038"/>
            <a:ext cx="973344" cy="193841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20W  2.0ch</a:t>
            </a:r>
          </a:p>
        </p:txBody>
      </p:sp>
      <p:sp>
        <p:nvSpPr>
          <p:cNvPr id="363" name="TextBox 362">
            <a:extLst>
              <a:ext uri="{FF2B5EF4-FFF2-40B4-BE49-F238E27FC236}">
                <a16:creationId xmlns:a16="http://schemas.microsoft.com/office/drawing/2014/main" id="{CDB56C2C-FDEF-47AB-8DD0-1A74FA7659DE}"/>
              </a:ext>
            </a:extLst>
          </p:cNvPr>
          <p:cNvSpPr txBox="1"/>
          <p:nvPr/>
        </p:nvSpPr>
        <p:spPr>
          <a:xfrm>
            <a:off x="8904528" y="2492817"/>
            <a:ext cx="973344" cy="193841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40W  2.2ch</a:t>
            </a:r>
          </a:p>
        </p:txBody>
      </p:sp>
      <p:sp>
        <p:nvSpPr>
          <p:cNvPr id="364" name="TextBox 363">
            <a:extLst>
              <a:ext uri="{FF2B5EF4-FFF2-40B4-BE49-F238E27FC236}">
                <a16:creationId xmlns:a16="http://schemas.microsoft.com/office/drawing/2014/main" id="{CDB56C2C-FDEF-47AB-8DD0-1A74FA7659DE}"/>
              </a:ext>
            </a:extLst>
          </p:cNvPr>
          <p:cNvSpPr txBox="1"/>
          <p:nvPr/>
        </p:nvSpPr>
        <p:spPr>
          <a:xfrm>
            <a:off x="8904528" y="2688316"/>
            <a:ext cx="973344" cy="193841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20W  2.0ch</a:t>
            </a:r>
          </a:p>
        </p:txBody>
      </p:sp>
      <p:sp>
        <p:nvSpPr>
          <p:cNvPr id="365" name="TextBox 364">
            <a:extLst>
              <a:ext uri="{FF2B5EF4-FFF2-40B4-BE49-F238E27FC236}">
                <a16:creationId xmlns:a16="http://schemas.microsoft.com/office/drawing/2014/main" id="{CDB56C2C-FDEF-47AB-8DD0-1A74FA7659DE}"/>
              </a:ext>
            </a:extLst>
          </p:cNvPr>
          <p:cNvSpPr txBox="1"/>
          <p:nvPr/>
        </p:nvSpPr>
        <p:spPr>
          <a:xfrm>
            <a:off x="8904528" y="3483465"/>
            <a:ext cx="973344" cy="193841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40W / 2.2ch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  <a:lumOff val="50000"/>
                </a:srgbClr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366" name="TextBox 365">
            <a:extLst>
              <a:ext uri="{FF2B5EF4-FFF2-40B4-BE49-F238E27FC236}">
                <a16:creationId xmlns:a16="http://schemas.microsoft.com/office/drawing/2014/main" id="{CDB56C2C-FDEF-47AB-8DD0-1A74FA7659DE}"/>
              </a:ext>
            </a:extLst>
          </p:cNvPr>
          <p:cNvSpPr txBox="1"/>
          <p:nvPr/>
        </p:nvSpPr>
        <p:spPr>
          <a:xfrm>
            <a:off x="8904528" y="3686013"/>
            <a:ext cx="973344" cy="193841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20W  2.0ch</a:t>
            </a:r>
          </a:p>
        </p:txBody>
      </p:sp>
      <p:sp>
        <p:nvSpPr>
          <p:cNvPr id="367" name="TextBox 366">
            <a:extLst>
              <a:ext uri="{FF2B5EF4-FFF2-40B4-BE49-F238E27FC236}">
                <a16:creationId xmlns:a16="http://schemas.microsoft.com/office/drawing/2014/main" id="{CDB56C2C-FDEF-47AB-8DD0-1A74FA7659DE}"/>
              </a:ext>
            </a:extLst>
          </p:cNvPr>
          <p:cNvSpPr txBox="1"/>
          <p:nvPr/>
        </p:nvSpPr>
        <p:spPr>
          <a:xfrm>
            <a:off x="9875663" y="676207"/>
            <a:ext cx="973344" cy="193841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4 / 2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  <a:lumOff val="50000"/>
                </a:srgbClr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368" name="TextBox 367">
            <a:extLst>
              <a:ext uri="{FF2B5EF4-FFF2-40B4-BE49-F238E27FC236}">
                <a16:creationId xmlns:a16="http://schemas.microsoft.com/office/drawing/2014/main" id="{CDB56C2C-FDEF-47AB-8DD0-1A74FA7659DE}"/>
              </a:ext>
            </a:extLst>
          </p:cNvPr>
          <p:cNvSpPr txBox="1"/>
          <p:nvPr/>
        </p:nvSpPr>
        <p:spPr>
          <a:xfrm>
            <a:off x="9875663" y="880215"/>
            <a:ext cx="973344" cy="193841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3 / 2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  <a:lumOff val="50000"/>
                </a:srgbClr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369" name="TextBox 368">
            <a:extLst>
              <a:ext uri="{FF2B5EF4-FFF2-40B4-BE49-F238E27FC236}">
                <a16:creationId xmlns:a16="http://schemas.microsoft.com/office/drawing/2014/main" id="{CDB56C2C-FDEF-47AB-8DD0-1A74FA7659DE}"/>
              </a:ext>
            </a:extLst>
          </p:cNvPr>
          <p:cNvSpPr txBox="1"/>
          <p:nvPr/>
        </p:nvSpPr>
        <p:spPr>
          <a:xfrm>
            <a:off x="9875663" y="1075003"/>
            <a:ext cx="973344" cy="193841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4 / 3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  <a:lumOff val="50000"/>
                </a:srgbClr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370" name="TextBox 369">
            <a:extLst>
              <a:ext uri="{FF2B5EF4-FFF2-40B4-BE49-F238E27FC236}">
                <a16:creationId xmlns:a16="http://schemas.microsoft.com/office/drawing/2014/main" id="{CDB56C2C-FDEF-47AB-8DD0-1A74FA7659DE}"/>
              </a:ext>
            </a:extLst>
          </p:cNvPr>
          <p:cNvSpPr txBox="1"/>
          <p:nvPr/>
        </p:nvSpPr>
        <p:spPr>
          <a:xfrm>
            <a:off x="9875663" y="1684400"/>
            <a:ext cx="973344" cy="193841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4 / 2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  <a:lumOff val="50000"/>
                </a:srgbClr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371" name="TextBox 370">
            <a:extLst>
              <a:ext uri="{FF2B5EF4-FFF2-40B4-BE49-F238E27FC236}">
                <a16:creationId xmlns:a16="http://schemas.microsoft.com/office/drawing/2014/main" id="{CDB56C2C-FDEF-47AB-8DD0-1A74FA7659DE}"/>
              </a:ext>
            </a:extLst>
          </p:cNvPr>
          <p:cNvSpPr txBox="1"/>
          <p:nvPr/>
        </p:nvSpPr>
        <p:spPr>
          <a:xfrm>
            <a:off x="9875663" y="2265015"/>
            <a:ext cx="973344" cy="193841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4 / 1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  <a:lumOff val="50000"/>
                </a:srgbClr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372" name="TextBox 371">
            <a:extLst>
              <a:ext uri="{FF2B5EF4-FFF2-40B4-BE49-F238E27FC236}">
                <a16:creationId xmlns:a16="http://schemas.microsoft.com/office/drawing/2014/main" id="{CDB56C2C-FDEF-47AB-8DD0-1A74FA7659DE}"/>
              </a:ext>
            </a:extLst>
          </p:cNvPr>
          <p:cNvSpPr txBox="1"/>
          <p:nvPr/>
        </p:nvSpPr>
        <p:spPr>
          <a:xfrm>
            <a:off x="9875663" y="2492817"/>
            <a:ext cx="973344" cy="193841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4 / 2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  <a:lumOff val="50000"/>
                </a:srgbClr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373" name="TextBox 372">
            <a:extLst>
              <a:ext uri="{FF2B5EF4-FFF2-40B4-BE49-F238E27FC236}">
                <a16:creationId xmlns:a16="http://schemas.microsoft.com/office/drawing/2014/main" id="{CDB56C2C-FDEF-47AB-8DD0-1A74FA7659DE}"/>
              </a:ext>
            </a:extLst>
          </p:cNvPr>
          <p:cNvSpPr txBox="1"/>
          <p:nvPr/>
        </p:nvSpPr>
        <p:spPr>
          <a:xfrm>
            <a:off x="9875663" y="2688316"/>
            <a:ext cx="973344" cy="193841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3 / 2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  <a:lumOff val="50000"/>
                </a:srgbClr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374" name="TextBox 373">
            <a:extLst>
              <a:ext uri="{FF2B5EF4-FFF2-40B4-BE49-F238E27FC236}">
                <a16:creationId xmlns:a16="http://schemas.microsoft.com/office/drawing/2014/main" id="{CDB56C2C-FDEF-47AB-8DD0-1A74FA7659DE}"/>
              </a:ext>
            </a:extLst>
          </p:cNvPr>
          <p:cNvSpPr txBox="1"/>
          <p:nvPr/>
        </p:nvSpPr>
        <p:spPr>
          <a:xfrm>
            <a:off x="9875663" y="2890624"/>
            <a:ext cx="973344" cy="193841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3 / 1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  <a:lumOff val="50000"/>
                </a:srgbClr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375" name="TextBox 374">
            <a:extLst>
              <a:ext uri="{FF2B5EF4-FFF2-40B4-BE49-F238E27FC236}">
                <a16:creationId xmlns:a16="http://schemas.microsoft.com/office/drawing/2014/main" id="{CDB56C2C-FDEF-47AB-8DD0-1A74FA7659DE}"/>
              </a:ext>
            </a:extLst>
          </p:cNvPr>
          <p:cNvSpPr txBox="1"/>
          <p:nvPr/>
        </p:nvSpPr>
        <p:spPr>
          <a:xfrm>
            <a:off x="9875663" y="3483465"/>
            <a:ext cx="973344" cy="193841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4 / 2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  <a:lumOff val="50000"/>
                </a:srgbClr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376" name="TextBox 375">
            <a:extLst>
              <a:ext uri="{FF2B5EF4-FFF2-40B4-BE49-F238E27FC236}">
                <a16:creationId xmlns:a16="http://schemas.microsoft.com/office/drawing/2014/main" id="{CDB56C2C-FDEF-47AB-8DD0-1A74FA7659DE}"/>
              </a:ext>
            </a:extLst>
          </p:cNvPr>
          <p:cNvSpPr txBox="1"/>
          <p:nvPr/>
        </p:nvSpPr>
        <p:spPr>
          <a:xfrm>
            <a:off x="9875663" y="4284706"/>
            <a:ext cx="973344" cy="193841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3 / 1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  <a:lumOff val="50000"/>
                </a:srgbClr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379" name="TextBox 378">
            <a:extLst>
              <a:ext uri="{FF2B5EF4-FFF2-40B4-BE49-F238E27FC236}">
                <a16:creationId xmlns:a16="http://schemas.microsoft.com/office/drawing/2014/main" id="{CDB56C2C-FDEF-47AB-8DD0-1A74FA7659DE}"/>
              </a:ext>
            </a:extLst>
          </p:cNvPr>
          <p:cNvSpPr txBox="1"/>
          <p:nvPr/>
        </p:nvSpPr>
        <p:spPr>
          <a:xfrm>
            <a:off x="10983415" y="856362"/>
            <a:ext cx="973344" cy="193841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매직리모컨</a:t>
            </a:r>
          </a:p>
        </p:txBody>
      </p:sp>
      <p:sp>
        <p:nvSpPr>
          <p:cNvPr id="380" name="TextBox 379">
            <a:extLst>
              <a:ext uri="{FF2B5EF4-FFF2-40B4-BE49-F238E27FC236}">
                <a16:creationId xmlns:a16="http://schemas.microsoft.com/office/drawing/2014/main" id="{CDB56C2C-FDEF-47AB-8DD0-1A74FA7659DE}"/>
              </a:ext>
            </a:extLst>
          </p:cNvPr>
          <p:cNvSpPr txBox="1"/>
          <p:nvPr/>
        </p:nvSpPr>
        <p:spPr>
          <a:xfrm>
            <a:off x="10955379" y="1261070"/>
            <a:ext cx="973344" cy="193841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숫자키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매직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(G62)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  <a:lumOff val="50000"/>
                </a:srgbClr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381" name="TextBox 380">
            <a:extLst>
              <a:ext uri="{FF2B5EF4-FFF2-40B4-BE49-F238E27FC236}">
                <a16:creationId xmlns:a16="http://schemas.microsoft.com/office/drawing/2014/main" id="{CDB56C2C-FDEF-47AB-8DD0-1A74FA7659DE}"/>
              </a:ext>
            </a:extLst>
          </p:cNvPr>
          <p:cNvSpPr txBox="1"/>
          <p:nvPr/>
        </p:nvSpPr>
        <p:spPr>
          <a:xfrm>
            <a:off x="10983415" y="1656177"/>
            <a:ext cx="973344" cy="193841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매직리모컨</a:t>
            </a:r>
          </a:p>
        </p:txBody>
      </p:sp>
      <p:sp>
        <p:nvSpPr>
          <p:cNvPr id="382" name="TextBox 381">
            <a:extLst>
              <a:ext uri="{FF2B5EF4-FFF2-40B4-BE49-F238E27FC236}">
                <a16:creationId xmlns:a16="http://schemas.microsoft.com/office/drawing/2014/main" id="{CDB56C2C-FDEF-47AB-8DD0-1A74FA7659DE}"/>
              </a:ext>
            </a:extLst>
          </p:cNvPr>
          <p:cNvSpPr txBox="1"/>
          <p:nvPr/>
        </p:nvSpPr>
        <p:spPr>
          <a:xfrm>
            <a:off x="10858981" y="2064087"/>
            <a:ext cx="973344" cy="193841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실버매직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(C6-2)/ </a:t>
            </a:r>
            <a:r>
              <a:rPr kumimoji="0" lang="ko-KR" alt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숫자키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매직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(C6E)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  <a:lumOff val="50000"/>
                </a:srgbClr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384" name="TextBox 383">
            <a:extLst>
              <a:ext uri="{FF2B5EF4-FFF2-40B4-BE49-F238E27FC236}">
                <a16:creationId xmlns:a16="http://schemas.microsoft.com/office/drawing/2014/main" id="{CDB56C2C-FDEF-47AB-8DD0-1A74FA7659DE}"/>
              </a:ext>
            </a:extLst>
          </p:cNvPr>
          <p:cNvSpPr txBox="1"/>
          <p:nvPr/>
        </p:nvSpPr>
        <p:spPr>
          <a:xfrm>
            <a:off x="10981779" y="5706591"/>
            <a:ext cx="973344" cy="193841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숫자키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매직</a:t>
            </a:r>
          </a:p>
        </p:txBody>
      </p:sp>
      <p:sp>
        <p:nvSpPr>
          <p:cNvPr id="385" name="TextBox 384">
            <a:extLst>
              <a:ext uri="{FF2B5EF4-FFF2-40B4-BE49-F238E27FC236}">
                <a16:creationId xmlns:a16="http://schemas.microsoft.com/office/drawing/2014/main" id="{CDB56C2C-FDEF-47AB-8DD0-1A74FA7659DE}"/>
              </a:ext>
            </a:extLst>
          </p:cNvPr>
          <p:cNvSpPr txBox="1"/>
          <p:nvPr/>
        </p:nvSpPr>
        <p:spPr>
          <a:xfrm>
            <a:off x="10983415" y="6078126"/>
            <a:ext cx="973344" cy="193841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숫자키매직</a:t>
            </a:r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  <a:lumOff val="50000"/>
                </a:srgbClr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6451207C-C558-DAEE-58F6-D8F32637EE2C}"/>
              </a:ext>
            </a:extLst>
          </p:cNvPr>
          <p:cNvGrpSpPr/>
          <p:nvPr/>
        </p:nvGrpSpPr>
        <p:grpSpPr>
          <a:xfrm>
            <a:off x="757922" y="6295274"/>
            <a:ext cx="11224964" cy="193841"/>
            <a:chOff x="757922" y="6164225"/>
            <a:chExt cx="11224964" cy="193841"/>
          </a:xfrm>
        </p:grpSpPr>
        <p:sp>
          <p:nvSpPr>
            <p:cNvPr id="276" name="Rectangle 3936">
              <a:extLst>
                <a:ext uri="{FF2B5EF4-FFF2-40B4-BE49-F238E27FC236}">
                  <a16:creationId xmlns:a16="http://schemas.microsoft.com/office/drawing/2014/main" id="{7DE5A6D3-EAA5-6920-B4E9-5AEC7601AF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7922" y="6171145"/>
              <a:ext cx="860400" cy="180000"/>
            </a:xfrm>
            <a:prstGeom prst="rect">
              <a:avLst/>
            </a:prstGeom>
            <a:solidFill>
              <a:srgbClr val="FFFFFF"/>
            </a:solidFill>
            <a:ln w="6350" algn="ctr">
              <a:solidFill>
                <a:srgbClr val="FFFFFF">
                  <a:lumMod val="75000"/>
                </a:srgbClr>
              </a:solidFill>
              <a:prstDash val="solid"/>
              <a:round/>
              <a:headEnd/>
              <a:tailEnd/>
            </a:ln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2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LG스마트체 Regular"/>
                  <a:cs typeface="Arial" panose="020B0604020202020204" pitchFamily="34" charset="0"/>
                </a:rPr>
                <a:t>NU85</a:t>
              </a:r>
            </a:p>
          </p:txBody>
        </p:sp>
        <p:sp>
          <p:nvSpPr>
            <p:cNvPr id="308" name="TextBox 307">
              <a:extLst>
                <a:ext uri="{FF2B5EF4-FFF2-40B4-BE49-F238E27FC236}">
                  <a16:creationId xmlns:a16="http://schemas.microsoft.com/office/drawing/2014/main" id="{CDB56C2C-FDEF-47AB-8DD0-1A74FA7659DE}"/>
                </a:ext>
              </a:extLst>
            </p:cNvPr>
            <p:cNvSpPr txBox="1"/>
            <p:nvPr/>
          </p:nvSpPr>
          <p:spPr>
            <a:xfrm>
              <a:off x="2262418" y="6164225"/>
              <a:ext cx="973344" cy="193841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50000"/>
                      <a:lumOff val="50000"/>
                    </a:srgbClr>
                  </a:solidFill>
                  <a:effectLst/>
                  <a:uLnTx/>
                  <a:uFillTx/>
                  <a:latin typeface="Arial Narrow"/>
                  <a:ea typeface="LG스마트체 Regular" panose="020B0600000101010101" pitchFamily="50" charset="-127"/>
                  <a:cs typeface="+mn-cs"/>
                </a:rPr>
                <a:t>2</a:t>
              </a:r>
              <a:r>
                <a:rPr kumimoji="0" lang="ko-KR" alt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lumMod val="50000"/>
                      <a:lumOff val="50000"/>
                    </a:srgbClr>
                  </a:solidFill>
                  <a:effectLst/>
                  <a:uLnTx/>
                  <a:uFillTx/>
                  <a:latin typeface="Arial Narrow"/>
                  <a:ea typeface="LG스마트체 Regular" panose="020B0600000101010101" pitchFamily="50" charset="-127"/>
                  <a:cs typeface="+mn-cs"/>
                </a:rPr>
                <a:t>폴 </a:t>
              </a:r>
              <a:r>
                <a:rPr kumimoji="0" lang="en-US" altLang="ko-KR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50000"/>
                      <a:lumOff val="50000"/>
                    </a:srgbClr>
                  </a:solidFill>
                  <a:effectLst/>
                  <a:uLnTx/>
                  <a:uFillTx/>
                  <a:latin typeface="Arial Narrow"/>
                  <a:ea typeface="LG스마트체 Regular" panose="020B0600000101010101" pitchFamily="50" charset="-127"/>
                  <a:cs typeface="+mn-cs"/>
                </a:rPr>
                <a:t>Mold Edge</a:t>
              </a:r>
              <a:endPara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321" name="TextBox 320">
              <a:extLst>
                <a:ext uri="{FF2B5EF4-FFF2-40B4-BE49-F238E27FC236}">
                  <a16:creationId xmlns:a16="http://schemas.microsoft.com/office/drawing/2014/main" id="{CDB56C2C-FDEF-47AB-8DD0-1A74FA7659DE}"/>
                </a:ext>
              </a:extLst>
            </p:cNvPr>
            <p:cNvSpPr txBox="1"/>
            <p:nvPr/>
          </p:nvSpPr>
          <p:spPr>
            <a:xfrm>
              <a:off x="4000711" y="6164225"/>
              <a:ext cx="973344" cy="193841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50000"/>
                      <a:lumOff val="50000"/>
                    </a:srgbClr>
                  </a:solidFill>
                  <a:effectLst/>
                  <a:uLnTx/>
                  <a:uFillTx/>
                  <a:latin typeface="Arial Narrow"/>
                  <a:ea typeface="LG스마트체 Regular" panose="020B0600000101010101" pitchFamily="50" charset="-127"/>
                  <a:cs typeface="+mn-cs"/>
                </a:rPr>
                <a:t>71mm</a:t>
              </a:r>
              <a:endPara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386" name="TextBox 385">
              <a:extLst>
                <a:ext uri="{FF2B5EF4-FFF2-40B4-BE49-F238E27FC236}">
                  <a16:creationId xmlns:a16="http://schemas.microsoft.com/office/drawing/2014/main" id="{CDB56C2C-FDEF-47AB-8DD0-1A74FA7659DE}"/>
                </a:ext>
              </a:extLst>
            </p:cNvPr>
            <p:cNvSpPr txBox="1"/>
            <p:nvPr/>
          </p:nvSpPr>
          <p:spPr>
            <a:xfrm>
              <a:off x="11009542" y="6164225"/>
              <a:ext cx="973344" cy="193841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50000"/>
                      <a:lumOff val="50000"/>
                    </a:srgbClr>
                  </a:solidFill>
                  <a:effectLst/>
                  <a:uLnTx/>
                  <a:uFillTx/>
                  <a:latin typeface="Arial Narrow"/>
                  <a:ea typeface="LG스마트체 Regular" panose="020B0600000101010101" pitchFamily="50" charset="-127"/>
                  <a:cs typeface="+mn-cs"/>
                </a:rPr>
                <a:t>일반 리모컨</a:t>
              </a:r>
            </a:p>
          </p:txBody>
        </p:sp>
      </p:grpSp>
      <p:sp>
        <p:nvSpPr>
          <p:cNvPr id="387" name="TextBox 386">
            <a:extLst>
              <a:ext uri="{FF2B5EF4-FFF2-40B4-BE49-F238E27FC236}">
                <a16:creationId xmlns:a16="http://schemas.microsoft.com/office/drawing/2014/main" id="{CDB56C2C-FDEF-47AB-8DD0-1A74FA7659DE}"/>
              </a:ext>
            </a:extLst>
          </p:cNvPr>
          <p:cNvSpPr txBox="1"/>
          <p:nvPr/>
        </p:nvSpPr>
        <p:spPr>
          <a:xfrm>
            <a:off x="10983415" y="6505160"/>
            <a:ext cx="973344" cy="193841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매직리모컨</a:t>
            </a:r>
          </a:p>
        </p:txBody>
      </p:sp>
      <p:sp>
        <p:nvSpPr>
          <p:cNvPr id="388" name="TextBox 387">
            <a:extLst>
              <a:ext uri="{FF2B5EF4-FFF2-40B4-BE49-F238E27FC236}">
                <a16:creationId xmlns:a16="http://schemas.microsoft.com/office/drawing/2014/main" id="{CDB56C2C-FDEF-47AB-8DD0-1A74FA7659DE}"/>
              </a:ext>
            </a:extLst>
          </p:cNvPr>
          <p:cNvSpPr txBox="1"/>
          <p:nvPr/>
        </p:nvSpPr>
        <p:spPr>
          <a:xfrm>
            <a:off x="10983415" y="6683424"/>
            <a:ext cx="973344" cy="193841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일반 리모컨</a:t>
            </a:r>
          </a:p>
        </p:txBody>
      </p:sp>
      <p:sp>
        <p:nvSpPr>
          <p:cNvPr id="392" name="TextBox 391">
            <a:extLst>
              <a:ext uri="{FF2B5EF4-FFF2-40B4-BE49-F238E27FC236}">
                <a16:creationId xmlns:a16="http://schemas.microsoft.com/office/drawing/2014/main" id="{CDB56C2C-FDEF-47AB-8DD0-1A74FA7659DE}"/>
              </a:ext>
            </a:extLst>
          </p:cNvPr>
          <p:cNvSpPr txBox="1"/>
          <p:nvPr/>
        </p:nvSpPr>
        <p:spPr>
          <a:xfrm>
            <a:off x="2242965" y="6681825"/>
            <a:ext cx="973344" cy="193841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2</a:t>
            </a: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폴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ODM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  <a:lumOff val="50000"/>
                </a:srgbClr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</p:txBody>
      </p:sp>
      <p:cxnSp>
        <p:nvCxnSpPr>
          <p:cNvPr id="393" name="직선 화살표 연결선 392">
            <a:extLst>
              <a:ext uri="{FF2B5EF4-FFF2-40B4-BE49-F238E27FC236}">
                <a16:creationId xmlns:a16="http://schemas.microsoft.com/office/drawing/2014/main" id="{3581E61D-442C-40DD-A98F-0A7B491874B1}"/>
              </a:ext>
            </a:extLst>
          </p:cNvPr>
          <p:cNvCxnSpPr>
            <a:cxnSpLocks/>
          </p:cNvCxnSpPr>
          <p:nvPr/>
        </p:nvCxnSpPr>
        <p:spPr>
          <a:xfrm flipH="1">
            <a:off x="2728002" y="6503371"/>
            <a:ext cx="3271" cy="180000"/>
          </a:xfrm>
          <a:prstGeom prst="straightConnector1">
            <a:avLst/>
          </a:prstGeom>
          <a:noFill/>
          <a:ln w="6350" cap="flat" cmpd="sng" algn="ctr">
            <a:solidFill>
              <a:srgbClr val="000000">
                <a:lumMod val="50000"/>
                <a:lumOff val="50000"/>
              </a:srgbClr>
            </a:solidFill>
            <a:prstDash val="dash"/>
            <a:tailEnd type="triangle"/>
          </a:ln>
          <a:effectLst/>
        </p:spPr>
      </p:cxnSp>
      <p:sp>
        <p:nvSpPr>
          <p:cNvPr id="400" name="모서리가 둥근 직사각형 399">
            <a:extLst>
              <a:ext uri="{FF2B5EF4-FFF2-40B4-BE49-F238E27FC236}">
                <a16:creationId xmlns:a16="http://schemas.microsoft.com/office/drawing/2014/main" id="{B7B64DF3-A8D0-B595-04B4-8A787619137C}"/>
              </a:ext>
            </a:extLst>
          </p:cNvPr>
          <p:cNvSpPr/>
          <p:nvPr/>
        </p:nvSpPr>
        <p:spPr>
          <a:xfrm>
            <a:off x="678921" y="3486229"/>
            <a:ext cx="186753" cy="141718"/>
          </a:xfrm>
          <a:prstGeom prst="roundRect">
            <a:avLst/>
          </a:prstGeom>
          <a:solidFill>
            <a:srgbClr val="006600"/>
          </a:solidFill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  <a:ea typeface="LG스마트체2.0 Regular"/>
                <a:cs typeface="Arial" pitchFamily="34" charset="0"/>
              </a:rPr>
              <a:t>JDM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/>
              <a:ea typeface="LG스마트체2.0 Regular"/>
              <a:cs typeface="Arial" pitchFamily="34" charset="0"/>
            </a:endParaRPr>
          </a:p>
        </p:txBody>
      </p:sp>
      <p:sp>
        <p:nvSpPr>
          <p:cNvPr id="401" name="모서리가 둥근 직사각형 400">
            <a:extLst>
              <a:ext uri="{FF2B5EF4-FFF2-40B4-BE49-F238E27FC236}">
                <a16:creationId xmlns:a16="http://schemas.microsoft.com/office/drawing/2014/main" id="{B7B64DF3-A8D0-B595-04B4-8A787619137C}"/>
              </a:ext>
            </a:extLst>
          </p:cNvPr>
          <p:cNvSpPr/>
          <p:nvPr/>
        </p:nvSpPr>
        <p:spPr>
          <a:xfrm>
            <a:off x="678921" y="6707886"/>
            <a:ext cx="186753" cy="141718"/>
          </a:xfrm>
          <a:prstGeom prst="roundRect">
            <a:avLst/>
          </a:prstGeom>
          <a:solidFill>
            <a:srgbClr val="006600"/>
          </a:solidFill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/>
                <a:ea typeface="LG스마트체2.0 Regular"/>
                <a:cs typeface="Arial" pitchFamily="34" charset="0"/>
              </a:rPr>
              <a:t>JDM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/>
              <a:ea typeface="LG스마트체2.0 Regular"/>
              <a:cs typeface="Arial" pitchFamily="34" charset="0"/>
            </a:endParaRPr>
          </a:p>
        </p:txBody>
      </p:sp>
      <p:cxnSp>
        <p:nvCxnSpPr>
          <p:cNvPr id="403" name="직선 화살표 연결선 402">
            <a:extLst>
              <a:ext uri="{FF2B5EF4-FFF2-40B4-BE49-F238E27FC236}">
                <a16:creationId xmlns:a16="http://schemas.microsoft.com/office/drawing/2014/main" id="{3581E61D-442C-40DD-A98F-0A7B491874B1}"/>
              </a:ext>
            </a:extLst>
          </p:cNvPr>
          <p:cNvCxnSpPr>
            <a:cxnSpLocks/>
          </p:cNvCxnSpPr>
          <p:nvPr/>
        </p:nvCxnSpPr>
        <p:spPr>
          <a:xfrm flipH="1">
            <a:off x="6129109" y="1279872"/>
            <a:ext cx="3271" cy="360000"/>
          </a:xfrm>
          <a:prstGeom prst="straightConnector1">
            <a:avLst/>
          </a:prstGeom>
          <a:noFill/>
          <a:ln w="6350" cap="flat" cmpd="sng" algn="ctr">
            <a:solidFill>
              <a:srgbClr val="000000">
                <a:lumMod val="50000"/>
                <a:lumOff val="50000"/>
              </a:srgbClr>
            </a:solidFill>
            <a:prstDash val="dash"/>
            <a:tailEnd type="triangle"/>
          </a:ln>
          <a:effectLst/>
        </p:spPr>
      </p:cxnSp>
      <p:cxnSp>
        <p:nvCxnSpPr>
          <p:cNvPr id="404" name="직선 화살표 연결선 403">
            <a:extLst>
              <a:ext uri="{FF2B5EF4-FFF2-40B4-BE49-F238E27FC236}">
                <a16:creationId xmlns:a16="http://schemas.microsoft.com/office/drawing/2014/main" id="{3581E61D-442C-40DD-A98F-0A7B491874B1}"/>
              </a:ext>
            </a:extLst>
          </p:cNvPr>
          <p:cNvCxnSpPr>
            <a:cxnSpLocks/>
          </p:cNvCxnSpPr>
          <p:nvPr/>
        </p:nvCxnSpPr>
        <p:spPr>
          <a:xfrm flipH="1">
            <a:off x="6129109" y="1883574"/>
            <a:ext cx="3271" cy="396000"/>
          </a:xfrm>
          <a:prstGeom prst="straightConnector1">
            <a:avLst/>
          </a:prstGeom>
          <a:noFill/>
          <a:ln w="6350" cap="flat" cmpd="sng" algn="ctr">
            <a:solidFill>
              <a:srgbClr val="000000">
                <a:lumMod val="50000"/>
                <a:lumOff val="50000"/>
              </a:srgbClr>
            </a:solidFill>
            <a:prstDash val="dash"/>
            <a:tailEnd type="triangle"/>
          </a:ln>
          <a:effectLst/>
        </p:spPr>
      </p:cxnSp>
      <p:cxnSp>
        <p:nvCxnSpPr>
          <p:cNvPr id="406" name="직선 화살표 연결선 405">
            <a:extLst>
              <a:ext uri="{FF2B5EF4-FFF2-40B4-BE49-F238E27FC236}">
                <a16:creationId xmlns:a16="http://schemas.microsoft.com/office/drawing/2014/main" id="{3581E61D-442C-40DD-A98F-0A7B491874B1}"/>
              </a:ext>
            </a:extLst>
          </p:cNvPr>
          <p:cNvCxnSpPr>
            <a:cxnSpLocks/>
          </p:cNvCxnSpPr>
          <p:nvPr/>
        </p:nvCxnSpPr>
        <p:spPr>
          <a:xfrm flipH="1">
            <a:off x="6129109" y="2888185"/>
            <a:ext cx="3271" cy="180000"/>
          </a:xfrm>
          <a:prstGeom prst="straightConnector1">
            <a:avLst/>
          </a:prstGeom>
          <a:noFill/>
          <a:ln w="6350" cap="flat" cmpd="sng" algn="ctr">
            <a:solidFill>
              <a:srgbClr val="000000">
                <a:lumMod val="50000"/>
                <a:lumOff val="50000"/>
              </a:srgbClr>
            </a:solidFill>
            <a:prstDash val="dash"/>
            <a:tailEnd type="triangle"/>
          </a:ln>
          <a:effectLst/>
        </p:spPr>
      </p:cxnSp>
      <p:cxnSp>
        <p:nvCxnSpPr>
          <p:cNvPr id="407" name="직선 화살표 연결선 406">
            <a:extLst>
              <a:ext uri="{FF2B5EF4-FFF2-40B4-BE49-F238E27FC236}">
                <a16:creationId xmlns:a16="http://schemas.microsoft.com/office/drawing/2014/main" id="{3581E61D-442C-40DD-A98F-0A7B491874B1}"/>
              </a:ext>
            </a:extLst>
          </p:cNvPr>
          <p:cNvCxnSpPr>
            <a:cxnSpLocks/>
          </p:cNvCxnSpPr>
          <p:nvPr/>
        </p:nvCxnSpPr>
        <p:spPr>
          <a:xfrm flipH="1">
            <a:off x="6129109" y="3283633"/>
            <a:ext cx="3271" cy="180000"/>
          </a:xfrm>
          <a:prstGeom prst="straightConnector1">
            <a:avLst/>
          </a:prstGeom>
          <a:noFill/>
          <a:ln w="6350" cap="flat" cmpd="sng" algn="ctr">
            <a:solidFill>
              <a:srgbClr val="000000">
                <a:lumMod val="50000"/>
                <a:lumOff val="50000"/>
              </a:srgbClr>
            </a:solidFill>
            <a:prstDash val="dash"/>
            <a:tailEnd type="triangle"/>
          </a:ln>
          <a:effectLst/>
        </p:spPr>
      </p:cxnSp>
      <p:cxnSp>
        <p:nvCxnSpPr>
          <p:cNvPr id="408" name="직선 화살표 연결선 407">
            <a:extLst>
              <a:ext uri="{FF2B5EF4-FFF2-40B4-BE49-F238E27FC236}">
                <a16:creationId xmlns:a16="http://schemas.microsoft.com/office/drawing/2014/main" id="{3581E61D-442C-40DD-A98F-0A7B491874B1}"/>
              </a:ext>
            </a:extLst>
          </p:cNvPr>
          <p:cNvCxnSpPr>
            <a:cxnSpLocks/>
          </p:cNvCxnSpPr>
          <p:nvPr/>
        </p:nvCxnSpPr>
        <p:spPr>
          <a:xfrm flipH="1">
            <a:off x="6129109" y="3933400"/>
            <a:ext cx="3271" cy="180000"/>
          </a:xfrm>
          <a:prstGeom prst="straightConnector1">
            <a:avLst/>
          </a:prstGeom>
          <a:noFill/>
          <a:ln w="6350" cap="flat" cmpd="sng" algn="ctr">
            <a:solidFill>
              <a:srgbClr val="000000">
                <a:lumMod val="50000"/>
                <a:lumOff val="50000"/>
              </a:srgbClr>
            </a:solidFill>
            <a:prstDash val="dash"/>
            <a:tailEnd type="triangle"/>
          </a:ln>
          <a:effectLst/>
        </p:spPr>
      </p:cxnSp>
      <p:cxnSp>
        <p:nvCxnSpPr>
          <p:cNvPr id="409" name="직선 화살표 연결선 408">
            <a:extLst>
              <a:ext uri="{FF2B5EF4-FFF2-40B4-BE49-F238E27FC236}">
                <a16:creationId xmlns:a16="http://schemas.microsoft.com/office/drawing/2014/main" id="{3581E61D-442C-40DD-A98F-0A7B491874B1}"/>
              </a:ext>
            </a:extLst>
          </p:cNvPr>
          <p:cNvCxnSpPr>
            <a:cxnSpLocks/>
          </p:cNvCxnSpPr>
          <p:nvPr/>
        </p:nvCxnSpPr>
        <p:spPr>
          <a:xfrm>
            <a:off x="6130744" y="5517984"/>
            <a:ext cx="0" cy="540000"/>
          </a:xfrm>
          <a:prstGeom prst="straightConnector1">
            <a:avLst/>
          </a:prstGeom>
          <a:noFill/>
          <a:ln w="6350" cap="flat" cmpd="sng" algn="ctr">
            <a:solidFill>
              <a:srgbClr val="000000">
                <a:lumMod val="50000"/>
                <a:lumOff val="50000"/>
              </a:srgbClr>
            </a:solidFill>
            <a:prstDash val="dash"/>
            <a:tailEnd type="triangle"/>
          </a:ln>
          <a:effectLst/>
        </p:spPr>
      </p:cxnSp>
      <p:cxnSp>
        <p:nvCxnSpPr>
          <p:cNvPr id="417" name="직선 화살표 연결선 416">
            <a:extLst>
              <a:ext uri="{FF2B5EF4-FFF2-40B4-BE49-F238E27FC236}">
                <a16:creationId xmlns:a16="http://schemas.microsoft.com/office/drawing/2014/main" id="{3581E61D-442C-40DD-A98F-0A7B491874B1}"/>
              </a:ext>
            </a:extLst>
          </p:cNvPr>
          <p:cNvCxnSpPr>
            <a:cxnSpLocks/>
          </p:cNvCxnSpPr>
          <p:nvPr/>
        </p:nvCxnSpPr>
        <p:spPr>
          <a:xfrm flipH="1">
            <a:off x="8374579" y="1268844"/>
            <a:ext cx="4323" cy="967179"/>
          </a:xfrm>
          <a:prstGeom prst="straightConnector1">
            <a:avLst/>
          </a:prstGeom>
          <a:noFill/>
          <a:ln w="6350" cap="flat" cmpd="sng" algn="ctr">
            <a:solidFill>
              <a:srgbClr val="000000">
                <a:lumMod val="50000"/>
                <a:lumOff val="50000"/>
              </a:srgbClr>
            </a:solidFill>
            <a:prstDash val="dash"/>
            <a:tailEnd type="triangle"/>
          </a:ln>
          <a:effectLst/>
        </p:spPr>
      </p:cxnSp>
      <p:cxnSp>
        <p:nvCxnSpPr>
          <p:cNvPr id="419" name="직선 화살표 연결선 418">
            <a:extLst>
              <a:ext uri="{FF2B5EF4-FFF2-40B4-BE49-F238E27FC236}">
                <a16:creationId xmlns:a16="http://schemas.microsoft.com/office/drawing/2014/main" id="{3581E61D-442C-40DD-A98F-0A7B491874B1}"/>
              </a:ext>
            </a:extLst>
          </p:cNvPr>
          <p:cNvCxnSpPr>
            <a:cxnSpLocks/>
          </p:cNvCxnSpPr>
          <p:nvPr/>
        </p:nvCxnSpPr>
        <p:spPr>
          <a:xfrm>
            <a:off x="8378902" y="3084464"/>
            <a:ext cx="0" cy="324000"/>
          </a:xfrm>
          <a:prstGeom prst="straightConnector1">
            <a:avLst/>
          </a:prstGeom>
          <a:noFill/>
          <a:ln w="6350" cap="flat" cmpd="sng" algn="ctr">
            <a:solidFill>
              <a:srgbClr val="000000">
                <a:lumMod val="50000"/>
                <a:lumOff val="50000"/>
              </a:srgbClr>
            </a:solidFill>
            <a:prstDash val="dash"/>
            <a:tailEnd type="triangle"/>
          </a:ln>
          <a:effectLst/>
        </p:spPr>
      </p:cxnSp>
      <p:cxnSp>
        <p:nvCxnSpPr>
          <p:cNvPr id="420" name="직선 화살표 연결선 419">
            <a:extLst>
              <a:ext uri="{FF2B5EF4-FFF2-40B4-BE49-F238E27FC236}">
                <a16:creationId xmlns:a16="http://schemas.microsoft.com/office/drawing/2014/main" id="{3581E61D-442C-40DD-A98F-0A7B491874B1}"/>
              </a:ext>
            </a:extLst>
          </p:cNvPr>
          <p:cNvCxnSpPr>
            <a:cxnSpLocks/>
            <a:stCxn id="209" idx="2"/>
          </p:cNvCxnSpPr>
          <p:nvPr/>
        </p:nvCxnSpPr>
        <p:spPr>
          <a:xfrm flipH="1">
            <a:off x="8374579" y="3869068"/>
            <a:ext cx="817" cy="736127"/>
          </a:xfrm>
          <a:prstGeom prst="straightConnector1">
            <a:avLst/>
          </a:prstGeom>
          <a:noFill/>
          <a:ln w="6350" cap="flat" cmpd="sng" algn="ctr">
            <a:solidFill>
              <a:srgbClr val="000000">
                <a:lumMod val="50000"/>
                <a:lumOff val="50000"/>
              </a:srgbClr>
            </a:solidFill>
            <a:prstDash val="dash"/>
            <a:tailEnd type="triangle"/>
          </a:ln>
          <a:effectLst/>
        </p:spPr>
      </p:cxnSp>
      <p:cxnSp>
        <p:nvCxnSpPr>
          <p:cNvPr id="422" name="직선 화살표 연결선 421">
            <a:extLst>
              <a:ext uri="{FF2B5EF4-FFF2-40B4-BE49-F238E27FC236}">
                <a16:creationId xmlns:a16="http://schemas.microsoft.com/office/drawing/2014/main" id="{3581E61D-442C-40DD-A98F-0A7B491874B1}"/>
              </a:ext>
            </a:extLst>
          </p:cNvPr>
          <p:cNvCxnSpPr>
            <a:cxnSpLocks/>
            <a:stCxn id="360" idx="2"/>
            <a:endCxn id="361" idx="0"/>
          </p:cNvCxnSpPr>
          <p:nvPr/>
        </p:nvCxnSpPr>
        <p:spPr>
          <a:xfrm>
            <a:off x="9391200" y="870048"/>
            <a:ext cx="0" cy="814352"/>
          </a:xfrm>
          <a:prstGeom prst="straightConnector1">
            <a:avLst/>
          </a:prstGeom>
          <a:noFill/>
          <a:ln w="6350" cap="flat" cmpd="sng" algn="ctr">
            <a:solidFill>
              <a:srgbClr val="000000">
                <a:lumMod val="50000"/>
                <a:lumOff val="50000"/>
              </a:srgbClr>
            </a:solidFill>
            <a:prstDash val="dash"/>
            <a:tailEnd type="triangle"/>
          </a:ln>
          <a:effectLst/>
        </p:spPr>
      </p:cxnSp>
      <p:cxnSp>
        <p:nvCxnSpPr>
          <p:cNvPr id="433" name="직선 화살표 연결선 432">
            <a:extLst>
              <a:ext uri="{FF2B5EF4-FFF2-40B4-BE49-F238E27FC236}">
                <a16:creationId xmlns:a16="http://schemas.microsoft.com/office/drawing/2014/main" id="{3581E61D-442C-40DD-A98F-0A7B491874B1}"/>
              </a:ext>
            </a:extLst>
          </p:cNvPr>
          <p:cNvCxnSpPr>
            <a:cxnSpLocks/>
            <a:stCxn id="381" idx="2"/>
          </p:cNvCxnSpPr>
          <p:nvPr/>
        </p:nvCxnSpPr>
        <p:spPr>
          <a:xfrm flipH="1">
            <a:off x="11468452" y="1850018"/>
            <a:ext cx="1635" cy="252000"/>
          </a:xfrm>
          <a:prstGeom prst="straightConnector1">
            <a:avLst/>
          </a:prstGeom>
          <a:noFill/>
          <a:ln w="6350" cap="flat" cmpd="sng" algn="ctr">
            <a:solidFill>
              <a:srgbClr val="000000">
                <a:lumMod val="50000"/>
                <a:lumOff val="50000"/>
              </a:srgbClr>
            </a:solidFill>
            <a:prstDash val="dash"/>
            <a:tailEnd type="triangle"/>
          </a:ln>
          <a:effectLst/>
        </p:spPr>
      </p:cxnSp>
      <p:cxnSp>
        <p:nvCxnSpPr>
          <p:cNvPr id="434" name="직선 화살표 연결선 433">
            <a:extLst>
              <a:ext uri="{FF2B5EF4-FFF2-40B4-BE49-F238E27FC236}">
                <a16:creationId xmlns:a16="http://schemas.microsoft.com/office/drawing/2014/main" id="{3581E61D-442C-40DD-A98F-0A7B491874B1}"/>
              </a:ext>
            </a:extLst>
          </p:cNvPr>
          <p:cNvCxnSpPr>
            <a:cxnSpLocks/>
          </p:cNvCxnSpPr>
          <p:nvPr/>
        </p:nvCxnSpPr>
        <p:spPr>
          <a:xfrm>
            <a:off x="11453411" y="2677024"/>
            <a:ext cx="0" cy="2124000"/>
          </a:xfrm>
          <a:prstGeom prst="straightConnector1">
            <a:avLst/>
          </a:prstGeom>
          <a:noFill/>
          <a:ln w="6350" cap="flat" cmpd="sng" algn="ctr">
            <a:solidFill>
              <a:srgbClr val="000000">
                <a:lumMod val="50000"/>
                <a:lumOff val="50000"/>
              </a:srgbClr>
            </a:solidFill>
            <a:prstDash val="dash"/>
            <a:tailEnd type="triangle"/>
          </a:ln>
          <a:effectLst/>
        </p:spPr>
      </p:cxnSp>
      <p:sp>
        <p:nvSpPr>
          <p:cNvPr id="435" name="TextBox 434">
            <a:extLst>
              <a:ext uri="{FF2B5EF4-FFF2-40B4-BE49-F238E27FC236}">
                <a16:creationId xmlns:a16="http://schemas.microsoft.com/office/drawing/2014/main" id="{EDB29874-213A-48B8-AD4A-0318D26108FE}"/>
              </a:ext>
            </a:extLst>
          </p:cNvPr>
          <p:cNvSpPr txBox="1"/>
          <p:nvPr/>
        </p:nvSpPr>
        <p:spPr bwMode="auto">
          <a:xfrm>
            <a:off x="783426" y="910662"/>
            <a:ext cx="25200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fontAlgn="ctr" latinLnBrk="0">
              <a:buSzPct val="65000"/>
              <a:defRPr sz="900">
                <a:solidFill>
                  <a:srgbClr val="006600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65000"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 panose="020B0600000101010101" pitchFamily="50" charset="-127"/>
                <a:cs typeface="Arial" panose="020B0604020202020204" pitchFamily="34" charset="0"/>
              </a:rPr>
              <a:t>C/O</a:t>
            </a:r>
            <a:endParaRPr kumimoji="0" lang="ko-KR" altLang="en-US" sz="9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42" name="TextBox 441">
            <a:extLst>
              <a:ext uri="{FF2B5EF4-FFF2-40B4-BE49-F238E27FC236}">
                <a16:creationId xmlns:a16="http://schemas.microsoft.com/office/drawing/2014/main" id="{CDB56C2C-FDEF-47AB-8DD0-1A74FA7659DE}"/>
              </a:ext>
            </a:extLst>
          </p:cNvPr>
          <p:cNvSpPr txBox="1"/>
          <p:nvPr/>
        </p:nvSpPr>
        <p:spPr>
          <a:xfrm>
            <a:off x="3982498" y="4240747"/>
            <a:ext cx="973344" cy="193841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67.9mm UA75 Tool,  86/75" </a:t>
            </a:r>
            <a:r>
              <a:rPr kumimoji="0" lang="ko-KR" alt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세미풀백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  <a:lumOff val="50000"/>
                </a:srgbClr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474BAA-E710-8E6C-D2BA-12EAE7476AFB}"/>
              </a:ext>
            </a:extLst>
          </p:cNvPr>
          <p:cNvSpPr txBox="1"/>
          <p:nvPr/>
        </p:nvSpPr>
        <p:spPr>
          <a:xfrm>
            <a:off x="2242965" y="3881112"/>
            <a:ext cx="973344" cy="193841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1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폴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Essence Square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  <a:lumOff val="50000"/>
                </a:srgbClr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5" name="Rectangle 3936">
            <a:extLst>
              <a:ext uri="{FF2B5EF4-FFF2-40B4-BE49-F238E27FC236}">
                <a16:creationId xmlns:a16="http://schemas.microsoft.com/office/drawing/2014/main" id="{4240D73E-5AAE-B1DF-6543-1C86AD2D93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8788" y="5152142"/>
            <a:ext cx="860400" cy="180000"/>
          </a:xfrm>
          <a:prstGeom prst="rect">
            <a:avLst/>
          </a:prstGeom>
          <a:solidFill>
            <a:srgbClr val="CC3300"/>
          </a:solidFill>
          <a:ln w="3175" cap="flat" cmpd="sng" algn="ctr">
            <a:solidFill>
              <a:srgbClr val="FFFFFF">
                <a:lumMod val="50000"/>
              </a:srgbClr>
            </a:solidFill>
            <a:prstDash val="solid"/>
          </a:ln>
          <a:effectLst/>
        </p:spPr>
        <p:txBody>
          <a:bodyPr wrap="none" lIns="0" tIns="45714" rIns="72000" bIns="45714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/>
                <a:cs typeface="+mn-cs"/>
              </a:rPr>
              <a:t>QNED8E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8FCE55-6D6A-6EF3-0FA2-75BDC6AFAFC0}"/>
              </a:ext>
            </a:extLst>
          </p:cNvPr>
          <p:cNvSpPr txBox="1"/>
          <p:nvPr/>
        </p:nvSpPr>
        <p:spPr>
          <a:xfrm>
            <a:off x="2242965" y="5147931"/>
            <a:ext cx="973344" cy="193841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1</a:t>
            </a: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폴 신규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  <a:lumOff val="50000"/>
                </a:srgbClr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9B082D-DB18-E402-F7AD-72163823FF47}"/>
              </a:ext>
            </a:extLst>
          </p:cNvPr>
          <p:cNvSpPr txBox="1"/>
          <p:nvPr/>
        </p:nvSpPr>
        <p:spPr>
          <a:xfrm>
            <a:off x="10955340" y="5151905"/>
            <a:ext cx="973344" cy="193841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숫자키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매직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A5B55E-389B-9D92-E514-C763C5EB5AE1}"/>
              </a:ext>
            </a:extLst>
          </p:cNvPr>
          <p:cNvSpPr txBox="1"/>
          <p:nvPr/>
        </p:nvSpPr>
        <p:spPr>
          <a:xfrm>
            <a:off x="10949321" y="5333542"/>
            <a:ext cx="973344" cy="193841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매직리모컨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138A5E-FBC8-AC0F-21EC-CC7EABDAFAC4}"/>
              </a:ext>
            </a:extLst>
          </p:cNvPr>
          <p:cNvSpPr txBox="1"/>
          <p:nvPr/>
        </p:nvSpPr>
        <p:spPr>
          <a:xfrm>
            <a:off x="10960888" y="676207"/>
            <a:ext cx="973344" cy="193841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실버 매직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(W/G)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  <a:lumOff val="50000"/>
                </a:srgbClr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00145C0-E06E-E51A-3FE8-13095AC0B447}"/>
              </a:ext>
            </a:extLst>
          </p:cNvPr>
          <p:cNvSpPr txBox="1"/>
          <p:nvPr/>
        </p:nvSpPr>
        <p:spPr>
          <a:xfrm>
            <a:off x="10991083" y="1056723"/>
            <a:ext cx="973344" cy="193841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실버 매직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(W/G)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  <a:lumOff val="50000"/>
                </a:srgbClr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004C3AC-7EBF-DFB0-9502-5365ABFDE711}"/>
              </a:ext>
            </a:extLst>
          </p:cNvPr>
          <p:cNvSpPr txBox="1"/>
          <p:nvPr/>
        </p:nvSpPr>
        <p:spPr>
          <a:xfrm>
            <a:off x="10981779" y="2237585"/>
            <a:ext cx="973344" cy="193841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매직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/ </a:t>
            </a:r>
            <a:r>
              <a:rPr kumimoji="0" lang="ko-KR" alt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숫자키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 매직</a:t>
            </a: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E248F28D-D450-51B2-BE90-873DBD570E00}"/>
              </a:ext>
            </a:extLst>
          </p:cNvPr>
          <p:cNvCxnSpPr>
            <a:cxnSpLocks/>
          </p:cNvCxnSpPr>
          <p:nvPr/>
        </p:nvCxnSpPr>
        <p:spPr>
          <a:xfrm>
            <a:off x="2729637" y="1862203"/>
            <a:ext cx="0" cy="396000"/>
          </a:xfrm>
          <a:prstGeom prst="straightConnector1">
            <a:avLst/>
          </a:prstGeom>
          <a:noFill/>
          <a:ln w="6350" cap="flat" cmpd="sng" algn="ctr">
            <a:solidFill>
              <a:srgbClr val="000000">
                <a:lumMod val="50000"/>
                <a:lumOff val="50000"/>
              </a:srgbClr>
            </a:solidFill>
            <a:prstDash val="dash"/>
            <a:tailEnd type="triangle"/>
          </a:ln>
          <a:effectLst/>
        </p:spPr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6377A984-62AF-0C8E-348C-C75C0ADC4EB3}"/>
              </a:ext>
            </a:extLst>
          </p:cNvPr>
          <p:cNvCxnSpPr>
            <a:cxnSpLocks/>
          </p:cNvCxnSpPr>
          <p:nvPr/>
        </p:nvCxnSpPr>
        <p:spPr>
          <a:xfrm>
            <a:off x="2729637" y="2702519"/>
            <a:ext cx="0" cy="756000"/>
          </a:xfrm>
          <a:prstGeom prst="straightConnector1">
            <a:avLst/>
          </a:prstGeom>
          <a:noFill/>
          <a:ln w="6350" cap="flat" cmpd="sng" algn="ctr">
            <a:solidFill>
              <a:srgbClr val="000000">
                <a:lumMod val="50000"/>
                <a:lumOff val="50000"/>
              </a:srgbClr>
            </a:solidFill>
            <a:prstDash val="dash"/>
            <a:tailEnd type="triangle"/>
          </a:ln>
          <a:effectLst/>
        </p:spPr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3A0CAFDE-ACCF-B088-F726-4FF582A08617}"/>
              </a:ext>
            </a:extLst>
          </p:cNvPr>
          <p:cNvCxnSpPr>
            <a:cxnSpLocks/>
          </p:cNvCxnSpPr>
          <p:nvPr/>
        </p:nvCxnSpPr>
        <p:spPr>
          <a:xfrm>
            <a:off x="4469170" y="1278919"/>
            <a:ext cx="0" cy="396000"/>
          </a:xfrm>
          <a:prstGeom prst="straightConnector1">
            <a:avLst/>
          </a:prstGeom>
          <a:noFill/>
          <a:ln w="6350" cap="flat" cmpd="sng" algn="ctr">
            <a:solidFill>
              <a:srgbClr val="000000">
                <a:lumMod val="50000"/>
                <a:lumOff val="50000"/>
              </a:srgbClr>
            </a:solidFill>
            <a:prstDash val="dash"/>
            <a:tailEnd type="triangle"/>
          </a:ln>
          <a:effectLst/>
        </p:spPr>
      </p:cxn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6CAD5BAD-4A9E-923F-3FA6-5EAB734D613F}"/>
              </a:ext>
            </a:extLst>
          </p:cNvPr>
          <p:cNvCxnSpPr>
            <a:cxnSpLocks/>
          </p:cNvCxnSpPr>
          <p:nvPr/>
        </p:nvCxnSpPr>
        <p:spPr>
          <a:xfrm>
            <a:off x="4469170" y="2933754"/>
            <a:ext cx="0" cy="504000"/>
          </a:xfrm>
          <a:prstGeom prst="straightConnector1">
            <a:avLst/>
          </a:prstGeom>
          <a:noFill/>
          <a:ln w="6350" cap="flat" cmpd="sng" algn="ctr">
            <a:solidFill>
              <a:srgbClr val="000000">
                <a:lumMod val="50000"/>
                <a:lumOff val="50000"/>
              </a:srgbClr>
            </a:solidFill>
            <a:prstDash val="dash"/>
            <a:tailEnd type="triangle"/>
          </a:ln>
          <a:effectLst/>
        </p:spPr>
      </p:cxn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6ED0D146-8004-FC2E-5418-C73F1B2D9E5A}"/>
              </a:ext>
            </a:extLst>
          </p:cNvPr>
          <p:cNvCxnSpPr>
            <a:cxnSpLocks/>
          </p:cNvCxnSpPr>
          <p:nvPr/>
        </p:nvCxnSpPr>
        <p:spPr>
          <a:xfrm>
            <a:off x="4469170" y="3892695"/>
            <a:ext cx="0" cy="360000"/>
          </a:xfrm>
          <a:prstGeom prst="straightConnector1">
            <a:avLst/>
          </a:prstGeom>
          <a:noFill/>
          <a:ln w="6350" cap="flat" cmpd="sng" algn="ctr">
            <a:solidFill>
              <a:srgbClr val="000000">
                <a:lumMod val="50000"/>
                <a:lumOff val="50000"/>
              </a:srgbClr>
            </a:solidFill>
            <a:prstDash val="dash"/>
            <a:tailEnd type="triangle"/>
          </a:ln>
          <a:effectLst/>
        </p:spPr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D5043F2E-D458-AB3C-FBEA-E4E0E38BAB0F}"/>
              </a:ext>
            </a:extLst>
          </p:cNvPr>
          <p:cNvCxnSpPr>
            <a:cxnSpLocks/>
          </p:cNvCxnSpPr>
          <p:nvPr/>
        </p:nvCxnSpPr>
        <p:spPr>
          <a:xfrm>
            <a:off x="4469170" y="4444788"/>
            <a:ext cx="0" cy="144000"/>
          </a:xfrm>
          <a:prstGeom prst="straightConnector1">
            <a:avLst/>
          </a:prstGeom>
          <a:noFill/>
          <a:ln w="6350" cap="flat" cmpd="sng" algn="ctr">
            <a:solidFill>
              <a:srgbClr val="000000">
                <a:lumMod val="50000"/>
                <a:lumOff val="50000"/>
              </a:srgbClr>
            </a:solidFill>
            <a:prstDash val="dash"/>
            <a:tailEnd type="triangle"/>
          </a:ln>
          <a:effectLst/>
        </p:spPr>
      </p:cxn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28CC44D0-3626-CC4C-F572-C2E6CB9E080E}"/>
              </a:ext>
            </a:extLst>
          </p:cNvPr>
          <p:cNvCxnSpPr>
            <a:cxnSpLocks/>
          </p:cNvCxnSpPr>
          <p:nvPr/>
        </p:nvCxnSpPr>
        <p:spPr>
          <a:xfrm>
            <a:off x="4469170" y="5517984"/>
            <a:ext cx="0" cy="504000"/>
          </a:xfrm>
          <a:prstGeom prst="straightConnector1">
            <a:avLst/>
          </a:prstGeom>
          <a:noFill/>
          <a:ln w="6350" cap="flat" cmpd="sng" algn="ctr">
            <a:solidFill>
              <a:srgbClr val="000000">
                <a:lumMod val="50000"/>
                <a:lumOff val="50000"/>
              </a:srgbClr>
            </a:solidFill>
            <a:prstDash val="dash"/>
            <a:tailEnd type="triangle"/>
          </a:ln>
          <a:effectLst/>
        </p:spPr>
      </p:cxn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D8C81223-AF8B-92DC-18AB-D65C481CFC90}"/>
              </a:ext>
            </a:extLst>
          </p:cNvPr>
          <p:cNvCxnSpPr>
            <a:cxnSpLocks/>
          </p:cNvCxnSpPr>
          <p:nvPr/>
        </p:nvCxnSpPr>
        <p:spPr>
          <a:xfrm>
            <a:off x="4469170" y="1900860"/>
            <a:ext cx="0" cy="396000"/>
          </a:xfrm>
          <a:prstGeom prst="straightConnector1">
            <a:avLst/>
          </a:prstGeom>
          <a:noFill/>
          <a:ln w="6350" cap="flat" cmpd="sng" algn="ctr">
            <a:solidFill>
              <a:srgbClr val="000000">
                <a:lumMod val="50000"/>
                <a:lumOff val="50000"/>
              </a:srgbClr>
            </a:solidFill>
            <a:prstDash val="dash"/>
            <a:tailEnd type="triangle"/>
          </a:ln>
          <a:effectLst/>
        </p:spPr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07A4F0D1-5C98-E793-2BAC-14CE1271DA8A}"/>
              </a:ext>
            </a:extLst>
          </p:cNvPr>
          <p:cNvCxnSpPr>
            <a:cxnSpLocks/>
          </p:cNvCxnSpPr>
          <p:nvPr/>
        </p:nvCxnSpPr>
        <p:spPr>
          <a:xfrm>
            <a:off x="4469170" y="6503371"/>
            <a:ext cx="0" cy="180000"/>
          </a:xfrm>
          <a:prstGeom prst="straightConnector1">
            <a:avLst/>
          </a:prstGeom>
          <a:noFill/>
          <a:ln w="6350" cap="flat" cmpd="sng" algn="ctr">
            <a:solidFill>
              <a:srgbClr val="000000">
                <a:lumMod val="50000"/>
                <a:lumOff val="50000"/>
              </a:srgbClr>
            </a:solidFill>
            <a:prstDash val="dash"/>
            <a:tailEnd type="triangle"/>
          </a:ln>
          <a:effectLst/>
        </p:spPr>
      </p:cxn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33D8E5D2-1DEE-2152-7049-1D8EA8A78883}"/>
              </a:ext>
            </a:extLst>
          </p:cNvPr>
          <p:cNvCxnSpPr>
            <a:cxnSpLocks/>
          </p:cNvCxnSpPr>
          <p:nvPr/>
        </p:nvCxnSpPr>
        <p:spPr>
          <a:xfrm>
            <a:off x="7353436" y="895999"/>
            <a:ext cx="0" cy="180000"/>
          </a:xfrm>
          <a:prstGeom prst="straightConnector1">
            <a:avLst/>
          </a:prstGeom>
          <a:noFill/>
          <a:ln w="6350" cap="flat" cmpd="sng" algn="ctr">
            <a:solidFill>
              <a:srgbClr val="000000">
                <a:lumMod val="50000"/>
                <a:lumOff val="50000"/>
              </a:srgbClr>
            </a:solidFill>
            <a:prstDash val="dash"/>
            <a:tailEnd type="triangle"/>
          </a:ln>
          <a:effectLst/>
        </p:spPr>
      </p:cxn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03323EC2-D515-1B66-6270-64168BD02A37}"/>
              </a:ext>
            </a:extLst>
          </p:cNvPr>
          <p:cNvCxnSpPr>
            <a:cxnSpLocks/>
          </p:cNvCxnSpPr>
          <p:nvPr/>
        </p:nvCxnSpPr>
        <p:spPr>
          <a:xfrm>
            <a:off x="7353436" y="1378982"/>
            <a:ext cx="0" cy="288000"/>
          </a:xfrm>
          <a:prstGeom prst="straightConnector1">
            <a:avLst/>
          </a:prstGeom>
          <a:noFill/>
          <a:ln w="6350" cap="flat" cmpd="sng" algn="ctr">
            <a:solidFill>
              <a:srgbClr val="000000">
                <a:lumMod val="50000"/>
                <a:lumOff val="50000"/>
              </a:srgbClr>
            </a:solidFill>
            <a:prstDash val="dash"/>
            <a:tailEnd type="triangle"/>
          </a:ln>
          <a:effectLst/>
        </p:spPr>
      </p:cxn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1E0E38EC-3B5F-7262-4570-71D30DA196B6}"/>
              </a:ext>
            </a:extLst>
          </p:cNvPr>
          <p:cNvCxnSpPr>
            <a:cxnSpLocks/>
          </p:cNvCxnSpPr>
          <p:nvPr/>
        </p:nvCxnSpPr>
        <p:spPr>
          <a:xfrm>
            <a:off x="7353436" y="1977103"/>
            <a:ext cx="0" cy="288000"/>
          </a:xfrm>
          <a:prstGeom prst="straightConnector1">
            <a:avLst/>
          </a:prstGeom>
          <a:noFill/>
          <a:ln w="6350" cap="flat" cmpd="sng" algn="ctr">
            <a:solidFill>
              <a:srgbClr val="000000">
                <a:lumMod val="50000"/>
                <a:lumOff val="50000"/>
              </a:srgbClr>
            </a:solidFill>
            <a:prstDash val="dash"/>
            <a:tailEnd type="triangle"/>
          </a:ln>
          <a:effectLst/>
        </p:spPr>
      </p:cxn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281075FA-6BD5-98D4-7F1D-3952D4FF306A}"/>
              </a:ext>
            </a:extLst>
          </p:cNvPr>
          <p:cNvCxnSpPr>
            <a:cxnSpLocks/>
          </p:cNvCxnSpPr>
          <p:nvPr/>
        </p:nvCxnSpPr>
        <p:spPr>
          <a:xfrm>
            <a:off x="7353436" y="2862961"/>
            <a:ext cx="0" cy="540000"/>
          </a:xfrm>
          <a:prstGeom prst="straightConnector1">
            <a:avLst/>
          </a:prstGeom>
          <a:noFill/>
          <a:ln w="6350" cap="flat" cmpd="sng" algn="ctr">
            <a:solidFill>
              <a:srgbClr val="000000">
                <a:lumMod val="50000"/>
                <a:lumOff val="50000"/>
              </a:srgbClr>
            </a:solidFill>
            <a:prstDash val="dash"/>
            <a:tailEnd type="triangle"/>
          </a:ln>
          <a:effectLst/>
        </p:spPr>
      </p:cxn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6EAFEA97-4815-6480-5506-5D432A815EE4}"/>
              </a:ext>
            </a:extLst>
          </p:cNvPr>
          <p:cNvCxnSpPr>
            <a:cxnSpLocks/>
          </p:cNvCxnSpPr>
          <p:nvPr/>
        </p:nvCxnSpPr>
        <p:spPr>
          <a:xfrm>
            <a:off x="7353436" y="3691131"/>
            <a:ext cx="0" cy="612000"/>
          </a:xfrm>
          <a:prstGeom prst="straightConnector1">
            <a:avLst/>
          </a:prstGeom>
          <a:noFill/>
          <a:ln w="6350" cap="flat" cmpd="sng" algn="ctr">
            <a:solidFill>
              <a:srgbClr val="000000">
                <a:lumMod val="50000"/>
                <a:lumOff val="50000"/>
              </a:srgbClr>
            </a:solidFill>
            <a:prstDash val="dash"/>
            <a:tailEnd type="triangle"/>
          </a:ln>
          <a:effectLst/>
        </p:spPr>
      </p:cxn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05A6F8BD-3D36-BCBC-8014-342BF85169D6}"/>
              </a:ext>
            </a:extLst>
          </p:cNvPr>
          <p:cNvCxnSpPr>
            <a:cxnSpLocks/>
          </p:cNvCxnSpPr>
          <p:nvPr/>
        </p:nvCxnSpPr>
        <p:spPr>
          <a:xfrm>
            <a:off x="7353436" y="4444317"/>
            <a:ext cx="0" cy="900000"/>
          </a:xfrm>
          <a:prstGeom prst="straightConnector1">
            <a:avLst/>
          </a:prstGeom>
          <a:noFill/>
          <a:ln w="6350" cap="flat" cmpd="sng" algn="ctr">
            <a:solidFill>
              <a:srgbClr val="000000">
                <a:lumMod val="50000"/>
                <a:lumOff val="50000"/>
              </a:srgbClr>
            </a:solidFill>
            <a:prstDash val="dash"/>
            <a:tailEnd type="triangle"/>
          </a:ln>
          <a:effectLst/>
        </p:spPr>
      </p:cxn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438A2663-C539-EF7F-BD04-1B3C677A9B01}"/>
              </a:ext>
            </a:extLst>
          </p:cNvPr>
          <p:cNvCxnSpPr>
            <a:cxnSpLocks/>
          </p:cNvCxnSpPr>
          <p:nvPr/>
        </p:nvCxnSpPr>
        <p:spPr>
          <a:xfrm>
            <a:off x="7353436" y="5535882"/>
            <a:ext cx="0" cy="540000"/>
          </a:xfrm>
          <a:prstGeom prst="straightConnector1">
            <a:avLst/>
          </a:prstGeom>
          <a:noFill/>
          <a:ln w="6350" cap="flat" cmpd="sng" algn="ctr">
            <a:solidFill>
              <a:srgbClr val="000000">
                <a:lumMod val="50000"/>
                <a:lumOff val="50000"/>
              </a:srgbClr>
            </a:solidFill>
            <a:prstDash val="dash"/>
            <a:tailEnd type="triangle"/>
          </a:ln>
          <a:effectLst/>
        </p:spPr>
      </p:cxnSp>
      <p:sp>
        <p:nvSpPr>
          <p:cNvPr id="10" name="실행 단추: 앞으로 또는 다음으로 이동 9">
            <a:hlinkClick r:id="rId7" action="ppaction://hlinksldjump" highlightClick="1"/>
            <a:extLst>
              <a:ext uri="{FF2B5EF4-FFF2-40B4-BE49-F238E27FC236}">
                <a16:creationId xmlns:a16="http://schemas.microsoft.com/office/drawing/2014/main" id="{836942FB-799B-CCE9-FD2A-5F95FA002E55}"/>
              </a:ext>
            </a:extLst>
          </p:cNvPr>
          <p:cNvSpPr/>
          <p:nvPr/>
        </p:nvSpPr>
        <p:spPr>
          <a:xfrm flipH="1">
            <a:off x="11908714" y="6630036"/>
            <a:ext cx="174171" cy="162773"/>
          </a:xfrm>
          <a:prstGeom prst="actionButtonForwardNex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Rectangle 3936">
            <a:extLst>
              <a:ext uri="{FF2B5EF4-FFF2-40B4-BE49-F238E27FC236}">
                <a16:creationId xmlns:a16="http://schemas.microsoft.com/office/drawing/2014/main" id="{6A741CE3-14FD-4360-585D-AF7E337EBE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922" y="4613513"/>
            <a:ext cx="860400" cy="180000"/>
          </a:xfrm>
          <a:prstGeom prst="rect">
            <a:avLst/>
          </a:prstGeom>
          <a:solidFill>
            <a:srgbClr val="CC3300"/>
          </a:solidFill>
          <a:ln w="3175" cap="flat" cmpd="sng" algn="ctr">
            <a:solidFill>
              <a:srgbClr val="FFFFFF">
                <a:lumMod val="50000"/>
              </a:srgbClr>
            </a:solidFill>
            <a:prstDash val="solid"/>
          </a:ln>
          <a:effectLst/>
        </p:spPr>
        <p:txBody>
          <a:bodyPr wrap="none" lIns="0" tIns="45714" rIns="0" bIns="45714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/>
                <a:cs typeface="+mn-cs"/>
              </a:rPr>
              <a:t>QNED8MB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261591E-B4B1-50A6-C3D6-E33DD3D81993}"/>
              </a:ext>
            </a:extLst>
          </p:cNvPr>
          <p:cNvSpPr txBox="1"/>
          <p:nvPr/>
        </p:nvSpPr>
        <p:spPr>
          <a:xfrm>
            <a:off x="3982498" y="5333542"/>
            <a:ext cx="973344" cy="193841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>
            <a:defPPr>
              <a:defRPr lang="ko-KR"/>
            </a:defPPr>
            <a:lvl1pPr marR="0" lvl="0" indent="0" algn="ctr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00" b="0" i="0" u="none" strike="noStrike" cap="none" spc="0" normalizeH="0" baseline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</a:defRPr>
            </a:lvl1pPr>
          </a:lstStyle>
          <a:p>
            <a:r>
              <a:rPr lang="en-US" altLang="ko-KR" dirty="0"/>
              <a:t>NU85 Tool  (</a:t>
            </a:r>
            <a:r>
              <a:rPr lang="ko-KR" altLang="en-US"/>
              <a:t>외관화  </a:t>
            </a:r>
            <a:r>
              <a:rPr lang="en-US" altLang="ko-KR" dirty="0"/>
              <a:t>70.8mm)</a:t>
            </a:r>
            <a:endParaRPr lang="ko-KR" alt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8E6697B-AD20-DFCE-652A-4D49E9223E61}"/>
              </a:ext>
            </a:extLst>
          </p:cNvPr>
          <p:cNvSpPr txBox="1"/>
          <p:nvPr/>
        </p:nvSpPr>
        <p:spPr>
          <a:xfrm>
            <a:off x="2242965" y="4617829"/>
            <a:ext cx="973344" cy="193841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2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폴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Semi Linear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  <a:lumOff val="50000"/>
                </a:srgbClr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919C7FD-EC61-31E7-F96D-8937D4D5FB9B}"/>
              </a:ext>
            </a:extLst>
          </p:cNvPr>
          <p:cNvSpPr txBox="1"/>
          <p:nvPr/>
        </p:nvSpPr>
        <p:spPr>
          <a:xfrm>
            <a:off x="3982498" y="4615546"/>
            <a:ext cx="973344" cy="193841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NU85 Tool  (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외관화 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70.8mm)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  <a:lumOff val="50000"/>
                </a:srgbClr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975F789-A948-B1AC-5185-F0950817716D}"/>
              </a:ext>
            </a:extLst>
          </p:cNvPr>
          <p:cNvSpPr txBox="1"/>
          <p:nvPr/>
        </p:nvSpPr>
        <p:spPr>
          <a:xfrm>
            <a:off x="3982498" y="4823215"/>
            <a:ext cx="973344" cy="193841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67.9mm UA75 Tool,  86/75" </a:t>
            </a:r>
            <a:r>
              <a:rPr kumimoji="0" lang="ko-KR" alt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세미풀백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  <a:lumOff val="50000"/>
                </a:srgbClr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167A3F84-D036-18C2-B157-B9E8ECE3E2D4}"/>
              </a:ext>
            </a:extLst>
          </p:cNvPr>
          <p:cNvCxnSpPr>
            <a:cxnSpLocks/>
          </p:cNvCxnSpPr>
          <p:nvPr/>
        </p:nvCxnSpPr>
        <p:spPr>
          <a:xfrm>
            <a:off x="4469170" y="5027256"/>
            <a:ext cx="0" cy="288000"/>
          </a:xfrm>
          <a:prstGeom prst="straightConnector1">
            <a:avLst/>
          </a:prstGeom>
          <a:noFill/>
          <a:ln w="6350" cap="flat" cmpd="sng" algn="ctr">
            <a:solidFill>
              <a:srgbClr val="000000">
                <a:lumMod val="50000"/>
                <a:lumOff val="50000"/>
              </a:srgbClr>
            </a:solidFill>
            <a:prstDash val="dash"/>
            <a:tailEnd type="triangle"/>
          </a:ln>
          <a:effectLst/>
        </p:spPr>
      </p:cxn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0B81BE31-093B-5146-0C0D-292A67C6E3C0}"/>
              </a:ext>
            </a:extLst>
          </p:cNvPr>
          <p:cNvCxnSpPr>
            <a:cxnSpLocks/>
          </p:cNvCxnSpPr>
          <p:nvPr/>
        </p:nvCxnSpPr>
        <p:spPr>
          <a:xfrm flipH="1">
            <a:off x="6129109" y="4658195"/>
            <a:ext cx="3271" cy="180000"/>
          </a:xfrm>
          <a:prstGeom prst="straightConnector1">
            <a:avLst/>
          </a:prstGeom>
          <a:noFill/>
          <a:ln w="6350" cap="flat" cmpd="sng" algn="ctr">
            <a:solidFill>
              <a:srgbClr val="000000">
                <a:lumMod val="50000"/>
                <a:lumOff val="50000"/>
              </a:srgbClr>
            </a:solidFill>
            <a:prstDash val="dash"/>
            <a:tailEnd type="triangle"/>
          </a:ln>
          <a:effectLst/>
        </p:spPr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F2141D42-E3E7-A40D-5017-17D6CF8C00F9}"/>
              </a:ext>
            </a:extLst>
          </p:cNvPr>
          <p:cNvSpPr txBox="1"/>
          <p:nvPr/>
        </p:nvSpPr>
        <p:spPr>
          <a:xfrm>
            <a:off x="7888724" y="4607262"/>
            <a:ext cx="973344" cy="193841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K24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  <a:lumOff val="50000"/>
                </a:srgbClr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FE640BE-20B0-6A20-A7C4-7BD51CB4B942}"/>
              </a:ext>
            </a:extLst>
          </p:cNvPr>
          <p:cNvSpPr txBox="1"/>
          <p:nvPr/>
        </p:nvSpPr>
        <p:spPr>
          <a:xfrm>
            <a:off x="7888724" y="4780854"/>
            <a:ext cx="973344" cy="193841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K25Lp</a:t>
            </a:r>
          </a:p>
        </p:txBody>
      </p: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C0451078-8D40-CE3A-63B3-448D82715625}"/>
              </a:ext>
            </a:extLst>
          </p:cNvPr>
          <p:cNvCxnSpPr>
            <a:cxnSpLocks/>
          </p:cNvCxnSpPr>
          <p:nvPr/>
        </p:nvCxnSpPr>
        <p:spPr>
          <a:xfrm>
            <a:off x="8375396" y="4975301"/>
            <a:ext cx="0" cy="1080000"/>
          </a:xfrm>
          <a:prstGeom prst="straightConnector1">
            <a:avLst/>
          </a:prstGeom>
          <a:noFill/>
          <a:ln w="6350" cap="flat" cmpd="sng" algn="ctr">
            <a:solidFill>
              <a:srgbClr val="000000">
                <a:lumMod val="50000"/>
                <a:lumOff val="50000"/>
              </a:srgbClr>
            </a:solidFill>
            <a:prstDash val="dash"/>
            <a:tailEnd type="triangle"/>
          </a:ln>
          <a:effectLst/>
        </p:spPr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C5D68311-B828-CA9E-8F9D-C97CEA4DBD11}"/>
              </a:ext>
            </a:extLst>
          </p:cNvPr>
          <p:cNvSpPr txBox="1"/>
          <p:nvPr/>
        </p:nvSpPr>
        <p:spPr>
          <a:xfrm>
            <a:off x="5644072" y="6663469"/>
            <a:ext cx="973344" cy="193841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2.0 Regular"/>
                <a:cs typeface="+mn-cs"/>
              </a:rPr>
              <a:t>(ODM) BK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  <a:lumOff val="50000"/>
                </a:srgbClr>
              </a:solidFill>
              <a:effectLst/>
              <a:uLnTx/>
              <a:uFillTx/>
              <a:latin typeface="Arial Narrow"/>
              <a:ea typeface="LG스마트체2.0 Regular"/>
              <a:cs typeface="+mn-cs"/>
            </a:endParaRPr>
          </a:p>
        </p:txBody>
      </p:sp>
      <p:sp>
        <p:nvSpPr>
          <p:cNvPr id="11" name="Rectangle 3936">
            <a:extLst>
              <a:ext uri="{FF2B5EF4-FFF2-40B4-BE49-F238E27FC236}">
                <a16:creationId xmlns:a16="http://schemas.microsoft.com/office/drawing/2014/main" id="{3DAEC7E5-6E4B-A113-51C3-20AE91D5CE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922" y="6101501"/>
            <a:ext cx="860400" cy="180000"/>
          </a:xfrm>
          <a:prstGeom prst="rect">
            <a:avLst/>
          </a:prstGeom>
          <a:solidFill>
            <a:srgbClr val="CC3300"/>
          </a:solidFill>
          <a:ln w="3175" cap="flat" cmpd="sng" algn="ctr">
            <a:solidFill>
              <a:srgbClr val="FFFFFF">
                <a:lumMod val="50000"/>
              </a:srgbClr>
            </a:solidFill>
            <a:prstDash val="solid"/>
          </a:ln>
          <a:effectLst/>
        </p:spPr>
        <p:txBody>
          <a:bodyPr wrap="none" lIns="0" tIns="45714" rIns="72000" bIns="45714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anose="020B0606020202030204" pitchFamily="34" charset="0"/>
                <a:ea typeface="LG스마트체2.0 Regular"/>
                <a:cs typeface="+mn-cs"/>
              </a:rPr>
              <a:t>QNED50B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49AE5D4-0E90-023F-4B83-BEF2568630FA}"/>
              </a:ext>
            </a:extLst>
          </p:cNvPr>
          <p:cNvSpPr txBox="1"/>
          <p:nvPr/>
        </p:nvSpPr>
        <p:spPr>
          <a:xfrm>
            <a:off x="2242965" y="6072873"/>
            <a:ext cx="973344" cy="193841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2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폴 </a:t>
            </a:r>
            <a:r>
              <a:rPr lang="en-US" altLang="ko-KR" sz="1000" dirty="0">
                <a:solidFill>
                  <a:srgbClr val="000000">
                    <a:lumMod val="50000"/>
                    <a:lumOff val="50000"/>
                  </a:srgbClr>
                </a:solidFill>
                <a:latin typeface="Arial Narrow"/>
                <a:ea typeface="LG스마트체 Regular" panose="020B0600000101010101" pitchFamily="50" charset="-127"/>
              </a:rPr>
              <a:t>ODM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  <a:lumOff val="50000"/>
                </a:srgbClr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3AE675F-069A-8995-4AEA-2DAAB4B1F531}"/>
              </a:ext>
            </a:extLst>
          </p:cNvPr>
          <p:cNvSpPr txBox="1"/>
          <p:nvPr/>
        </p:nvSpPr>
        <p:spPr>
          <a:xfrm>
            <a:off x="3982498" y="6075305"/>
            <a:ext cx="973344" cy="193841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>
            <a:defPPr>
              <a:defRPr lang="ko-KR"/>
            </a:defPPr>
            <a:lvl1pPr marR="0" lvl="0" indent="0" algn="ctr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00" b="0" i="0" u="none" strike="noStrike" cap="none" spc="0" normalizeH="0" baseline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</a:defRPr>
            </a:lvl1pPr>
          </a:lstStyle>
          <a:p>
            <a:r>
              <a:rPr lang="en-US" altLang="ko-KR" b="1" dirty="0"/>
              <a:t>ODM </a:t>
            </a:r>
            <a:r>
              <a:rPr lang="ko-KR" altLang="en-US" b="1" dirty="0"/>
              <a:t>신규</a:t>
            </a:r>
            <a:r>
              <a:rPr lang="en-US" altLang="ko-KR" b="1" dirty="0"/>
              <a:t> Tool 53mm</a:t>
            </a:r>
            <a:endParaRPr lang="ko-KR" altLang="en-US" b="1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1E6F0AE-AD38-EE7E-BEAD-0A314C35AB22}"/>
              </a:ext>
            </a:extLst>
          </p:cNvPr>
          <p:cNvSpPr txBox="1"/>
          <p:nvPr/>
        </p:nvSpPr>
        <p:spPr>
          <a:xfrm>
            <a:off x="5644072" y="6075305"/>
            <a:ext cx="973344" cy="193841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>
            <a:defPPr>
              <a:defRPr lang="ko-KR"/>
            </a:defPPr>
            <a:lvl1pPr marR="0" lvl="0" indent="0" algn="ctr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00" b="0" i="0" u="none" strike="noStrike" cap="none" spc="0" normalizeH="0" baseline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</a:defRPr>
            </a:lvl1pPr>
          </a:lstStyle>
          <a:p>
            <a:r>
              <a:rPr lang="en-US" altLang="ko-KR" dirty="0"/>
              <a:t>(ODM) BK</a:t>
            </a:r>
            <a:endParaRPr lang="ko-KR" altLang="en-US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59EE14E-10A5-2B17-3D2A-29B1B51BA64F}"/>
              </a:ext>
            </a:extLst>
          </p:cNvPr>
          <p:cNvSpPr txBox="1"/>
          <p:nvPr/>
        </p:nvSpPr>
        <p:spPr>
          <a:xfrm>
            <a:off x="6866764" y="6075305"/>
            <a:ext cx="973344" cy="193841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>
            <a:defPPr>
              <a:defRPr lang="ko-KR"/>
            </a:defPPr>
            <a:lvl1pPr marR="0" lvl="0" indent="0" algn="ctr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00" b="0" i="0" u="none" strike="noStrike" cap="none" spc="0" normalizeH="0" baseline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</a:defRPr>
            </a:lvl1pPr>
          </a:lstStyle>
          <a:p>
            <a:r>
              <a:rPr lang="en-US" altLang="ko-KR" dirty="0"/>
              <a:t>220</a:t>
            </a:r>
            <a:endParaRPr lang="ko-KR" altLang="en-US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2DDE9BF-812D-25D0-D5C2-0DFEF074D301}"/>
              </a:ext>
            </a:extLst>
          </p:cNvPr>
          <p:cNvSpPr txBox="1"/>
          <p:nvPr/>
        </p:nvSpPr>
        <p:spPr>
          <a:xfrm>
            <a:off x="7888724" y="6075305"/>
            <a:ext cx="973344" cy="193841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>
            <a:defPPr>
              <a:defRPr lang="ko-KR"/>
            </a:defPPr>
            <a:lvl1pPr marR="0" lvl="0" indent="0" algn="ctr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00" b="0" i="0" u="none" strike="noStrike" cap="none" spc="0" normalizeH="0" baseline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</a:defRPr>
            </a:lvl1pPr>
          </a:lstStyle>
          <a:p>
            <a:r>
              <a:rPr lang="en-US" altLang="ko-KR" dirty="0"/>
              <a:t>LM24F</a:t>
            </a:r>
            <a:endParaRPr lang="ko-KR" altLang="en-US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4BD7CC9-AD04-109C-E62B-A412231FB92D}"/>
              </a:ext>
            </a:extLst>
          </p:cNvPr>
          <p:cNvSpPr txBox="1"/>
          <p:nvPr/>
        </p:nvSpPr>
        <p:spPr>
          <a:xfrm>
            <a:off x="8904528" y="6075305"/>
            <a:ext cx="973344" cy="193841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>
            <a:defPPr>
              <a:defRPr lang="ko-KR"/>
            </a:defPPr>
            <a:lvl1pPr marR="0" lvl="0" indent="0" algn="ctr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00" b="0" i="0" u="none" strike="noStrike" cap="none" spc="0" normalizeH="0" baseline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20W  2.0ch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FC781D7-F584-E75E-C861-2B24F9672310}"/>
              </a:ext>
            </a:extLst>
          </p:cNvPr>
          <p:cNvSpPr txBox="1"/>
          <p:nvPr/>
        </p:nvSpPr>
        <p:spPr>
          <a:xfrm>
            <a:off x="8904528" y="6274937"/>
            <a:ext cx="973344" cy="193841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20W  2.0ch</a:t>
            </a:r>
          </a:p>
        </p:txBody>
      </p:sp>
      <p:cxnSp>
        <p:nvCxnSpPr>
          <p:cNvPr id="192" name="직선 화살표 연결선 191">
            <a:extLst>
              <a:ext uri="{FF2B5EF4-FFF2-40B4-BE49-F238E27FC236}">
                <a16:creationId xmlns:a16="http://schemas.microsoft.com/office/drawing/2014/main" id="{8A22DFB0-08B6-F8AC-71F5-700807B41EBD}"/>
              </a:ext>
            </a:extLst>
          </p:cNvPr>
          <p:cNvCxnSpPr>
            <a:cxnSpLocks/>
          </p:cNvCxnSpPr>
          <p:nvPr/>
        </p:nvCxnSpPr>
        <p:spPr>
          <a:xfrm>
            <a:off x="9391200" y="6471449"/>
            <a:ext cx="0" cy="386551"/>
          </a:xfrm>
          <a:prstGeom prst="straightConnector1">
            <a:avLst/>
          </a:prstGeom>
          <a:noFill/>
          <a:ln w="6350" cap="flat" cmpd="sng" algn="ctr">
            <a:solidFill>
              <a:srgbClr val="000000">
                <a:lumMod val="50000"/>
                <a:lumOff val="50000"/>
              </a:srgbClr>
            </a:solidFill>
            <a:prstDash val="dash"/>
            <a:tailEnd type="triangle"/>
          </a:ln>
          <a:effectLst/>
        </p:spPr>
      </p:cxnSp>
      <p:sp>
        <p:nvSpPr>
          <p:cNvPr id="193" name="TextBox 192">
            <a:extLst>
              <a:ext uri="{FF2B5EF4-FFF2-40B4-BE49-F238E27FC236}">
                <a16:creationId xmlns:a16="http://schemas.microsoft.com/office/drawing/2014/main" id="{D8358905-C802-F1A7-11A8-41BA712591AE}"/>
              </a:ext>
            </a:extLst>
          </p:cNvPr>
          <p:cNvSpPr txBox="1"/>
          <p:nvPr/>
        </p:nvSpPr>
        <p:spPr>
          <a:xfrm>
            <a:off x="7888724" y="6272837"/>
            <a:ext cx="973344" cy="193841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K25Lp</a:t>
            </a:r>
          </a:p>
        </p:txBody>
      </p:sp>
      <p:cxnSp>
        <p:nvCxnSpPr>
          <p:cNvPr id="194" name="직선 화살표 연결선 193">
            <a:extLst>
              <a:ext uri="{FF2B5EF4-FFF2-40B4-BE49-F238E27FC236}">
                <a16:creationId xmlns:a16="http://schemas.microsoft.com/office/drawing/2014/main" id="{A2307271-19FE-D628-C6F6-5CBB7F68C2E6}"/>
              </a:ext>
            </a:extLst>
          </p:cNvPr>
          <p:cNvCxnSpPr>
            <a:cxnSpLocks/>
          </p:cNvCxnSpPr>
          <p:nvPr/>
        </p:nvCxnSpPr>
        <p:spPr>
          <a:xfrm>
            <a:off x="8375396" y="6451117"/>
            <a:ext cx="0" cy="252000"/>
          </a:xfrm>
          <a:prstGeom prst="straightConnector1">
            <a:avLst/>
          </a:prstGeom>
          <a:noFill/>
          <a:ln w="6350" cap="flat" cmpd="sng" algn="ctr">
            <a:solidFill>
              <a:srgbClr val="000000">
                <a:lumMod val="50000"/>
                <a:lumOff val="50000"/>
              </a:srgbClr>
            </a:solidFill>
            <a:prstDash val="dash"/>
            <a:tailEnd type="triangle"/>
          </a:ln>
          <a:effectLst/>
        </p:spPr>
      </p:cxnSp>
      <p:sp>
        <p:nvSpPr>
          <p:cNvPr id="195" name="TextBox 194">
            <a:extLst>
              <a:ext uri="{FF2B5EF4-FFF2-40B4-BE49-F238E27FC236}">
                <a16:creationId xmlns:a16="http://schemas.microsoft.com/office/drawing/2014/main" id="{DC6CF247-2C27-D91A-43AF-09C1BF36071D}"/>
              </a:ext>
            </a:extLst>
          </p:cNvPr>
          <p:cNvSpPr txBox="1"/>
          <p:nvPr/>
        </p:nvSpPr>
        <p:spPr>
          <a:xfrm>
            <a:off x="6866764" y="6283490"/>
            <a:ext cx="973344" cy="193841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300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  <a:lumOff val="50000"/>
                </a:srgbClr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</p:txBody>
      </p:sp>
      <p:cxnSp>
        <p:nvCxnSpPr>
          <p:cNvPr id="196" name="직선 화살표 연결선 195">
            <a:extLst>
              <a:ext uri="{FF2B5EF4-FFF2-40B4-BE49-F238E27FC236}">
                <a16:creationId xmlns:a16="http://schemas.microsoft.com/office/drawing/2014/main" id="{716CF767-3D39-EDE6-5322-157BD432EACB}"/>
              </a:ext>
            </a:extLst>
          </p:cNvPr>
          <p:cNvCxnSpPr>
            <a:cxnSpLocks/>
          </p:cNvCxnSpPr>
          <p:nvPr/>
        </p:nvCxnSpPr>
        <p:spPr>
          <a:xfrm>
            <a:off x="7353436" y="6451117"/>
            <a:ext cx="0" cy="252000"/>
          </a:xfrm>
          <a:prstGeom prst="straightConnector1">
            <a:avLst/>
          </a:prstGeom>
          <a:noFill/>
          <a:ln w="6350" cap="flat" cmpd="sng" algn="ctr">
            <a:solidFill>
              <a:srgbClr val="000000">
                <a:lumMod val="50000"/>
                <a:lumOff val="50000"/>
              </a:srgbClr>
            </a:solidFill>
            <a:prstDash val="dash"/>
            <a:tailEnd type="triangle"/>
          </a:ln>
          <a:effectLst/>
        </p:spPr>
      </p:cxnSp>
      <p:sp>
        <p:nvSpPr>
          <p:cNvPr id="197" name="TextBox 196">
            <a:extLst>
              <a:ext uri="{FF2B5EF4-FFF2-40B4-BE49-F238E27FC236}">
                <a16:creationId xmlns:a16="http://schemas.microsoft.com/office/drawing/2014/main" id="{237B3C8C-030C-DC34-F7F3-B12734AE4DDE}"/>
              </a:ext>
            </a:extLst>
          </p:cNvPr>
          <p:cNvSpPr txBox="1"/>
          <p:nvPr/>
        </p:nvSpPr>
        <p:spPr>
          <a:xfrm>
            <a:off x="5644072" y="6283490"/>
            <a:ext cx="973344" cy="193841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Charcoal Black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  <a:lumOff val="50000"/>
                </a:srgbClr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</p:txBody>
      </p:sp>
      <p:cxnSp>
        <p:nvCxnSpPr>
          <p:cNvPr id="198" name="직선 화살표 연결선 197">
            <a:extLst>
              <a:ext uri="{FF2B5EF4-FFF2-40B4-BE49-F238E27FC236}">
                <a16:creationId xmlns:a16="http://schemas.microsoft.com/office/drawing/2014/main" id="{A5A18E55-6B60-A747-C875-BDFFBA53FD52}"/>
              </a:ext>
            </a:extLst>
          </p:cNvPr>
          <p:cNvCxnSpPr>
            <a:cxnSpLocks/>
          </p:cNvCxnSpPr>
          <p:nvPr/>
        </p:nvCxnSpPr>
        <p:spPr>
          <a:xfrm>
            <a:off x="6130744" y="6503371"/>
            <a:ext cx="0" cy="180000"/>
          </a:xfrm>
          <a:prstGeom prst="straightConnector1">
            <a:avLst/>
          </a:prstGeom>
          <a:noFill/>
          <a:ln w="6350" cap="flat" cmpd="sng" algn="ctr">
            <a:solidFill>
              <a:srgbClr val="000000">
                <a:lumMod val="50000"/>
                <a:lumOff val="50000"/>
              </a:srgbClr>
            </a:solidFill>
            <a:prstDash val="dash"/>
            <a:tailEnd type="triangle"/>
          </a:ln>
          <a:effectLst/>
        </p:spPr>
      </p:cxnSp>
      <p:sp>
        <p:nvSpPr>
          <p:cNvPr id="199" name="TextBox 198">
            <a:extLst>
              <a:ext uri="{FF2B5EF4-FFF2-40B4-BE49-F238E27FC236}">
                <a16:creationId xmlns:a16="http://schemas.microsoft.com/office/drawing/2014/main" id="{A0BC612C-001A-A4CA-9EAC-F575686B9CC3}"/>
              </a:ext>
            </a:extLst>
          </p:cNvPr>
          <p:cNvSpPr txBox="1"/>
          <p:nvPr/>
        </p:nvSpPr>
        <p:spPr>
          <a:xfrm>
            <a:off x="9875663" y="6075305"/>
            <a:ext cx="973344" cy="193841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>
            <a:defPPr>
              <a:defRPr lang="ko-KR"/>
            </a:defPPr>
            <a:lvl1pPr marR="0" lvl="0" indent="0" algn="ctr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00" b="0" i="0" u="none" strike="noStrike" cap="none" spc="0" normalizeH="0" baseline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</a:defRPr>
            </a:lvl1pPr>
          </a:lstStyle>
          <a:p>
            <a:r>
              <a:rPr lang="en-US" altLang="ko-KR" dirty="0"/>
              <a:t>2 / 1</a:t>
            </a:r>
            <a:endParaRPr lang="ko-KR" altLang="en-US" dirty="0"/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A68A409F-7B39-199B-8562-7BBBA7B799E9}"/>
              </a:ext>
            </a:extLst>
          </p:cNvPr>
          <p:cNvSpPr txBox="1"/>
          <p:nvPr/>
        </p:nvSpPr>
        <p:spPr>
          <a:xfrm>
            <a:off x="9875663" y="6269231"/>
            <a:ext cx="973344" cy="193841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3 / 1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  <a:lumOff val="50000"/>
                </a:srgbClr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</p:txBody>
      </p:sp>
      <p:cxnSp>
        <p:nvCxnSpPr>
          <p:cNvPr id="201" name="직선 화살표 연결선 200">
            <a:extLst>
              <a:ext uri="{FF2B5EF4-FFF2-40B4-BE49-F238E27FC236}">
                <a16:creationId xmlns:a16="http://schemas.microsoft.com/office/drawing/2014/main" id="{5E62CD5E-2E9A-DE51-E3A4-4E5949A94532}"/>
              </a:ext>
            </a:extLst>
          </p:cNvPr>
          <p:cNvCxnSpPr>
            <a:cxnSpLocks/>
          </p:cNvCxnSpPr>
          <p:nvPr/>
        </p:nvCxnSpPr>
        <p:spPr>
          <a:xfrm>
            <a:off x="10362335" y="6482194"/>
            <a:ext cx="0" cy="360000"/>
          </a:xfrm>
          <a:prstGeom prst="straightConnector1">
            <a:avLst/>
          </a:prstGeom>
          <a:noFill/>
          <a:ln w="6350" cap="flat" cmpd="sng" algn="ctr">
            <a:solidFill>
              <a:srgbClr val="000000">
                <a:lumMod val="50000"/>
                <a:lumOff val="50000"/>
              </a:srgbClr>
            </a:solidFill>
            <a:prstDash val="dash"/>
            <a:tailEnd type="triangle"/>
          </a:ln>
          <a:effectLst/>
        </p:spPr>
      </p:cxn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8713400B-5A18-5146-7DE1-302308A7E291}"/>
              </a:ext>
            </a:extLst>
          </p:cNvPr>
          <p:cNvSpPr/>
          <p:nvPr/>
        </p:nvSpPr>
        <p:spPr>
          <a:xfrm>
            <a:off x="6333686" y="461810"/>
            <a:ext cx="341113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65”</a:t>
            </a:r>
            <a:endParaRPr kumimoji="0" lang="ko-KR" alt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  <a:lumOff val="50000"/>
                </a:srgbClr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02" name="직사각형 201">
            <a:extLst>
              <a:ext uri="{FF2B5EF4-FFF2-40B4-BE49-F238E27FC236}">
                <a16:creationId xmlns:a16="http://schemas.microsoft.com/office/drawing/2014/main" id="{2A45D74D-7DFE-4633-2CD8-F0F0CB625DBF}"/>
              </a:ext>
            </a:extLst>
          </p:cNvPr>
          <p:cNvSpPr/>
          <p:nvPr/>
        </p:nvSpPr>
        <p:spPr>
          <a:xfrm>
            <a:off x="4532446" y="461810"/>
            <a:ext cx="341113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65”</a:t>
            </a:r>
            <a:endParaRPr kumimoji="0" lang="ko-KR" alt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  <a:lumOff val="50000"/>
                </a:srgbClr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03" name="직사각형 202">
            <a:extLst>
              <a:ext uri="{FF2B5EF4-FFF2-40B4-BE49-F238E27FC236}">
                <a16:creationId xmlns:a16="http://schemas.microsoft.com/office/drawing/2014/main" id="{9AF2820D-2F86-813E-5F07-E153A461387C}"/>
              </a:ext>
            </a:extLst>
          </p:cNvPr>
          <p:cNvSpPr/>
          <p:nvPr/>
        </p:nvSpPr>
        <p:spPr>
          <a:xfrm>
            <a:off x="8477540" y="479228"/>
            <a:ext cx="341113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65”</a:t>
            </a:r>
            <a:endParaRPr kumimoji="0" lang="ko-KR" alt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  <a:lumOff val="50000"/>
                </a:srgbClr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04" name="직사각형 203">
            <a:extLst>
              <a:ext uri="{FF2B5EF4-FFF2-40B4-BE49-F238E27FC236}">
                <a16:creationId xmlns:a16="http://schemas.microsoft.com/office/drawing/2014/main" id="{41CDAFEE-4687-4536-A756-75D6E84D0CA6}"/>
              </a:ext>
            </a:extLst>
          </p:cNvPr>
          <p:cNvSpPr/>
          <p:nvPr/>
        </p:nvSpPr>
        <p:spPr>
          <a:xfrm>
            <a:off x="9557849" y="487937"/>
            <a:ext cx="341113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65”</a:t>
            </a:r>
            <a:endParaRPr kumimoji="0" lang="ko-KR" alt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  <a:lumOff val="50000"/>
                </a:srgbClr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05" name="직사각형 204">
            <a:extLst>
              <a:ext uri="{FF2B5EF4-FFF2-40B4-BE49-F238E27FC236}">
                <a16:creationId xmlns:a16="http://schemas.microsoft.com/office/drawing/2014/main" id="{F92EC26D-B855-8F85-8261-19BE6B32DC5A}"/>
              </a:ext>
            </a:extLst>
          </p:cNvPr>
          <p:cNvSpPr/>
          <p:nvPr/>
        </p:nvSpPr>
        <p:spPr>
          <a:xfrm>
            <a:off x="10424145" y="444654"/>
            <a:ext cx="341113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65”</a:t>
            </a:r>
            <a:endParaRPr kumimoji="0" lang="ko-KR" alt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  <a:lumOff val="50000"/>
                </a:srgbClr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06" name="직사각형 205">
            <a:extLst>
              <a:ext uri="{FF2B5EF4-FFF2-40B4-BE49-F238E27FC236}">
                <a16:creationId xmlns:a16="http://schemas.microsoft.com/office/drawing/2014/main" id="{F993F12D-2D49-F439-1F35-348A9CDD4B43}"/>
              </a:ext>
            </a:extLst>
          </p:cNvPr>
          <p:cNvSpPr/>
          <p:nvPr/>
        </p:nvSpPr>
        <p:spPr>
          <a:xfrm>
            <a:off x="11584100" y="461810"/>
            <a:ext cx="341113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65”</a:t>
            </a:r>
            <a:endParaRPr kumimoji="0" lang="ko-KR" alt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  <a:lumOff val="50000"/>
                </a:srgbClr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07" name="TextBox 206">
            <a:extLst>
              <a:ext uri="{FF2B5EF4-FFF2-40B4-BE49-F238E27FC236}">
                <a16:creationId xmlns:a16="http://schemas.microsoft.com/office/drawing/2014/main" id="{4627CFC7-FB6C-75BB-970A-D25DFCCBBD81}"/>
              </a:ext>
            </a:extLst>
          </p:cNvPr>
          <p:cNvSpPr txBox="1"/>
          <p:nvPr/>
        </p:nvSpPr>
        <p:spPr>
          <a:xfrm>
            <a:off x="5644072" y="5169733"/>
            <a:ext cx="973344" cy="193841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Ashed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 Blue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  <a:lumOff val="50000"/>
                </a:srgbClr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08" name="TextBox 207">
            <a:extLst>
              <a:ext uri="{FF2B5EF4-FFF2-40B4-BE49-F238E27FC236}">
                <a16:creationId xmlns:a16="http://schemas.microsoft.com/office/drawing/2014/main" id="{158267F5-6C5A-5C04-0689-7458B8D37884}"/>
              </a:ext>
            </a:extLst>
          </p:cNvPr>
          <p:cNvSpPr txBox="1"/>
          <p:nvPr/>
        </p:nvSpPr>
        <p:spPr>
          <a:xfrm>
            <a:off x="5644072" y="5333542"/>
            <a:ext cx="973344" cy="193841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Charcoal Black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  <a:lumOff val="50000"/>
                </a:srgbClr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09" name="TextBox 208">
            <a:extLst>
              <a:ext uri="{FF2B5EF4-FFF2-40B4-BE49-F238E27FC236}">
                <a16:creationId xmlns:a16="http://schemas.microsoft.com/office/drawing/2014/main" id="{720E4B87-8C52-BDD9-11D4-2548BE63700D}"/>
              </a:ext>
            </a:extLst>
          </p:cNvPr>
          <p:cNvSpPr txBox="1"/>
          <p:nvPr/>
        </p:nvSpPr>
        <p:spPr>
          <a:xfrm>
            <a:off x="7888724" y="3675227"/>
            <a:ext cx="973344" cy="193841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K2</a:t>
            </a:r>
            <a:r>
              <a:rPr lang="en-US" altLang="ko-KR" sz="1000" dirty="0">
                <a:solidFill>
                  <a:srgbClr val="000000">
                    <a:lumMod val="50000"/>
                    <a:lumOff val="50000"/>
                  </a:srgbClr>
                </a:solidFill>
                <a:latin typeface="Arial Narrow"/>
                <a:ea typeface="LG스마트체 Regular" panose="020B0600000101010101" pitchFamily="50" charset="-127"/>
              </a:rPr>
              <a:t>6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  <a:lumOff val="50000"/>
                </a:srgbClr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</p:txBody>
      </p:sp>
      <p:cxnSp>
        <p:nvCxnSpPr>
          <p:cNvPr id="210" name="직선 화살표 연결선 209">
            <a:extLst>
              <a:ext uri="{FF2B5EF4-FFF2-40B4-BE49-F238E27FC236}">
                <a16:creationId xmlns:a16="http://schemas.microsoft.com/office/drawing/2014/main" id="{BB57E00C-A593-C198-AEC0-911CFB72E96C}"/>
              </a:ext>
            </a:extLst>
          </p:cNvPr>
          <p:cNvCxnSpPr>
            <a:cxnSpLocks/>
          </p:cNvCxnSpPr>
          <p:nvPr/>
        </p:nvCxnSpPr>
        <p:spPr>
          <a:xfrm>
            <a:off x="11453411" y="5524010"/>
            <a:ext cx="0" cy="180000"/>
          </a:xfrm>
          <a:prstGeom prst="straightConnector1">
            <a:avLst/>
          </a:prstGeom>
          <a:noFill/>
          <a:ln w="6350" cap="flat" cmpd="sng" algn="ctr">
            <a:solidFill>
              <a:srgbClr val="000000">
                <a:lumMod val="50000"/>
                <a:lumOff val="50000"/>
              </a:srgbClr>
            </a:solidFill>
            <a:prstDash val="dash"/>
            <a:tailEnd type="triangle"/>
          </a:ln>
          <a:effectLst/>
        </p:spPr>
      </p:cxnSp>
      <p:cxnSp>
        <p:nvCxnSpPr>
          <p:cNvPr id="211" name="직선 화살표 연결선 210">
            <a:extLst>
              <a:ext uri="{FF2B5EF4-FFF2-40B4-BE49-F238E27FC236}">
                <a16:creationId xmlns:a16="http://schemas.microsoft.com/office/drawing/2014/main" id="{8B6E6ACF-079D-AFF9-851B-4D28B77E621D}"/>
              </a:ext>
            </a:extLst>
          </p:cNvPr>
          <p:cNvCxnSpPr>
            <a:cxnSpLocks/>
          </p:cNvCxnSpPr>
          <p:nvPr/>
        </p:nvCxnSpPr>
        <p:spPr>
          <a:xfrm>
            <a:off x="11453411" y="5916060"/>
            <a:ext cx="0" cy="180000"/>
          </a:xfrm>
          <a:prstGeom prst="straightConnector1">
            <a:avLst/>
          </a:prstGeom>
          <a:noFill/>
          <a:ln w="6350" cap="flat" cmpd="sng" algn="ctr">
            <a:solidFill>
              <a:srgbClr val="000000">
                <a:lumMod val="50000"/>
                <a:lumOff val="50000"/>
              </a:srgbClr>
            </a:solidFill>
            <a:prstDash val="dash"/>
            <a:tailEnd type="triangle"/>
          </a:ln>
          <a:effectLst/>
        </p:spPr>
      </p:cxnSp>
      <p:sp>
        <p:nvSpPr>
          <p:cNvPr id="212" name="TextBox 211">
            <a:extLst>
              <a:ext uri="{FF2B5EF4-FFF2-40B4-BE49-F238E27FC236}">
                <a16:creationId xmlns:a16="http://schemas.microsoft.com/office/drawing/2014/main" id="{35C6D4A4-6EB9-8BD1-531F-A8BBDC437E9F}"/>
              </a:ext>
            </a:extLst>
          </p:cNvPr>
          <p:cNvSpPr txBox="1"/>
          <p:nvPr/>
        </p:nvSpPr>
        <p:spPr>
          <a:xfrm>
            <a:off x="10949321" y="4788011"/>
            <a:ext cx="973344" cy="193841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매직리모컨</a:t>
            </a:r>
          </a:p>
        </p:txBody>
      </p:sp>
      <p:cxnSp>
        <p:nvCxnSpPr>
          <p:cNvPr id="213" name="직선 화살표 연결선 212">
            <a:extLst>
              <a:ext uri="{FF2B5EF4-FFF2-40B4-BE49-F238E27FC236}">
                <a16:creationId xmlns:a16="http://schemas.microsoft.com/office/drawing/2014/main" id="{FD1383E3-0873-6A24-E50A-C0789AFE4D42}"/>
              </a:ext>
            </a:extLst>
          </p:cNvPr>
          <p:cNvCxnSpPr>
            <a:cxnSpLocks/>
          </p:cNvCxnSpPr>
          <p:nvPr/>
        </p:nvCxnSpPr>
        <p:spPr>
          <a:xfrm>
            <a:off x="11453411" y="4974695"/>
            <a:ext cx="0" cy="180000"/>
          </a:xfrm>
          <a:prstGeom prst="straightConnector1">
            <a:avLst/>
          </a:prstGeom>
          <a:noFill/>
          <a:ln w="6350" cap="flat" cmpd="sng" algn="ctr">
            <a:solidFill>
              <a:srgbClr val="000000">
                <a:lumMod val="50000"/>
                <a:lumOff val="50000"/>
              </a:srgbClr>
            </a:solidFill>
            <a:prstDash val="dash"/>
            <a:tailEnd type="triangle"/>
          </a:ln>
          <a:effectLst/>
        </p:spPr>
      </p:cxnSp>
      <p:sp>
        <p:nvSpPr>
          <p:cNvPr id="214" name="TextBox 213">
            <a:extLst>
              <a:ext uri="{FF2B5EF4-FFF2-40B4-BE49-F238E27FC236}">
                <a16:creationId xmlns:a16="http://schemas.microsoft.com/office/drawing/2014/main" id="{DEF51DB3-84A9-02D6-2F46-B0026A1CE6FE}"/>
              </a:ext>
            </a:extLst>
          </p:cNvPr>
          <p:cNvSpPr txBox="1"/>
          <p:nvPr/>
        </p:nvSpPr>
        <p:spPr>
          <a:xfrm>
            <a:off x="10983415" y="2482829"/>
            <a:ext cx="973344" cy="193841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매직리모컨</a:t>
            </a:r>
          </a:p>
        </p:txBody>
      </p:sp>
      <p:cxnSp>
        <p:nvCxnSpPr>
          <p:cNvPr id="215" name="직선 화살표 연결선 214">
            <a:extLst>
              <a:ext uri="{FF2B5EF4-FFF2-40B4-BE49-F238E27FC236}">
                <a16:creationId xmlns:a16="http://schemas.microsoft.com/office/drawing/2014/main" id="{375B591A-C73A-FC5E-ED01-5AAD90F32FFE}"/>
              </a:ext>
            </a:extLst>
          </p:cNvPr>
          <p:cNvCxnSpPr>
            <a:cxnSpLocks/>
          </p:cNvCxnSpPr>
          <p:nvPr/>
        </p:nvCxnSpPr>
        <p:spPr>
          <a:xfrm>
            <a:off x="11470092" y="1437493"/>
            <a:ext cx="0" cy="252000"/>
          </a:xfrm>
          <a:prstGeom prst="straightConnector1">
            <a:avLst/>
          </a:prstGeom>
          <a:noFill/>
          <a:ln w="6350" cap="flat" cmpd="sng" algn="ctr">
            <a:solidFill>
              <a:srgbClr val="000000">
                <a:lumMod val="50000"/>
                <a:lumOff val="50000"/>
              </a:srgbClr>
            </a:solidFill>
            <a:prstDash val="dash"/>
            <a:tailEnd type="triangle"/>
          </a:ln>
          <a:effectLst/>
        </p:spPr>
      </p:cxnSp>
      <p:sp>
        <p:nvSpPr>
          <p:cNvPr id="216" name="TextBox 215">
            <a:extLst>
              <a:ext uri="{FF2B5EF4-FFF2-40B4-BE49-F238E27FC236}">
                <a16:creationId xmlns:a16="http://schemas.microsoft.com/office/drawing/2014/main" id="{3595B4EF-EEF7-E80E-8511-95A9B6CE101B}"/>
              </a:ext>
            </a:extLst>
          </p:cNvPr>
          <p:cNvSpPr txBox="1"/>
          <p:nvPr/>
        </p:nvSpPr>
        <p:spPr>
          <a:xfrm>
            <a:off x="1615951" y="4634723"/>
            <a:ext cx="275717" cy="138499"/>
          </a:xfrm>
          <a:prstGeom prst="rect">
            <a:avLst/>
          </a:prstGeom>
          <a:solidFill>
            <a:srgbClr val="FFFFFF"/>
          </a:solidFill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120Hz</a:t>
            </a:r>
          </a:p>
        </p:txBody>
      </p:sp>
      <p:cxnSp>
        <p:nvCxnSpPr>
          <p:cNvPr id="219" name="직선 화살표 연결선 218">
            <a:extLst>
              <a:ext uri="{FF2B5EF4-FFF2-40B4-BE49-F238E27FC236}">
                <a16:creationId xmlns:a16="http://schemas.microsoft.com/office/drawing/2014/main" id="{8A3E45A9-F77C-22A9-B402-F4CB1681134A}"/>
              </a:ext>
            </a:extLst>
          </p:cNvPr>
          <p:cNvCxnSpPr>
            <a:cxnSpLocks/>
          </p:cNvCxnSpPr>
          <p:nvPr/>
        </p:nvCxnSpPr>
        <p:spPr>
          <a:xfrm>
            <a:off x="9391200" y="1890540"/>
            <a:ext cx="0" cy="396000"/>
          </a:xfrm>
          <a:prstGeom prst="straightConnector1">
            <a:avLst/>
          </a:prstGeom>
          <a:noFill/>
          <a:ln w="6350" cap="flat" cmpd="sng" algn="ctr">
            <a:solidFill>
              <a:srgbClr val="000000">
                <a:lumMod val="50000"/>
                <a:lumOff val="50000"/>
              </a:srgbClr>
            </a:solidFill>
            <a:prstDash val="dash"/>
            <a:tailEnd type="triangle"/>
          </a:ln>
          <a:effectLst/>
        </p:spPr>
      </p:cxnSp>
      <p:cxnSp>
        <p:nvCxnSpPr>
          <p:cNvPr id="220" name="직선 화살표 연결선 219">
            <a:extLst>
              <a:ext uri="{FF2B5EF4-FFF2-40B4-BE49-F238E27FC236}">
                <a16:creationId xmlns:a16="http://schemas.microsoft.com/office/drawing/2014/main" id="{D4B4C37E-D9AD-4ADD-4C17-D52788C74977}"/>
              </a:ext>
            </a:extLst>
          </p:cNvPr>
          <p:cNvCxnSpPr>
            <a:cxnSpLocks/>
          </p:cNvCxnSpPr>
          <p:nvPr/>
        </p:nvCxnSpPr>
        <p:spPr>
          <a:xfrm>
            <a:off x="9391200" y="2901325"/>
            <a:ext cx="0" cy="540000"/>
          </a:xfrm>
          <a:prstGeom prst="straightConnector1">
            <a:avLst/>
          </a:prstGeom>
          <a:noFill/>
          <a:ln w="6350" cap="flat" cmpd="sng" algn="ctr">
            <a:solidFill>
              <a:srgbClr val="000000">
                <a:lumMod val="50000"/>
                <a:lumOff val="50000"/>
              </a:srgbClr>
            </a:solidFill>
            <a:prstDash val="dash"/>
            <a:tailEnd type="triangle"/>
          </a:ln>
          <a:effectLst/>
        </p:spPr>
      </p:cxnSp>
      <p:cxnSp>
        <p:nvCxnSpPr>
          <p:cNvPr id="221" name="직선 화살표 연결선 220">
            <a:extLst>
              <a:ext uri="{FF2B5EF4-FFF2-40B4-BE49-F238E27FC236}">
                <a16:creationId xmlns:a16="http://schemas.microsoft.com/office/drawing/2014/main" id="{08ADA518-1230-BBD7-C4AD-7FF3F93AF3C5}"/>
              </a:ext>
            </a:extLst>
          </p:cNvPr>
          <p:cNvCxnSpPr>
            <a:cxnSpLocks/>
          </p:cNvCxnSpPr>
          <p:nvPr/>
        </p:nvCxnSpPr>
        <p:spPr>
          <a:xfrm>
            <a:off x="9391200" y="3916955"/>
            <a:ext cx="0" cy="2160000"/>
          </a:xfrm>
          <a:prstGeom prst="straightConnector1">
            <a:avLst/>
          </a:prstGeom>
          <a:noFill/>
          <a:ln w="6350" cap="flat" cmpd="sng" algn="ctr">
            <a:solidFill>
              <a:srgbClr val="000000">
                <a:lumMod val="50000"/>
                <a:lumOff val="50000"/>
              </a:srgbClr>
            </a:solidFill>
            <a:prstDash val="dash"/>
            <a:tailEnd type="triangle"/>
          </a:ln>
          <a:effectLst/>
        </p:spPr>
      </p:cxnSp>
      <p:cxnSp>
        <p:nvCxnSpPr>
          <p:cNvPr id="269" name="직선 화살표 연결선 268">
            <a:extLst>
              <a:ext uri="{FF2B5EF4-FFF2-40B4-BE49-F238E27FC236}">
                <a16:creationId xmlns:a16="http://schemas.microsoft.com/office/drawing/2014/main" id="{ED663294-254A-892A-E607-A4828394026F}"/>
              </a:ext>
            </a:extLst>
          </p:cNvPr>
          <p:cNvCxnSpPr>
            <a:cxnSpLocks/>
          </p:cNvCxnSpPr>
          <p:nvPr/>
        </p:nvCxnSpPr>
        <p:spPr>
          <a:xfrm>
            <a:off x="10345766" y="1890540"/>
            <a:ext cx="0" cy="396000"/>
          </a:xfrm>
          <a:prstGeom prst="straightConnector1">
            <a:avLst/>
          </a:prstGeom>
          <a:noFill/>
          <a:ln w="6350" cap="flat" cmpd="sng" algn="ctr">
            <a:solidFill>
              <a:srgbClr val="000000">
                <a:lumMod val="50000"/>
                <a:lumOff val="50000"/>
              </a:srgbClr>
            </a:solidFill>
            <a:prstDash val="dash"/>
            <a:tailEnd type="triangle"/>
          </a:ln>
          <a:effectLst/>
        </p:spPr>
      </p:cxnSp>
      <p:cxnSp>
        <p:nvCxnSpPr>
          <p:cNvPr id="320" name="직선 화살표 연결선 319">
            <a:extLst>
              <a:ext uri="{FF2B5EF4-FFF2-40B4-BE49-F238E27FC236}">
                <a16:creationId xmlns:a16="http://schemas.microsoft.com/office/drawing/2014/main" id="{9308ACD5-5FEB-A023-0F61-25238A90E526}"/>
              </a:ext>
            </a:extLst>
          </p:cNvPr>
          <p:cNvCxnSpPr>
            <a:cxnSpLocks/>
          </p:cNvCxnSpPr>
          <p:nvPr/>
        </p:nvCxnSpPr>
        <p:spPr>
          <a:xfrm>
            <a:off x="10345766" y="1297797"/>
            <a:ext cx="0" cy="396000"/>
          </a:xfrm>
          <a:prstGeom prst="straightConnector1">
            <a:avLst/>
          </a:prstGeom>
          <a:noFill/>
          <a:ln w="6350" cap="flat" cmpd="sng" algn="ctr">
            <a:solidFill>
              <a:srgbClr val="000000">
                <a:lumMod val="50000"/>
                <a:lumOff val="50000"/>
              </a:srgbClr>
            </a:solidFill>
            <a:prstDash val="dash"/>
            <a:tailEnd type="triangle"/>
          </a:ln>
          <a:effectLst/>
        </p:spPr>
      </p:cxnSp>
      <p:cxnSp>
        <p:nvCxnSpPr>
          <p:cNvPr id="383" name="직선 화살표 연결선 382">
            <a:extLst>
              <a:ext uri="{FF2B5EF4-FFF2-40B4-BE49-F238E27FC236}">
                <a16:creationId xmlns:a16="http://schemas.microsoft.com/office/drawing/2014/main" id="{66D4A3F9-3224-F2B9-45FC-75CD188BE2F5}"/>
              </a:ext>
            </a:extLst>
          </p:cNvPr>
          <p:cNvCxnSpPr>
            <a:cxnSpLocks/>
          </p:cNvCxnSpPr>
          <p:nvPr/>
        </p:nvCxnSpPr>
        <p:spPr>
          <a:xfrm>
            <a:off x="10345766" y="3084464"/>
            <a:ext cx="0" cy="324000"/>
          </a:xfrm>
          <a:prstGeom prst="straightConnector1">
            <a:avLst/>
          </a:prstGeom>
          <a:noFill/>
          <a:ln w="6350" cap="flat" cmpd="sng" algn="ctr">
            <a:solidFill>
              <a:srgbClr val="000000">
                <a:lumMod val="50000"/>
                <a:lumOff val="50000"/>
              </a:srgbClr>
            </a:solidFill>
            <a:prstDash val="dash"/>
            <a:tailEnd type="triangle"/>
          </a:ln>
          <a:effectLst/>
        </p:spPr>
      </p:cxnSp>
      <p:cxnSp>
        <p:nvCxnSpPr>
          <p:cNvPr id="390" name="직선 화살표 연결선 389">
            <a:extLst>
              <a:ext uri="{FF2B5EF4-FFF2-40B4-BE49-F238E27FC236}">
                <a16:creationId xmlns:a16="http://schemas.microsoft.com/office/drawing/2014/main" id="{5AA108F4-1557-EEB2-56BB-700F88BEE948}"/>
              </a:ext>
            </a:extLst>
          </p:cNvPr>
          <p:cNvCxnSpPr>
            <a:cxnSpLocks/>
          </p:cNvCxnSpPr>
          <p:nvPr/>
        </p:nvCxnSpPr>
        <p:spPr>
          <a:xfrm>
            <a:off x="10345766" y="3699400"/>
            <a:ext cx="0" cy="576000"/>
          </a:xfrm>
          <a:prstGeom prst="straightConnector1">
            <a:avLst/>
          </a:prstGeom>
          <a:noFill/>
          <a:ln w="6350" cap="flat" cmpd="sng" algn="ctr">
            <a:solidFill>
              <a:srgbClr val="000000">
                <a:lumMod val="50000"/>
                <a:lumOff val="50000"/>
              </a:srgbClr>
            </a:solidFill>
            <a:prstDash val="dash"/>
            <a:tailEnd type="triangle"/>
          </a:ln>
          <a:effectLst/>
        </p:spPr>
      </p:cxnSp>
      <p:cxnSp>
        <p:nvCxnSpPr>
          <p:cNvPr id="391" name="직선 화살표 연결선 390">
            <a:extLst>
              <a:ext uri="{FF2B5EF4-FFF2-40B4-BE49-F238E27FC236}">
                <a16:creationId xmlns:a16="http://schemas.microsoft.com/office/drawing/2014/main" id="{C9EA2736-4A16-173C-E7B6-80A9F3A5C5F2}"/>
              </a:ext>
            </a:extLst>
          </p:cNvPr>
          <p:cNvCxnSpPr>
            <a:cxnSpLocks/>
          </p:cNvCxnSpPr>
          <p:nvPr/>
        </p:nvCxnSpPr>
        <p:spPr>
          <a:xfrm>
            <a:off x="10345766" y="4503796"/>
            <a:ext cx="0" cy="1584000"/>
          </a:xfrm>
          <a:prstGeom prst="straightConnector1">
            <a:avLst/>
          </a:prstGeom>
          <a:noFill/>
          <a:ln w="6350" cap="flat" cmpd="sng" algn="ctr">
            <a:solidFill>
              <a:srgbClr val="000000">
                <a:lumMod val="50000"/>
                <a:lumOff val="50000"/>
              </a:srgbClr>
            </a:solidFill>
            <a:prstDash val="dash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12842309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A74567-06B0-F63E-79A9-4FE83F47A1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직사각형 125">
            <a:extLst>
              <a:ext uri="{FF2B5EF4-FFF2-40B4-BE49-F238E27FC236}">
                <a16:creationId xmlns:a16="http://schemas.microsoft.com/office/drawing/2014/main" id="{88872F1F-5055-B1A6-0EBC-C6D572C9F5AB}"/>
              </a:ext>
            </a:extLst>
          </p:cNvPr>
          <p:cNvSpPr/>
          <p:nvPr/>
        </p:nvSpPr>
        <p:spPr>
          <a:xfrm>
            <a:off x="9412487" y="1472527"/>
            <a:ext cx="2465928" cy="5135895"/>
          </a:xfrm>
          <a:prstGeom prst="rect">
            <a:avLst/>
          </a:prstGeom>
          <a:solidFill>
            <a:sysClr val="window" lastClr="FFFFFF">
              <a:lumMod val="95000"/>
              <a:alpha val="80000"/>
            </a:sysClr>
          </a:solidFill>
          <a:ln w="25400" cap="flat" cmpd="sng" algn="ctr">
            <a:noFill/>
            <a:prstDash val="solid"/>
          </a:ln>
          <a:effectLst/>
        </p:spPr>
        <p:txBody>
          <a:bodyPr rtlCol="0" anchor="b"/>
          <a:lstStyle/>
          <a:p>
            <a:pPr marL="0" marR="0" lvl="0" indent="0" algn="l" defTabSz="914377" rtl="0" eaLnBrk="1" fontAlgn="auto" latinLnBrk="0" hangingPunct="1">
              <a:lnSpc>
                <a:spcPts val="16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endParaRPr kumimoji="0" lang="en-US" altLang="ko-KR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itchFamily="34" charset="0"/>
            </a:endParaRPr>
          </a:p>
        </p:txBody>
      </p:sp>
      <p:sp>
        <p:nvSpPr>
          <p:cNvPr id="127" name="직사각형 126">
            <a:extLst>
              <a:ext uri="{FF2B5EF4-FFF2-40B4-BE49-F238E27FC236}">
                <a16:creationId xmlns:a16="http://schemas.microsoft.com/office/drawing/2014/main" id="{2871AB0C-2E71-8904-5013-16BD465A23C5}"/>
              </a:ext>
            </a:extLst>
          </p:cNvPr>
          <p:cNvSpPr/>
          <p:nvPr/>
        </p:nvSpPr>
        <p:spPr>
          <a:xfrm>
            <a:off x="5572916" y="1542087"/>
            <a:ext cx="1881459" cy="5211138"/>
          </a:xfrm>
          <a:prstGeom prst="rect">
            <a:avLst/>
          </a:prstGeom>
          <a:solidFill>
            <a:sysClr val="window" lastClr="FFFFFF">
              <a:lumMod val="95000"/>
              <a:alpha val="80000"/>
            </a:sysClr>
          </a:solidFill>
          <a:ln w="25400" cap="flat" cmpd="sng" algn="ctr">
            <a:noFill/>
            <a:prstDash val="solid"/>
          </a:ln>
          <a:effectLst/>
        </p:spPr>
        <p:txBody>
          <a:bodyPr rtlCol="0" anchor="b"/>
          <a:lstStyle/>
          <a:p>
            <a:pPr marL="0" marR="0" lvl="0" indent="0" algn="l" defTabSz="914377" rtl="0" eaLnBrk="1" fontAlgn="auto" latinLnBrk="0" hangingPunct="1">
              <a:lnSpc>
                <a:spcPts val="16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endParaRPr kumimoji="0" lang="en-US" altLang="ko-KR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itchFamily="34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DDD0DD0-0AB8-528F-0E02-C5D81105322D}"/>
              </a:ext>
            </a:extLst>
          </p:cNvPr>
          <p:cNvSpPr/>
          <p:nvPr/>
        </p:nvSpPr>
        <p:spPr>
          <a:xfrm>
            <a:off x="4719490" y="6012855"/>
            <a:ext cx="7158925" cy="567785"/>
          </a:xfrm>
          <a:prstGeom prst="rect">
            <a:avLst/>
          </a:prstGeom>
          <a:solidFill>
            <a:srgbClr val="FFCCCC">
              <a:alpha val="70000"/>
            </a:srgb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A47E08C-DBB4-785A-8D67-12114B4205A5}"/>
              </a:ext>
            </a:extLst>
          </p:cNvPr>
          <p:cNvSpPr/>
          <p:nvPr/>
        </p:nvSpPr>
        <p:spPr>
          <a:xfrm>
            <a:off x="4719490" y="4322440"/>
            <a:ext cx="7158925" cy="357088"/>
          </a:xfrm>
          <a:prstGeom prst="rect">
            <a:avLst/>
          </a:prstGeom>
          <a:solidFill>
            <a:srgbClr val="FFCCCC">
              <a:alpha val="70000"/>
            </a:srgb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B9845D7-C4F9-3081-11FE-D328EAD0586B}"/>
              </a:ext>
            </a:extLst>
          </p:cNvPr>
          <p:cNvSpPr/>
          <p:nvPr/>
        </p:nvSpPr>
        <p:spPr>
          <a:xfrm>
            <a:off x="4719490" y="1997783"/>
            <a:ext cx="7158925" cy="357088"/>
          </a:xfrm>
          <a:prstGeom prst="rect">
            <a:avLst/>
          </a:prstGeom>
          <a:solidFill>
            <a:srgbClr val="FFCCCC">
              <a:alpha val="70000"/>
            </a:srgb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C5EC7700-6693-EC91-D7F8-B05AAB44F2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607" y="72162"/>
            <a:ext cx="3129173" cy="4000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91336" tIns="45671" rIns="91336" bIns="45671">
            <a:spAutoFit/>
          </a:bodyPr>
          <a:lstStyle>
            <a:defPPr>
              <a:defRPr lang="ko-KR"/>
            </a:defPPr>
            <a:lvl1pPr marL="342651" indent="-342651" defTabSz="913739" eaLnBrk="0" hangingPunct="0">
              <a:defRPr sz="2000" b="1">
                <a:solidFill>
                  <a:prstClr val="black">
                    <a:lumMod val="95000"/>
                    <a:lumOff val="5000"/>
                  </a:prstClr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defRPr>
            </a:lvl1pPr>
          </a:lstStyle>
          <a:p>
            <a:pPr marL="342651" marR="0" lvl="0" indent="-342651" algn="l" defTabSz="913739" rtl="0" eaLnBrk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/>
                <a:ea typeface="LG스마트체 Regular" pitchFamily="50" charset="-127"/>
                <a:cs typeface="Arial" pitchFamily="34" charset="0"/>
              </a:rPr>
              <a:t>1. ’26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/>
                <a:ea typeface="LG스마트체 Regular" pitchFamily="50" charset="-127"/>
                <a:cs typeface="Arial" pitchFamily="34" charset="0"/>
              </a:rPr>
              <a:t>년 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/>
                <a:ea typeface="LG스마트체 Regular" pitchFamily="50" charset="-127"/>
                <a:cs typeface="Arial" pitchFamily="34" charset="0"/>
              </a:rPr>
              <a:t>QNED8M 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/>
                <a:ea typeface="LG스마트체 Regular" pitchFamily="50" charset="-127"/>
                <a:cs typeface="Arial" pitchFamily="34" charset="0"/>
              </a:rPr>
              <a:t>라인업 검토</a:t>
            </a:r>
            <a:endParaRPr kumimoji="0" lang="en-US" altLang="ko-KR" sz="2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Arial Narrow"/>
              <a:ea typeface="LG스마트체 Regular" pitchFamily="50" charset="-127"/>
              <a:cs typeface="Arial" pitchFamily="34" charset="0"/>
            </a:endParaRPr>
          </a:p>
        </p:txBody>
      </p:sp>
      <p:sp>
        <p:nvSpPr>
          <p:cNvPr id="128" name="Text Box 41">
            <a:extLst>
              <a:ext uri="{FF2B5EF4-FFF2-40B4-BE49-F238E27FC236}">
                <a16:creationId xmlns:a16="http://schemas.microsoft.com/office/drawing/2014/main" id="{21D36661-872E-0358-6851-CD8B85E02FC9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232872" y="1081551"/>
            <a:ext cx="4087618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ctr" defTabSz="914377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1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itchFamily="34" charset="0"/>
              </a:rPr>
              <a:t>검토 내용</a:t>
            </a:r>
          </a:p>
        </p:txBody>
      </p:sp>
      <p:sp>
        <p:nvSpPr>
          <p:cNvPr id="129" name="Line 172">
            <a:extLst>
              <a:ext uri="{FF2B5EF4-FFF2-40B4-BE49-F238E27FC236}">
                <a16:creationId xmlns:a16="http://schemas.microsoft.com/office/drawing/2014/main" id="{92A939F0-A731-5983-FC1D-60E720D1D658}"/>
              </a:ext>
            </a:extLst>
          </p:cNvPr>
          <p:cNvSpPr>
            <a:spLocks noChangeShapeType="1"/>
          </p:cNvSpPr>
          <p:nvPr>
            <p:custDataLst>
              <p:tags r:id="rId2"/>
            </p:custDataLst>
          </p:nvPr>
        </p:nvSpPr>
        <p:spPr bwMode="auto">
          <a:xfrm flipV="1">
            <a:off x="4799585" y="1341524"/>
            <a:ext cx="6954192" cy="0"/>
          </a:xfrm>
          <a:prstGeom prst="line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377" rtl="0" eaLnBrk="1" fontAlgn="base" latinLnBrk="0" hangingPunct="1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5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30" name="모서리가 둥근 직사각형 123">
            <a:hlinkClick r:id="" action="ppaction://noaction"/>
            <a:extLst>
              <a:ext uri="{FF2B5EF4-FFF2-40B4-BE49-F238E27FC236}">
                <a16:creationId xmlns:a16="http://schemas.microsoft.com/office/drawing/2014/main" id="{F810C78B-C603-94CD-5ECA-1E2C558EF829}"/>
              </a:ext>
            </a:extLst>
          </p:cNvPr>
          <p:cNvSpPr/>
          <p:nvPr/>
        </p:nvSpPr>
        <p:spPr>
          <a:xfrm>
            <a:off x="4772350" y="6059183"/>
            <a:ext cx="630254" cy="469359"/>
          </a:xfrm>
          <a:prstGeom prst="roundRect">
            <a:avLst>
              <a:gd name="adj" fmla="val 3264"/>
            </a:avLst>
          </a:prstGeom>
          <a:noFill/>
          <a:ln w="6350" algn="ctr">
            <a:solidFill>
              <a:srgbClr val="5F5F5F"/>
            </a:solidFill>
            <a:round/>
            <a:headEnd/>
            <a:tailEnd/>
          </a:ln>
          <a:effectLst/>
        </p:spPr>
        <p:txBody>
          <a:bodyPr wrap="none" lIns="119693" tIns="59844" rIns="119693" bIns="59844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출시</a:t>
            </a:r>
            <a:endParaRPr kumimoji="0" lang="en-US" altLang="ko-KR" sz="11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일정</a:t>
            </a:r>
            <a:endParaRPr kumimoji="0" lang="en-US" altLang="ko-KR" sz="11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31" name="직사각형 130">
            <a:extLst>
              <a:ext uri="{FF2B5EF4-FFF2-40B4-BE49-F238E27FC236}">
                <a16:creationId xmlns:a16="http://schemas.microsoft.com/office/drawing/2014/main" id="{39C88B36-9707-985D-4412-813C47C1BF25}"/>
              </a:ext>
            </a:extLst>
          </p:cNvPr>
          <p:cNvSpPr/>
          <p:nvPr/>
        </p:nvSpPr>
        <p:spPr>
          <a:xfrm>
            <a:off x="9445871" y="6031493"/>
            <a:ext cx="1988079" cy="500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Ca_MO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TBD</a:t>
            </a:r>
          </a:p>
        </p:txBody>
      </p:sp>
      <p:sp>
        <p:nvSpPr>
          <p:cNvPr id="132" name="직사각형 131">
            <a:extLst>
              <a:ext uri="{FF2B5EF4-FFF2-40B4-BE49-F238E27FC236}">
                <a16:creationId xmlns:a16="http://schemas.microsoft.com/office/drawing/2014/main" id="{A6231974-677B-ECCE-6F94-AF89D5F219E1}"/>
              </a:ext>
            </a:extLst>
          </p:cNvPr>
          <p:cNvSpPr/>
          <p:nvPr/>
        </p:nvSpPr>
        <p:spPr>
          <a:xfrm>
            <a:off x="312570" y="556119"/>
            <a:ext cx="675383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120Hz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와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60Hz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경계 파괴를 위한 염가형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120Hz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절기 모델 개발 요청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(85/75/65/55/50”)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 </a:t>
            </a:r>
          </a:p>
        </p:txBody>
      </p:sp>
      <p:sp>
        <p:nvSpPr>
          <p:cNvPr id="133" name="직사각형 132">
            <a:extLst>
              <a:ext uri="{FF2B5EF4-FFF2-40B4-BE49-F238E27FC236}">
                <a16:creationId xmlns:a16="http://schemas.microsoft.com/office/drawing/2014/main" id="{0F128076-4086-AD6D-CA0E-FD1491D4B1DB}"/>
              </a:ext>
            </a:extLst>
          </p:cNvPr>
          <p:cNvSpPr/>
          <p:nvPr/>
        </p:nvSpPr>
        <p:spPr>
          <a:xfrm>
            <a:off x="7490288" y="6031493"/>
            <a:ext cx="179932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Ca_MU</a:t>
            </a:r>
            <a:b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</a:b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북미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8/4W,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유럽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 8/2W</a:t>
            </a:r>
          </a:p>
        </p:txBody>
      </p:sp>
      <p:sp>
        <p:nvSpPr>
          <p:cNvPr id="134" name="모서리가 둥근 직사각형 123">
            <a:hlinkClick r:id="" action="ppaction://noaction"/>
            <a:extLst>
              <a:ext uri="{FF2B5EF4-FFF2-40B4-BE49-F238E27FC236}">
                <a16:creationId xmlns:a16="http://schemas.microsoft.com/office/drawing/2014/main" id="{C586CD69-73F9-B317-C9DC-0E4E27F53848}"/>
              </a:ext>
            </a:extLst>
          </p:cNvPr>
          <p:cNvSpPr/>
          <p:nvPr/>
        </p:nvSpPr>
        <p:spPr>
          <a:xfrm>
            <a:off x="4772350" y="2016930"/>
            <a:ext cx="630254" cy="306668"/>
          </a:xfrm>
          <a:prstGeom prst="roundRect">
            <a:avLst>
              <a:gd name="adj" fmla="val 3264"/>
            </a:avLst>
          </a:prstGeom>
          <a:noFill/>
          <a:ln w="6350" algn="ctr">
            <a:solidFill>
              <a:srgbClr val="5F5F5F"/>
            </a:solidFill>
            <a:round/>
            <a:headEnd/>
            <a:tailEnd/>
          </a:ln>
          <a:effectLst/>
        </p:spPr>
        <p:txBody>
          <a:bodyPr wrap="none" lIns="119693" tIns="59844" rIns="119693" bIns="59844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휘도</a:t>
            </a:r>
            <a:endParaRPr kumimoji="0" lang="en-US" altLang="ko-KR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35" name="모서리가 둥근 직사각형 123">
            <a:hlinkClick r:id="" action="ppaction://noaction"/>
            <a:extLst>
              <a:ext uri="{FF2B5EF4-FFF2-40B4-BE49-F238E27FC236}">
                <a16:creationId xmlns:a16="http://schemas.microsoft.com/office/drawing/2014/main" id="{6C87334F-39B8-6566-1701-14D7E75967EC}"/>
              </a:ext>
            </a:extLst>
          </p:cNvPr>
          <p:cNvSpPr/>
          <p:nvPr/>
        </p:nvSpPr>
        <p:spPr>
          <a:xfrm>
            <a:off x="4772350" y="5652750"/>
            <a:ext cx="630254" cy="299982"/>
          </a:xfrm>
          <a:prstGeom prst="roundRect">
            <a:avLst>
              <a:gd name="adj" fmla="val 3264"/>
            </a:avLst>
          </a:prstGeom>
          <a:solidFill>
            <a:srgbClr val="FFFFFF"/>
          </a:solidFill>
          <a:ln w="6350" algn="ctr">
            <a:solidFill>
              <a:srgbClr val="5F5F5F"/>
            </a:solidFill>
            <a:round/>
            <a:headEnd/>
            <a:tailEnd/>
          </a:ln>
          <a:effectLst/>
        </p:spPr>
        <p:txBody>
          <a:bodyPr wrap="none" lIns="119693" tIns="59844" rIns="119693" bIns="59844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투자비</a:t>
            </a:r>
            <a:endParaRPr kumimoji="0" lang="en-US" altLang="ko-KR" sz="11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36" name="직사각형 135">
            <a:extLst>
              <a:ext uri="{FF2B5EF4-FFF2-40B4-BE49-F238E27FC236}">
                <a16:creationId xmlns:a16="http://schemas.microsoft.com/office/drawing/2014/main" id="{3B147A7D-793E-0911-5F29-F8D0143243EF}"/>
              </a:ext>
            </a:extLst>
          </p:cNvPr>
          <p:cNvSpPr/>
          <p:nvPr/>
        </p:nvSpPr>
        <p:spPr>
          <a:xfrm>
            <a:off x="5775209" y="5685736"/>
            <a:ext cx="951375" cy="266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투자비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X</a:t>
            </a:r>
          </a:p>
        </p:txBody>
      </p:sp>
      <p:grpSp>
        <p:nvGrpSpPr>
          <p:cNvPr id="137" name="그룹 136">
            <a:extLst>
              <a:ext uri="{FF2B5EF4-FFF2-40B4-BE49-F238E27FC236}">
                <a16:creationId xmlns:a16="http://schemas.microsoft.com/office/drawing/2014/main" id="{62F000B7-CFFF-7F8B-4628-C7AE1E414240}"/>
              </a:ext>
            </a:extLst>
          </p:cNvPr>
          <p:cNvGrpSpPr/>
          <p:nvPr/>
        </p:nvGrpSpPr>
        <p:grpSpPr>
          <a:xfrm>
            <a:off x="571783" y="1105295"/>
            <a:ext cx="2964948" cy="253454"/>
            <a:chOff x="232514" y="185833"/>
            <a:chExt cx="1857712" cy="253454"/>
          </a:xfrm>
        </p:grpSpPr>
        <p:sp>
          <p:nvSpPr>
            <p:cNvPr id="138" name="Text Box 41">
              <a:extLst>
                <a:ext uri="{FF2B5EF4-FFF2-40B4-BE49-F238E27FC236}">
                  <a16:creationId xmlns:a16="http://schemas.microsoft.com/office/drawing/2014/main" id="{A1BE1893-3607-9859-0A58-22AA206065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4842" y="185833"/>
              <a:ext cx="413057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kumimoji="0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/>
                  <a:ea typeface="LG스마트체 Regular" panose="020B0600000101010101" pitchFamily="50" charset="-127"/>
                  <a:cs typeface="+mn-cs"/>
                </a:rPr>
                <a:t>’26</a:t>
              </a:r>
              <a:r>
                <a:rPr kumimoji="0" lang="ko-KR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/>
                  <a:ea typeface="LG스마트체 Regular" panose="020B0600000101010101" pitchFamily="50" charset="-127"/>
                  <a:cs typeface="+mn-cs"/>
                </a:rPr>
                <a:t>년 </a:t>
              </a:r>
              <a:r>
                <a:rPr kumimoji="0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/>
                  <a:ea typeface="LG스마트체 Regular" panose="020B0600000101010101" pitchFamily="50" charset="-127"/>
                  <a:cs typeface="+mn-cs"/>
                </a:rPr>
                <a:t>PRM</a:t>
              </a:r>
              <a:endParaRPr kumimoji="1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endParaRPr>
            </a:p>
          </p:txBody>
        </p:sp>
        <p:cxnSp>
          <p:nvCxnSpPr>
            <p:cNvPr id="139" name="직선 연결선 138">
              <a:extLst>
                <a:ext uri="{FF2B5EF4-FFF2-40B4-BE49-F238E27FC236}">
                  <a16:creationId xmlns:a16="http://schemas.microsoft.com/office/drawing/2014/main" id="{2E83CFA0-7C8F-8AA6-5224-6D5AD116FCB0}"/>
                </a:ext>
              </a:extLst>
            </p:cNvPr>
            <p:cNvCxnSpPr/>
            <p:nvPr/>
          </p:nvCxnSpPr>
          <p:spPr bwMode="auto">
            <a:xfrm>
              <a:off x="232514" y="439287"/>
              <a:ext cx="1857712" cy="0"/>
            </a:xfrm>
            <a:prstGeom prst="line">
              <a:avLst/>
            </a:prstGeom>
            <a:solidFill>
              <a:srgbClr val="FFFFFF"/>
            </a:solidFill>
            <a:ln w="635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140" name="직사각형 139">
            <a:extLst>
              <a:ext uri="{FF2B5EF4-FFF2-40B4-BE49-F238E27FC236}">
                <a16:creationId xmlns:a16="http://schemas.microsoft.com/office/drawing/2014/main" id="{24FF468C-196B-8D23-3E25-692B3302DA33}"/>
              </a:ext>
            </a:extLst>
          </p:cNvPr>
          <p:cNvSpPr/>
          <p:nvPr/>
        </p:nvSpPr>
        <p:spPr>
          <a:xfrm>
            <a:off x="5563495" y="6031493"/>
            <a:ext cx="1805932" cy="500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개발등급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: Ca_HW</a:t>
            </a:r>
            <a:endParaRPr kumimoji="0" lang="en-US" altLang="ko-KR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북미 </a:t>
            </a: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6/3W, </a:t>
            </a: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유럽</a:t>
            </a: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 6/1W</a:t>
            </a:r>
          </a:p>
        </p:txBody>
      </p:sp>
      <p:grpSp>
        <p:nvGrpSpPr>
          <p:cNvPr id="141" name="그룹 140">
            <a:extLst>
              <a:ext uri="{FF2B5EF4-FFF2-40B4-BE49-F238E27FC236}">
                <a16:creationId xmlns:a16="http://schemas.microsoft.com/office/drawing/2014/main" id="{764F8CED-D848-E46D-31AF-A0CD2D733274}"/>
              </a:ext>
            </a:extLst>
          </p:cNvPr>
          <p:cNvGrpSpPr/>
          <p:nvPr/>
        </p:nvGrpSpPr>
        <p:grpSpPr>
          <a:xfrm>
            <a:off x="4779860" y="1477411"/>
            <a:ext cx="596186" cy="217826"/>
            <a:chOff x="214011" y="223933"/>
            <a:chExt cx="1857712" cy="217826"/>
          </a:xfrm>
        </p:grpSpPr>
        <p:sp>
          <p:nvSpPr>
            <p:cNvPr id="142" name="Text Box 41">
              <a:extLst>
                <a:ext uri="{FF2B5EF4-FFF2-40B4-BE49-F238E27FC236}">
                  <a16:creationId xmlns:a16="http://schemas.microsoft.com/office/drawing/2014/main" id="{08D4B723-69D1-171B-4332-649DFA3532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6830" y="223933"/>
              <a:ext cx="909082" cy="200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kumimoji="0" lang="ko-KR" altLang="en-US" sz="13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/>
                  <a:ea typeface="LG스마트체 Regular" panose="020B0600000101010101" pitchFamily="50" charset="-127"/>
                  <a:cs typeface="+mn-cs"/>
                </a:rPr>
                <a:t>구분</a:t>
              </a:r>
              <a:endParaRPr kumimoji="1" lang="ko-KR" altLang="en-US" sz="13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endParaRPr>
            </a:p>
          </p:txBody>
        </p:sp>
        <p:cxnSp>
          <p:nvCxnSpPr>
            <p:cNvPr id="143" name="직선 연결선 142">
              <a:extLst>
                <a:ext uri="{FF2B5EF4-FFF2-40B4-BE49-F238E27FC236}">
                  <a16:creationId xmlns:a16="http://schemas.microsoft.com/office/drawing/2014/main" id="{6E0875AE-BC1D-B0AB-E03C-8ACB6E5E64F5}"/>
                </a:ext>
              </a:extLst>
            </p:cNvPr>
            <p:cNvCxnSpPr/>
            <p:nvPr/>
          </p:nvCxnSpPr>
          <p:spPr bwMode="auto">
            <a:xfrm>
              <a:off x="214011" y="441759"/>
              <a:ext cx="1857712" cy="0"/>
            </a:xfrm>
            <a:prstGeom prst="line">
              <a:avLst/>
            </a:prstGeom>
            <a:solidFill>
              <a:srgbClr val="FFFFFF"/>
            </a:solidFill>
            <a:ln w="635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144" name="Text Box 41">
            <a:extLst>
              <a:ext uri="{FF2B5EF4-FFF2-40B4-BE49-F238E27FC236}">
                <a16:creationId xmlns:a16="http://schemas.microsoft.com/office/drawing/2014/main" id="{54F6BB80-93AC-5CA6-EB6D-49E969C56C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52521" y="1535345"/>
            <a:ext cx="2109552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③ </a:t>
            </a: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QNED70+120Hz Mini </a:t>
            </a: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휘도 </a:t>
            </a: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300nit</a:t>
            </a:r>
            <a:endParaRPr kumimoji="0" lang="ko-KR" altLang="en-US" sz="12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45" name="Text Box 41">
            <a:extLst>
              <a:ext uri="{FF2B5EF4-FFF2-40B4-BE49-F238E27FC236}">
                <a16:creationId xmlns:a16="http://schemas.microsoft.com/office/drawing/2014/main" id="{86B6475C-1F6A-F985-400A-8E23B0E96E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3796" y="1501647"/>
            <a:ext cx="1612014" cy="204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itchFamily="34" charset="0"/>
              </a:rPr>
              <a:t>② </a:t>
            </a:r>
            <a:r>
              <a:rPr kumimoji="1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itchFamily="34" charset="0"/>
              </a:rPr>
              <a:t>QNED70+120Hz Mini</a:t>
            </a:r>
            <a:endParaRPr kumimoji="0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D27E5765-27F0-96B1-A830-D758E815EB31}"/>
              </a:ext>
            </a:extLst>
          </p:cNvPr>
          <p:cNvSpPr txBox="1"/>
          <p:nvPr/>
        </p:nvSpPr>
        <p:spPr>
          <a:xfrm>
            <a:off x="5528435" y="1473395"/>
            <a:ext cx="203339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① </a:t>
            </a:r>
            <a:r>
              <a:rPr kumimoji="1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itchFamily="34" charset="0"/>
              </a:rPr>
              <a:t>QNED70+120Hz</a:t>
            </a:r>
            <a:r>
              <a:rPr kumimoji="1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itchFamily="34" charset="0"/>
              </a:rPr>
              <a:t> </a:t>
            </a:r>
            <a:r>
              <a:rPr kumimoji="1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itchFamily="34" charset="0"/>
              </a:rPr>
              <a:t>Non-Mini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47" name="직사각형 146">
            <a:extLst>
              <a:ext uri="{FF2B5EF4-FFF2-40B4-BE49-F238E27FC236}">
                <a16:creationId xmlns:a16="http://schemas.microsoft.com/office/drawing/2014/main" id="{21ADF949-4485-BD56-4660-1885962CF061}"/>
              </a:ext>
            </a:extLst>
          </p:cNvPr>
          <p:cNvSpPr/>
          <p:nvPr/>
        </p:nvSpPr>
        <p:spPr>
          <a:xfrm>
            <a:off x="5722352" y="2029300"/>
            <a:ext cx="675467" cy="2838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300nit</a:t>
            </a:r>
          </a:p>
        </p:txBody>
      </p:sp>
      <p:sp>
        <p:nvSpPr>
          <p:cNvPr id="148" name="직사각형 147">
            <a:extLst>
              <a:ext uri="{FF2B5EF4-FFF2-40B4-BE49-F238E27FC236}">
                <a16:creationId xmlns:a16="http://schemas.microsoft.com/office/drawing/2014/main" id="{64A86CB8-244A-17F6-F431-2A947BFF86E1}"/>
              </a:ext>
            </a:extLst>
          </p:cNvPr>
          <p:cNvSpPr/>
          <p:nvPr/>
        </p:nvSpPr>
        <p:spPr>
          <a:xfrm>
            <a:off x="7637784" y="1947257"/>
            <a:ext cx="170702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280nit (75/65”)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250nit (85/55/50”)</a:t>
            </a:r>
          </a:p>
        </p:txBody>
      </p:sp>
      <p:sp>
        <p:nvSpPr>
          <p:cNvPr id="149" name="직사각형 148">
            <a:extLst>
              <a:ext uri="{FF2B5EF4-FFF2-40B4-BE49-F238E27FC236}">
                <a16:creationId xmlns:a16="http://schemas.microsoft.com/office/drawing/2014/main" id="{8DC1F92D-4CDC-45C8-BB46-C93843C6690B}"/>
              </a:ext>
            </a:extLst>
          </p:cNvPr>
          <p:cNvSpPr/>
          <p:nvPr/>
        </p:nvSpPr>
        <p:spPr>
          <a:xfrm>
            <a:off x="9651185" y="2028050"/>
            <a:ext cx="1707023" cy="2838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300nit</a:t>
            </a:r>
          </a:p>
        </p:txBody>
      </p:sp>
      <p:sp>
        <p:nvSpPr>
          <p:cNvPr id="150" name="모서리가 둥근 직사각형 123">
            <a:hlinkClick r:id="" action="ppaction://noaction"/>
            <a:extLst>
              <a:ext uri="{FF2B5EF4-FFF2-40B4-BE49-F238E27FC236}">
                <a16:creationId xmlns:a16="http://schemas.microsoft.com/office/drawing/2014/main" id="{CF1EAD4B-6C19-17CB-637C-46793A21F06E}"/>
              </a:ext>
            </a:extLst>
          </p:cNvPr>
          <p:cNvSpPr/>
          <p:nvPr/>
        </p:nvSpPr>
        <p:spPr>
          <a:xfrm>
            <a:off x="4775470" y="3220307"/>
            <a:ext cx="624014" cy="309493"/>
          </a:xfrm>
          <a:prstGeom prst="roundRect">
            <a:avLst>
              <a:gd name="adj" fmla="val 3264"/>
            </a:avLst>
          </a:prstGeom>
          <a:solidFill>
            <a:srgbClr val="FFFFFF"/>
          </a:solidFill>
          <a:ln w="6350" algn="ctr">
            <a:solidFill>
              <a:srgbClr val="5F5F5F"/>
            </a:solidFill>
            <a:round/>
            <a:headEnd/>
            <a:tailEnd/>
          </a:ln>
          <a:effectLst/>
        </p:spPr>
        <p:txBody>
          <a:bodyPr wrap="none" lIns="119693" tIns="59844" rIns="119693" bIns="59844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DCI</a:t>
            </a:r>
            <a:endParaRPr kumimoji="0" lang="en-US" altLang="ko-KR" sz="11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51" name="직사각형 150">
            <a:extLst>
              <a:ext uri="{FF2B5EF4-FFF2-40B4-BE49-F238E27FC236}">
                <a16:creationId xmlns:a16="http://schemas.microsoft.com/office/drawing/2014/main" id="{5238B6DC-1621-B81B-6675-9AB22B7D235D}"/>
              </a:ext>
            </a:extLst>
          </p:cNvPr>
          <p:cNvSpPr/>
          <p:nvPr/>
        </p:nvSpPr>
        <p:spPr>
          <a:xfrm>
            <a:off x="5722352" y="3247293"/>
            <a:ext cx="675467" cy="2678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93%</a:t>
            </a:r>
            <a:endParaRPr kumimoji="0" lang="en-US" altLang="ko-KR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52" name="직사각형 151">
            <a:extLst>
              <a:ext uri="{FF2B5EF4-FFF2-40B4-BE49-F238E27FC236}">
                <a16:creationId xmlns:a16="http://schemas.microsoft.com/office/drawing/2014/main" id="{4D8470D0-89B4-5C45-D392-EFF57EADCB1E}"/>
              </a:ext>
            </a:extLst>
          </p:cNvPr>
          <p:cNvSpPr/>
          <p:nvPr/>
        </p:nvSpPr>
        <p:spPr>
          <a:xfrm>
            <a:off x="7637784" y="3247293"/>
            <a:ext cx="675467" cy="2678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95%</a:t>
            </a:r>
            <a:endParaRPr kumimoji="0" lang="en-US" altLang="ko-KR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54" name="직사각형 153">
            <a:extLst>
              <a:ext uri="{FF2B5EF4-FFF2-40B4-BE49-F238E27FC236}">
                <a16:creationId xmlns:a16="http://schemas.microsoft.com/office/drawing/2014/main" id="{BCDC2CAB-40CC-3BEC-4BDF-380DD16B8FBD}"/>
              </a:ext>
            </a:extLst>
          </p:cNvPr>
          <p:cNvSpPr/>
          <p:nvPr/>
        </p:nvSpPr>
        <p:spPr>
          <a:xfrm>
            <a:off x="9683553" y="3247293"/>
            <a:ext cx="675467" cy="2678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←</a:t>
            </a:r>
            <a:endParaRPr kumimoji="0" lang="en-US" altLang="ko-KR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55" name="모서리가 둥근 직사각형 123">
            <a:hlinkClick r:id="" action="ppaction://noaction"/>
            <a:extLst>
              <a:ext uri="{FF2B5EF4-FFF2-40B4-BE49-F238E27FC236}">
                <a16:creationId xmlns:a16="http://schemas.microsoft.com/office/drawing/2014/main" id="{449C6501-0818-67EA-2467-BB98D56831EF}"/>
              </a:ext>
            </a:extLst>
          </p:cNvPr>
          <p:cNvSpPr/>
          <p:nvPr/>
        </p:nvSpPr>
        <p:spPr>
          <a:xfrm>
            <a:off x="4775470" y="3591162"/>
            <a:ext cx="624014" cy="309493"/>
          </a:xfrm>
          <a:prstGeom prst="roundRect">
            <a:avLst>
              <a:gd name="adj" fmla="val 3264"/>
            </a:avLst>
          </a:prstGeom>
          <a:solidFill>
            <a:srgbClr val="FFFFFF"/>
          </a:solidFill>
          <a:ln w="6350" algn="ctr">
            <a:solidFill>
              <a:srgbClr val="5F5F5F"/>
            </a:solidFill>
            <a:round/>
            <a:headEnd/>
            <a:tailEnd/>
          </a:ln>
          <a:effectLst/>
        </p:spPr>
        <p:txBody>
          <a:bodyPr wrap="none" lIns="119693" tIns="59844" rIns="119693" bIns="59844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LED </a:t>
            </a:r>
            <a:r>
              <a:rPr kumimoji="0" lang="ko-KR" altLang="en-US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수</a:t>
            </a:r>
            <a:endParaRPr kumimoji="0" lang="en-US" altLang="ko-KR" sz="11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56" name="직사각형 155">
            <a:extLst>
              <a:ext uri="{FF2B5EF4-FFF2-40B4-BE49-F238E27FC236}">
                <a16:creationId xmlns:a16="http://schemas.microsoft.com/office/drawing/2014/main" id="{85D3D55D-D10E-714E-E863-5205725B74D5}"/>
              </a:ext>
            </a:extLst>
          </p:cNvPr>
          <p:cNvSpPr/>
          <p:nvPr/>
        </p:nvSpPr>
        <p:spPr>
          <a:xfrm>
            <a:off x="5722352" y="3604079"/>
            <a:ext cx="675467" cy="266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56ea</a:t>
            </a:r>
            <a:endParaRPr kumimoji="0" lang="en-US" altLang="ko-KR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57" name="직사각형 156">
            <a:extLst>
              <a:ext uri="{FF2B5EF4-FFF2-40B4-BE49-F238E27FC236}">
                <a16:creationId xmlns:a16="http://schemas.microsoft.com/office/drawing/2014/main" id="{7B6D511C-E197-0660-6F66-D5EB64E5DDBB}"/>
              </a:ext>
            </a:extLst>
          </p:cNvPr>
          <p:cNvSpPr/>
          <p:nvPr/>
        </p:nvSpPr>
        <p:spPr>
          <a:xfrm>
            <a:off x="7637784" y="3604079"/>
            <a:ext cx="675467" cy="266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←</a:t>
            </a:r>
            <a:endParaRPr kumimoji="0" lang="en-US" altLang="ko-KR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58" name="직사각형 157">
            <a:extLst>
              <a:ext uri="{FF2B5EF4-FFF2-40B4-BE49-F238E27FC236}">
                <a16:creationId xmlns:a16="http://schemas.microsoft.com/office/drawing/2014/main" id="{FAAE74EB-4A4B-1104-0203-DE183FC77E6C}"/>
              </a:ext>
            </a:extLst>
          </p:cNvPr>
          <p:cNvSpPr/>
          <p:nvPr/>
        </p:nvSpPr>
        <p:spPr>
          <a:xfrm>
            <a:off x="9651185" y="3604079"/>
            <a:ext cx="675467" cy="266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72ea</a:t>
            </a:r>
            <a:endParaRPr kumimoji="0" lang="en-US" altLang="ko-KR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59" name="모서리가 둥근 직사각형 123">
            <a:hlinkClick r:id="" action="ppaction://noaction"/>
            <a:extLst>
              <a:ext uri="{FF2B5EF4-FFF2-40B4-BE49-F238E27FC236}">
                <a16:creationId xmlns:a16="http://schemas.microsoft.com/office/drawing/2014/main" id="{CAD634F1-4C87-D555-39A4-80FD3757B95D}"/>
              </a:ext>
            </a:extLst>
          </p:cNvPr>
          <p:cNvSpPr/>
          <p:nvPr/>
        </p:nvSpPr>
        <p:spPr>
          <a:xfrm>
            <a:off x="4780845" y="3961927"/>
            <a:ext cx="613265" cy="335722"/>
          </a:xfrm>
          <a:prstGeom prst="roundRect">
            <a:avLst>
              <a:gd name="adj" fmla="val 3264"/>
            </a:avLst>
          </a:prstGeom>
          <a:solidFill>
            <a:srgbClr val="FFFFFF"/>
          </a:solidFill>
          <a:ln w="6350" algn="ctr">
            <a:solidFill>
              <a:srgbClr val="5F5F5F"/>
            </a:solidFill>
            <a:round/>
            <a:headEnd/>
            <a:tailEnd/>
          </a:ln>
          <a:effectLst/>
        </p:spPr>
        <p:txBody>
          <a:bodyPr wrap="none" lIns="119693" tIns="59844" rIns="119693" bIns="59844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LED Bar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구조</a:t>
            </a:r>
            <a:endParaRPr kumimoji="0" lang="en-US" altLang="ko-KR" sz="11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60" name="직사각형 159">
            <a:extLst>
              <a:ext uri="{FF2B5EF4-FFF2-40B4-BE49-F238E27FC236}">
                <a16:creationId xmlns:a16="http://schemas.microsoft.com/office/drawing/2014/main" id="{08944673-5854-5B03-4AE6-C9AADD02C65C}"/>
              </a:ext>
            </a:extLst>
          </p:cNvPr>
          <p:cNvSpPr/>
          <p:nvPr/>
        </p:nvSpPr>
        <p:spPr>
          <a:xfrm>
            <a:off x="5722352" y="4021042"/>
            <a:ext cx="675467" cy="2678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H4 Bar</a:t>
            </a:r>
            <a:endParaRPr kumimoji="0" lang="en-US" altLang="ko-KR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61" name="직사각형 160">
            <a:extLst>
              <a:ext uri="{FF2B5EF4-FFF2-40B4-BE49-F238E27FC236}">
                <a16:creationId xmlns:a16="http://schemas.microsoft.com/office/drawing/2014/main" id="{71E74E8A-71B2-7F91-28B5-3D7015589668}"/>
              </a:ext>
            </a:extLst>
          </p:cNvPr>
          <p:cNvSpPr/>
          <p:nvPr/>
        </p:nvSpPr>
        <p:spPr>
          <a:xfrm>
            <a:off x="7637784" y="4021042"/>
            <a:ext cx="675467" cy="2678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←</a:t>
            </a:r>
            <a:endParaRPr kumimoji="0" lang="en-US" altLang="ko-KR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62" name="직사각형 161">
            <a:extLst>
              <a:ext uri="{FF2B5EF4-FFF2-40B4-BE49-F238E27FC236}">
                <a16:creationId xmlns:a16="http://schemas.microsoft.com/office/drawing/2014/main" id="{4CC23C25-3AE8-2ABB-B55A-A24B2ADF2DCA}"/>
              </a:ext>
            </a:extLst>
          </p:cNvPr>
          <p:cNvSpPr/>
          <p:nvPr/>
        </p:nvSpPr>
        <p:spPr>
          <a:xfrm>
            <a:off x="9651185" y="4021042"/>
            <a:ext cx="675467" cy="2678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H6 Bar</a:t>
            </a:r>
            <a:endParaRPr kumimoji="0" lang="en-US" altLang="ko-KR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63" name="Rectangle 7">
            <a:extLst>
              <a:ext uri="{FF2B5EF4-FFF2-40B4-BE49-F238E27FC236}">
                <a16:creationId xmlns:a16="http://schemas.microsoft.com/office/drawing/2014/main" id="{FA2605BC-6E51-FFEB-A083-57B1F5585A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9813" y="3220307"/>
            <a:ext cx="139826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rPr>
              <a:t>QNED70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rPr>
              <a:t>대비 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rPr>
              <a:t>LED Chip 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rPr>
              <a:t>1Cell 1Chip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rPr>
              <a:t>→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rPr>
              <a:t>1Cell 2Chip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rPr>
              <a:t>변경</a:t>
            </a:r>
            <a:endParaRPr kumimoji="0" lang="en-US" altLang="ko-KR" sz="800" b="0" i="0" u="none" strike="noStrike" kern="120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itchFamily="34" charset="0"/>
              <a:sym typeface="Wingdings" pitchFamily="2" charset="2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rPr>
              <a:t>Chip Size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rPr>
              <a:t>축소로 휘도 효율 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rPr>
              <a:t>18%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rPr>
              <a:t>↓</a:t>
            </a:r>
            <a:endParaRPr kumimoji="0" lang="en-US" altLang="ko-KR" sz="800" b="0" i="0" u="none" strike="noStrike" kern="120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itchFamily="34" charset="0"/>
              <a:sym typeface="Wingdings" pitchFamily="2" charset="2"/>
            </a:endParaRPr>
          </a:p>
        </p:txBody>
      </p:sp>
      <p:sp>
        <p:nvSpPr>
          <p:cNvPr id="164" name="모서리가 둥근 직사각형 123">
            <a:hlinkClick r:id="" action="ppaction://noaction"/>
            <a:extLst>
              <a:ext uri="{FF2B5EF4-FFF2-40B4-BE49-F238E27FC236}">
                <a16:creationId xmlns:a16="http://schemas.microsoft.com/office/drawing/2014/main" id="{A10C60EC-1CF2-D92C-4415-961FB0A458F3}"/>
              </a:ext>
            </a:extLst>
          </p:cNvPr>
          <p:cNvSpPr/>
          <p:nvPr/>
        </p:nvSpPr>
        <p:spPr>
          <a:xfrm>
            <a:off x="4775470" y="4346452"/>
            <a:ext cx="624014" cy="309493"/>
          </a:xfrm>
          <a:prstGeom prst="roundRect">
            <a:avLst>
              <a:gd name="adj" fmla="val 3264"/>
            </a:avLst>
          </a:prstGeom>
          <a:noFill/>
          <a:ln w="6350" algn="ctr">
            <a:solidFill>
              <a:srgbClr val="5F5F5F"/>
            </a:solidFill>
            <a:round/>
            <a:headEnd/>
            <a:tailEnd/>
          </a:ln>
          <a:effectLst/>
        </p:spPr>
        <p:txBody>
          <a:bodyPr wrap="none" lIns="119693" tIns="59844" rIns="119693" bIns="59844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Chip Size</a:t>
            </a:r>
          </a:p>
        </p:txBody>
      </p:sp>
      <p:sp>
        <p:nvSpPr>
          <p:cNvPr id="165" name="직사각형 164">
            <a:extLst>
              <a:ext uri="{FF2B5EF4-FFF2-40B4-BE49-F238E27FC236}">
                <a16:creationId xmlns:a16="http://schemas.microsoft.com/office/drawing/2014/main" id="{B153F004-96A4-79D6-F2CA-DA5204C6236E}"/>
              </a:ext>
            </a:extLst>
          </p:cNvPr>
          <p:cNvSpPr/>
          <p:nvPr/>
        </p:nvSpPr>
        <p:spPr>
          <a:xfrm>
            <a:off x="5698577" y="4369464"/>
            <a:ext cx="1791711" cy="2838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1200 x 1200 μm </a:t>
            </a:r>
          </a:p>
        </p:txBody>
      </p:sp>
      <p:sp>
        <p:nvSpPr>
          <p:cNvPr id="166" name="직사각형 165">
            <a:extLst>
              <a:ext uri="{FF2B5EF4-FFF2-40B4-BE49-F238E27FC236}">
                <a16:creationId xmlns:a16="http://schemas.microsoft.com/office/drawing/2014/main" id="{6875BBD5-AD2E-3596-920D-171C098E8DA8}"/>
              </a:ext>
            </a:extLst>
          </p:cNvPr>
          <p:cNvSpPr/>
          <p:nvPr/>
        </p:nvSpPr>
        <p:spPr>
          <a:xfrm>
            <a:off x="7648958" y="4369464"/>
            <a:ext cx="1058478" cy="278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500 x 990 μm</a:t>
            </a:r>
          </a:p>
        </p:txBody>
      </p:sp>
      <p:sp>
        <p:nvSpPr>
          <p:cNvPr id="167" name="직사각형 166">
            <a:extLst>
              <a:ext uri="{FF2B5EF4-FFF2-40B4-BE49-F238E27FC236}">
                <a16:creationId xmlns:a16="http://schemas.microsoft.com/office/drawing/2014/main" id="{E5D35708-F17B-6D54-72B1-4222C7144865}"/>
              </a:ext>
            </a:extLst>
          </p:cNvPr>
          <p:cNvSpPr/>
          <p:nvPr/>
        </p:nvSpPr>
        <p:spPr>
          <a:xfrm>
            <a:off x="9696581" y="4369464"/>
            <a:ext cx="1125435" cy="2838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←</a:t>
            </a:r>
            <a:endParaRPr kumimoji="0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68" name="AutoShape 9">
            <a:extLst>
              <a:ext uri="{FF2B5EF4-FFF2-40B4-BE49-F238E27FC236}">
                <a16:creationId xmlns:a16="http://schemas.microsoft.com/office/drawing/2014/main" id="{2A5306B7-96F7-45E7-DF4F-B7FA30AAF8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783" y="2050493"/>
            <a:ext cx="649004" cy="3281714"/>
          </a:xfrm>
          <a:prstGeom prst="roundRect">
            <a:avLst>
              <a:gd name="adj" fmla="val 7856"/>
            </a:avLst>
          </a:prstGeom>
          <a:solidFill>
            <a:srgbClr val="FFFFFF"/>
          </a:solidFill>
          <a:ln w="3175" algn="ctr">
            <a:solidFill>
              <a:srgbClr val="5F5F5F"/>
            </a:solidFill>
            <a:round/>
            <a:headEnd/>
            <a:tailEnd/>
          </a:ln>
          <a:effectLst/>
        </p:spPr>
        <p:txBody>
          <a:bodyPr wrap="none" lIns="119693" tIns="59844" rIns="119693" bIns="59844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1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  <a:sym typeface="Wingdings" pitchFamily="2" charset="2"/>
              </a:rPr>
              <a:t>QNED</a:t>
            </a:r>
          </a:p>
        </p:txBody>
      </p:sp>
      <p:sp>
        <p:nvSpPr>
          <p:cNvPr id="169" name="Rectangle 3936">
            <a:extLst>
              <a:ext uri="{FF2B5EF4-FFF2-40B4-BE49-F238E27FC236}">
                <a16:creationId xmlns:a16="http://schemas.microsoft.com/office/drawing/2014/main" id="{2E8FE975-F649-054B-0F95-97197FDF88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59242" y="3017165"/>
            <a:ext cx="877338" cy="326863"/>
          </a:xfrm>
          <a:prstGeom prst="rect">
            <a:avLst/>
          </a:prstGeom>
          <a:solidFill>
            <a:srgbClr val="C00000"/>
          </a:solidFill>
          <a:ln w="3175" cap="flat" cmpd="sng" algn="ctr">
            <a:noFill/>
            <a:prstDash val="solid"/>
          </a:ln>
          <a:effectLst/>
        </p:spPr>
        <p:txBody>
          <a:bodyPr wrap="none" lIns="74286" tIns="37143" rIns="74286" bIns="37143"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3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QNED8M</a:t>
            </a:r>
          </a:p>
        </p:txBody>
      </p:sp>
      <p:sp>
        <p:nvSpPr>
          <p:cNvPr id="170" name="Rectangle 3936">
            <a:extLst>
              <a:ext uri="{FF2B5EF4-FFF2-40B4-BE49-F238E27FC236}">
                <a16:creationId xmlns:a16="http://schemas.microsoft.com/office/drawing/2014/main" id="{1CF9F17A-4CF3-6390-9713-6548FD88C1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59242" y="3663913"/>
            <a:ext cx="877338" cy="326863"/>
          </a:xfrm>
          <a:prstGeom prst="rect">
            <a:avLst/>
          </a:prstGeom>
          <a:solidFill>
            <a:srgbClr val="FFFFFF"/>
          </a:solidFill>
          <a:ln w="3175" cap="flat" cmpd="sng" algn="ctr">
            <a:solidFill>
              <a:srgbClr val="000000"/>
            </a:solidFill>
            <a:prstDash val="solid"/>
          </a:ln>
          <a:effectLst/>
        </p:spPr>
        <p:txBody>
          <a:bodyPr wrap="none" lIns="74286" tIns="37143" rIns="74286" bIns="37143"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3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QNED80</a:t>
            </a:r>
          </a:p>
        </p:txBody>
      </p:sp>
      <p:sp>
        <p:nvSpPr>
          <p:cNvPr id="171" name="Rectangle 3936">
            <a:extLst>
              <a:ext uri="{FF2B5EF4-FFF2-40B4-BE49-F238E27FC236}">
                <a16:creationId xmlns:a16="http://schemas.microsoft.com/office/drawing/2014/main" id="{5491C41D-7944-3E45-9267-8E34309EAE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59242" y="2057714"/>
            <a:ext cx="877338" cy="326863"/>
          </a:xfrm>
          <a:prstGeom prst="rect">
            <a:avLst/>
          </a:prstGeom>
          <a:solidFill>
            <a:srgbClr val="FFFFFF"/>
          </a:solidFill>
          <a:ln w="3175" cap="flat" cmpd="sng" algn="ctr">
            <a:solidFill>
              <a:srgbClr val="000000"/>
            </a:solidFill>
            <a:prstDash val="solid"/>
          </a:ln>
          <a:effectLst/>
        </p:spPr>
        <p:txBody>
          <a:bodyPr wrap="none" lIns="74286" tIns="37143" rIns="74286" bIns="37143"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3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QNED82</a:t>
            </a: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8BC10ED4-1FB0-CB7A-1838-20F4CDA449A6}"/>
              </a:ext>
            </a:extLst>
          </p:cNvPr>
          <p:cNvSpPr txBox="1"/>
          <p:nvPr/>
        </p:nvSpPr>
        <p:spPr>
          <a:xfrm>
            <a:off x="1546810" y="2607428"/>
            <a:ext cx="1546353" cy="3385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R="0" lvl="0" indent="0" defTabSz="914377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00" b="1" i="0" u="sng" strike="noStrike" kern="0" cap="none" spc="0" normalizeH="0" baseline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LG스마트체 Regular" panose="020B0600000101010101" pitchFamily="50" charset="-127"/>
              </a:defRPr>
            </a:lvl1pPr>
          </a:lstStyle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UB85</a:t>
            </a:r>
            <a:r>
              <a:rPr kumimoji="0" lang="ko-KR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Tool</a:t>
            </a:r>
            <a:r>
              <a:rPr kumimoji="0" lang="ko-KR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+ Mini + 120Hz</a:t>
            </a:r>
          </a:p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(</a:t>
            </a:r>
            <a:r>
              <a:rPr kumimoji="0" lang="ko-KR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절기</a:t>
            </a:r>
            <a:r>
              <a: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)</a:t>
            </a:r>
          </a:p>
        </p:txBody>
      </p:sp>
      <p:sp>
        <p:nvSpPr>
          <p:cNvPr id="173" name="Rectangle 3936">
            <a:extLst>
              <a:ext uri="{FF2B5EF4-FFF2-40B4-BE49-F238E27FC236}">
                <a16:creationId xmlns:a16="http://schemas.microsoft.com/office/drawing/2014/main" id="{187C792C-3D7F-54D6-78D4-1A6628F7E6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59242" y="4976876"/>
            <a:ext cx="877338" cy="326863"/>
          </a:xfrm>
          <a:prstGeom prst="rect">
            <a:avLst/>
          </a:prstGeom>
          <a:solidFill>
            <a:srgbClr val="FFFFFF"/>
          </a:solidFill>
          <a:ln w="3175" cap="flat" cmpd="sng" algn="ctr">
            <a:solidFill>
              <a:srgbClr val="000000"/>
            </a:solidFill>
            <a:prstDash val="solid"/>
          </a:ln>
          <a:effectLst/>
        </p:spPr>
        <p:txBody>
          <a:bodyPr wrap="none" lIns="74286" tIns="37143" rIns="74286" bIns="37143"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3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QNED70</a:t>
            </a:r>
          </a:p>
        </p:txBody>
      </p:sp>
      <p:sp>
        <p:nvSpPr>
          <p:cNvPr id="174" name="모서리가 둥근 직사각형 283">
            <a:extLst>
              <a:ext uri="{FF2B5EF4-FFF2-40B4-BE49-F238E27FC236}">
                <a16:creationId xmlns:a16="http://schemas.microsoft.com/office/drawing/2014/main" id="{61D9D008-9F5F-536F-574C-4561122469DB}"/>
              </a:ext>
            </a:extLst>
          </p:cNvPr>
          <p:cNvSpPr/>
          <p:nvPr/>
        </p:nvSpPr>
        <p:spPr bwMode="auto">
          <a:xfrm>
            <a:off x="1547850" y="2115200"/>
            <a:ext cx="134975" cy="208023"/>
          </a:xfrm>
          <a:prstGeom prst="roundRect">
            <a:avLst/>
          </a:prstGeom>
          <a:solidFill>
            <a:sysClr val="window" lastClr="FFFFFF"/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120Hz</a:t>
            </a: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75" name="모서리가 둥근 직사각형 283">
            <a:extLst>
              <a:ext uri="{FF2B5EF4-FFF2-40B4-BE49-F238E27FC236}">
                <a16:creationId xmlns:a16="http://schemas.microsoft.com/office/drawing/2014/main" id="{9A501F06-6D11-B532-0BC4-E7AEE4C123F6}"/>
              </a:ext>
            </a:extLst>
          </p:cNvPr>
          <p:cNvSpPr/>
          <p:nvPr/>
        </p:nvSpPr>
        <p:spPr bwMode="auto">
          <a:xfrm>
            <a:off x="1547850" y="3723327"/>
            <a:ext cx="134975" cy="208023"/>
          </a:xfrm>
          <a:prstGeom prst="roundRect">
            <a:avLst/>
          </a:prstGeom>
          <a:solidFill>
            <a:sysClr val="window" lastClr="FFFFFF"/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60Hz</a:t>
            </a: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76" name="모서리가 둥근 직사각형 123">
            <a:hlinkClick r:id="" action="ppaction://noaction"/>
            <a:extLst>
              <a:ext uri="{FF2B5EF4-FFF2-40B4-BE49-F238E27FC236}">
                <a16:creationId xmlns:a16="http://schemas.microsoft.com/office/drawing/2014/main" id="{C79E466E-B71B-1DE9-78C5-BB32BDCAD422}"/>
              </a:ext>
            </a:extLst>
          </p:cNvPr>
          <p:cNvSpPr/>
          <p:nvPr/>
        </p:nvSpPr>
        <p:spPr>
          <a:xfrm>
            <a:off x="4775470" y="4711739"/>
            <a:ext cx="624014" cy="838927"/>
          </a:xfrm>
          <a:prstGeom prst="roundRect">
            <a:avLst>
              <a:gd name="adj" fmla="val 3264"/>
            </a:avLst>
          </a:prstGeom>
          <a:solidFill>
            <a:srgbClr val="FFFFFF"/>
          </a:solidFill>
          <a:ln w="6350" algn="ctr">
            <a:solidFill>
              <a:srgbClr val="5F5F5F"/>
            </a:solidFill>
            <a:round/>
            <a:headEnd/>
            <a:tailEnd/>
          </a:ln>
          <a:effectLst/>
        </p:spPr>
        <p:txBody>
          <a:bodyPr wrap="none" lIns="119693" tIns="59844" rIns="119693" bIns="59844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재료비</a:t>
            </a:r>
            <a:endParaRPr kumimoji="0" lang="en-US" altLang="ko-KR" sz="11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Gap</a:t>
            </a:r>
          </a:p>
        </p:txBody>
      </p:sp>
      <p:sp>
        <p:nvSpPr>
          <p:cNvPr id="177" name="모서리가 둥근 직사각형 283">
            <a:extLst>
              <a:ext uri="{FF2B5EF4-FFF2-40B4-BE49-F238E27FC236}">
                <a16:creationId xmlns:a16="http://schemas.microsoft.com/office/drawing/2014/main" id="{99E16766-2A00-D3B8-ED1C-20546E7615CB}"/>
              </a:ext>
            </a:extLst>
          </p:cNvPr>
          <p:cNvSpPr/>
          <p:nvPr/>
        </p:nvSpPr>
        <p:spPr bwMode="auto">
          <a:xfrm>
            <a:off x="1530844" y="3107479"/>
            <a:ext cx="134975" cy="208023"/>
          </a:xfrm>
          <a:prstGeom prst="roundRect">
            <a:avLst/>
          </a:prstGeom>
          <a:solidFill>
            <a:sysClr val="window" lastClr="FFFFFF"/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120Hz</a:t>
            </a: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4760CD8B-9CCC-88FE-973D-37782BD3FD0C}"/>
              </a:ext>
            </a:extLst>
          </p:cNvPr>
          <p:cNvSpPr txBox="1"/>
          <p:nvPr/>
        </p:nvSpPr>
        <p:spPr>
          <a:xfrm>
            <a:off x="5796384" y="1699938"/>
            <a:ext cx="751809" cy="15324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algn="r">
              <a:lnSpc>
                <a:spcPct val="120000"/>
              </a:lnSpc>
              <a:defRPr sz="100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K26, 120Hz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패널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 </a:t>
            </a:r>
          </a:p>
        </p:txBody>
      </p:sp>
      <p:sp>
        <p:nvSpPr>
          <p:cNvPr id="179" name="모서리가 둥근 직사각형 283">
            <a:extLst>
              <a:ext uri="{FF2B5EF4-FFF2-40B4-BE49-F238E27FC236}">
                <a16:creationId xmlns:a16="http://schemas.microsoft.com/office/drawing/2014/main" id="{0C8567AC-2362-38E1-CC75-86A3A709922E}"/>
              </a:ext>
            </a:extLst>
          </p:cNvPr>
          <p:cNvSpPr/>
          <p:nvPr/>
        </p:nvSpPr>
        <p:spPr bwMode="auto">
          <a:xfrm>
            <a:off x="1530843" y="5020263"/>
            <a:ext cx="134975" cy="208023"/>
          </a:xfrm>
          <a:prstGeom prst="roundRect">
            <a:avLst/>
          </a:prstGeom>
          <a:solidFill>
            <a:sysClr val="window" lastClr="FFFFFF"/>
          </a:solidFill>
          <a:ln w="3175" cap="flat" cmpd="sng" algn="ctr">
            <a:noFill/>
            <a:prstDash val="dash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60Hz</a:t>
            </a: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3918ABAD-2D9B-7963-AF82-6B5B410E42A4}"/>
              </a:ext>
            </a:extLst>
          </p:cNvPr>
          <p:cNvSpPr txBox="1"/>
          <p:nvPr/>
        </p:nvSpPr>
        <p:spPr>
          <a:xfrm>
            <a:off x="7755068" y="1699937"/>
            <a:ext cx="872034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algn="r">
              <a:lnSpc>
                <a:spcPct val="120000"/>
              </a:lnSpc>
              <a:defRPr sz="100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K26, 120Hz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패널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 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LED Chip Size,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파워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CE349282-8C58-57AC-4370-A2B820F5C833}"/>
              </a:ext>
            </a:extLst>
          </p:cNvPr>
          <p:cNvSpPr txBox="1"/>
          <p:nvPr/>
        </p:nvSpPr>
        <p:spPr>
          <a:xfrm>
            <a:off x="9644257" y="1709612"/>
            <a:ext cx="186589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algn="r">
              <a:lnSpc>
                <a:spcPct val="120000"/>
              </a:lnSpc>
              <a:defRPr sz="100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K26, 120Hz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패널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 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LED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수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, LED Chip Size, LED Bar 4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→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6,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파워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89" name="직사각형 188">
            <a:extLst>
              <a:ext uri="{FF2B5EF4-FFF2-40B4-BE49-F238E27FC236}">
                <a16:creationId xmlns:a16="http://schemas.microsoft.com/office/drawing/2014/main" id="{E8127504-EACA-6EAB-1B08-541109B83A1D}"/>
              </a:ext>
            </a:extLst>
          </p:cNvPr>
          <p:cNvSpPr/>
          <p:nvPr/>
        </p:nvSpPr>
        <p:spPr>
          <a:xfrm>
            <a:off x="7484674" y="4636595"/>
            <a:ext cx="1897514" cy="945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$ 17.2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 ↑</a:t>
            </a:r>
            <a:endParaRPr kumimoji="0" lang="en-US" altLang="ko-KR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 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회로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: SoC, DDR,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기타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$9.5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↑</a:t>
            </a: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 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파워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: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신규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$2.0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↑</a:t>
            </a: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   BLU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: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PKG,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부자재 변경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$0.7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↑</a:t>
            </a: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   패널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: 60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→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120Hz $5.0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 ↑</a:t>
            </a: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133675A4-E453-7FF8-0222-5A2B6D2505F2}"/>
              </a:ext>
            </a:extLst>
          </p:cNvPr>
          <p:cNvSpPr txBox="1"/>
          <p:nvPr/>
        </p:nvSpPr>
        <p:spPr>
          <a:xfrm>
            <a:off x="4693274" y="1680663"/>
            <a:ext cx="782513" cy="373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QNED70 </a:t>
            </a: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대비</a:t>
            </a:r>
            <a:endParaRPr kumimoji="0" lang="en-US" altLang="ko-KR" sz="800" b="0" i="0" u="none" strike="noStrike" kern="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91" name="직사각형 190">
            <a:extLst>
              <a:ext uri="{FF2B5EF4-FFF2-40B4-BE49-F238E27FC236}">
                <a16:creationId xmlns:a16="http://schemas.microsoft.com/office/drawing/2014/main" id="{8AD615DA-8101-0F10-8602-C7AE52D32C9D}"/>
              </a:ext>
            </a:extLst>
          </p:cNvPr>
          <p:cNvSpPr/>
          <p:nvPr/>
        </p:nvSpPr>
        <p:spPr>
          <a:xfrm>
            <a:off x="9482998" y="4646120"/>
            <a:ext cx="1994127" cy="9535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$ 22.5 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↑</a:t>
            </a:r>
            <a:endParaRPr kumimoji="0" lang="en-US" altLang="ko-KR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   회로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: SoC, DDR,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기타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$9.5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↑</a:t>
            </a: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   파워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: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신규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 $4.0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↑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 </a:t>
            </a:r>
          </a:p>
          <a:p>
            <a:pPr marL="0" marR="0" lvl="0" indent="0" algn="l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   BLU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: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PKG,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부자재 변경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$4.0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↑</a:t>
            </a: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   패널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: 60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→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120Hz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$5.0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 ↑</a:t>
            </a: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92" name="직사각형 191">
            <a:extLst>
              <a:ext uri="{FF2B5EF4-FFF2-40B4-BE49-F238E27FC236}">
                <a16:creationId xmlns:a16="http://schemas.microsoft.com/office/drawing/2014/main" id="{EB86C3A0-DD9F-E0ED-74C5-A2298BF77000}"/>
              </a:ext>
            </a:extLst>
          </p:cNvPr>
          <p:cNvSpPr/>
          <p:nvPr/>
        </p:nvSpPr>
        <p:spPr>
          <a:xfrm>
            <a:off x="5629083" y="4676729"/>
            <a:ext cx="1805931" cy="6065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$ 14.5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 ↑</a:t>
            </a:r>
            <a:endParaRPr kumimoji="0" lang="en-US" altLang="ko-KR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   회로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: SoC, DDR,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기타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$9.5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↑</a:t>
            </a: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   패널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: 60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→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120Hz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$5.0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↑</a:t>
            </a: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9F33ADA0-0F8A-C068-8F74-61A21D0844C7}"/>
              </a:ext>
            </a:extLst>
          </p:cNvPr>
          <p:cNvSpPr txBox="1"/>
          <p:nvPr/>
        </p:nvSpPr>
        <p:spPr>
          <a:xfrm>
            <a:off x="11571257" y="1161163"/>
            <a:ext cx="137858" cy="15042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algn="r">
              <a:lnSpc>
                <a:spcPct val="120000"/>
              </a:lnSpc>
              <a:defRPr sz="100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65”</a:t>
            </a:r>
          </a:p>
        </p:txBody>
      </p:sp>
      <p:sp>
        <p:nvSpPr>
          <p:cNvPr id="194" name="직사각형 193">
            <a:extLst>
              <a:ext uri="{FF2B5EF4-FFF2-40B4-BE49-F238E27FC236}">
                <a16:creationId xmlns:a16="http://schemas.microsoft.com/office/drawing/2014/main" id="{067A3485-4846-1D4C-6F58-613DA3DCFDC8}"/>
              </a:ext>
            </a:extLst>
          </p:cNvPr>
          <p:cNvSpPr/>
          <p:nvPr/>
        </p:nvSpPr>
        <p:spPr>
          <a:xfrm>
            <a:off x="9406904" y="5645414"/>
            <a:ext cx="2830223" cy="3779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커버바텀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 신작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: 30.5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억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85”(7.7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억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), 75”(6.8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억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) 65”(5.7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억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), 55“(5.3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억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), 50”(5.0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억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)</a:t>
            </a:r>
          </a:p>
        </p:txBody>
      </p:sp>
      <p:graphicFrame>
        <p:nvGraphicFramePr>
          <p:cNvPr id="195" name="표 194">
            <a:extLst>
              <a:ext uri="{FF2B5EF4-FFF2-40B4-BE49-F238E27FC236}">
                <a16:creationId xmlns:a16="http://schemas.microsoft.com/office/drawing/2014/main" id="{BDFFF755-F95D-7378-4A0A-FD57CBA0A794}"/>
              </a:ext>
            </a:extLst>
          </p:cNvPr>
          <p:cNvGraphicFramePr>
            <a:graphicFrameLocks noGrp="1"/>
          </p:cNvGraphicFramePr>
          <p:nvPr/>
        </p:nvGraphicFramePr>
        <p:xfrm>
          <a:off x="5666017" y="2400068"/>
          <a:ext cx="1682325" cy="571471"/>
        </p:xfrm>
        <a:graphic>
          <a:graphicData uri="http://schemas.openxmlformats.org/drawingml/2006/table">
            <a:tbl>
              <a:tblPr/>
              <a:tblGrid>
                <a:gridCol w="336465">
                  <a:extLst>
                    <a:ext uri="{9D8B030D-6E8A-4147-A177-3AD203B41FA5}">
                      <a16:colId xmlns:a16="http://schemas.microsoft.com/office/drawing/2014/main" val="507423211"/>
                    </a:ext>
                  </a:extLst>
                </a:gridCol>
                <a:gridCol w="336465">
                  <a:extLst>
                    <a:ext uri="{9D8B030D-6E8A-4147-A177-3AD203B41FA5}">
                      <a16:colId xmlns:a16="http://schemas.microsoft.com/office/drawing/2014/main" val="3555207279"/>
                    </a:ext>
                  </a:extLst>
                </a:gridCol>
                <a:gridCol w="336465">
                  <a:extLst>
                    <a:ext uri="{9D8B030D-6E8A-4147-A177-3AD203B41FA5}">
                      <a16:colId xmlns:a16="http://schemas.microsoft.com/office/drawing/2014/main" val="3501179332"/>
                    </a:ext>
                  </a:extLst>
                </a:gridCol>
                <a:gridCol w="336465">
                  <a:extLst>
                    <a:ext uri="{9D8B030D-6E8A-4147-A177-3AD203B41FA5}">
                      <a16:colId xmlns:a16="http://schemas.microsoft.com/office/drawing/2014/main" val="3991128024"/>
                    </a:ext>
                  </a:extLst>
                </a:gridCol>
                <a:gridCol w="336465">
                  <a:extLst>
                    <a:ext uri="{9D8B030D-6E8A-4147-A177-3AD203B41FA5}">
                      <a16:colId xmlns:a16="http://schemas.microsoft.com/office/drawing/2014/main" val="2346703488"/>
                    </a:ext>
                  </a:extLst>
                </a:gridCol>
              </a:tblGrid>
              <a:tr h="159991">
                <a:tc>
                  <a:txBody>
                    <a:bodyPr/>
                    <a:lstStyle>
                      <a:lvl1pPr marL="0" algn="l" defTabSz="914395" rtl="0" eaLnBrk="1" latinLnBrk="1" hangingPunct="1">
                        <a:defRPr sz="1799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198" algn="l" defTabSz="914395" rtl="0" eaLnBrk="1" latinLnBrk="1" hangingPunct="1">
                        <a:defRPr sz="1799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395" algn="l" defTabSz="914395" rtl="0" eaLnBrk="1" latinLnBrk="1" hangingPunct="1">
                        <a:defRPr sz="1799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592" algn="l" defTabSz="914395" rtl="0" eaLnBrk="1" latinLnBrk="1" hangingPunct="1">
                        <a:defRPr sz="1799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789" algn="l" defTabSz="914395" rtl="0" eaLnBrk="1" latinLnBrk="1" hangingPunct="1">
                        <a:defRPr sz="1799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5987" algn="l" defTabSz="914395" rtl="0" eaLnBrk="1" latinLnBrk="1" hangingPunct="1">
                        <a:defRPr sz="1799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184" algn="l" defTabSz="914395" rtl="0" eaLnBrk="1" latinLnBrk="1" hangingPunct="1">
                        <a:defRPr sz="1799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382" algn="l" defTabSz="914395" rtl="0" eaLnBrk="1" latinLnBrk="1" hangingPunct="1">
                        <a:defRPr sz="1799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579" algn="l" defTabSz="914395" rtl="0" eaLnBrk="1" latinLnBrk="1" hangingPunct="1">
                        <a:defRPr sz="1799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85”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0" algn="l" defTabSz="914395" rtl="0" eaLnBrk="1" latinLnBrk="1" hangingPunct="1">
                        <a:defRPr sz="1799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198" algn="l" defTabSz="914395" rtl="0" eaLnBrk="1" latinLnBrk="1" hangingPunct="1">
                        <a:defRPr sz="1799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395" algn="l" defTabSz="914395" rtl="0" eaLnBrk="1" latinLnBrk="1" hangingPunct="1">
                        <a:defRPr sz="1799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592" algn="l" defTabSz="914395" rtl="0" eaLnBrk="1" latinLnBrk="1" hangingPunct="1">
                        <a:defRPr sz="1799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789" algn="l" defTabSz="914395" rtl="0" eaLnBrk="1" latinLnBrk="1" hangingPunct="1">
                        <a:defRPr sz="1799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5987" algn="l" defTabSz="914395" rtl="0" eaLnBrk="1" latinLnBrk="1" hangingPunct="1">
                        <a:defRPr sz="1799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184" algn="l" defTabSz="914395" rtl="0" eaLnBrk="1" latinLnBrk="1" hangingPunct="1">
                        <a:defRPr sz="1799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382" algn="l" defTabSz="914395" rtl="0" eaLnBrk="1" latinLnBrk="1" hangingPunct="1">
                        <a:defRPr sz="1799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579" algn="l" defTabSz="914395" rtl="0" eaLnBrk="1" latinLnBrk="1" hangingPunct="1">
                        <a:defRPr sz="1799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75”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0" algn="l" defTabSz="914395" rtl="0" eaLnBrk="1" latinLnBrk="1" hangingPunct="1">
                        <a:defRPr sz="1799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198" algn="l" defTabSz="914395" rtl="0" eaLnBrk="1" latinLnBrk="1" hangingPunct="1">
                        <a:defRPr sz="1799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395" algn="l" defTabSz="914395" rtl="0" eaLnBrk="1" latinLnBrk="1" hangingPunct="1">
                        <a:defRPr sz="1799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592" algn="l" defTabSz="914395" rtl="0" eaLnBrk="1" latinLnBrk="1" hangingPunct="1">
                        <a:defRPr sz="1799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789" algn="l" defTabSz="914395" rtl="0" eaLnBrk="1" latinLnBrk="1" hangingPunct="1">
                        <a:defRPr sz="1799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5987" algn="l" defTabSz="914395" rtl="0" eaLnBrk="1" latinLnBrk="1" hangingPunct="1">
                        <a:defRPr sz="1799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184" algn="l" defTabSz="914395" rtl="0" eaLnBrk="1" latinLnBrk="1" hangingPunct="1">
                        <a:defRPr sz="1799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382" algn="l" defTabSz="914395" rtl="0" eaLnBrk="1" latinLnBrk="1" hangingPunct="1">
                        <a:defRPr sz="1799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579" algn="l" defTabSz="914395" rtl="0" eaLnBrk="1" latinLnBrk="1" hangingPunct="1">
                        <a:defRPr sz="1799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65”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0" algn="l" defTabSz="914395" rtl="0" eaLnBrk="1" latinLnBrk="1" hangingPunct="1">
                        <a:defRPr sz="1799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198" algn="l" defTabSz="914395" rtl="0" eaLnBrk="1" latinLnBrk="1" hangingPunct="1">
                        <a:defRPr sz="1799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395" algn="l" defTabSz="914395" rtl="0" eaLnBrk="1" latinLnBrk="1" hangingPunct="1">
                        <a:defRPr sz="1799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592" algn="l" defTabSz="914395" rtl="0" eaLnBrk="1" latinLnBrk="1" hangingPunct="1">
                        <a:defRPr sz="1799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789" algn="l" defTabSz="914395" rtl="0" eaLnBrk="1" latinLnBrk="1" hangingPunct="1">
                        <a:defRPr sz="1799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5987" algn="l" defTabSz="914395" rtl="0" eaLnBrk="1" latinLnBrk="1" hangingPunct="1">
                        <a:defRPr sz="1799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184" algn="l" defTabSz="914395" rtl="0" eaLnBrk="1" latinLnBrk="1" hangingPunct="1">
                        <a:defRPr sz="1799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382" algn="l" defTabSz="914395" rtl="0" eaLnBrk="1" latinLnBrk="1" hangingPunct="1">
                        <a:defRPr sz="1799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579" algn="l" defTabSz="914395" rtl="0" eaLnBrk="1" latinLnBrk="1" hangingPunct="1">
                        <a:defRPr sz="1799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55”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0" algn="l" defTabSz="914395" rtl="0" eaLnBrk="1" latinLnBrk="1" hangingPunct="1">
                        <a:defRPr sz="1799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198" algn="l" defTabSz="914395" rtl="0" eaLnBrk="1" latinLnBrk="1" hangingPunct="1">
                        <a:defRPr sz="1799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395" algn="l" defTabSz="914395" rtl="0" eaLnBrk="1" latinLnBrk="1" hangingPunct="1">
                        <a:defRPr sz="1799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592" algn="l" defTabSz="914395" rtl="0" eaLnBrk="1" latinLnBrk="1" hangingPunct="1">
                        <a:defRPr sz="1799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789" algn="l" defTabSz="914395" rtl="0" eaLnBrk="1" latinLnBrk="1" hangingPunct="1">
                        <a:defRPr sz="1799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5987" algn="l" defTabSz="914395" rtl="0" eaLnBrk="1" latinLnBrk="1" hangingPunct="1">
                        <a:defRPr sz="1799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184" algn="l" defTabSz="914395" rtl="0" eaLnBrk="1" latinLnBrk="1" hangingPunct="1">
                        <a:defRPr sz="1799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382" algn="l" defTabSz="914395" rtl="0" eaLnBrk="1" latinLnBrk="1" hangingPunct="1">
                        <a:defRPr sz="1799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579" algn="l" defTabSz="914395" rtl="0" eaLnBrk="1" latinLnBrk="1" hangingPunct="1">
                        <a:defRPr sz="1799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50”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4012947"/>
                  </a:ext>
                </a:extLst>
              </a:tr>
              <a:tr h="319981">
                <a:tc>
                  <a:txBody>
                    <a:bodyPr/>
                    <a:lstStyle>
                      <a:lvl1pPr marL="0" algn="l" defTabSz="914395" rtl="0" eaLnBrk="1" latinLnBrk="1" hangingPunct="1">
                        <a:defRPr sz="1799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198" algn="l" defTabSz="914395" rtl="0" eaLnBrk="1" latinLnBrk="1" hangingPunct="1">
                        <a:defRPr sz="1799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395" algn="l" defTabSz="914395" rtl="0" eaLnBrk="1" latinLnBrk="1" hangingPunct="1">
                        <a:defRPr sz="1799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592" algn="l" defTabSz="914395" rtl="0" eaLnBrk="1" latinLnBrk="1" hangingPunct="1">
                        <a:defRPr sz="1799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789" algn="l" defTabSz="914395" rtl="0" eaLnBrk="1" latinLnBrk="1" hangingPunct="1">
                        <a:defRPr sz="1799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5987" algn="l" defTabSz="914395" rtl="0" eaLnBrk="1" latinLnBrk="1" hangingPunct="1">
                        <a:defRPr sz="1799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184" algn="l" defTabSz="914395" rtl="0" eaLnBrk="1" latinLnBrk="1" hangingPunct="1">
                        <a:defRPr sz="1799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382" algn="l" defTabSz="914395" rtl="0" eaLnBrk="1" latinLnBrk="1" hangingPunct="1">
                        <a:defRPr sz="1799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579" algn="l" defTabSz="914395" rtl="0" eaLnBrk="1" latinLnBrk="1" hangingPunct="1">
                        <a:defRPr sz="1799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HKC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395" rtl="0" eaLnBrk="1" latinLnBrk="1" hangingPunct="1">
                        <a:defRPr sz="1799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198" algn="l" defTabSz="914395" rtl="0" eaLnBrk="1" latinLnBrk="1" hangingPunct="1">
                        <a:defRPr sz="1799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395" algn="l" defTabSz="914395" rtl="0" eaLnBrk="1" latinLnBrk="1" hangingPunct="1">
                        <a:defRPr sz="1799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592" algn="l" defTabSz="914395" rtl="0" eaLnBrk="1" latinLnBrk="1" hangingPunct="1">
                        <a:defRPr sz="1799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789" algn="l" defTabSz="914395" rtl="0" eaLnBrk="1" latinLnBrk="1" hangingPunct="1">
                        <a:defRPr sz="1799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5987" algn="l" defTabSz="914395" rtl="0" eaLnBrk="1" latinLnBrk="1" hangingPunct="1">
                        <a:defRPr sz="1799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184" algn="l" defTabSz="914395" rtl="0" eaLnBrk="1" latinLnBrk="1" hangingPunct="1">
                        <a:defRPr sz="1799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382" algn="l" defTabSz="914395" rtl="0" eaLnBrk="1" latinLnBrk="1" hangingPunct="1">
                        <a:defRPr sz="1799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579" algn="l" defTabSz="914395" rtl="0" eaLnBrk="1" latinLnBrk="1" hangingPunct="1">
                        <a:defRPr sz="1799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CSOT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395" rtl="0" eaLnBrk="1" latinLnBrk="1" hangingPunct="1">
                        <a:defRPr sz="1799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198" algn="l" defTabSz="914395" rtl="0" eaLnBrk="1" latinLnBrk="1" hangingPunct="1">
                        <a:defRPr sz="1799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395" algn="l" defTabSz="914395" rtl="0" eaLnBrk="1" latinLnBrk="1" hangingPunct="1">
                        <a:defRPr sz="1799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592" algn="l" defTabSz="914395" rtl="0" eaLnBrk="1" latinLnBrk="1" hangingPunct="1">
                        <a:defRPr sz="1799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789" algn="l" defTabSz="914395" rtl="0" eaLnBrk="1" latinLnBrk="1" hangingPunct="1">
                        <a:defRPr sz="1799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5987" algn="l" defTabSz="914395" rtl="0" eaLnBrk="1" latinLnBrk="1" hangingPunct="1">
                        <a:defRPr sz="1799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184" algn="l" defTabSz="914395" rtl="0" eaLnBrk="1" latinLnBrk="1" hangingPunct="1">
                        <a:defRPr sz="1799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382" algn="l" defTabSz="914395" rtl="0" eaLnBrk="1" latinLnBrk="1" hangingPunct="1">
                        <a:defRPr sz="1799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579" algn="l" defTabSz="914395" rtl="0" eaLnBrk="1" latinLnBrk="1" hangingPunct="1">
                        <a:defRPr sz="1799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CSOT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395" rtl="0" eaLnBrk="1" latinLnBrk="1" hangingPunct="1">
                        <a:defRPr sz="1799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198" algn="l" defTabSz="914395" rtl="0" eaLnBrk="1" latinLnBrk="1" hangingPunct="1">
                        <a:defRPr sz="1799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395" algn="l" defTabSz="914395" rtl="0" eaLnBrk="1" latinLnBrk="1" hangingPunct="1">
                        <a:defRPr sz="1799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592" algn="l" defTabSz="914395" rtl="0" eaLnBrk="1" latinLnBrk="1" hangingPunct="1">
                        <a:defRPr sz="1799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789" algn="l" defTabSz="914395" rtl="0" eaLnBrk="1" latinLnBrk="1" hangingPunct="1">
                        <a:defRPr sz="1799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5987" algn="l" defTabSz="914395" rtl="0" eaLnBrk="1" latinLnBrk="1" hangingPunct="1">
                        <a:defRPr sz="1799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184" algn="l" defTabSz="914395" rtl="0" eaLnBrk="1" latinLnBrk="1" hangingPunct="1">
                        <a:defRPr sz="1799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382" algn="l" defTabSz="914395" rtl="0" eaLnBrk="1" latinLnBrk="1" hangingPunct="1">
                        <a:defRPr sz="1799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579" algn="l" defTabSz="914395" rtl="0" eaLnBrk="1" latinLnBrk="1" hangingPunct="1">
                        <a:defRPr sz="1799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BOE</a:t>
                      </a:r>
                    </a:p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or</a:t>
                      </a:r>
                    </a:p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CSOT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395" rtl="0" eaLnBrk="1" latinLnBrk="1" hangingPunct="1">
                        <a:defRPr sz="1799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198" algn="l" defTabSz="914395" rtl="0" eaLnBrk="1" latinLnBrk="1" hangingPunct="1">
                        <a:defRPr sz="1799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395" algn="l" defTabSz="914395" rtl="0" eaLnBrk="1" latinLnBrk="1" hangingPunct="1">
                        <a:defRPr sz="1799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592" algn="l" defTabSz="914395" rtl="0" eaLnBrk="1" latinLnBrk="1" hangingPunct="1">
                        <a:defRPr sz="1799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789" algn="l" defTabSz="914395" rtl="0" eaLnBrk="1" latinLnBrk="1" hangingPunct="1">
                        <a:defRPr sz="1799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5987" algn="l" defTabSz="914395" rtl="0" eaLnBrk="1" latinLnBrk="1" hangingPunct="1">
                        <a:defRPr sz="1799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184" algn="l" defTabSz="914395" rtl="0" eaLnBrk="1" latinLnBrk="1" hangingPunct="1">
                        <a:defRPr sz="1799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382" algn="l" defTabSz="914395" rtl="0" eaLnBrk="1" latinLnBrk="1" hangingPunct="1">
                        <a:defRPr sz="1799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579" algn="l" defTabSz="914395" rtl="0" eaLnBrk="1" latinLnBrk="1" hangingPunct="1">
                        <a:defRPr sz="1799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HKC </a:t>
                      </a:r>
                    </a:p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BOE</a:t>
                      </a:r>
                    </a:p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INX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7577639"/>
                  </a:ext>
                </a:extLst>
              </a:tr>
            </a:tbl>
          </a:graphicData>
        </a:graphic>
      </p:graphicFrame>
      <p:sp>
        <p:nvSpPr>
          <p:cNvPr id="196" name="TextBox 195">
            <a:extLst>
              <a:ext uri="{FF2B5EF4-FFF2-40B4-BE49-F238E27FC236}">
                <a16:creationId xmlns:a16="http://schemas.microsoft.com/office/drawing/2014/main" id="{FE784685-3341-624D-1CAA-172A9A6AEEED}"/>
              </a:ext>
            </a:extLst>
          </p:cNvPr>
          <p:cNvSpPr txBox="1"/>
          <p:nvPr/>
        </p:nvSpPr>
        <p:spPr>
          <a:xfrm>
            <a:off x="7441443" y="2536855"/>
            <a:ext cx="2396490" cy="13625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algn="r">
              <a:lnSpc>
                <a:spcPct val="120000"/>
              </a:lnSpc>
              <a:defRPr sz="100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BOE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패널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 : Bridge Cable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간섭 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/ S-PCB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길이 상이로 개선 필요</a:t>
            </a:r>
            <a:endParaRPr kumimoji="0" lang="en-US" altLang="ko-KR" sz="800" b="0" i="0" u="none" strike="noStrike" kern="120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09220DDA-0366-0616-73EE-82802076444B}"/>
              </a:ext>
            </a:extLst>
          </p:cNvPr>
          <p:cNvSpPr txBox="1"/>
          <p:nvPr/>
        </p:nvSpPr>
        <p:spPr>
          <a:xfrm>
            <a:off x="4711746" y="5335444"/>
            <a:ext cx="782513" cy="391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50" b="0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QNED70 </a:t>
            </a:r>
            <a:r>
              <a:rPr kumimoji="0" lang="ko-KR" altLang="en-US" sz="850" b="0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대비</a:t>
            </a:r>
            <a:endParaRPr kumimoji="0" lang="en-US" altLang="ko-KR" sz="850" b="0" i="0" u="none" strike="noStrike" kern="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850" b="0" i="0" u="none" strike="noStrike" kern="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99" name="직사각형 198">
            <a:extLst>
              <a:ext uri="{FF2B5EF4-FFF2-40B4-BE49-F238E27FC236}">
                <a16:creationId xmlns:a16="http://schemas.microsoft.com/office/drawing/2014/main" id="{B0D84AAA-F137-9DC8-4A74-21BC817F4E4F}"/>
              </a:ext>
            </a:extLst>
          </p:cNvPr>
          <p:cNvSpPr/>
          <p:nvPr/>
        </p:nvSpPr>
        <p:spPr>
          <a:xfrm>
            <a:off x="7624125" y="5685736"/>
            <a:ext cx="951375" cy="266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투자비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X</a:t>
            </a:r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0402B0CD-FA41-E1A9-0546-1C542B75BDAF}"/>
              </a:ext>
            </a:extLst>
          </p:cNvPr>
          <p:cNvSpPr txBox="1"/>
          <p:nvPr/>
        </p:nvSpPr>
        <p:spPr>
          <a:xfrm>
            <a:off x="3431304" y="851683"/>
            <a:ext cx="3315010" cy="18735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algn="r">
              <a:lnSpc>
                <a:spcPct val="120000"/>
              </a:lnSpc>
              <a:defRPr sz="100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요청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Spec : UB85 Tool + 120Hz + Mini +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휘도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300nit + DCI 95%</a:t>
            </a:r>
          </a:p>
        </p:txBody>
      </p:sp>
      <p:sp>
        <p:nvSpPr>
          <p:cNvPr id="201" name="모서리가 둥근 직사각형 123">
            <a:hlinkClick r:id="" action="ppaction://noaction"/>
            <a:extLst>
              <a:ext uri="{FF2B5EF4-FFF2-40B4-BE49-F238E27FC236}">
                <a16:creationId xmlns:a16="http://schemas.microsoft.com/office/drawing/2014/main" id="{EFE91A9E-8D4B-7749-EA97-AF9C5637627D}"/>
              </a:ext>
            </a:extLst>
          </p:cNvPr>
          <p:cNvSpPr/>
          <p:nvPr/>
        </p:nvSpPr>
        <p:spPr>
          <a:xfrm>
            <a:off x="4772350" y="2372401"/>
            <a:ext cx="630254" cy="741456"/>
          </a:xfrm>
          <a:prstGeom prst="roundRect">
            <a:avLst>
              <a:gd name="adj" fmla="val 3264"/>
            </a:avLst>
          </a:prstGeom>
          <a:solidFill>
            <a:srgbClr val="FFFFFF"/>
          </a:solidFill>
          <a:ln w="6350" algn="ctr">
            <a:solidFill>
              <a:srgbClr val="5F5F5F"/>
            </a:solidFill>
            <a:round/>
            <a:headEnd/>
            <a:tailEnd/>
          </a:ln>
          <a:effectLst/>
        </p:spPr>
        <p:txBody>
          <a:bodyPr wrap="none" lIns="119693" tIns="59844" rIns="119693" bIns="59844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사용가능</a:t>
            </a:r>
            <a:endParaRPr kumimoji="0" lang="en-US" altLang="ko-KR" sz="11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패널</a:t>
            </a:r>
            <a:endParaRPr kumimoji="0" lang="en-US" altLang="ko-KR" sz="11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FED10E5E-C509-D190-AD1C-EB17BB79DAA0}"/>
              </a:ext>
            </a:extLst>
          </p:cNvPr>
          <p:cNvSpPr txBox="1"/>
          <p:nvPr/>
        </p:nvSpPr>
        <p:spPr>
          <a:xfrm>
            <a:off x="4780231" y="2890206"/>
            <a:ext cx="642805" cy="2101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algn="r">
              <a:lnSpc>
                <a:spcPct val="120000"/>
              </a:lnSpc>
              <a:defRPr sz="100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5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120Hz </a:t>
            </a:r>
            <a:r>
              <a:rPr kumimoji="0" lang="ko-KR" altLang="en-US" sz="85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패널</a:t>
            </a:r>
            <a:r>
              <a:rPr kumimoji="0" lang="en-US" altLang="ko-KR" sz="85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+</a:t>
            </a:r>
          </a:p>
          <a:p>
            <a:pPr marL="0" marR="0" lvl="0" indent="0" algn="ctr" defTabSz="914400" rtl="0" eaLnBrk="1" fontAlgn="auto" latinLnBrk="1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5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UB85 Tool </a:t>
            </a:r>
            <a:r>
              <a:rPr kumimoji="0" lang="ko-KR" altLang="en-US" sz="85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형합</a:t>
            </a:r>
            <a:endParaRPr kumimoji="0" lang="en-US" altLang="ko-KR" sz="85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03" name="직사각형 202">
            <a:extLst>
              <a:ext uri="{FF2B5EF4-FFF2-40B4-BE49-F238E27FC236}">
                <a16:creationId xmlns:a16="http://schemas.microsoft.com/office/drawing/2014/main" id="{6D28B6F9-F3FC-9370-888D-2D7C0C5C84F9}"/>
              </a:ext>
            </a:extLst>
          </p:cNvPr>
          <p:cNvSpPr/>
          <p:nvPr/>
        </p:nvSpPr>
        <p:spPr>
          <a:xfrm>
            <a:off x="7637784" y="2742596"/>
            <a:ext cx="675467" cy="266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←</a:t>
            </a:r>
            <a:endParaRPr kumimoji="0" lang="en-US" altLang="ko-KR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04" name="직사각형 203">
            <a:extLst>
              <a:ext uri="{FF2B5EF4-FFF2-40B4-BE49-F238E27FC236}">
                <a16:creationId xmlns:a16="http://schemas.microsoft.com/office/drawing/2014/main" id="{39FBAF9E-83DE-977E-5C8F-C6DB12178A38}"/>
              </a:ext>
            </a:extLst>
          </p:cNvPr>
          <p:cNvSpPr/>
          <p:nvPr/>
        </p:nvSpPr>
        <p:spPr>
          <a:xfrm>
            <a:off x="9683553" y="2733068"/>
            <a:ext cx="675467" cy="2678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←</a:t>
            </a:r>
            <a:endParaRPr kumimoji="0" lang="en-US" altLang="ko-KR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05" name="Rectangle 7">
            <a:extLst>
              <a:ext uri="{FF2B5EF4-FFF2-40B4-BE49-F238E27FC236}">
                <a16:creationId xmlns:a16="http://schemas.microsoft.com/office/drawing/2014/main" id="{714D6E43-0EFB-2264-E01B-9B462E7ECC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99725" y="6087137"/>
            <a:ext cx="1398262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rPr>
              <a:t>개발완료 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rPr>
              <a:t>3/11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rPr>
              <a:t>일</a:t>
            </a:r>
            <a:endParaRPr kumimoji="0" lang="en-US" altLang="ko-KR" sz="800" b="0" i="0" u="none" strike="noStrike" kern="120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itchFamily="34" charset="0"/>
              <a:sym typeface="Wingdings" pitchFamily="2" charset="2"/>
            </a:endParaRPr>
          </a:p>
        </p:txBody>
      </p:sp>
      <p:sp>
        <p:nvSpPr>
          <p:cNvPr id="206" name="Rectangle 7">
            <a:extLst>
              <a:ext uri="{FF2B5EF4-FFF2-40B4-BE49-F238E27FC236}">
                <a16:creationId xmlns:a16="http://schemas.microsoft.com/office/drawing/2014/main" id="{8A8B11B1-09E0-BD86-9255-6EA8570229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32402" y="6087047"/>
            <a:ext cx="1398262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rPr>
              <a:t>개발완료 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rPr>
              <a:t>5/4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rPr>
              <a:t>일</a:t>
            </a:r>
            <a:endParaRPr kumimoji="0" lang="en-US" altLang="ko-KR" sz="800" b="0" i="0" u="none" strike="noStrike" kern="120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itchFamily="34" charset="0"/>
              <a:sym typeface="Wingdings" pitchFamily="2" charset="2"/>
            </a:endParaRPr>
          </a:p>
        </p:txBody>
      </p:sp>
      <p:grpSp>
        <p:nvGrpSpPr>
          <p:cNvPr id="207" name="그룹 206">
            <a:extLst>
              <a:ext uri="{FF2B5EF4-FFF2-40B4-BE49-F238E27FC236}">
                <a16:creationId xmlns:a16="http://schemas.microsoft.com/office/drawing/2014/main" id="{052E9446-75AE-BFF8-4780-615EEC792951}"/>
              </a:ext>
            </a:extLst>
          </p:cNvPr>
          <p:cNvGrpSpPr/>
          <p:nvPr/>
        </p:nvGrpSpPr>
        <p:grpSpPr>
          <a:xfrm>
            <a:off x="3612423" y="4207945"/>
            <a:ext cx="998692" cy="953077"/>
            <a:chOff x="1834335" y="5665603"/>
            <a:chExt cx="1016362" cy="965502"/>
          </a:xfrm>
        </p:grpSpPr>
        <p:pic>
          <p:nvPicPr>
            <p:cNvPr id="208" name="그림 207">
              <a:extLst>
                <a:ext uri="{FF2B5EF4-FFF2-40B4-BE49-F238E27FC236}">
                  <a16:creationId xmlns:a16="http://schemas.microsoft.com/office/drawing/2014/main" id="{DF3F1C9C-D892-C5B4-8970-87FA4B641D6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834335" y="5665603"/>
              <a:ext cx="758970" cy="760365"/>
            </a:xfrm>
            <a:prstGeom prst="rect">
              <a:avLst/>
            </a:prstGeom>
          </p:spPr>
        </p:pic>
        <p:cxnSp>
          <p:nvCxnSpPr>
            <p:cNvPr id="209" name="직선 연결선 208">
              <a:extLst>
                <a:ext uri="{FF2B5EF4-FFF2-40B4-BE49-F238E27FC236}">
                  <a16:creationId xmlns:a16="http://schemas.microsoft.com/office/drawing/2014/main" id="{4CDB884B-BCD3-7588-EDF6-0284A5F942B1}"/>
                </a:ext>
              </a:extLst>
            </p:cNvPr>
            <p:cNvCxnSpPr>
              <a:cxnSpLocks/>
            </p:cNvCxnSpPr>
            <p:nvPr/>
          </p:nvCxnSpPr>
          <p:spPr>
            <a:xfrm>
              <a:off x="2488651" y="5709812"/>
              <a:ext cx="235499" cy="0"/>
            </a:xfrm>
            <a:prstGeom prst="line">
              <a:avLst/>
            </a:prstGeom>
            <a:noFill/>
            <a:ln w="3175" cap="flat" cmpd="sng" algn="ctr">
              <a:solidFill>
                <a:sysClr val="window" lastClr="FFFFFF">
                  <a:lumMod val="50000"/>
                </a:sysClr>
              </a:solidFill>
              <a:prstDash val="solid"/>
            </a:ln>
            <a:effectLst/>
          </p:spPr>
        </p:cxnSp>
        <p:cxnSp>
          <p:nvCxnSpPr>
            <p:cNvPr id="210" name="직선 연결선 209">
              <a:extLst>
                <a:ext uri="{FF2B5EF4-FFF2-40B4-BE49-F238E27FC236}">
                  <a16:creationId xmlns:a16="http://schemas.microsoft.com/office/drawing/2014/main" id="{48492496-65A8-72D3-FA7F-63E6D9DF284B}"/>
                </a:ext>
              </a:extLst>
            </p:cNvPr>
            <p:cNvCxnSpPr>
              <a:cxnSpLocks/>
            </p:cNvCxnSpPr>
            <p:nvPr/>
          </p:nvCxnSpPr>
          <p:spPr>
            <a:xfrm>
              <a:off x="2488651" y="6389261"/>
              <a:ext cx="232324" cy="0"/>
            </a:xfrm>
            <a:prstGeom prst="line">
              <a:avLst/>
            </a:prstGeom>
            <a:noFill/>
            <a:ln w="3175" cap="flat" cmpd="sng" algn="ctr">
              <a:solidFill>
                <a:sysClr val="window" lastClr="FFFFFF">
                  <a:lumMod val="50000"/>
                </a:sysClr>
              </a:solidFill>
              <a:prstDash val="solid"/>
            </a:ln>
            <a:effectLst/>
          </p:spPr>
        </p:cxnSp>
        <p:cxnSp>
          <p:nvCxnSpPr>
            <p:cNvPr id="211" name="직선 연결선 210">
              <a:extLst>
                <a:ext uri="{FF2B5EF4-FFF2-40B4-BE49-F238E27FC236}">
                  <a16:creationId xmlns:a16="http://schemas.microsoft.com/office/drawing/2014/main" id="{57010296-6A38-2FE7-FD19-C6A499E6C7BD}"/>
                </a:ext>
              </a:extLst>
            </p:cNvPr>
            <p:cNvCxnSpPr>
              <a:cxnSpLocks/>
            </p:cNvCxnSpPr>
            <p:nvPr/>
          </p:nvCxnSpPr>
          <p:spPr>
            <a:xfrm>
              <a:off x="2657430" y="5718834"/>
              <a:ext cx="0" cy="656569"/>
            </a:xfrm>
            <a:prstGeom prst="line">
              <a:avLst/>
            </a:prstGeom>
            <a:noFill/>
            <a:ln w="3175" cap="flat" cmpd="sng" algn="ctr">
              <a:solidFill>
                <a:sysClr val="window" lastClr="FFFFFF">
                  <a:lumMod val="50000"/>
                </a:sysClr>
              </a:solidFill>
              <a:prstDash val="solid"/>
              <a:headEnd type="triangle" w="sm" len="sm"/>
              <a:tailEnd type="triangle" w="sm" len="sm"/>
            </a:ln>
            <a:effectLst/>
          </p:spPr>
        </p:cxnSp>
        <p:cxnSp>
          <p:nvCxnSpPr>
            <p:cNvPr id="212" name="직선 연결선 211">
              <a:extLst>
                <a:ext uri="{FF2B5EF4-FFF2-40B4-BE49-F238E27FC236}">
                  <a16:creationId xmlns:a16="http://schemas.microsoft.com/office/drawing/2014/main" id="{4F54647E-935A-9036-66EA-81A637572EC5}"/>
                </a:ext>
              </a:extLst>
            </p:cNvPr>
            <p:cNvCxnSpPr>
              <a:cxnSpLocks/>
            </p:cNvCxnSpPr>
            <p:nvPr/>
          </p:nvCxnSpPr>
          <p:spPr>
            <a:xfrm>
              <a:off x="2552180" y="6374605"/>
              <a:ext cx="0" cy="249606"/>
            </a:xfrm>
            <a:prstGeom prst="line">
              <a:avLst/>
            </a:prstGeom>
            <a:noFill/>
            <a:ln w="3175" cap="flat" cmpd="sng" algn="ctr">
              <a:solidFill>
                <a:sysClr val="window" lastClr="FFFFFF">
                  <a:lumMod val="50000"/>
                </a:sysClr>
              </a:solidFill>
              <a:prstDash val="solid"/>
            </a:ln>
            <a:effectLst/>
          </p:spPr>
        </p:cxnSp>
        <p:cxnSp>
          <p:nvCxnSpPr>
            <p:cNvPr id="213" name="직선 연결선 212">
              <a:extLst>
                <a:ext uri="{FF2B5EF4-FFF2-40B4-BE49-F238E27FC236}">
                  <a16:creationId xmlns:a16="http://schemas.microsoft.com/office/drawing/2014/main" id="{FE2710B0-E6DE-B252-071D-0500761B3933}"/>
                </a:ext>
              </a:extLst>
            </p:cNvPr>
            <p:cNvCxnSpPr>
              <a:cxnSpLocks/>
            </p:cNvCxnSpPr>
            <p:nvPr/>
          </p:nvCxnSpPr>
          <p:spPr>
            <a:xfrm>
              <a:off x="1878857" y="6369843"/>
              <a:ext cx="0" cy="254368"/>
            </a:xfrm>
            <a:prstGeom prst="line">
              <a:avLst/>
            </a:prstGeom>
            <a:noFill/>
            <a:ln w="3175" cap="flat" cmpd="sng" algn="ctr">
              <a:solidFill>
                <a:sysClr val="window" lastClr="FFFFFF">
                  <a:lumMod val="50000"/>
                </a:sysClr>
              </a:solidFill>
              <a:prstDash val="solid"/>
            </a:ln>
            <a:effectLst/>
          </p:spPr>
        </p:cxnSp>
        <p:cxnSp>
          <p:nvCxnSpPr>
            <p:cNvPr id="214" name="직선 연결선 213">
              <a:extLst>
                <a:ext uri="{FF2B5EF4-FFF2-40B4-BE49-F238E27FC236}">
                  <a16:creationId xmlns:a16="http://schemas.microsoft.com/office/drawing/2014/main" id="{3DCEAEDD-002E-1AC2-2475-853D805E7C2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81471" y="6582090"/>
              <a:ext cx="664879" cy="0"/>
            </a:xfrm>
            <a:prstGeom prst="line">
              <a:avLst/>
            </a:prstGeom>
            <a:noFill/>
            <a:ln w="3175" cap="flat" cmpd="sng" algn="ctr">
              <a:solidFill>
                <a:sysClr val="window" lastClr="FFFFFF">
                  <a:lumMod val="50000"/>
                </a:sysClr>
              </a:solidFill>
              <a:prstDash val="solid"/>
              <a:headEnd type="triangle" w="sm" len="sm"/>
              <a:tailEnd type="triangle" w="sm" len="sm"/>
            </a:ln>
            <a:effectLst/>
          </p:spPr>
        </p:cxnSp>
        <p:sp>
          <p:nvSpPr>
            <p:cNvPr id="215" name="TextBox 214">
              <a:extLst>
                <a:ext uri="{FF2B5EF4-FFF2-40B4-BE49-F238E27FC236}">
                  <a16:creationId xmlns:a16="http://schemas.microsoft.com/office/drawing/2014/main" id="{907A5935-C7E3-1362-0EA6-6CBC391D8EE7}"/>
                </a:ext>
              </a:extLst>
            </p:cNvPr>
            <p:cNvSpPr txBox="1"/>
            <p:nvPr/>
          </p:nvSpPr>
          <p:spPr>
            <a:xfrm rot="5400000">
              <a:off x="2405861" y="5948107"/>
              <a:ext cx="654756" cy="234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>
                <a:defRPr sz="1100">
                  <a:solidFill>
                    <a:prstClr val="black"/>
                  </a:solidFill>
                  <a:latin typeface="Arial Narrow"/>
                  <a:ea typeface="LG스마트체 Regular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06600"/>
                  </a:solidFill>
                  <a:effectLst/>
                  <a:uLnTx/>
                  <a:uFillTx/>
                  <a:latin typeface="Arial Narrow"/>
                  <a:ea typeface="LG스마트체 Regular" panose="020B0600000101010101" pitchFamily="50" charset="-127"/>
                  <a:cs typeface="+mn-cs"/>
                </a:rPr>
                <a:t>1134.712</a:t>
              </a:r>
              <a:endPara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216" name="TextBox 215">
              <a:extLst>
                <a:ext uri="{FF2B5EF4-FFF2-40B4-BE49-F238E27FC236}">
                  <a16:creationId xmlns:a16="http://schemas.microsoft.com/office/drawing/2014/main" id="{8BE7F65D-8138-D67F-CEA8-BEC3ADBD1338}"/>
                </a:ext>
              </a:extLst>
            </p:cNvPr>
            <p:cNvSpPr txBox="1"/>
            <p:nvPr/>
          </p:nvSpPr>
          <p:spPr>
            <a:xfrm>
              <a:off x="1912766" y="6397264"/>
              <a:ext cx="649010" cy="2338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>
                <a:defRPr sz="1100">
                  <a:solidFill>
                    <a:prstClr val="black"/>
                  </a:solidFill>
                  <a:latin typeface="Arial Narrow"/>
                  <a:ea typeface="LG스마트체 Regular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06600"/>
                  </a:solidFill>
                  <a:effectLst/>
                  <a:uLnTx/>
                  <a:uFillTx/>
                  <a:latin typeface="Arial Narrow"/>
                  <a:ea typeface="LG스마트체 Regular" panose="020B0600000101010101" pitchFamily="50" charset="-127"/>
                  <a:cs typeface="+mn-cs"/>
                </a:rPr>
                <a:t>1138.224</a:t>
              </a:r>
              <a:endPara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endParaRPr>
            </a:p>
          </p:txBody>
        </p:sp>
      </p:grpSp>
      <p:sp>
        <p:nvSpPr>
          <p:cNvPr id="217" name="Rectangle 7">
            <a:extLst>
              <a:ext uri="{FF2B5EF4-FFF2-40B4-BE49-F238E27FC236}">
                <a16:creationId xmlns:a16="http://schemas.microsoft.com/office/drawing/2014/main" id="{7B5A540B-A653-9985-E748-CD250ED024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2158" y="4306236"/>
            <a:ext cx="731924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rPr>
              <a:t>발광면적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rPr>
              <a:t>(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rPr>
              <a:t>실측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rPr>
              <a:t>)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rPr>
              <a:t>1134 x 1138 </a:t>
            </a:r>
            <a:r>
              <a:rPr kumimoji="0" lang="el-GR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rPr>
              <a:t>μ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rPr>
              <a:t>m</a:t>
            </a:r>
          </a:p>
        </p:txBody>
      </p:sp>
      <p:sp>
        <p:nvSpPr>
          <p:cNvPr id="218" name="Rectangle 7">
            <a:extLst>
              <a:ext uri="{FF2B5EF4-FFF2-40B4-BE49-F238E27FC236}">
                <a16:creationId xmlns:a16="http://schemas.microsoft.com/office/drawing/2014/main" id="{14061ADA-2051-E44E-2BAF-A1A2CE0850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2352" y="5181597"/>
            <a:ext cx="1444368" cy="6924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rPr>
              <a:t>※ LED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rPr>
              <a:t>발광면적 기준으로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itchFamily="34" charset="0"/>
              <a:sym typeface="Wingdings" pitchFamily="2" charset="2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rPr>
              <a:t>    1100</a:t>
            </a:r>
            <a:r>
              <a:rPr kumimoji="0" lang="el-GR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rPr>
              <a:t>μ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rPr>
              <a:t>m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rPr>
              <a:t>대임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rPr>
              <a:t>    -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rPr>
              <a:t>발광면적 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rPr>
              <a:t>1150</a:t>
            </a:r>
            <a:r>
              <a:rPr kumimoji="0" lang="en-US" altLang="ko-KR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μm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이하는 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  <a:sym typeface="Wingdings" pitchFamily="2" charset="2"/>
              </a:rPr>
              <a:t>     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  <a:sym typeface="Wingdings" pitchFamily="2" charset="2"/>
              </a:rPr>
              <a:t>숫자 내림 기준으로 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  <a:sym typeface="Wingdings" pitchFamily="2" charset="2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rPr>
              <a:t>     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rPr>
              <a:t>미니 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rPr>
              <a:t>LED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rPr>
              <a:t>로 </a:t>
            </a:r>
            <a:r>
              <a:rPr kumimoji="0" lang="ko-KR" alt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rPr>
              <a:t>소구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rPr>
              <a:t> 제안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itchFamily="34" charset="0"/>
              <a:sym typeface="Wingdings" pitchFamily="2" charset="2"/>
            </a:endParaRPr>
          </a:p>
        </p:txBody>
      </p:sp>
      <p:sp>
        <p:nvSpPr>
          <p:cNvPr id="219" name="TextBox 11">
            <a:extLst>
              <a:ext uri="{FF2B5EF4-FFF2-40B4-BE49-F238E27FC236}">
                <a16:creationId xmlns:a16="http://schemas.microsoft.com/office/drawing/2014/main" id="{40870B57-A150-C0FA-D2C1-CBB762801A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191" y="6534337"/>
            <a:ext cx="3475192" cy="253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68416" tIns="34208" rIns="68416" bIns="34208">
            <a:spAutoFit/>
          </a:bodyPr>
          <a:lstStyle/>
          <a:p>
            <a:pPr marL="0" marR="0" lvl="0" indent="0" algn="l" defTabSz="1222375" rtl="0" eaLnBrk="1" fontAlgn="ctr" latinLnBrk="1" hangingPunct="1">
              <a:lnSpc>
                <a:spcPct val="120000"/>
              </a:lnSpc>
              <a:spcBef>
                <a:spcPts val="1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  <a:sym typeface="Wingdings" pitchFamily="2" charset="2"/>
              </a:rPr>
              <a:t>LG MiniLED = 1) </a:t>
            </a:r>
            <a:r>
              <a:rPr kumimoji="1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  <a:sym typeface="Wingdings" pitchFamily="2" charset="2"/>
              </a:rPr>
              <a:t>발광면적 기준</a:t>
            </a: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  <a:sym typeface="Wingdings" pitchFamily="2" charset="2"/>
              </a:rPr>
              <a:t> 1,100µm </a:t>
            </a:r>
            <a:r>
              <a:rPr kumimoji="1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  <a:sym typeface="Wingdings" pitchFamily="2" charset="2"/>
              </a:rPr>
              <a:t>미만</a:t>
            </a:r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  <a:sym typeface="Wingdings" pitchFamily="2" charset="2"/>
              </a:rPr>
              <a:t>, 2) DCI 90%</a:t>
            </a:r>
            <a:r>
              <a:rPr kumimoji="1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  <a:sym typeface="Wingdings" pitchFamily="2" charset="2"/>
              </a:rPr>
              <a:t>↑ 이상</a:t>
            </a:r>
            <a:endParaRPr kumimoji="1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anose="020B0604020202020204" pitchFamily="34" charset="0"/>
              <a:sym typeface="Wingdings" pitchFamily="2" charset="2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26E4EB3-6B33-5579-CB0F-3DA1D4FB33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58737" y="158163"/>
            <a:ext cx="1080535" cy="261511"/>
          </a:xfrm>
          <a:prstGeom prst="rect">
            <a:avLst/>
          </a:prstGeom>
          <a:solidFill>
            <a:srgbClr val="006600"/>
          </a:solidFill>
          <a:ln w="12700" algn="ctr">
            <a:solidFill>
              <a:srgbClr val="006600"/>
            </a:solidFill>
            <a:miter lim="800000"/>
            <a:headEnd/>
            <a:tailEnd/>
          </a:ln>
        </p:spPr>
        <p:txBody>
          <a:bodyPr wrap="none" lIns="91336" tIns="45671" rIns="91336" bIns="45671">
            <a:spAutoFit/>
          </a:bodyPr>
          <a:lstStyle>
            <a:defPPr>
              <a:defRPr lang="ko-KR"/>
            </a:defPPr>
            <a:lvl1pPr marL="342651" indent="-342651" defTabSz="913739" eaLnBrk="0" hangingPunct="0">
              <a:defRPr sz="2000" b="1">
                <a:solidFill>
                  <a:prstClr val="black">
                    <a:lumMod val="95000"/>
                    <a:lumOff val="5000"/>
                  </a:prstClr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defRPr>
            </a:lvl1pPr>
          </a:lstStyle>
          <a:p>
            <a:pPr marL="342651" marR="0" lvl="0" indent="-342651" algn="l" defTabSz="913739" rtl="0" eaLnBrk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/>
                <a:ea typeface="LG스마트체 Regular" pitchFamily="50" charset="-127"/>
                <a:cs typeface="Arial" pitchFamily="34" charset="0"/>
              </a:rPr>
              <a:t>연구소 보고자료</a:t>
            </a:r>
            <a:endParaRPr kumimoji="0" lang="en-US" altLang="ko-KR" sz="11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arrow"/>
              <a:ea typeface="LG스마트체 Regular" pitchFamily="50" charset="-127"/>
              <a:cs typeface="Arial" pitchFamily="34" charset="0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F9259F5-BA92-5B31-F04C-E9D9CF02679A}"/>
              </a:ext>
            </a:extLst>
          </p:cNvPr>
          <p:cNvSpPr/>
          <p:nvPr/>
        </p:nvSpPr>
        <p:spPr>
          <a:xfrm>
            <a:off x="4634733" y="1814077"/>
            <a:ext cx="630091" cy="5231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91336" tIns="45671" rIns="91336" bIns="45671">
            <a:spAutoFit/>
          </a:bodyPr>
          <a:lstStyle/>
          <a:p>
            <a:pPr marL="342900" marR="0" lvl="0" indent="-342900" algn="l" defTabSz="913739" rtl="0" eaLnBrk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itchFamily="34" charset="0"/>
              </a:rPr>
              <a:t> </a:t>
            </a:r>
            <a:endParaRPr kumimoji="0" lang="ko-KR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itchFamily="34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AE112C1-68E9-A91C-FBF6-094C9D50D92D}"/>
              </a:ext>
            </a:extLst>
          </p:cNvPr>
          <p:cNvSpPr/>
          <p:nvPr/>
        </p:nvSpPr>
        <p:spPr>
          <a:xfrm>
            <a:off x="4634733" y="5874210"/>
            <a:ext cx="630091" cy="5231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91336" tIns="45671" rIns="91336" bIns="45671">
            <a:spAutoFit/>
          </a:bodyPr>
          <a:lstStyle/>
          <a:p>
            <a:pPr marL="342900" marR="0" lvl="0" indent="-342900" algn="l" defTabSz="913739" rtl="0" eaLnBrk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itchFamily="34" charset="0"/>
              </a:rPr>
              <a:t> </a:t>
            </a:r>
            <a:endParaRPr kumimoji="0" lang="ko-KR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itchFamily="34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6E6AA4B-5745-B66E-C5D8-75D61F4300CA}"/>
              </a:ext>
            </a:extLst>
          </p:cNvPr>
          <p:cNvSpPr/>
          <p:nvPr/>
        </p:nvSpPr>
        <p:spPr>
          <a:xfrm>
            <a:off x="4634733" y="4114898"/>
            <a:ext cx="630091" cy="5231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91336" tIns="45671" rIns="91336" bIns="45671">
            <a:spAutoFit/>
          </a:bodyPr>
          <a:lstStyle/>
          <a:p>
            <a:pPr marL="342900" marR="0" lvl="0" indent="-342900" algn="l" defTabSz="913739" rtl="0" eaLnBrk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itchFamily="34" charset="0"/>
              </a:rPr>
              <a:t> </a:t>
            </a:r>
            <a:endParaRPr kumimoji="0" lang="ko-KR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itchFamily="34" charset="0"/>
            </a:endParaRPr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C4BB2C6C-7A68-8483-8A11-B03368F8F4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6079" y="4111249"/>
            <a:ext cx="731924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rPr>
              <a:t>FOS 3</a:t>
            </a: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rPr>
              <a:t>수준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itchFamily="34" charset="0"/>
              <a:sym typeface="Wingdings" pitchFamily="2" charset="2"/>
            </a:endParaRPr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56E9591B-F9CE-CE7F-6E42-467D88CDB9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83566" y="4111249"/>
            <a:ext cx="731924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rPr>
              <a:t>FOS 2</a:t>
            </a: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itchFamily="34" charset="0"/>
                <a:sym typeface="Wingdings" pitchFamily="2" charset="2"/>
              </a:rPr>
              <a:t>수준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itchFamily="34" charset="0"/>
              <a:sym typeface="Wingdings" pitchFamily="2" charset="2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AAA596E-1AC2-857B-B5B9-9E7CA79526B7}"/>
              </a:ext>
            </a:extLst>
          </p:cNvPr>
          <p:cNvSpPr/>
          <p:nvPr/>
        </p:nvSpPr>
        <p:spPr>
          <a:xfrm>
            <a:off x="7366452" y="1094251"/>
            <a:ext cx="609065" cy="5231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91336" tIns="45671" rIns="91336" bIns="45671">
            <a:spAutoFit/>
          </a:bodyPr>
          <a:lstStyle/>
          <a:p>
            <a:pPr marL="342900" marR="0" lvl="0" indent="-342900" algn="l" defTabSz="913739" rtl="0" eaLnBrk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itchFamily="34" charset="0"/>
              </a:rPr>
              <a:t> </a:t>
            </a:r>
            <a:endParaRPr kumimoji="0" lang="ko-KR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itchFamily="34" charset="0"/>
            </a:endParaRPr>
          </a:p>
        </p:txBody>
      </p:sp>
      <p:sp>
        <p:nvSpPr>
          <p:cNvPr id="14" name="실행 단추: 앞으로 또는 다음으로 이동 13">
            <a:hlinkClick r:id="rId6" action="ppaction://hlinksldjump" highlightClick="1"/>
            <a:extLst>
              <a:ext uri="{FF2B5EF4-FFF2-40B4-BE49-F238E27FC236}">
                <a16:creationId xmlns:a16="http://schemas.microsoft.com/office/drawing/2014/main" id="{91DAF523-A1C5-8FB3-ED0A-137BCE5124DC}"/>
              </a:ext>
            </a:extLst>
          </p:cNvPr>
          <p:cNvSpPr/>
          <p:nvPr/>
        </p:nvSpPr>
        <p:spPr>
          <a:xfrm flipH="1">
            <a:off x="11875755" y="6604005"/>
            <a:ext cx="174171" cy="162773"/>
          </a:xfrm>
          <a:prstGeom prst="actionButtonForwardNext">
            <a:avLst/>
          </a:prstGeom>
          <a:solidFill>
            <a:schemeClr val="bg1">
              <a:lumMod val="85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81044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344780" y="787268"/>
            <a:ext cx="2382631" cy="252239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/>
          <a:p>
            <a:pPr marL="0" marR="0" lvl="0" indent="0" algn="l" defTabSz="914400" rtl="0" eaLnBrk="1" fontAlgn="ctr" latinLnBrk="1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q"/>
              <a:tabLst/>
              <a:defRPr/>
            </a:pP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Precision HDR Master Pro</a:t>
            </a:r>
            <a:endParaRPr kumimoji="0" lang="en-US" altLang="ko-KR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  <a:sym typeface="Wingdings" pitchFamily="2" charset="2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678841" y="2317151"/>
            <a:ext cx="2651688" cy="27186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ctr" latinLnBrk="1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⇒ 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Precision Picture Pro </a:t>
            </a:r>
            <a:r>
              <a:rPr kumimoji="0" lang="ko-KR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anose="020B0604020202020204" pitchFamily="34" charset="0"/>
              </a:rPr>
              <a:t>연동 화질 </a:t>
            </a:r>
            <a:endParaRPr kumimoji="0" lang="en-US" altLang="ko-KR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  <a:sym typeface="Wingdings" pitchFamily="2" charset="2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846303" y="2585567"/>
            <a:ext cx="3841116" cy="34163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- </a:t>
            </a:r>
            <a:r>
              <a:rPr kumimoji="0" lang="en-US" altLang="ko-KR" sz="12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Clear white</a:t>
            </a:r>
            <a:br>
              <a:rPr kumimoji="0" lang="en-US" altLang="ko-KR" sz="12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</a:b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  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:</a:t>
            </a: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영상의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White </a:t>
            </a: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영역을 검출하여</a:t>
            </a:r>
            <a:b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</a:b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    White </a:t>
            </a: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색온도를 올려 시감적인 밝기 향상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- </a:t>
            </a:r>
            <a:r>
              <a:rPr kumimoji="0" lang="en-US" altLang="ko-KR" sz="12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Dynamic Contrast </a:t>
            </a:r>
            <a:br>
              <a:rPr kumimoji="0" lang="en-US" altLang="ko-KR" sz="12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</a:b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 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: </a:t>
            </a: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실시간 영상 분석을 통해 기존 커브 대비 </a:t>
            </a:r>
            <a:b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</a:b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    </a:t>
            </a: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계조 구분력 및 입체감 향상 대응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</a:b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- </a:t>
            </a:r>
            <a:r>
              <a:rPr kumimoji="0" lang="en-US" altLang="ko-KR" sz="12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Super resolution /</a:t>
            </a:r>
            <a:r>
              <a:rPr kumimoji="0" lang="ko-KR" altLang="en-US" sz="1200" b="1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en-US" altLang="ko-KR" sz="12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Sharpness</a:t>
            </a:r>
            <a:br>
              <a:rPr kumimoji="0" lang="en-US" altLang="ko-KR" sz="12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</a:b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 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: </a:t>
            </a: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원본 품질은 유지하면서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Edge/Texture </a:t>
            </a: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개별 강도 설정으로 </a:t>
            </a:r>
            <a:b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</a:b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    Flat </a:t>
            </a: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영역의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noise </a:t>
            </a: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증폭을 최소하면서 영상의 선명도를 강화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4488" y="2612762"/>
            <a:ext cx="1915262" cy="1270122"/>
          </a:xfrm>
          <a:prstGeom prst="rect">
            <a:avLst/>
          </a:prstGeom>
        </p:spPr>
      </p:pic>
      <p:grpSp>
        <p:nvGrpSpPr>
          <p:cNvPr id="39" name="그룹 38"/>
          <p:cNvGrpSpPr/>
          <p:nvPr/>
        </p:nvGrpSpPr>
        <p:grpSpPr>
          <a:xfrm>
            <a:off x="3633405" y="4048230"/>
            <a:ext cx="1921742" cy="1248984"/>
            <a:chOff x="1746369" y="4536961"/>
            <a:chExt cx="2095892" cy="1384543"/>
          </a:xfrm>
        </p:grpSpPr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B5B84590-BB22-4BD9-9764-B6A4050DB04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746369" y="4536961"/>
              <a:ext cx="2095892" cy="1384543"/>
            </a:xfrm>
            <a:prstGeom prst="rect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</p:pic>
        <p:sp>
          <p:nvSpPr>
            <p:cNvPr id="11" name="화살표: 아래쪽 40">
              <a:extLst>
                <a:ext uri="{FF2B5EF4-FFF2-40B4-BE49-F238E27FC236}">
                  <a16:creationId xmlns:a16="http://schemas.microsoft.com/office/drawing/2014/main" id="{96720864-3F48-44BB-8BC0-147364F53C49}"/>
                </a:ext>
              </a:extLst>
            </p:cNvPr>
            <p:cNvSpPr/>
            <p:nvPr/>
          </p:nvSpPr>
          <p:spPr>
            <a:xfrm>
              <a:off x="2231100" y="5418721"/>
              <a:ext cx="103694" cy="185407"/>
            </a:xfrm>
            <a:prstGeom prst="downArrow">
              <a:avLst/>
            </a:prstGeom>
            <a:solidFill>
              <a:srgbClr val="FFFF00"/>
            </a:solidFill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/>
                <a:ea typeface="LG스마트체2.0 Regular"/>
                <a:cs typeface="+mn-cs"/>
              </a:endParaRPr>
            </a:p>
          </p:txBody>
        </p:sp>
        <p:sp>
          <p:nvSpPr>
            <p:cNvPr id="12" name="화살표: 아래쪽 41">
              <a:extLst>
                <a:ext uri="{FF2B5EF4-FFF2-40B4-BE49-F238E27FC236}">
                  <a16:creationId xmlns:a16="http://schemas.microsoft.com/office/drawing/2014/main" id="{11644B02-9E83-4B2E-950F-47D4DB9B7FC7}"/>
                </a:ext>
              </a:extLst>
            </p:cNvPr>
            <p:cNvSpPr/>
            <p:nvPr/>
          </p:nvSpPr>
          <p:spPr>
            <a:xfrm rot="10800000">
              <a:off x="3136753" y="4845388"/>
              <a:ext cx="103694" cy="185407"/>
            </a:xfrm>
            <a:prstGeom prst="downArrow">
              <a:avLst/>
            </a:prstGeom>
            <a:solidFill>
              <a:srgbClr val="FFFF00"/>
            </a:solidFill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/>
                <a:ea typeface="LG스마트체2.0 Regular"/>
                <a:cs typeface="+mn-cs"/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8F2918A4-F95F-4CEC-991E-51533B8D70F2}"/>
                </a:ext>
              </a:extLst>
            </p:cNvPr>
            <p:cNvSpPr/>
            <p:nvPr/>
          </p:nvSpPr>
          <p:spPr>
            <a:xfrm>
              <a:off x="1931127" y="4803941"/>
              <a:ext cx="1300132" cy="2308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8000"/>
                  </a:solidFill>
                  <a:effectLst/>
                  <a:uLnTx/>
                  <a:uFillTx/>
                  <a:latin typeface="Arial Narrow"/>
                  <a:ea typeface="LG스마트체 Regular" panose="020B0600000101010101" pitchFamily="50" charset="-127"/>
                  <a:cs typeface="+mn-cs"/>
                  <a:sym typeface="Wingdings" pitchFamily="2" charset="2"/>
                </a:rPr>
                <a:t>밝기 및 </a:t>
              </a:r>
              <a:r>
                <a:rPr kumimoji="1" lang="en-US" altLang="ko-KR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8000"/>
                  </a:solidFill>
                  <a:effectLst/>
                  <a:uLnTx/>
                  <a:uFillTx/>
                  <a:latin typeface="Arial Narrow"/>
                  <a:ea typeface="LG스마트체 Regular" panose="020B0600000101010101" pitchFamily="50" charset="-127"/>
                  <a:cs typeface="+mn-cs"/>
                  <a:sym typeface="Wingdings" pitchFamily="2" charset="2"/>
                </a:rPr>
                <a:t>contrast </a:t>
              </a:r>
              <a:r>
                <a:rPr kumimoji="1" lang="ko-KR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8000"/>
                  </a:solidFill>
                  <a:effectLst/>
                  <a:uLnTx/>
                  <a:uFillTx/>
                  <a:latin typeface="Arial Narrow"/>
                  <a:ea typeface="LG스마트체 Regular" panose="020B0600000101010101" pitchFamily="50" charset="-127"/>
                  <a:cs typeface="+mn-cs"/>
                  <a:sym typeface="Wingdings" pitchFamily="2" charset="2"/>
                </a:rPr>
                <a:t>향상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3133C6FD-FF48-4B90-89A5-1C257ABAA5E4}"/>
              </a:ext>
            </a:extLst>
          </p:cNvPr>
          <p:cNvSpPr txBox="1"/>
          <p:nvPr/>
        </p:nvSpPr>
        <p:spPr bwMode="auto">
          <a:xfrm>
            <a:off x="6670989" y="787268"/>
            <a:ext cx="2539725" cy="252239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defPPr>
              <a:defRPr lang="ko-KR"/>
            </a:defPPr>
            <a:lvl1pPr fontAlgn="ctr">
              <a:lnSpc>
                <a:spcPts val="1400"/>
              </a:lnSpc>
              <a:buFont typeface="Wingdings" pitchFamily="2" charset="2"/>
              <a:buChar char="q"/>
              <a:defRPr sz="1600" b="1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ctr" latinLnBrk="1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q"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Precision Sound Master Pro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D04A724-CE7B-45C8-8C43-F0446301CA5E}"/>
              </a:ext>
            </a:extLst>
          </p:cNvPr>
          <p:cNvSpPr/>
          <p:nvPr/>
        </p:nvSpPr>
        <p:spPr>
          <a:xfrm>
            <a:off x="7445466" y="5050281"/>
            <a:ext cx="359425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4295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975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* Clear Voice :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저음 및 </a:t>
            </a:r>
            <a:r>
              <a:rPr kumimoji="0" lang="ko-KR" alt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배경음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 저감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+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 목소리 주파수 대역 강화를 통한 </a:t>
            </a:r>
            <a:b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</a:b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                         </a:t>
            </a: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목소리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명료도 강화 기능</a:t>
            </a: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7B414189-358A-4CE8-AAF6-A8D809A82CFE}"/>
              </a:ext>
            </a:extLst>
          </p:cNvPr>
          <p:cNvGrpSpPr/>
          <p:nvPr/>
        </p:nvGrpSpPr>
        <p:grpSpPr>
          <a:xfrm>
            <a:off x="7658383" y="3067843"/>
            <a:ext cx="3088443" cy="1793192"/>
            <a:chOff x="742547" y="3452674"/>
            <a:chExt cx="3472411" cy="2051468"/>
          </a:xfrm>
        </p:grpSpPr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02A38CA4-B48F-460F-BA1F-4EDFAC27E999}"/>
                </a:ext>
              </a:extLst>
            </p:cNvPr>
            <p:cNvCxnSpPr/>
            <p:nvPr/>
          </p:nvCxnSpPr>
          <p:spPr>
            <a:xfrm>
              <a:off x="983512" y="3631019"/>
              <a:ext cx="0" cy="1515140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DEB9B442-5BA9-4A7E-A8BE-6A4F0FA9BFF1}"/>
                </a:ext>
              </a:extLst>
            </p:cNvPr>
            <p:cNvCxnSpPr/>
            <p:nvPr/>
          </p:nvCxnSpPr>
          <p:spPr>
            <a:xfrm flipH="1">
              <a:off x="983513" y="5146159"/>
              <a:ext cx="3110022" cy="0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A9353B29-7C65-4A01-8922-194D10A6A7D5}"/>
                </a:ext>
              </a:extLst>
            </p:cNvPr>
            <p:cNvCxnSpPr/>
            <p:nvPr/>
          </p:nvCxnSpPr>
          <p:spPr>
            <a:xfrm flipH="1">
              <a:off x="983513" y="4473908"/>
              <a:ext cx="3110022" cy="0"/>
            </a:xfrm>
            <a:prstGeom prst="line">
              <a:avLst/>
            </a:prstGeom>
            <a:ln w="9525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자유형 16">
              <a:extLst>
                <a:ext uri="{FF2B5EF4-FFF2-40B4-BE49-F238E27FC236}">
                  <a16:creationId xmlns:a16="http://schemas.microsoft.com/office/drawing/2014/main" id="{12CE2990-B78C-45DD-B7BA-E7C2EED9D661}"/>
                </a:ext>
              </a:extLst>
            </p:cNvPr>
            <p:cNvSpPr/>
            <p:nvPr/>
          </p:nvSpPr>
          <p:spPr>
            <a:xfrm rot="21438323">
              <a:off x="999460" y="4216565"/>
              <a:ext cx="3078126" cy="694259"/>
            </a:xfrm>
            <a:custGeom>
              <a:avLst/>
              <a:gdLst>
                <a:gd name="connsiteX0" fmla="*/ 0 w 3078126"/>
                <a:gd name="connsiteY0" fmla="*/ 683907 h 694540"/>
                <a:gd name="connsiteX1" fmla="*/ 1185531 w 3078126"/>
                <a:gd name="connsiteY1" fmla="*/ 136331 h 694540"/>
                <a:gd name="connsiteX2" fmla="*/ 2179675 w 3078126"/>
                <a:gd name="connsiteY2" fmla="*/ 40638 h 694540"/>
                <a:gd name="connsiteX3" fmla="*/ 3078126 w 3078126"/>
                <a:gd name="connsiteY3" fmla="*/ 694540 h 694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78126" h="694540">
                  <a:moveTo>
                    <a:pt x="0" y="683907"/>
                  </a:moveTo>
                  <a:cubicBezTo>
                    <a:pt x="411126" y="463724"/>
                    <a:pt x="822252" y="243542"/>
                    <a:pt x="1185531" y="136331"/>
                  </a:cubicBezTo>
                  <a:cubicBezTo>
                    <a:pt x="1548810" y="29120"/>
                    <a:pt x="1864243" y="-52397"/>
                    <a:pt x="2179675" y="40638"/>
                  </a:cubicBezTo>
                  <a:cubicBezTo>
                    <a:pt x="2495108" y="133673"/>
                    <a:pt x="2786617" y="414106"/>
                    <a:pt x="3078126" y="694540"/>
                  </a:cubicBezTo>
                </a:path>
              </a:pathLst>
            </a:custGeom>
            <a:noFill/>
            <a:ln>
              <a:solidFill>
                <a:schemeClr val="accent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74295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6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7C39FC6D-0364-4B4F-9FF2-A5AC2F1802FC}"/>
                </a:ext>
              </a:extLst>
            </p:cNvPr>
            <p:cNvSpPr/>
            <p:nvPr/>
          </p:nvSpPr>
          <p:spPr>
            <a:xfrm>
              <a:off x="3413555" y="5236533"/>
              <a:ext cx="801403" cy="26760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74295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13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LG스마트체 Regular" panose="020B0600000101010101" pitchFamily="50" charset="-127"/>
                  <a:cs typeface="+mn-cs"/>
                </a:rPr>
                <a:t>(Frequency)</a:t>
              </a:r>
              <a:endParaRPr kumimoji="0" lang="ko-KR" altLang="en-US" sz="81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690E1578-1803-4AF1-A42F-C3B9B2CB84BA}"/>
                </a:ext>
              </a:extLst>
            </p:cNvPr>
            <p:cNvSpPr/>
            <p:nvPr/>
          </p:nvSpPr>
          <p:spPr>
            <a:xfrm rot="16200000">
              <a:off x="454935" y="3740286"/>
              <a:ext cx="842834" cy="26760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74295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13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LG스마트체 Regular" panose="020B0600000101010101" pitchFamily="50" charset="-127"/>
                  <a:cs typeface="+mn-cs"/>
                </a:rPr>
                <a:t>(Signal level)</a:t>
              </a:r>
              <a:endParaRPr kumimoji="0" lang="ko-KR" altLang="en-US" sz="81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43C805AD-B515-47D2-9ED2-7848238DC2A9}"/>
                </a:ext>
              </a:extLst>
            </p:cNvPr>
            <p:cNvSpPr/>
            <p:nvPr/>
          </p:nvSpPr>
          <p:spPr>
            <a:xfrm>
              <a:off x="2494152" y="5101649"/>
              <a:ext cx="467978" cy="26760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74295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13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LG스마트체 Regular" panose="020B0600000101010101" pitchFamily="50" charset="-127"/>
                  <a:cs typeface="+mn-cs"/>
                </a:rPr>
                <a:t>1kHz</a:t>
              </a:r>
              <a:endParaRPr kumimoji="0" lang="ko-KR" altLang="en-US" sz="81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563D1FBE-7104-469D-8D79-714664B9BCC7}"/>
                </a:ext>
              </a:extLst>
            </p:cNvPr>
            <p:cNvSpPr/>
            <p:nvPr/>
          </p:nvSpPr>
          <p:spPr>
            <a:xfrm>
              <a:off x="1326755" y="5101649"/>
              <a:ext cx="533086" cy="26760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74295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13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LG스마트체 Regular" panose="020B0600000101010101" pitchFamily="50" charset="-127"/>
                  <a:cs typeface="+mn-cs"/>
                </a:rPr>
                <a:t>100Hz</a:t>
              </a:r>
              <a:endParaRPr kumimoji="0" lang="ko-KR" altLang="en-US" sz="81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F18AB847-34DA-4798-B8A8-67819B182910}"/>
                </a:ext>
              </a:extLst>
            </p:cNvPr>
            <p:cNvSpPr/>
            <p:nvPr/>
          </p:nvSpPr>
          <p:spPr>
            <a:xfrm>
              <a:off x="3588221" y="5101649"/>
              <a:ext cx="527166" cy="26760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74295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13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LG스마트체 Regular" panose="020B0600000101010101" pitchFamily="50" charset="-127"/>
                  <a:cs typeface="+mn-cs"/>
                </a:rPr>
                <a:t>10kHz</a:t>
              </a:r>
              <a:endParaRPr kumimoji="0" lang="ko-KR" altLang="en-US" sz="81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2747DA00-C96B-4796-94F4-5113DC426FE6}"/>
                </a:ext>
              </a:extLst>
            </p:cNvPr>
            <p:cNvSpPr/>
            <p:nvPr/>
          </p:nvSpPr>
          <p:spPr>
            <a:xfrm rot="16200000">
              <a:off x="653213" y="4309014"/>
              <a:ext cx="446277" cy="26760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74295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13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LG스마트체 Regular" panose="020B0600000101010101" pitchFamily="50" charset="-127"/>
                  <a:cs typeface="+mn-cs"/>
                </a:rPr>
                <a:t>0 dB</a:t>
              </a:r>
              <a:endParaRPr kumimoji="0" lang="ko-KR" altLang="en-US" sz="81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8" name="자유형 18">
              <a:extLst>
                <a:ext uri="{FF2B5EF4-FFF2-40B4-BE49-F238E27FC236}">
                  <a16:creationId xmlns:a16="http://schemas.microsoft.com/office/drawing/2014/main" id="{4C7EC2C5-9B23-4D5F-8160-C9AD431E5233}"/>
                </a:ext>
              </a:extLst>
            </p:cNvPr>
            <p:cNvSpPr/>
            <p:nvPr/>
          </p:nvSpPr>
          <p:spPr>
            <a:xfrm>
              <a:off x="994144" y="4057077"/>
              <a:ext cx="3072809" cy="403286"/>
            </a:xfrm>
            <a:custGeom>
              <a:avLst/>
              <a:gdLst>
                <a:gd name="connsiteX0" fmla="*/ 0 w 3072809"/>
                <a:gd name="connsiteY0" fmla="*/ 356360 h 356360"/>
                <a:gd name="connsiteX1" fmla="*/ 824023 w 3072809"/>
                <a:gd name="connsiteY1" fmla="*/ 303197 h 356360"/>
                <a:gd name="connsiteX2" fmla="*/ 1589568 w 3072809"/>
                <a:gd name="connsiteY2" fmla="*/ 117127 h 356360"/>
                <a:gd name="connsiteX3" fmla="*/ 2009554 w 3072809"/>
                <a:gd name="connsiteY3" fmla="*/ 16118 h 356360"/>
                <a:gd name="connsiteX4" fmla="*/ 2434856 w 3072809"/>
                <a:gd name="connsiteY4" fmla="*/ 16118 h 356360"/>
                <a:gd name="connsiteX5" fmla="*/ 2737884 w 3072809"/>
                <a:gd name="connsiteY5" fmla="*/ 170290 h 356360"/>
                <a:gd name="connsiteX6" fmla="*/ 2838893 w 3072809"/>
                <a:gd name="connsiteY6" fmla="*/ 149025 h 356360"/>
                <a:gd name="connsiteX7" fmla="*/ 2955851 w 3072809"/>
                <a:gd name="connsiteY7" fmla="*/ 244718 h 356360"/>
                <a:gd name="connsiteX8" fmla="*/ 3072809 w 3072809"/>
                <a:gd name="connsiteY8" fmla="*/ 265983 h 356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072809" h="356360">
                  <a:moveTo>
                    <a:pt x="0" y="356360"/>
                  </a:moveTo>
                  <a:cubicBezTo>
                    <a:pt x="279547" y="349714"/>
                    <a:pt x="559095" y="343069"/>
                    <a:pt x="824023" y="303197"/>
                  </a:cubicBezTo>
                  <a:cubicBezTo>
                    <a:pt x="1088951" y="263325"/>
                    <a:pt x="1589568" y="117127"/>
                    <a:pt x="1589568" y="117127"/>
                  </a:cubicBezTo>
                  <a:cubicBezTo>
                    <a:pt x="1787157" y="69280"/>
                    <a:pt x="1868673" y="32953"/>
                    <a:pt x="2009554" y="16118"/>
                  </a:cubicBezTo>
                  <a:cubicBezTo>
                    <a:pt x="2150435" y="-717"/>
                    <a:pt x="2313468" y="-9577"/>
                    <a:pt x="2434856" y="16118"/>
                  </a:cubicBezTo>
                  <a:cubicBezTo>
                    <a:pt x="2556244" y="41813"/>
                    <a:pt x="2670545" y="148139"/>
                    <a:pt x="2737884" y="170290"/>
                  </a:cubicBezTo>
                  <a:cubicBezTo>
                    <a:pt x="2805224" y="192441"/>
                    <a:pt x="2802565" y="136620"/>
                    <a:pt x="2838893" y="149025"/>
                  </a:cubicBezTo>
                  <a:cubicBezTo>
                    <a:pt x="2875221" y="161430"/>
                    <a:pt x="2916865" y="225225"/>
                    <a:pt x="2955851" y="244718"/>
                  </a:cubicBezTo>
                  <a:cubicBezTo>
                    <a:pt x="2994837" y="264211"/>
                    <a:pt x="3056860" y="261553"/>
                    <a:pt x="3072809" y="265983"/>
                  </a:cubicBezTo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74295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6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35F102F1-51DC-4BC2-AF06-90D09F20E79D}"/>
                </a:ext>
              </a:extLst>
            </p:cNvPr>
            <p:cNvCxnSpPr/>
            <p:nvPr/>
          </p:nvCxnSpPr>
          <p:spPr>
            <a:xfrm flipH="1">
              <a:off x="1095155" y="3687099"/>
              <a:ext cx="313659" cy="0"/>
            </a:xfrm>
            <a:prstGeom prst="line">
              <a:avLst/>
            </a:prstGeom>
            <a:ln w="9525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0FEBD810-E0CC-4403-A95E-9F1F81103BF7}"/>
                </a:ext>
              </a:extLst>
            </p:cNvPr>
            <p:cNvCxnSpPr/>
            <p:nvPr/>
          </p:nvCxnSpPr>
          <p:spPr>
            <a:xfrm flipH="1">
              <a:off x="1095155" y="3835955"/>
              <a:ext cx="313659" cy="0"/>
            </a:xfrm>
            <a:prstGeom prst="line">
              <a:avLst/>
            </a:prstGeom>
            <a:ln w="19050">
              <a:solidFill>
                <a:schemeClr val="accent2">
                  <a:lumMod val="40000"/>
                  <a:lumOff val="6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8D89F30C-80FE-4D34-AA74-BD4FAFDAA9B9}"/>
                </a:ext>
              </a:extLst>
            </p:cNvPr>
            <p:cNvCxnSpPr/>
            <p:nvPr/>
          </p:nvCxnSpPr>
          <p:spPr>
            <a:xfrm flipH="1">
              <a:off x="1095155" y="3990127"/>
              <a:ext cx="313659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8235848F-E902-4729-B7AC-B697F46118F4}"/>
                </a:ext>
              </a:extLst>
            </p:cNvPr>
            <p:cNvSpPr/>
            <p:nvPr/>
          </p:nvSpPr>
          <p:spPr>
            <a:xfrm>
              <a:off x="1374607" y="3561504"/>
              <a:ext cx="613975" cy="25206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74295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31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LG스마트체 Regular" panose="020B0600000101010101" pitchFamily="50" charset="-127"/>
                  <a:cs typeface="+mn-cs"/>
                </a:rPr>
                <a:t>Standard</a:t>
              </a:r>
              <a:endParaRPr kumimoji="0" lang="ko-KR" altLang="en-US" sz="73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6490E9F2-EC31-49B6-A320-5C16BAE953CC}"/>
                </a:ext>
              </a:extLst>
            </p:cNvPr>
            <p:cNvSpPr/>
            <p:nvPr/>
          </p:nvSpPr>
          <p:spPr>
            <a:xfrm>
              <a:off x="1374607" y="3720478"/>
              <a:ext cx="720513" cy="25206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74295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31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LG스마트체 Regular" panose="020B0600000101010101" pitchFamily="50" charset="-127"/>
                  <a:cs typeface="+mn-cs"/>
                </a:rPr>
                <a:t>Clear Voice</a:t>
              </a:r>
              <a:endParaRPr kumimoji="0" lang="ko-KR" altLang="en-US" sz="73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0AACE7D8-F741-41C3-B160-4443218508B1}"/>
                </a:ext>
              </a:extLst>
            </p:cNvPr>
            <p:cNvSpPr/>
            <p:nvPr/>
          </p:nvSpPr>
          <p:spPr>
            <a:xfrm>
              <a:off x="1374607" y="3858555"/>
              <a:ext cx="1428794" cy="25206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74295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31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LG스마트체 Regular" panose="020B0600000101010101" pitchFamily="50" charset="-127"/>
                  <a:cs typeface="+mn-cs"/>
                </a:rPr>
                <a:t>Precision</a:t>
              </a:r>
              <a:r>
                <a:rPr kumimoji="0" lang="ko-KR" altLang="en-US" sz="731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LG스마트체 Regular" panose="020B0600000101010101" pitchFamily="50" charset="-127"/>
                  <a:cs typeface="+mn-cs"/>
                </a:rPr>
                <a:t> </a:t>
              </a:r>
              <a:r>
                <a:rPr kumimoji="0" lang="en-US" altLang="ko-KR" sz="731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LG스마트체 Regular" panose="020B0600000101010101" pitchFamily="50" charset="-127"/>
                  <a:cs typeface="+mn-cs"/>
                </a:rPr>
                <a:t>Sound</a:t>
              </a:r>
              <a:r>
                <a:rPr kumimoji="0" lang="ko-KR" altLang="en-US" sz="731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LG스마트체 Regular" panose="020B0600000101010101" pitchFamily="50" charset="-127"/>
                  <a:cs typeface="+mn-cs"/>
                </a:rPr>
                <a:t> </a:t>
              </a:r>
              <a:r>
                <a:rPr kumimoji="0" lang="en-US" altLang="ko-KR" sz="731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/>
                  <a:ea typeface="LG스마트체 Regular" panose="020B0600000101010101" pitchFamily="50" charset="-127"/>
                  <a:cs typeface="+mn-cs"/>
                </a:rPr>
                <a:t>Master</a:t>
              </a:r>
              <a:r>
                <a:rPr kumimoji="0" lang="en-US" altLang="ko-KR" sz="731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LG스마트체 Regular" panose="020B0600000101010101" pitchFamily="50" charset="-127"/>
                  <a:cs typeface="+mn-cs"/>
                </a:rPr>
                <a:t> Pro</a:t>
              </a:r>
              <a:endParaRPr kumimoji="0" lang="ko-KR" altLang="en-US" sz="73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36" name="Text Box 2">
            <a:extLst>
              <a:ext uri="{FF2B5EF4-FFF2-40B4-BE49-F238E27FC236}">
                <a16:creationId xmlns:a16="http://schemas.microsoft.com/office/drawing/2014/main" id="{A8BF9C39-B3EF-4665-966F-73F00260DB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474" y="77822"/>
            <a:ext cx="8162281" cy="4000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91336" tIns="45671" rIns="91336" bIns="45671">
            <a:spAutoFit/>
          </a:bodyPr>
          <a:lstStyle>
            <a:defPPr>
              <a:defRPr lang="ko-KR"/>
            </a:defPPr>
            <a:lvl1pPr marL="342651" indent="-342651" defTabSz="913739" eaLnBrk="0" hangingPunct="0">
              <a:defRPr sz="2000" b="1">
                <a:solidFill>
                  <a:prstClr val="black">
                    <a:lumMod val="95000"/>
                    <a:lumOff val="5000"/>
                  </a:prstClr>
                </a:solidFill>
                <a:latin typeface="Arial Narrow"/>
                <a:ea typeface="LG스마트체 Regular" pitchFamily="50" charset="-127"/>
                <a:cs typeface="Arial" pitchFamily="34" charset="0"/>
              </a:defRPr>
            </a:lvl1pPr>
          </a:lstStyle>
          <a:p>
            <a:pPr marL="342651" marR="0" lvl="0" indent="-342651" algn="l" defTabSz="913739" rtl="0" eaLnBrk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/>
                <a:ea typeface="LG스마트체 Regular" pitchFamily="50" charset="-127"/>
                <a:cs typeface="Arial" pitchFamily="34" charset="0"/>
              </a:rPr>
              <a:t>유럽 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/>
                <a:ea typeface="LG스마트체 Regular" pitchFamily="50" charset="-127"/>
                <a:cs typeface="Arial" pitchFamily="34" charset="0"/>
              </a:rPr>
              <a:t>Variation Feature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/>
                <a:ea typeface="LG스마트체 Regular" pitchFamily="50" charset="-127"/>
                <a:cs typeface="Arial" pitchFamily="34" charset="0"/>
              </a:rPr>
              <a:t> 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/>
                <a:ea typeface="LG스마트체 Regular" pitchFamily="50" charset="-127"/>
                <a:cs typeface="Arial" pitchFamily="34" charset="0"/>
              </a:rPr>
              <a:t>: Precision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/>
                <a:ea typeface="LG스마트체 Regular" pitchFamily="50" charset="-127"/>
                <a:cs typeface="Arial" pitchFamily="34" charset="0"/>
              </a:rPr>
              <a:t> 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/>
                <a:ea typeface="LG스마트체 Regular" pitchFamily="50" charset="-127"/>
                <a:cs typeface="Arial" pitchFamily="34" charset="0"/>
              </a:rPr>
              <a:t>HDR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/>
                <a:ea typeface="LG스마트체 Regular" pitchFamily="50" charset="-127"/>
                <a:cs typeface="Arial" pitchFamily="34" charset="0"/>
              </a:rPr>
              <a:t> 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/>
                <a:ea typeface="LG스마트체 Regular" pitchFamily="50" charset="-127"/>
                <a:cs typeface="Arial" pitchFamily="34" charset="0"/>
              </a:rPr>
              <a:t>Master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/>
                <a:ea typeface="LG스마트체 Regular" pitchFamily="50" charset="-127"/>
                <a:cs typeface="Arial" pitchFamily="34" charset="0"/>
              </a:rPr>
              <a:t> 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/>
                <a:ea typeface="LG스마트체 Regular" pitchFamily="50" charset="-127"/>
                <a:cs typeface="Arial" pitchFamily="34" charset="0"/>
              </a:rPr>
              <a:t>Pro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/>
                <a:ea typeface="LG스마트체 Regular" pitchFamily="50" charset="-127"/>
                <a:cs typeface="Arial" pitchFamily="34" charset="0"/>
              </a:rPr>
              <a:t> 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/>
                <a:ea typeface="LG스마트체 Regular" pitchFamily="50" charset="-127"/>
                <a:cs typeface="Arial" pitchFamily="34" charset="0"/>
              </a:rPr>
              <a:t>/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/>
                <a:ea typeface="LG스마트체 Regular" pitchFamily="50" charset="-127"/>
                <a:cs typeface="Arial" pitchFamily="34" charset="0"/>
              </a:rPr>
              <a:t> 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/>
                <a:ea typeface="LG스마트체 Regular" pitchFamily="50" charset="-127"/>
                <a:cs typeface="Arial" pitchFamily="34" charset="0"/>
              </a:rPr>
              <a:t>Precision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/>
                <a:ea typeface="LG스마트체 Regular" pitchFamily="50" charset="-127"/>
                <a:cs typeface="Arial" pitchFamily="34" charset="0"/>
              </a:rPr>
              <a:t> 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/>
                <a:ea typeface="LG스마트체 Regular" pitchFamily="50" charset="-127"/>
                <a:cs typeface="Arial" pitchFamily="34" charset="0"/>
              </a:rPr>
              <a:t>Sound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/>
                <a:ea typeface="LG스마트체 Regular" pitchFamily="50" charset="-127"/>
                <a:cs typeface="Arial" pitchFamily="34" charset="0"/>
              </a:rPr>
              <a:t> 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/>
                <a:ea typeface="LG스마트체 Regular" pitchFamily="50" charset="-127"/>
                <a:cs typeface="Arial" pitchFamily="34" charset="0"/>
              </a:rPr>
              <a:t>Master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/>
                <a:ea typeface="LG스마트체 Regular" pitchFamily="50" charset="-127"/>
                <a:cs typeface="Arial" pitchFamily="34" charset="0"/>
              </a:rPr>
              <a:t> 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/>
                <a:ea typeface="LG스마트체 Regular" pitchFamily="50" charset="-127"/>
                <a:cs typeface="Arial" pitchFamily="34" charset="0"/>
              </a:rPr>
              <a:t>Pro</a:t>
            </a:r>
          </a:p>
        </p:txBody>
      </p:sp>
      <p:cxnSp>
        <p:nvCxnSpPr>
          <p:cNvPr id="38" name="직선 연결선 37"/>
          <p:cNvCxnSpPr/>
          <p:nvPr/>
        </p:nvCxnSpPr>
        <p:spPr>
          <a:xfrm>
            <a:off x="6358758" y="819806"/>
            <a:ext cx="0" cy="5717628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63CB5744-9450-44F2-9DA1-E40055432E68}"/>
              </a:ext>
            </a:extLst>
          </p:cNvPr>
          <p:cNvSpPr/>
          <p:nvPr/>
        </p:nvSpPr>
        <p:spPr>
          <a:xfrm>
            <a:off x="7132799" y="2470068"/>
            <a:ext cx="412164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4295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975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⇒ 목소리도 잘 들리면서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,</a:t>
            </a:r>
            <a:r>
              <a:rPr kumimoji="0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음악이나 영화를 </a:t>
            </a:r>
            <a:r>
              <a:rPr kumimoji="0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시청할 때에는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배경음도</a:t>
            </a:r>
            <a:b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</a:b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      </a:t>
            </a:r>
            <a:r>
              <a:rPr kumimoji="0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풍부하고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선명하게 들려 </a:t>
            </a:r>
            <a:r>
              <a:rPr kumimoji="0" lang="ko-KR" alt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몰입감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 넘치는 시청 경험 제공 </a:t>
            </a:r>
          </a:p>
        </p:txBody>
      </p:sp>
      <p:sp>
        <p:nvSpPr>
          <p:cNvPr id="41" name="직사각형 40"/>
          <p:cNvSpPr/>
          <p:nvPr/>
        </p:nvSpPr>
        <p:spPr>
          <a:xfrm>
            <a:off x="551672" y="1115651"/>
            <a:ext cx="4554452" cy="9787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: </a:t>
            </a:r>
            <a:r>
              <a:rPr kumimoji="0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이 기능은 영상을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장면 별로 분석하여 </a:t>
            </a:r>
            <a:r>
              <a:rPr kumimoji="0" lang="ko-KR" alt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명암비와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 선명도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, </a:t>
            </a:r>
            <a:r>
              <a:rPr kumimoji="0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색상을 향상하여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 </a:t>
            </a:r>
            <a:b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</a:b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  </a:t>
            </a:r>
            <a:r>
              <a:rPr kumimoji="0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이미지를 개선합니다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. </a:t>
            </a:r>
            <a:b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</a:b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  </a:t>
            </a:r>
            <a:r>
              <a:rPr kumimoji="0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일반 영상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(SDR) </a:t>
            </a:r>
            <a:r>
              <a:rPr kumimoji="0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콘텐츠는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HDR</a:t>
            </a:r>
            <a:r>
              <a:rPr kumimoji="0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처럼 보이도록 하고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, </a:t>
            </a:r>
            <a:b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</a:b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  HDR </a:t>
            </a:r>
            <a:r>
              <a:rPr kumimoji="0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영상 콘텐츠는 더욱 생생하게 표현합니다</a:t>
            </a:r>
          </a:p>
        </p:txBody>
      </p:sp>
      <p:sp>
        <p:nvSpPr>
          <p:cNvPr id="42" name="직사각형 41"/>
          <p:cNvSpPr/>
          <p:nvPr/>
        </p:nvSpPr>
        <p:spPr>
          <a:xfrm>
            <a:off x="6885864" y="1115651"/>
            <a:ext cx="4717958" cy="5355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: </a:t>
            </a:r>
            <a:r>
              <a:rPr kumimoji="0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이 기능은 또렷한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목소리와 선명도 강화된 사운드로 시청하는 </a:t>
            </a:r>
            <a:r>
              <a:rPr kumimoji="0" lang="ko-KR" altLang="en-US" sz="1200" b="1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콘텐츠에</a:t>
            </a:r>
            <a:r>
              <a:rPr kumimoji="0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 따라</a:t>
            </a:r>
            <a:b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</a:b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실시간으로 최적화된 음향과 가상 </a:t>
            </a:r>
            <a:r>
              <a:rPr kumimoji="0" lang="ko-KR" alt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서라운드를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 감상할 수 있습니다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+mn-cs"/>
              </a:rPr>
              <a:t>.</a:t>
            </a:r>
            <a:endParaRPr kumimoji="0" lang="ko-KR" altLang="en-US" sz="1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706089" y="2201917"/>
            <a:ext cx="5072708" cy="4041228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itchFamily="34" charset="0"/>
            </a:endParaRPr>
          </a:p>
        </p:txBody>
      </p:sp>
      <p:sp>
        <p:nvSpPr>
          <p:cNvPr id="45" name="직사각형 44"/>
          <p:cNvSpPr/>
          <p:nvPr/>
        </p:nvSpPr>
        <p:spPr>
          <a:xfrm>
            <a:off x="6857999" y="2201917"/>
            <a:ext cx="4768703" cy="4041228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itchFamily="34" charset="0"/>
            </a:endParaRPr>
          </a:p>
        </p:txBody>
      </p:sp>
      <p:sp>
        <p:nvSpPr>
          <p:cNvPr id="7" name="실행 단추: 앞으로 또는 다음으로 이동 6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CAC4EC89-E64A-D554-6B7D-C3A13AC45CC4}"/>
              </a:ext>
            </a:extLst>
          </p:cNvPr>
          <p:cNvSpPr/>
          <p:nvPr/>
        </p:nvSpPr>
        <p:spPr>
          <a:xfrm flipH="1">
            <a:off x="11875755" y="6604005"/>
            <a:ext cx="174171" cy="162773"/>
          </a:xfrm>
          <a:prstGeom prst="actionButtonForwardNext">
            <a:avLst/>
          </a:prstGeom>
          <a:solidFill>
            <a:schemeClr val="bg1">
              <a:lumMod val="85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650580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>
            <a:spLocks noChangeArrowheads="1"/>
          </p:cNvSpPr>
          <p:nvPr/>
        </p:nvSpPr>
        <p:spPr bwMode="auto">
          <a:xfrm>
            <a:off x="293657" y="72162"/>
            <a:ext cx="3355196" cy="4000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91336" tIns="45671" rIns="91336" bIns="45671">
            <a:spAutoFit/>
          </a:bodyPr>
          <a:lstStyle>
            <a:defPPr>
              <a:defRPr lang="ko-KR"/>
            </a:defPPr>
            <a:lvl1pPr marL="342651" indent="-342651" defTabSz="913739" eaLnBrk="0" hangingPunct="0">
              <a:defRPr sz="2000" b="1">
                <a:solidFill>
                  <a:prstClr val="black">
                    <a:lumMod val="95000"/>
                    <a:lumOff val="5000"/>
                  </a:prstClr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defRPr>
            </a:lvl1pPr>
          </a:lstStyle>
          <a:p>
            <a:pPr marL="342651" marR="0" lvl="0" indent="-342651" algn="l" defTabSz="913739" rtl="0" eaLnBrk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>
                <a:latin typeface="Arial Narrow"/>
              </a:rPr>
              <a:t>유첨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/>
                <a:ea typeface="LG스마트체 Regular" pitchFamily="50" charset="-127"/>
                <a:cs typeface="Arial" pitchFamily="34" charset="0"/>
              </a:rPr>
              <a:t>. ’26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/>
                <a:ea typeface="LG스마트체 Regular" pitchFamily="50" charset="-127"/>
                <a:cs typeface="Arial" pitchFamily="34" charset="0"/>
              </a:rPr>
              <a:t>년 유럽 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/>
                <a:ea typeface="LG스마트체 Regular" pitchFamily="50" charset="-127"/>
                <a:cs typeface="Arial" pitchFamily="34" charset="0"/>
              </a:rPr>
              <a:t>TV PRM 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/>
                <a:ea typeface="LG스마트체 Regular" pitchFamily="50" charset="-127"/>
                <a:cs typeface="Arial" pitchFamily="34" charset="0"/>
              </a:rPr>
              <a:t>운영안</a:t>
            </a:r>
            <a:endParaRPr kumimoji="0" lang="en-US" altLang="ko-KR" sz="2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Arial Narrow"/>
              <a:ea typeface="LG스마트체 Regular" pitchFamily="50" charset="-127"/>
              <a:cs typeface="Arial" pitchFamily="34" charset="0"/>
            </a:endParaRP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1FD1AE05-71E3-BB1D-458B-5715C2B0A18A}"/>
              </a:ext>
            </a:extLst>
          </p:cNvPr>
          <p:cNvGraphicFramePr>
            <a:graphicFrameLocks noGrp="1"/>
          </p:cNvGraphicFramePr>
          <p:nvPr/>
        </p:nvGraphicFramePr>
        <p:xfrm>
          <a:off x="1056125" y="4881788"/>
          <a:ext cx="4236480" cy="1676400"/>
        </p:xfrm>
        <a:graphic>
          <a:graphicData uri="http://schemas.openxmlformats.org/drawingml/2006/table">
            <a:tbl>
              <a:tblPr/>
              <a:tblGrid>
                <a:gridCol w="1059120">
                  <a:extLst>
                    <a:ext uri="{9D8B030D-6E8A-4147-A177-3AD203B41FA5}">
                      <a16:colId xmlns:a16="http://schemas.microsoft.com/office/drawing/2014/main" val="4078450458"/>
                    </a:ext>
                  </a:extLst>
                </a:gridCol>
                <a:gridCol w="1059120">
                  <a:extLst>
                    <a:ext uri="{9D8B030D-6E8A-4147-A177-3AD203B41FA5}">
                      <a16:colId xmlns:a16="http://schemas.microsoft.com/office/drawing/2014/main" val="2872941491"/>
                    </a:ext>
                  </a:extLst>
                </a:gridCol>
                <a:gridCol w="1059120">
                  <a:extLst>
                    <a:ext uri="{9D8B030D-6E8A-4147-A177-3AD203B41FA5}">
                      <a16:colId xmlns:a16="http://schemas.microsoft.com/office/drawing/2014/main" val="2184131377"/>
                    </a:ext>
                  </a:extLst>
                </a:gridCol>
                <a:gridCol w="1059120">
                  <a:extLst>
                    <a:ext uri="{9D8B030D-6E8A-4147-A177-3AD203B41FA5}">
                      <a16:colId xmlns:a16="http://schemas.microsoft.com/office/drawing/2014/main" val="3637572900"/>
                    </a:ext>
                  </a:extLst>
                </a:gridCol>
              </a:tblGrid>
              <a:tr h="33528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24</a:t>
                      </a:r>
                      <a:r>
                        <a:rPr lang="ko-KR" altLang="en-US" sz="11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년</a:t>
                      </a:r>
                      <a:endParaRPr lang="en-US" altLang="ko-KR" sz="11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000000">
                          <a:lumMod val="50000"/>
                          <a:lumOff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>
                          <a:lumMod val="50000"/>
                          <a:lumOff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서유럽 </a:t>
                      </a:r>
                      <a:r>
                        <a:rPr lang="en-US" altLang="ko-KR" sz="11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(7/8/9)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>
                          <a:lumMod val="50000"/>
                          <a:lumOff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100" b="1" i="0" u="none" strike="noStrike" dirty="0" err="1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팬유럽</a:t>
                      </a:r>
                      <a:r>
                        <a:rPr lang="ko-KR" altLang="en-US" sz="11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1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(4/5/6)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>
                          <a:lumMod val="50000"/>
                          <a:lumOff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100" b="1" i="0" u="none" strike="noStrike" dirty="0" err="1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중유럽</a:t>
                      </a:r>
                      <a:r>
                        <a:rPr lang="ko-KR" altLang="en-US" sz="11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1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(1/2/3)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>
                          <a:lumMod val="50000"/>
                          <a:lumOff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>
                          <a:lumMod val="50000"/>
                          <a:lumOff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7984314"/>
                  </a:ext>
                </a:extLst>
              </a:tr>
              <a:tr h="33528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marL="0" marR="0" lvl="0" indent="0" algn="ctr" defTabSz="914395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Twin Tuner</a:t>
                      </a:r>
                      <a:br>
                        <a:rPr lang="en-US" altLang="ko-KR" sz="11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11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(OLED</a:t>
                      </a:r>
                      <a:r>
                        <a:rPr lang="ko-KR" altLang="en-US" sz="11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1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  </a:t>
                      </a:r>
                      <a:r>
                        <a:rPr lang="ko-KR" altLang="en-US" sz="11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이상</a:t>
                      </a:r>
                      <a:r>
                        <a:rPr lang="en-US" altLang="ko-KR" sz="11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000000">
                          <a:lumMod val="50000"/>
                          <a:lumOff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8152644"/>
                  </a:ext>
                </a:extLst>
              </a:tr>
              <a:tr h="33528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WISA</a:t>
                      </a:r>
                      <a:br>
                        <a:rPr lang="en-US" altLang="ko-KR" sz="11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11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(120Hz </a:t>
                      </a:r>
                      <a:r>
                        <a:rPr lang="ko-KR" altLang="en-US" sz="11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이상</a:t>
                      </a:r>
                      <a:r>
                        <a:rPr lang="en-US" altLang="ko-KR" sz="11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000000">
                          <a:lumMod val="50000"/>
                          <a:lumOff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O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1566072"/>
                  </a:ext>
                </a:extLst>
              </a:tr>
              <a:tr h="33528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Calman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000000">
                          <a:lumMod val="50000"/>
                          <a:lumOff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O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1205362"/>
                  </a:ext>
                </a:extLst>
              </a:tr>
              <a:tr h="33528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화질</a:t>
                      </a:r>
                      <a:r>
                        <a:rPr lang="en-US" altLang="ko-KR" sz="11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11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모드</a:t>
                      </a:r>
                      <a:endParaRPr lang="en-US" altLang="ko-KR" sz="11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000000">
                          <a:lumMod val="50000"/>
                          <a:lumOff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Football Mode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Sports Mode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marL="0" marR="0" lvl="0" indent="0" algn="ctr" defTabSz="914395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Sports Mode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3654956"/>
                  </a:ext>
                </a:extLst>
              </a:tr>
            </a:tbl>
          </a:graphicData>
        </a:graphic>
      </p:graphicFrame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F38D1A51-F141-65E3-9865-84065703A125}"/>
              </a:ext>
            </a:extLst>
          </p:cNvPr>
          <p:cNvGraphicFramePr>
            <a:graphicFrameLocks noGrp="1"/>
          </p:cNvGraphicFramePr>
          <p:nvPr/>
        </p:nvGraphicFramePr>
        <p:xfrm>
          <a:off x="1056125" y="3149573"/>
          <a:ext cx="4236480" cy="1609874"/>
        </p:xfrm>
        <a:graphic>
          <a:graphicData uri="http://schemas.openxmlformats.org/drawingml/2006/table">
            <a:tbl>
              <a:tblPr/>
              <a:tblGrid>
                <a:gridCol w="1059120">
                  <a:extLst>
                    <a:ext uri="{9D8B030D-6E8A-4147-A177-3AD203B41FA5}">
                      <a16:colId xmlns:a16="http://schemas.microsoft.com/office/drawing/2014/main" val="4078450458"/>
                    </a:ext>
                  </a:extLst>
                </a:gridCol>
                <a:gridCol w="1059120">
                  <a:extLst>
                    <a:ext uri="{9D8B030D-6E8A-4147-A177-3AD203B41FA5}">
                      <a16:colId xmlns:a16="http://schemas.microsoft.com/office/drawing/2014/main" val="2872941491"/>
                    </a:ext>
                  </a:extLst>
                </a:gridCol>
                <a:gridCol w="1059120">
                  <a:extLst>
                    <a:ext uri="{9D8B030D-6E8A-4147-A177-3AD203B41FA5}">
                      <a16:colId xmlns:a16="http://schemas.microsoft.com/office/drawing/2014/main" val="2184131377"/>
                    </a:ext>
                  </a:extLst>
                </a:gridCol>
                <a:gridCol w="1059120">
                  <a:extLst>
                    <a:ext uri="{9D8B030D-6E8A-4147-A177-3AD203B41FA5}">
                      <a16:colId xmlns:a16="http://schemas.microsoft.com/office/drawing/2014/main" val="3637572900"/>
                    </a:ext>
                  </a:extLst>
                </a:gridCol>
              </a:tblGrid>
              <a:tr h="321112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25</a:t>
                      </a:r>
                      <a:r>
                        <a:rPr lang="ko-KR" altLang="en-US" sz="11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년</a:t>
                      </a:r>
                      <a:endParaRPr lang="en-US" altLang="ko-KR" sz="11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000000">
                          <a:lumMod val="50000"/>
                          <a:lumOff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>
                          <a:lumMod val="50000"/>
                          <a:lumOff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서유럽 </a:t>
                      </a:r>
                      <a:r>
                        <a:rPr lang="en-US" altLang="ko-KR" sz="11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(7/8/9)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>
                          <a:lumMod val="50000"/>
                          <a:lumOff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100" b="1" i="0" u="none" strike="noStrike" dirty="0" err="1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팬유럽</a:t>
                      </a:r>
                      <a:r>
                        <a:rPr lang="ko-KR" altLang="en-US" sz="11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1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(4/5/6)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>
                          <a:lumMod val="50000"/>
                          <a:lumOff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100" b="1" i="0" u="none" strike="noStrike" dirty="0" err="1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중유럽</a:t>
                      </a:r>
                      <a:r>
                        <a:rPr lang="ko-KR" altLang="en-US" sz="11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1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(1/2/3)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>
                          <a:lumMod val="50000"/>
                          <a:lumOff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>
                          <a:lumMod val="50000"/>
                          <a:lumOff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7984314"/>
                  </a:ext>
                </a:extLst>
              </a:tr>
              <a:tr h="321112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marL="0" marR="0" lvl="0" indent="0" algn="ctr" defTabSz="914395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Twin Tuner</a:t>
                      </a:r>
                      <a:br>
                        <a:rPr lang="en-US" altLang="ko-KR" sz="11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11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(OLED</a:t>
                      </a:r>
                      <a:r>
                        <a:rPr lang="ko-KR" altLang="en-US" sz="11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1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  </a:t>
                      </a:r>
                      <a:r>
                        <a:rPr lang="ko-KR" altLang="en-US" sz="11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이상</a:t>
                      </a:r>
                      <a:r>
                        <a:rPr lang="en-US" altLang="ko-KR" sz="11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000000">
                          <a:lumMod val="50000"/>
                          <a:lumOff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>
                          <a:lumMod val="50000"/>
                          <a:lumOff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8152644"/>
                  </a:ext>
                </a:extLst>
              </a:tr>
              <a:tr h="321112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WISA</a:t>
                      </a:r>
                      <a:br>
                        <a:rPr lang="en-US" altLang="ko-KR" sz="11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11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(120Hz </a:t>
                      </a:r>
                      <a:r>
                        <a:rPr lang="ko-KR" altLang="en-US" sz="11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이상</a:t>
                      </a:r>
                      <a:r>
                        <a:rPr lang="en-US" altLang="ko-KR" sz="11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000000">
                          <a:lumMod val="50000"/>
                          <a:lumOff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O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O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O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>
                          <a:lumMod val="50000"/>
                          <a:lumOff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1566072"/>
                  </a:ext>
                </a:extLst>
              </a:tr>
              <a:tr h="30910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Calman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000000">
                          <a:lumMod val="50000"/>
                          <a:lumOff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O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1205362"/>
                  </a:ext>
                </a:extLst>
              </a:tr>
              <a:tr h="30910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화질</a:t>
                      </a:r>
                      <a:r>
                        <a:rPr lang="en-US" altLang="ko-KR" sz="11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11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모드</a:t>
                      </a:r>
                      <a:endParaRPr lang="en-US" altLang="ko-KR" sz="11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000000">
                          <a:lumMod val="50000"/>
                          <a:lumOff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Football Mode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Sports Mode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marL="0" marR="0" lvl="0" indent="0" algn="ctr" defTabSz="914395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Sports Mode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3654956"/>
                  </a:ext>
                </a:extLst>
              </a:tr>
            </a:tbl>
          </a:graphicData>
        </a:graphic>
      </p:graphicFrame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8CF0EC04-8C31-C0C0-64D0-04668965080B}"/>
              </a:ext>
            </a:extLst>
          </p:cNvPr>
          <p:cNvGraphicFramePr>
            <a:graphicFrameLocks noGrp="1"/>
          </p:cNvGraphicFramePr>
          <p:nvPr/>
        </p:nvGraphicFramePr>
        <p:xfrm>
          <a:off x="1056125" y="1417273"/>
          <a:ext cx="4236480" cy="1609874"/>
        </p:xfrm>
        <a:graphic>
          <a:graphicData uri="http://schemas.openxmlformats.org/drawingml/2006/table">
            <a:tbl>
              <a:tblPr/>
              <a:tblGrid>
                <a:gridCol w="1059120">
                  <a:extLst>
                    <a:ext uri="{9D8B030D-6E8A-4147-A177-3AD203B41FA5}">
                      <a16:colId xmlns:a16="http://schemas.microsoft.com/office/drawing/2014/main" val="4078450458"/>
                    </a:ext>
                  </a:extLst>
                </a:gridCol>
                <a:gridCol w="1059120">
                  <a:extLst>
                    <a:ext uri="{9D8B030D-6E8A-4147-A177-3AD203B41FA5}">
                      <a16:colId xmlns:a16="http://schemas.microsoft.com/office/drawing/2014/main" val="2872941491"/>
                    </a:ext>
                  </a:extLst>
                </a:gridCol>
                <a:gridCol w="1059120">
                  <a:extLst>
                    <a:ext uri="{9D8B030D-6E8A-4147-A177-3AD203B41FA5}">
                      <a16:colId xmlns:a16="http://schemas.microsoft.com/office/drawing/2014/main" val="2184131377"/>
                    </a:ext>
                  </a:extLst>
                </a:gridCol>
                <a:gridCol w="1059120">
                  <a:extLst>
                    <a:ext uri="{9D8B030D-6E8A-4147-A177-3AD203B41FA5}">
                      <a16:colId xmlns:a16="http://schemas.microsoft.com/office/drawing/2014/main" val="3637572900"/>
                    </a:ext>
                  </a:extLst>
                </a:gridCol>
              </a:tblGrid>
              <a:tr h="321112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26</a:t>
                      </a:r>
                      <a:r>
                        <a:rPr lang="ko-KR" altLang="en-US" sz="11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년</a:t>
                      </a:r>
                      <a:endParaRPr lang="en-US" altLang="ko-KR" sz="11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000000">
                          <a:lumMod val="50000"/>
                          <a:lumOff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>
                          <a:lumMod val="50000"/>
                          <a:lumOff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100" b="1" i="0" u="none" strike="noStrike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서유럽 </a:t>
                      </a:r>
                      <a:r>
                        <a:rPr lang="en-US" altLang="ko-KR" sz="11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(7/8/9)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>
                          <a:lumMod val="50000"/>
                          <a:lumOff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100" b="1" i="0" u="none" strike="noStrike" dirty="0" err="1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팬유럽</a:t>
                      </a:r>
                      <a:r>
                        <a:rPr lang="ko-KR" altLang="en-US" sz="1100" b="1" i="0" u="none" strike="noStrike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1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(4/5/6)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>
                          <a:lumMod val="50000"/>
                          <a:lumOff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100" b="1" i="0" u="none" strike="noStrike" dirty="0" err="1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중유럽</a:t>
                      </a:r>
                      <a:r>
                        <a:rPr lang="ko-KR" altLang="en-US" sz="1100" b="1" i="0" u="none" strike="noStrike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1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(1/2/3)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>
                          <a:lumMod val="50000"/>
                          <a:lumOff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>
                          <a:lumMod val="50000"/>
                          <a:lumOff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7984314"/>
                  </a:ext>
                </a:extLst>
              </a:tr>
              <a:tr h="321112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marL="0" marR="0" lvl="0" indent="0" algn="ctr" defTabSz="914395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Twin Tuner</a:t>
                      </a:r>
                      <a:br>
                        <a:rPr lang="en-US" altLang="ko-KR" sz="11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11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(OLED</a:t>
                      </a:r>
                      <a:r>
                        <a:rPr lang="ko-KR" altLang="en-US" sz="11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1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  </a:t>
                      </a:r>
                      <a:r>
                        <a:rPr lang="ko-KR" altLang="en-US" sz="11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이상</a:t>
                      </a:r>
                      <a:r>
                        <a:rPr lang="en-US" altLang="ko-KR" sz="11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000000">
                          <a:lumMod val="50000"/>
                          <a:lumOff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>
                          <a:lumMod val="50000"/>
                          <a:lumOff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8152644"/>
                  </a:ext>
                </a:extLst>
              </a:tr>
              <a:tr h="321112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WISA</a:t>
                      </a:r>
                      <a:br>
                        <a:rPr lang="en-US" altLang="ko-KR" sz="11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11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(120Hz </a:t>
                      </a:r>
                      <a:r>
                        <a:rPr lang="ko-KR" altLang="en-US" sz="11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이상</a:t>
                      </a:r>
                      <a:r>
                        <a:rPr lang="en-US" altLang="ko-KR" sz="11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000000">
                          <a:lumMod val="50000"/>
                          <a:lumOff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>
                          <a:lumMod val="50000"/>
                          <a:lumOff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1566072"/>
                  </a:ext>
                </a:extLst>
              </a:tr>
              <a:tr h="30910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Calman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000000">
                          <a:lumMod val="50000"/>
                          <a:lumOff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O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O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O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>
                          <a:lumMod val="50000"/>
                          <a:lumOff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1205362"/>
                  </a:ext>
                </a:extLst>
              </a:tr>
              <a:tr h="30910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화질</a:t>
                      </a:r>
                      <a:r>
                        <a:rPr lang="en-US" altLang="ko-KR" sz="11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11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모드</a:t>
                      </a:r>
                      <a:endParaRPr lang="en-US" altLang="ko-KR" sz="11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000000">
                          <a:lumMod val="50000"/>
                          <a:lumOff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Dynamic Mode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Vivid Mode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marL="0" marR="0" lvl="0" indent="0" algn="ctr" defTabSz="914395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Enhanced Mode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3654956"/>
                  </a:ext>
                </a:extLst>
              </a:tr>
            </a:tbl>
          </a:graphicData>
        </a:graphic>
      </p:graphicFrame>
      <p:grpSp>
        <p:nvGrpSpPr>
          <p:cNvPr id="18" name="그룹 17">
            <a:extLst>
              <a:ext uri="{FF2B5EF4-FFF2-40B4-BE49-F238E27FC236}">
                <a16:creationId xmlns:a16="http://schemas.microsoft.com/office/drawing/2014/main" id="{EB83C73E-A5D4-F770-A467-C4EC75EEA24D}"/>
              </a:ext>
            </a:extLst>
          </p:cNvPr>
          <p:cNvGrpSpPr/>
          <p:nvPr/>
        </p:nvGrpSpPr>
        <p:grpSpPr>
          <a:xfrm>
            <a:off x="1559460" y="643866"/>
            <a:ext cx="3229811" cy="288147"/>
            <a:chOff x="9340555" y="768590"/>
            <a:chExt cx="2679577" cy="288147"/>
          </a:xfrm>
        </p:grpSpPr>
        <p:sp>
          <p:nvSpPr>
            <p:cNvPr id="19" name="Rectangle 7">
              <a:extLst>
                <a:ext uri="{FF2B5EF4-FFF2-40B4-BE49-F238E27FC236}">
                  <a16:creationId xmlns:a16="http://schemas.microsoft.com/office/drawing/2014/main" id="{87DE4714-9F4C-81FB-5B39-710296CC7A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60976" y="768590"/>
              <a:ext cx="1638735" cy="28814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36000" rIns="0" bIns="36000" anchor="ctr" anchorCtr="1">
              <a:spAutoFit/>
            </a:bodyPr>
            <a:lstStyle/>
            <a:p>
              <a:pPr marL="0" marR="0" lvl="0" indent="0" algn="ctr" defTabSz="89535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20000"/>
                <a:buFontTx/>
                <a:buNone/>
                <a:tabLst/>
                <a:defRPr/>
              </a:pPr>
              <a:r>
                <a:rPr kumimoji="1" lang="ko-KR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panose="020B0604020202020204" pitchFamily="34" charset="0"/>
                </a:rPr>
                <a:t>지역 차별화 스펙</a:t>
              </a:r>
              <a:endParaRPr kumimoji="1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20" name="Line 46">
              <a:extLst>
                <a:ext uri="{FF2B5EF4-FFF2-40B4-BE49-F238E27FC236}">
                  <a16:creationId xmlns:a16="http://schemas.microsoft.com/office/drawing/2014/main" id="{2A846FD9-A147-833F-F6A8-4142C136F8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340555" y="1043771"/>
              <a:ext cx="2679577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800" b="0" i="0" u="sng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endParaRPr>
            </a:p>
          </p:txBody>
        </p:sp>
      </p:grpSp>
      <p:sp>
        <p:nvSpPr>
          <p:cNvPr id="21" name="Rectangle 5">
            <a:hlinkClick r:id="" action="ppaction://noaction"/>
            <a:extLst>
              <a:ext uri="{FF2B5EF4-FFF2-40B4-BE49-F238E27FC236}">
                <a16:creationId xmlns:a16="http://schemas.microsoft.com/office/drawing/2014/main" id="{D56991D4-BAE8-D426-5A1B-D17A9D088500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gray">
          <a:xfrm>
            <a:off x="1056125" y="1091200"/>
            <a:ext cx="4310743" cy="2585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80975" marR="0" lvl="0" indent="-180975" algn="l" defTabSz="914400" rtl="0" eaLnBrk="1" fontAlgn="base" latinLnBrk="1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1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Twin Tuner, WISA </a:t>
            </a:r>
            <a:r>
              <a:rPr kumimoji="1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스펙 삭제 </a:t>
            </a:r>
            <a:r>
              <a:rPr kumimoji="1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및 </a:t>
            </a:r>
            <a:r>
              <a:rPr kumimoji="1" lang="en-US" altLang="ko-KR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Calman</a:t>
            </a:r>
            <a:r>
              <a:rPr kumimoji="1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1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전체 적용으로 </a:t>
            </a:r>
            <a:r>
              <a:rPr kumimoji="1" lang="ko-KR" alt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구분자</a:t>
            </a:r>
            <a:r>
              <a:rPr kumimoji="1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축소됨 </a:t>
            </a: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363C087F-E212-332D-C479-4C77EB324645}"/>
              </a:ext>
            </a:extLst>
          </p:cNvPr>
          <p:cNvGrpSpPr/>
          <p:nvPr/>
        </p:nvGrpSpPr>
        <p:grpSpPr>
          <a:xfrm>
            <a:off x="7493729" y="625205"/>
            <a:ext cx="3229811" cy="288147"/>
            <a:chOff x="9340555" y="768590"/>
            <a:chExt cx="2679577" cy="288147"/>
          </a:xfrm>
        </p:grpSpPr>
        <p:sp>
          <p:nvSpPr>
            <p:cNvPr id="23" name="Rectangle 7">
              <a:extLst>
                <a:ext uri="{FF2B5EF4-FFF2-40B4-BE49-F238E27FC236}">
                  <a16:creationId xmlns:a16="http://schemas.microsoft.com/office/drawing/2014/main" id="{763DBF2F-2E0A-00FD-B516-2182374ABA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60976" y="768590"/>
              <a:ext cx="1638735" cy="28814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36000" rIns="0" bIns="36000" anchor="ctr" anchorCtr="1">
              <a:spAutoFit/>
            </a:bodyPr>
            <a:lstStyle/>
            <a:p>
              <a:pPr marL="0" marR="0" lvl="0" indent="0" algn="ctr" defTabSz="89535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20000"/>
                <a:buFontTx/>
                <a:buNone/>
                <a:tabLst/>
                <a:defRPr/>
              </a:pPr>
              <a:r>
                <a:rPr kumimoji="1" lang="en-US" altLang="ko-KR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panose="020B0604020202020204" pitchFamily="34" charset="0"/>
                </a:rPr>
                <a:t>OLED C </a:t>
              </a:r>
              <a:r>
                <a:rPr kumimoji="1" lang="ko-KR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Arial" panose="020B0604020202020204" pitchFamily="34" charset="0"/>
                </a:rPr>
                <a:t>시리즈 차별화</a:t>
              </a:r>
              <a:endParaRPr kumimoji="1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24" name="Line 46">
              <a:extLst>
                <a:ext uri="{FF2B5EF4-FFF2-40B4-BE49-F238E27FC236}">
                  <a16:creationId xmlns:a16="http://schemas.microsoft.com/office/drawing/2014/main" id="{C956075F-57E2-6506-4984-21E1DA73FA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340555" y="1043771"/>
              <a:ext cx="2679577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800" b="0" i="0" u="sng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endParaRPr>
            </a:p>
          </p:txBody>
        </p:sp>
      </p:grp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300AA15D-F66D-80A9-4D69-539266A2AEA6}"/>
              </a:ext>
            </a:extLst>
          </p:cNvPr>
          <p:cNvGraphicFramePr>
            <a:graphicFrameLocks noGrp="1"/>
          </p:cNvGraphicFramePr>
          <p:nvPr/>
        </p:nvGraphicFramePr>
        <p:xfrm>
          <a:off x="6990394" y="1502240"/>
          <a:ext cx="4320360" cy="1781556"/>
        </p:xfrm>
        <a:graphic>
          <a:graphicData uri="http://schemas.openxmlformats.org/drawingml/2006/table">
            <a:tbl>
              <a:tblPr/>
              <a:tblGrid>
                <a:gridCol w="1059120">
                  <a:extLst>
                    <a:ext uri="{9D8B030D-6E8A-4147-A177-3AD203B41FA5}">
                      <a16:colId xmlns:a16="http://schemas.microsoft.com/office/drawing/2014/main" val="4078450458"/>
                    </a:ext>
                  </a:extLst>
                </a:gridCol>
                <a:gridCol w="1059120">
                  <a:extLst>
                    <a:ext uri="{9D8B030D-6E8A-4147-A177-3AD203B41FA5}">
                      <a16:colId xmlns:a16="http://schemas.microsoft.com/office/drawing/2014/main" val="2872941491"/>
                    </a:ext>
                  </a:extLst>
                </a:gridCol>
                <a:gridCol w="1059120">
                  <a:extLst>
                    <a:ext uri="{9D8B030D-6E8A-4147-A177-3AD203B41FA5}">
                      <a16:colId xmlns:a16="http://schemas.microsoft.com/office/drawing/2014/main" val="2184131377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3637572900"/>
                    </a:ext>
                  </a:extLst>
                </a:gridCol>
              </a:tblGrid>
              <a:tr h="44538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/>
                      <a:endParaRPr lang="en-US" altLang="ko-KR" sz="11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24</a:t>
                      </a:r>
                      <a:r>
                        <a:rPr lang="ko-KR" altLang="en-US" sz="11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년</a:t>
                      </a:r>
                      <a:endParaRPr lang="en-US" altLang="ko-KR" sz="11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25</a:t>
                      </a:r>
                      <a:r>
                        <a:rPr lang="ko-KR" altLang="en-US" sz="11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년</a:t>
                      </a:r>
                      <a:endParaRPr lang="en-US" altLang="ko-KR" sz="11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26</a:t>
                      </a:r>
                      <a:r>
                        <a:rPr lang="ko-KR" altLang="en-US" sz="11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년</a:t>
                      </a:r>
                      <a:endParaRPr lang="en-US" altLang="ko-KR" sz="11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7984314"/>
                  </a:ext>
                </a:extLst>
              </a:tr>
              <a:tr h="44538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marL="0" marR="0" lvl="0" indent="0" algn="ctr" defTabSz="914395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OLED C – 2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WISA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100" b="0" i="0" u="none" strike="noStrike" dirty="0" err="1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출하휘도</a:t>
                      </a:r>
                      <a:r>
                        <a:rPr lang="en-US" altLang="ko-KR" sz="11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11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조절</a:t>
                      </a:r>
                      <a:r>
                        <a:rPr lang="en-US" altLang="ko-KR" sz="11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 </a:t>
                      </a:r>
                    </a:p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Umber</a:t>
                      </a:r>
                      <a:r>
                        <a:rPr lang="ko-KR" altLang="en-US" sz="11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1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Brown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출하휘도</a:t>
                      </a:r>
                      <a:r>
                        <a:rPr lang="en-US" altLang="ko-KR" sz="11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1100" b="0" i="0" u="none" strike="noStrike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조절</a:t>
                      </a:r>
                      <a:r>
                        <a:rPr lang="en-US" altLang="ko-KR" sz="11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 </a:t>
                      </a:r>
                    </a:p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Umber</a:t>
                      </a:r>
                      <a:r>
                        <a:rPr lang="ko-KR" altLang="en-US" sz="1100" b="0" i="0" u="none" strike="noStrike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1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Brown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8152644"/>
                  </a:ext>
                </a:extLst>
              </a:tr>
              <a:tr h="44538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OLED C - 1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NFC</a:t>
                      </a:r>
                      <a:r>
                        <a:rPr lang="ko-KR" altLang="en-US" sz="11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리모컨</a:t>
                      </a:r>
                      <a:endParaRPr lang="en-US" altLang="ko-KR" sz="11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WISA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marL="0" marR="0" lvl="0" indent="0" algn="ctr" defTabSz="914395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Precision</a:t>
                      </a:r>
                      <a:r>
                        <a:rPr lang="en-US" altLang="ko-KR" sz="1100" b="0" i="0" u="none" strike="noStrike" baseline="0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HDR/Sound</a:t>
                      </a:r>
                      <a:br>
                        <a:rPr lang="en-US" altLang="ko-KR" sz="1100" b="0" i="0" u="none" strike="noStrike" baseline="0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1100" b="0" i="0" u="none" strike="noStrike" baseline="0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Master Pro</a:t>
                      </a:r>
                      <a:endParaRPr lang="en-US" altLang="ko-KR" sz="11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1566072"/>
                  </a:ext>
                </a:extLst>
              </a:tr>
              <a:tr h="44538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OLED C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2.0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1205362"/>
                  </a:ext>
                </a:extLst>
              </a:tr>
            </a:tbl>
          </a:graphicData>
        </a:graphic>
      </p:graphicFrame>
      <p:sp>
        <p:nvSpPr>
          <p:cNvPr id="26" name="Rectangle 5">
            <a:hlinkClick r:id="" action="ppaction://noaction"/>
            <a:extLst>
              <a:ext uri="{FF2B5EF4-FFF2-40B4-BE49-F238E27FC236}">
                <a16:creationId xmlns:a16="http://schemas.microsoft.com/office/drawing/2014/main" id="{DD062C97-D69E-7A15-DE97-EDD80DF3F99B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gray">
          <a:xfrm>
            <a:off x="6990394" y="1098285"/>
            <a:ext cx="4590662" cy="2585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80975" marR="0" lvl="0" indent="-180975" algn="l" defTabSz="914400" rtl="0" eaLnBrk="1" fontAlgn="base" latinLnBrk="1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1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구분자로 쓰이던 </a:t>
            </a:r>
            <a:r>
              <a:rPr kumimoji="1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NFC</a:t>
            </a:r>
            <a:r>
              <a:rPr kumimoji="1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리모컨</a:t>
            </a:r>
            <a:r>
              <a:rPr kumimoji="1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/ WISA </a:t>
            </a:r>
            <a:r>
              <a:rPr kumimoji="1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스펙 삭제로 타 스펙으로 변경 대응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991465F-63F3-17EC-8A05-765F9C8EBC7D}"/>
              </a:ext>
            </a:extLst>
          </p:cNvPr>
          <p:cNvSpPr txBox="1"/>
          <p:nvPr/>
        </p:nvSpPr>
        <p:spPr>
          <a:xfrm>
            <a:off x="5346342" y="5628932"/>
            <a:ext cx="1498088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’23</a:t>
            </a:r>
            <a:r>
              <a:rPr kumimoji="0" lang="ko-KR" altLang="en-US" sz="1000" b="0" i="0" u="none" strike="noStrike" kern="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년 사용하던 중유럽 구분기능 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AVR </a:t>
            </a:r>
            <a:r>
              <a:rPr kumimoji="0" lang="ko-KR" altLang="en-US" sz="1000" b="0" i="0" u="none" strike="noStrike" kern="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삭제로 인해</a:t>
            </a:r>
            <a:b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</a:br>
            <a:r>
              <a:rPr kumimoji="0" lang="ko-KR" altLang="en-US" sz="1000" b="0" i="0" u="none" strike="noStrike" kern="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중유럽은 </a:t>
            </a:r>
            <a:r>
              <a:rPr kumimoji="0" lang="en-US" altLang="ko-KR" sz="1000" b="0" i="0" u="none" strike="noStrike" kern="0" cap="none" spc="0" normalizeH="0" baseline="0" noProof="0" dirty="0" err="1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Calman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 Calibration </a:t>
            </a:r>
            <a:r>
              <a:rPr kumimoji="0" lang="ko-KR" altLang="en-US" sz="1000" b="0" i="0" u="none" strike="noStrike" kern="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미적용으로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 </a:t>
            </a:r>
            <a:r>
              <a:rPr kumimoji="0" lang="ko-KR" altLang="en-US" sz="1000" b="0" i="0" u="none" strike="noStrike" kern="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구분자 설정</a:t>
            </a:r>
            <a:endParaRPr kumimoji="0" lang="en-US" altLang="ko-KR" sz="1000" b="0" i="0" u="none" strike="noStrike" kern="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itchFamily="34" charset="0"/>
            </a:endParaRPr>
          </a:p>
        </p:txBody>
      </p:sp>
      <p:sp>
        <p:nvSpPr>
          <p:cNvPr id="28" name="TextBox 27"/>
          <p:cNvSpPr txBox="1">
            <a:spLocks noChangeArrowheads="1"/>
          </p:cNvSpPr>
          <p:nvPr/>
        </p:nvSpPr>
        <p:spPr bwMode="auto">
          <a:xfrm>
            <a:off x="10203255" y="72162"/>
            <a:ext cx="1743394" cy="4000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lIns="91336" tIns="45671" rIns="91336" bIns="45671">
            <a:spAutoFit/>
          </a:bodyPr>
          <a:lstStyle>
            <a:defPPr>
              <a:defRPr lang="ko-KR"/>
            </a:defPPr>
            <a:lvl1pPr marL="342651" indent="-342651" defTabSz="913739" eaLnBrk="0" hangingPunct="0">
              <a:defRPr sz="2000" b="1">
                <a:solidFill>
                  <a:prstClr val="black">
                    <a:lumMod val="95000"/>
                    <a:lumOff val="5000"/>
                  </a:prstClr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defRPr>
            </a:lvl1pPr>
          </a:lstStyle>
          <a:p>
            <a:pPr marL="342651" marR="0" lvl="0" indent="-342651" algn="l" defTabSz="913739" rtl="0" eaLnBrk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/>
                <a:ea typeface="LG스마트체 Regular" pitchFamily="50" charset="-127"/>
                <a:cs typeface="Arial" pitchFamily="34" charset="0"/>
              </a:rPr>
              <a:t>지역 차별화</a:t>
            </a:r>
            <a:endParaRPr kumimoji="0" lang="ko-KR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Arial Narrow"/>
              <a:ea typeface="LG스마트체 Regular" pitchFamily="50" charset="-127"/>
              <a:cs typeface="Arial" pitchFamily="34" charset="0"/>
            </a:endParaRPr>
          </a:p>
        </p:txBody>
      </p:sp>
      <p:sp>
        <p:nvSpPr>
          <p:cNvPr id="29" name="TextBox 28">
            <a:hlinkClick r:id="" action="ppaction://noaction"/>
          </p:cNvPr>
          <p:cNvSpPr txBox="1"/>
          <p:nvPr/>
        </p:nvSpPr>
        <p:spPr>
          <a:xfrm>
            <a:off x="10507616" y="6359748"/>
            <a:ext cx="115288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1" u="sng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자사 지역 차별화안</a:t>
            </a:r>
          </a:p>
        </p:txBody>
      </p:sp>
      <p:graphicFrame>
        <p:nvGraphicFramePr>
          <p:cNvPr id="30" name="표 29">
            <a:extLst>
              <a:ext uri="{FF2B5EF4-FFF2-40B4-BE49-F238E27FC236}">
                <a16:creationId xmlns:a16="http://schemas.microsoft.com/office/drawing/2014/main" id="{393B6011-F51A-4A92-B9BA-4A300A81EFC9}"/>
              </a:ext>
            </a:extLst>
          </p:cNvPr>
          <p:cNvGraphicFramePr>
            <a:graphicFrameLocks noGrp="1"/>
          </p:cNvGraphicFramePr>
          <p:nvPr/>
        </p:nvGraphicFramePr>
        <p:xfrm>
          <a:off x="7581901" y="3429000"/>
          <a:ext cx="3728855" cy="655320"/>
        </p:xfrm>
        <a:graphic>
          <a:graphicData uri="http://schemas.openxmlformats.org/drawingml/2006/table">
            <a:tbl>
              <a:tblPr/>
              <a:tblGrid>
                <a:gridCol w="4672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80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29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3673">
                  <a:extLst>
                    <a:ext uri="{9D8B030D-6E8A-4147-A177-3AD203B41FA5}">
                      <a16:colId xmlns:a16="http://schemas.microsoft.com/office/drawing/2014/main" val="265337496"/>
                    </a:ext>
                  </a:extLst>
                </a:gridCol>
                <a:gridCol w="70561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9888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234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6701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파생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800" b="0" i="0" u="none" strike="noStrike" dirty="0" err="1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출하휘도</a:t>
                      </a:r>
                      <a:br>
                        <a:rPr lang="en-US" altLang="ko-KR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+Stripe DP</a:t>
                      </a:r>
                      <a:endParaRPr lang="en-US" sz="800" b="0" i="0" u="none" strike="noStrike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Precision</a:t>
                      </a:r>
                      <a:br>
                        <a:rPr lang="en-US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HDR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숫자키</a:t>
                      </a:r>
                      <a:br>
                        <a:rPr lang="en-US" altLang="ko-KR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ko-KR" altLang="en-US" sz="800" b="0" i="0" u="none" strike="noStrike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리모컨</a:t>
                      </a:r>
                      <a:endParaRPr lang="ko-KR" altLang="en-US" sz="800" b="0" i="0" u="none" strike="noStrike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dirty="0" err="1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중유럽</a:t>
                      </a:r>
                      <a:br>
                        <a:rPr lang="en-US" altLang="ko-KR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(Enhanced</a:t>
                      </a:r>
                      <a:r>
                        <a:rPr lang="en-US" altLang="ko-KR" sz="800" b="0" i="0" u="none" strike="noStrike" baseline="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800" b="0" i="0" u="none" strike="noStrike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모드</a:t>
                      </a:r>
                      <a:r>
                        <a:rPr lang="en-US" altLang="ko-KR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800" b="0" i="0" u="none" strike="noStrike" dirty="0" err="1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팬유럽</a:t>
                      </a:r>
                      <a:endParaRPr lang="en-US" altLang="ko-KR" sz="800" b="0" i="0" u="none" strike="noStrike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(Vivid</a:t>
                      </a:r>
                      <a:r>
                        <a:rPr lang="en-US" altLang="ko-KR" sz="800" b="0" i="0" u="none" strike="noStrike" baseline="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800" b="0" i="0" u="none" strike="noStrike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모드</a:t>
                      </a:r>
                      <a:r>
                        <a:rPr lang="en-US" altLang="ko-KR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서유럽</a:t>
                      </a:r>
                      <a:br>
                        <a:rPr lang="en-US" altLang="ko-KR" sz="8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7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(Dynamic</a:t>
                      </a:r>
                      <a:r>
                        <a:rPr lang="en-US" altLang="ko-KR" sz="700" b="0" i="0" u="none" strike="noStrike" baseline="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700" b="0" i="0" u="none" strike="noStrike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모드</a:t>
                      </a:r>
                      <a:r>
                        <a:rPr lang="en-US" altLang="ko-KR" sz="7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51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C6-2/C6E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X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900" b="0" i="0" u="none" strike="noStrike" kern="1200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C6E Only</a:t>
                      </a:r>
                      <a:endParaRPr lang="ko-KR" altLang="en-US" sz="900" b="0" i="0" u="none" strike="noStrike" kern="1200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C6</a:t>
                      </a:r>
                      <a:r>
                        <a:rPr lang="en-US" altLang="ko-KR" sz="900" b="1" i="0" u="none" strike="noStrike" dirty="0">
                          <a:solidFill>
                            <a:srgbClr val="FF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E</a:t>
                      </a:r>
                      <a:endParaRPr lang="ko-KR" altLang="en-US" sz="900" b="1" i="0" u="none" strike="noStrike" dirty="0">
                        <a:solidFill>
                          <a:srgbClr val="FF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C6</a:t>
                      </a:r>
                      <a:r>
                        <a:rPr lang="en-US" sz="900" b="1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6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C6</a:t>
                      </a:r>
                      <a:r>
                        <a:rPr lang="en-US" sz="900" b="1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51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C6-1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X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O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X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C6</a:t>
                      </a:r>
                      <a:r>
                        <a:rPr lang="en-US" altLang="ko-KR" sz="900" b="1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</a:t>
                      </a:r>
                      <a:endParaRPr lang="en-US" sz="900" b="1" i="0" u="none" strike="noStrike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C6</a:t>
                      </a:r>
                      <a:r>
                        <a:rPr lang="en-US" altLang="ko-KR" sz="900" b="1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</a:t>
                      </a:r>
                      <a:endParaRPr lang="en-US" sz="900" b="1" i="0" u="none" strike="noStrike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C6</a:t>
                      </a:r>
                      <a:r>
                        <a:rPr lang="en-US" altLang="ko-KR" sz="900" b="1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8</a:t>
                      </a:r>
                      <a:endParaRPr lang="en-US" sz="900" b="1" i="0" u="none" strike="noStrike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351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C6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X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X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X</a:t>
                      </a: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C6</a:t>
                      </a:r>
                      <a:r>
                        <a:rPr lang="en-US" altLang="ko-KR" sz="900" b="1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</a:t>
                      </a:r>
                      <a:endParaRPr lang="en-US" sz="900" b="1" i="0" u="none" strike="noStrike" dirty="0"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C6</a:t>
                      </a:r>
                      <a:r>
                        <a:rPr lang="en-US" sz="900" b="1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C6</a:t>
                      </a:r>
                      <a:r>
                        <a:rPr lang="en-US" sz="900" b="1" i="0" u="none" strike="noStrike" dirty="0"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7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실행 단추: 앞으로 또는 다음으로 이동 3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C030D247-FF5F-4D36-79D2-C1AC7BC0B628}"/>
              </a:ext>
            </a:extLst>
          </p:cNvPr>
          <p:cNvSpPr/>
          <p:nvPr/>
        </p:nvSpPr>
        <p:spPr>
          <a:xfrm flipH="1">
            <a:off x="11875755" y="6604005"/>
            <a:ext cx="174171" cy="162773"/>
          </a:xfrm>
          <a:prstGeom prst="actionButtonForwardNext">
            <a:avLst/>
          </a:prstGeom>
          <a:solidFill>
            <a:schemeClr val="bg1">
              <a:lumMod val="85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540937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F49E2B9-E81D-DC73-3696-AAF10FEF89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3657" y="72162"/>
            <a:ext cx="4222421" cy="4000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91336" tIns="45671" rIns="91336" bIns="45671">
            <a:spAutoFit/>
          </a:bodyPr>
          <a:lstStyle>
            <a:defPPr>
              <a:defRPr lang="ko-KR"/>
            </a:defPPr>
            <a:lvl1pPr marL="342651" indent="-342651" defTabSz="913739" eaLnBrk="0" hangingPunct="0">
              <a:defRPr sz="2000" b="1">
                <a:solidFill>
                  <a:prstClr val="black">
                    <a:lumMod val="95000"/>
                    <a:lumOff val="5000"/>
                  </a:prstClr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defRPr>
            </a:lvl1pPr>
          </a:lstStyle>
          <a:p>
            <a:pPr marL="342651" marR="0" lvl="0" indent="-342651" algn="l" defTabSz="913739" rtl="0" eaLnBrk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 pitchFamily="50" charset="-127"/>
                <a:cs typeface="Arial" pitchFamily="34" charset="0"/>
              </a:rPr>
              <a:t>유럽 시리즈 및 파생모델 구분 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/>
                <a:ea typeface="LG스마트체 Regular" pitchFamily="50" charset="-127"/>
                <a:cs typeface="Arial" pitchFamily="34" charset="0"/>
              </a:rPr>
              <a:t>(3/24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/>
                <a:ea typeface="LG스마트체 Regular" pitchFamily="50" charset="-127"/>
                <a:cs typeface="Arial" pitchFamily="34" charset="0"/>
              </a:rPr>
              <a:t>업데이트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/>
                <a:ea typeface="LG스마트체 Regular" pitchFamily="50" charset="-127"/>
                <a:cs typeface="Arial" pitchFamily="34" charset="0"/>
              </a:rPr>
              <a:t>)</a:t>
            </a:r>
            <a:endParaRPr kumimoji="0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 Narrow"/>
              <a:ea typeface="LG스마트체 Regular" pitchFamily="50" charset="-127"/>
              <a:cs typeface="Arial" pitchFamily="34" charset="0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51536BEE-129E-8BCD-FD44-239ED6D6C2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9830046"/>
              </p:ext>
            </p:extLst>
          </p:nvPr>
        </p:nvGraphicFramePr>
        <p:xfrm>
          <a:off x="1859280" y="627343"/>
          <a:ext cx="8473440" cy="6045540"/>
        </p:xfrm>
        <a:graphic>
          <a:graphicData uri="http://schemas.openxmlformats.org/drawingml/2006/table">
            <a:tbl>
              <a:tblPr/>
              <a:tblGrid>
                <a:gridCol w="758981">
                  <a:extLst>
                    <a:ext uri="{9D8B030D-6E8A-4147-A177-3AD203B41FA5}">
                      <a16:colId xmlns:a16="http://schemas.microsoft.com/office/drawing/2014/main" val="941417605"/>
                    </a:ext>
                  </a:extLst>
                </a:gridCol>
                <a:gridCol w="758981">
                  <a:extLst>
                    <a:ext uri="{9D8B030D-6E8A-4147-A177-3AD203B41FA5}">
                      <a16:colId xmlns:a16="http://schemas.microsoft.com/office/drawing/2014/main" val="364280830"/>
                    </a:ext>
                  </a:extLst>
                </a:gridCol>
                <a:gridCol w="1162956">
                  <a:extLst>
                    <a:ext uri="{9D8B030D-6E8A-4147-A177-3AD203B41FA5}">
                      <a16:colId xmlns:a16="http://schemas.microsoft.com/office/drawing/2014/main" val="2993237138"/>
                    </a:ext>
                  </a:extLst>
                </a:gridCol>
                <a:gridCol w="824267">
                  <a:extLst>
                    <a:ext uri="{9D8B030D-6E8A-4147-A177-3AD203B41FA5}">
                      <a16:colId xmlns:a16="http://schemas.microsoft.com/office/drawing/2014/main" val="3614426935"/>
                    </a:ext>
                  </a:extLst>
                </a:gridCol>
                <a:gridCol w="1579944">
                  <a:extLst>
                    <a:ext uri="{9D8B030D-6E8A-4147-A177-3AD203B41FA5}">
                      <a16:colId xmlns:a16="http://schemas.microsoft.com/office/drawing/2014/main" val="1255831563"/>
                    </a:ext>
                  </a:extLst>
                </a:gridCol>
                <a:gridCol w="1846438">
                  <a:extLst>
                    <a:ext uri="{9D8B030D-6E8A-4147-A177-3AD203B41FA5}">
                      <a16:colId xmlns:a16="http://schemas.microsoft.com/office/drawing/2014/main" val="67271430"/>
                    </a:ext>
                  </a:extLst>
                </a:gridCol>
                <a:gridCol w="1541873">
                  <a:extLst>
                    <a:ext uri="{9D8B030D-6E8A-4147-A177-3AD203B41FA5}">
                      <a16:colId xmlns:a16="http://schemas.microsoft.com/office/drawing/2014/main" val="3807265992"/>
                    </a:ext>
                  </a:extLst>
                </a:gridCol>
              </a:tblGrid>
              <a:tr h="17730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구분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(65”)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LG Smart_H Regular" panose="020B0600000101010101" pitchFamily="50" charset="-127"/>
                        <a:ea typeface="LG Smart_H Regular" panose="020B0600000101010101" pitchFamily="50" charset="-127"/>
                      </a:endParaRPr>
                    </a:p>
                  </a:txBody>
                  <a:tcPr marL="4381" marR="4381" marT="4381" marB="2102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시리즈</a:t>
                      </a: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리모컨</a:t>
                      </a: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HDR Precision</a:t>
                      </a: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스탠드</a:t>
                      </a: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색상</a:t>
                      </a: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출하휘도</a:t>
                      </a: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/</a:t>
                      </a: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에너지등급</a:t>
                      </a: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3913388"/>
                  </a:ext>
                </a:extLst>
              </a:tr>
              <a:tr h="177308">
                <a:tc rowSpan="9"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OLED</a:t>
                      </a:r>
                    </a:p>
                  </a:txBody>
                  <a:tcPr marL="4381" marR="4381" marT="4381" marB="2102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G6-2 </a:t>
                      </a: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  <a:cs typeface="+mn-cs"/>
                        </a:rPr>
                        <a:t>숫자키매직</a:t>
                      </a:r>
                      <a:endParaRPr lang="ko-KR" altLang="en-US" sz="1000" b="0" i="0" u="none" strike="noStrike" kern="1200" dirty="0">
                        <a:solidFill>
                          <a:schemeClr val="tx1"/>
                        </a:solidFill>
                        <a:effectLst/>
                        <a:latin typeface="LG Smart_H Regular" panose="020B0600000101010101" pitchFamily="50" charset="-127"/>
                        <a:ea typeface="LG Smart_H Regular" panose="020B0600000101010101" pitchFamily="50" charset="-127"/>
                        <a:cs typeface="+mn-cs"/>
                      </a:endParaRP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-</a:t>
                      </a: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스탠드</a:t>
                      </a: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새틴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 실버</a:t>
                      </a: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-</a:t>
                      </a: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2652904"/>
                  </a:ext>
                </a:extLst>
              </a:tr>
              <a:tr h="17730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G6-1</a:t>
                      </a: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숫자키매직</a:t>
                      </a:r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LG Smart_H Regular" panose="020B0600000101010101" pitchFamily="50" charset="-127"/>
                        <a:ea typeface="LG Smart_H Regular" panose="020B0600000101010101" pitchFamily="50" charset="-127"/>
                      </a:endParaRP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-</a:t>
                      </a: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벽걸이</a:t>
                      </a: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-</a:t>
                      </a: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5277521"/>
                  </a:ext>
                </a:extLst>
              </a:tr>
              <a:tr h="17730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G6</a:t>
                      </a: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상단실버매직</a:t>
                      </a:r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LG Smart_H Regular" panose="020B0600000101010101" pitchFamily="50" charset="-127"/>
                        <a:ea typeface="LG Smart_H Regular" panose="020B0600000101010101" pitchFamily="50" charset="-127"/>
                      </a:endParaRP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-</a:t>
                      </a: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벽걸이</a:t>
                      </a: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-</a:t>
                      </a: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861603"/>
                  </a:ext>
                </a:extLst>
              </a:tr>
              <a:tr h="17730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C6E</a:t>
                      </a: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숫자키매직</a:t>
                      </a:r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LG Smart_H Regular" panose="020B0600000101010101" pitchFamily="50" charset="-127"/>
                        <a:ea typeface="LG Smart_H Regular" panose="020B0600000101010101" pitchFamily="50" charset="-127"/>
                      </a:endParaRP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O</a:t>
                      </a: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엣지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 슬로프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1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폴</a:t>
                      </a: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차콜블랙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+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스트라이프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DP</a:t>
                      </a: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출하휘도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 상향</a:t>
                      </a: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2209709"/>
                  </a:ext>
                </a:extLst>
              </a:tr>
              <a:tr h="17730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C6-2</a:t>
                      </a: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상단실버매직</a:t>
                      </a:r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LG Smart_H Regular" panose="020B0600000101010101" pitchFamily="50" charset="-127"/>
                        <a:ea typeface="LG Smart_H Regular" panose="020B0600000101010101" pitchFamily="50" charset="-127"/>
                      </a:endParaRP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357498"/>
                  </a:ext>
                </a:extLst>
              </a:tr>
              <a:tr h="17730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C6-1</a:t>
                      </a: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일반매직</a:t>
                      </a: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차콜블랙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+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마블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DP</a:t>
                      </a: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-</a:t>
                      </a: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7258219"/>
                  </a:ext>
                </a:extLst>
              </a:tr>
              <a:tr h="17730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C6</a:t>
                      </a: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일반매직</a:t>
                      </a: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-</a:t>
                      </a: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-</a:t>
                      </a: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5871222"/>
                  </a:ext>
                </a:extLst>
              </a:tr>
              <a:tr h="17730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B6</a:t>
                      </a: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일반매직</a:t>
                      </a: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-</a:t>
                      </a: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블레이드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2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폴</a:t>
                      </a: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엄버브라운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+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마블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DP</a:t>
                      </a:r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LG Smart_H Regular" panose="020B0600000101010101" pitchFamily="50" charset="-127"/>
                        <a:ea typeface="LG Smart_H Regular" panose="020B0600000101010101" pitchFamily="50" charset="-127"/>
                      </a:endParaRP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-</a:t>
                      </a: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0390723"/>
                  </a:ext>
                </a:extLst>
              </a:tr>
              <a:tr h="17730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B6E</a:t>
                      </a: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숫자키매직</a:t>
                      </a:r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LG Smart_H Regular" panose="020B0600000101010101" pitchFamily="50" charset="-127"/>
                        <a:ea typeface="LG Smart_H Regular" panose="020B0600000101010101" pitchFamily="50" charset="-127"/>
                      </a:endParaRP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-</a:t>
                      </a: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엄버브라운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+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스트라이프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DP</a:t>
                      </a: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-</a:t>
                      </a: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1050882"/>
                  </a:ext>
                </a:extLst>
              </a:tr>
              <a:tr h="177308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MRGB</a:t>
                      </a:r>
                    </a:p>
                  </a:txBody>
                  <a:tcPr marL="4381" marR="4381" marT="4381" marB="2102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MRGB96</a:t>
                      </a: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일반매직</a:t>
                      </a: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-</a:t>
                      </a: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에센스스퀘어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1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폴</a:t>
                      </a: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애쉬드블루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LG Smart_H Regular" panose="020B0600000101010101" pitchFamily="50" charset="-127"/>
                        <a:ea typeface="LG Smart_H Regular" panose="020B0600000101010101" pitchFamily="50" charset="-127"/>
                      </a:endParaRP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-</a:t>
                      </a: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926124"/>
                  </a:ext>
                </a:extLst>
              </a:tr>
              <a:tr h="17730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MRGB9M</a:t>
                      </a: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일반매직</a:t>
                      </a: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-</a:t>
                      </a: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에센스스퀘어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1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폴</a:t>
                      </a: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차콜블랙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LG Smart_H Regular" panose="020B0600000101010101" pitchFamily="50" charset="-127"/>
                        <a:ea typeface="LG Smart_H Regular" panose="020B0600000101010101" pitchFamily="50" charset="-127"/>
                      </a:endParaRP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-</a:t>
                      </a: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7823948"/>
                  </a:ext>
                </a:extLst>
              </a:tr>
              <a:tr h="17730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MRGB88</a:t>
                      </a: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일반매직</a:t>
                      </a: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O</a:t>
                      </a: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에센스스퀘어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1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폴</a:t>
                      </a: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애쉬드블루</a:t>
                      </a: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-</a:t>
                      </a: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6688822"/>
                  </a:ext>
                </a:extLst>
              </a:tr>
              <a:tr h="17730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MRGB87</a:t>
                      </a: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일반매직</a:t>
                      </a: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-</a:t>
                      </a: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-</a:t>
                      </a: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001748"/>
                  </a:ext>
                </a:extLst>
              </a:tr>
              <a:tr h="17730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MRGB86</a:t>
                      </a: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일반매직</a:t>
                      </a: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-</a:t>
                      </a: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차콜블랙</a:t>
                      </a: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-</a:t>
                      </a: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791999"/>
                  </a:ext>
                </a:extLst>
              </a:tr>
              <a:tr h="177308">
                <a:tc rowSpan="15"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QNED</a:t>
                      </a:r>
                    </a:p>
                  </a:txBody>
                  <a:tcPr marL="4381" marR="4381" marT="4381" marB="2102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QNED93</a:t>
                      </a: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일반매직</a:t>
                      </a: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-</a:t>
                      </a: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ODM 1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폴</a:t>
                      </a: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(ODM) BK</a:t>
                      </a: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-</a:t>
                      </a: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9130432"/>
                  </a:ext>
                </a:extLst>
              </a:tr>
              <a:tr h="17730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QNED87</a:t>
                      </a: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일반매직</a:t>
                      </a: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-</a:t>
                      </a: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에센스스퀘어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1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폴</a:t>
                      </a: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차콜블랙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LG Smart_H Regular" panose="020B0600000101010101" pitchFamily="50" charset="-127"/>
                        <a:ea typeface="LG Smart_H Regular" panose="020B0600000101010101" pitchFamily="50" charset="-127"/>
                      </a:endParaRP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-</a:t>
                      </a: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1627340"/>
                  </a:ext>
                </a:extLst>
              </a:tr>
              <a:tr h="17730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QNED86</a:t>
                      </a: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일반매직</a:t>
                      </a: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-</a:t>
                      </a: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애쉬드블루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LG Smart_H Regular" panose="020B0600000101010101" pitchFamily="50" charset="-127"/>
                        <a:ea typeface="LG Smart_H Regular" panose="020B0600000101010101" pitchFamily="50" charset="-127"/>
                      </a:endParaRP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-</a:t>
                      </a: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3589565"/>
                  </a:ext>
                </a:extLst>
              </a:tr>
              <a:tr h="17730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QNED85</a:t>
                      </a: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일반매직</a:t>
                      </a: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-</a:t>
                      </a: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샤이니엣지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2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폴</a:t>
                      </a: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-</a:t>
                      </a: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7956200"/>
                  </a:ext>
                </a:extLst>
              </a:tr>
              <a:tr h="17730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QNED83</a:t>
                      </a: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일반매직</a:t>
                      </a: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-</a:t>
                      </a: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신규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1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폴</a:t>
                      </a: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차콜블랙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LG Smart_H Regular" panose="020B0600000101010101" pitchFamily="50" charset="-127"/>
                        <a:ea typeface="LG Smart_H Regular" panose="020B0600000101010101" pitchFamily="50" charset="-127"/>
                      </a:endParaRP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-</a:t>
                      </a: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5757294"/>
                  </a:ext>
                </a:extLst>
              </a:tr>
              <a:tr h="17730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QNED82</a:t>
                      </a: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일반매직</a:t>
                      </a: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-</a:t>
                      </a: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몰드엣지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2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폴</a:t>
                      </a: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애쉬드블루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LG Smart_H Regular" panose="020B0600000101010101" pitchFamily="50" charset="-127"/>
                        <a:ea typeface="LG Smart_H Regular" panose="020B0600000101010101" pitchFamily="50" charset="-127"/>
                      </a:endParaRP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-</a:t>
                      </a: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8178243"/>
                  </a:ext>
                </a:extLst>
              </a:tr>
              <a:tr h="17730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QNED8M</a:t>
                      </a: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일반매직</a:t>
                      </a: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-</a:t>
                      </a: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세미리니어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2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폴</a:t>
                      </a: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차콜블랙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LG Smart_H Regular" panose="020B0600000101010101" pitchFamily="50" charset="-127"/>
                        <a:ea typeface="LG Smart_H Regular" panose="020B0600000101010101" pitchFamily="50" charset="-127"/>
                      </a:endParaRP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-</a:t>
                      </a: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7579619"/>
                  </a:ext>
                </a:extLst>
              </a:tr>
              <a:tr h="17730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QNED81</a:t>
                      </a: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일반매직</a:t>
                      </a: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-</a:t>
                      </a: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  <a:cs typeface="+mn-cs"/>
                        </a:rPr>
                        <a:t>리니어</a:t>
                      </a: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  <a:cs typeface="+mn-cs"/>
                        </a:rPr>
                        <a:t>2</a:t>
                      </a: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  <a:cs typeface="+mn-cs"/>
                        </a:rPr>
                        <a:t>폴</a:t>
                      </a: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차콜블랙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LG Smart_H Regular" panose="020B0600000101010101" pitchFamily="50" charset="-127"/>
                        <a:ea typeface="LG Smart_H Regular" panose="020B0600000101010101" pitchFamily="50" charset="-127"/>
                      </a:endParaRP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-</a:t>
                      </a: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1055734"/>
                  </a:ext>
                </a:extLst>
              </a:tr>
              <a:tr h="17730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QNED8E</a:t>
                      </a: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숫자키매직</a:t>
                      </a:r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LG Smart_H Regular" panose="020B0600000101010101" pitchFamily="50" charset="-127"/>
                        <a:ea typeface="LG Smart_H Regular" panose="020B0600000101010101" pitchFamily="50" charset="-127"/>
                      </a:endParaRP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-</a:t>
                      </a: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  <a:cs typeface="+mn-cs"/>
                        </a:rPr>
                        <a:t>세미리니어</a:t>
                      </a: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  <a:cs typeface="+mn-cs"/>
                        </a:rPr>
                        <a:t>2</a:t>
                      </a: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  <a:cs typeface="+mn-cs"/>
                        </a:rPr>
                        <a:t>폴</a:t>
                      </a: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애쉬드블루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LG Smart_H Regular" panose="020B0600000101010101" pitchFamily="50" charset="-127"/>
                        <a:ea typeface="LG Smart_H Regular" panose="020B0600000101010101" pitchFamily="50" charset="-127"/>
                      </a:endParaRP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-</a:t>
                      </a: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8094714"/>
                  </a:ext>
                </a:extLst>
              </a:tr>
              <a:tr h="17730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QNED80</a:t>
                      </a: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일반매직</a:t>
                      </a: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-</a:t>
                      </a: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몰드엣지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2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폴</a:t>
                      </a: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애쉬드블루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LG Smart_H Regular" panose="020B0600000101010101" pitchFamily="50" charset="-127"/>
                        <a:ea typeface="LG Smart_H Regular" panose="020B0600000101010101" pitchFamily="50" charset="-127"/>
                      </a:endParaRP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-</a:t>
                      </a: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1287070"/>
                  </a:ext>
                </a:extLst>
              </a:tr>
              <a:tr h="17730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QNED72</a:t>
                      </a: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일반매직</a:t>
                      </a: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O</a:t>
                      </a: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리니어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2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폴</a:t>
                      </a: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차콜블랙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LG Smart_H Regular" panose="020B0600000101010101" pitchFamily="50" charset="-127"/>
                        <a:ea typeface="LG Smart_H Regular" panose="020B0600000101010101" pitchFamily="50" charset="-127"/>
                      </a:endParaRP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-</a:t>
                      </a: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9294766"/>
                  </a:ext>
                </a:extLst>
              </a:tr>
              <a:tr h="17730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QNED71</a:t>
                      </a: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일반매직</a:t>
                      </a: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-</a:t>
                      </a: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리니어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2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폴</a:t>
                      </a: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-</a:t>
                      </a: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7574879"/>
                  </a:ext>
                </a:extLst>
              </a:tr>
              <a:tr h="17730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QNED7E</a:t>
                      </a: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숫자키매직</a:t>
                      </a:r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LG Smart_H Regular" panose="020B0600000101010101" pitchFamily="50" charset="-127"/>
                        <a:ea typeface="LG Smart_H Regular" panose="020B0600000101010101" pitchFamily="50" charset="-127"/>
                      </a:endParaRP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-</a:t>
                      </a: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세미리니어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2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폴</a:t>
                      </a: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-</a:t>
                      </a: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081028"/>
                  </a:ext>
                </a:extLst>
              </a:tr>
              <a:tr h="17730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QNED70</a:t>
                      </a: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일반매직</a:t>
                      </a: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-</a:t>
                      </a: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세미리니어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2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폴</a:t>
                      </a: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-</a:t>
                      </a: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1789739"/>
                  </a:ext>
                </a:extLst>
              </a:tr>
              <a:tr h="17730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QNED50</a:t>
                      </a: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숫자키매직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LG Smart_H Regular" panose="020B0600000101010101" pitchFamily="50" charset="-127"/>
                        <a:ea typeface="LG Smart_H Regular" panose="020B0600000101010101" pitchFamily="50" charset="-127"/>
                      </a:endParaRP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-</a:t>
                      </a: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ODM 2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폴</a:t>
                      </a: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(ODM)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BK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LG Smart_H Regular" panose="020B0600000101010101" pitchFamily="50" charset="-127"/>
                        <a:ea typeface="LG Smart_H Regular" panose="020B0600000101010101" pitchFamily="50" charset="-127"/>
                      </a:endParaRP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-</a:t>
                      </a: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9217088"/>
                  </a:ext>
                </a:extLst>
              </a:tr>
              <a:tr h="177308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NANO </a:t>
                      </a:r>
                    </a:p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UHD</a:t>
                      </a:r>
                    </a:p>
                  </a:txBody>
                  <a:tcPr marL="4381" marR="4381" marT="4381" marB="2102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NU90</a:t>
                      </a: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일반매직</a:t>
                      </a: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-</a:t>
                      </a: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몰드엣지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2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폴</a:t>
                      </a: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차콜블랙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LG Smart_H Regular" panose="020B0600000101010101" pitchFamily="50" charset="-127"/>
                        <a:ea typeface="LG Smart_H Regular" panose="020B0600000101010101" pitchFamily="50" charset="-127"/>
                      </a:endParaRP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-</a:t>
                      </a: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3676488"/>
                  </a:ext>
                </a:extLst>
              </a:tr>
              <a:tr h="17730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NU85</a:t>
                      </a: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L-con</a:t>
                      </a: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-</a:t>
                      </a: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-</a:t>
                      </a: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9219804"/>
                  </a:ext>
                </a:extLst>
              </a:tr>
              <a:tr h="17730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NU8E</a:t>
                      </a: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L-con</a:t>
                      </a: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-</a:t>
                      </a: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등급 및 휘도 조절</a:t>
                      </a: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6346665"/>
                  </a:ext>
                </a:extLst>
              </a:tr>
              <a:tr h="17730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NU80</a:t>
                      </a: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L-con</a:t>
                      </a: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-</a:t>
                      </a: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ODM 2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폴</a:t>
                      </a: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(ODM)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BK</a:t>
                      </a: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50" charset="-127"/>
                          <a:ea typeface="LG Smart_H Regular" panose="020B0600000101010101" pitchFamily="50" charset="-127"/>
                        </a:rPr>
                        <a:t>-</a:t>
                      </a:r>
                    </a:p>
                  </a:txBody>
                  <a:tcPr marL="4381" marR="4381" marT="4381" marB="21029" anchor="ctr">
                    <a:lnL w="635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083124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5F089FE-FBA3-6D61-6BF3-6667CCF482D9}"/>
              </a:ext>
            </a:extLst>
          </p:cNvPr>
          <p:cNvSpPr txBox="1"/>
          <p:nvPr/>
        </p:nvSpPr>
        <p:spPr>
          <a:xfrm>
            <a:off x="2520555" y="6533992"/>
            <a:ext cx="197170" cy="12311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itchFamily="34" charset="0"/>
              </a:rPr>
              <a:t>ODM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EC9CE5-79F1-D1BF-F504-EBF2919716F2}"/>
              </a:ext>
            </a:extLst>
          </p:cNvPr>
          <p:cNvSpPr txBox="1"/>
          <p:nvPr/>
        </p:nvSpPr>
        <p:spPr>
          <a:xfrm>
            <a:off x="2520555" y="3333586"/>
            <a:ext cx="197170" cy="12311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itchFamily="34" charset="0"/>
              </a:rPr>
              <a:t>ODM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15C1CC-A044-AE05-4203-CE42C0A11155}"/>
              </a:ext>
            </a:extLst>
          </p:cNvPr>
          <p:cNvSpPr txBox="1"/>
          <p:nvPr/>
        </p:nvSpPr>
        <p:spPr>
          <a:xfrm>
            <a:off x="2351340" y="6337650"/>
            <a:ext cx="480901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itchFamily="34" charset="0"/>
              </a:rPr>
              <a:t>월드컵 절기</a:t>
            </a:r>
            <a:endParaRPr kumimoji="0" lang="en-US" altLang="ko-KR" sz="800" b="0" i="0" u="none" strike="noStrike" kern="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F5DF13-914D-D17A-F627-763820641A85}"/>
              </a:ext>
            </a:extLst>
          </p:cNvPr>
          <p:cNvSpPr txBox="1"/>
          <p:nvPr/>
        </p:nvSpPr>
        <p:spPr>
          <a:xfrm>
            <a:off x="2291684" y="5468607"/>
            <a:ext cx="480901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itchFamily="34" charset="0"/>
              </a:rPr>
              <a:t>월드컵 절기</a:t>
            </a:r>
            <a:endParaRPr kumimoji="0" lang="en-US" altLang="ko-KR" sz="800" b="0" i="0" u="none" strike="noStrike" kern="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F352AA-286F-AC37-2F74-A8A955F7860B}"/>
              </a:ext>
            </a:extLst>
          </p:cNvPr>
          <p:cNvSpPr txBox="1"/>
          <p:nvPr/>
        </p:nvSpPr>
        <p:spPr>
          <a:xfrm>
            <a:off x="2053626" y="2234502"/>
            <a:ext cx="480901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itchFamily="34" charset="0"/>
              </a:rPr>
              <a:t>월드컵 절기</a:t>
            </a:r>
            <a:endParaRPr kumimoji="0" lang="en-US" altLang="ko-KR" sz="800" b="0" i="0" u="none" strike="noStrike" kern="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/>
              <a:ea typeface="LG스마트체 Regular" panose="020B0600000101010101" pitchFamily="50" charset="-127"/>
              <a:cs typeface="Arial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4840114-C66E-2687-E703-110961948032}"/>
              </a:ext>
            </a:extLst>
          </p:cNvPr>
          <p:cNvSpPr txBox="1"/>
          <p:nvPr/>
        </p:nvSpPr>
        <p:spPr>
          <a:xfrm>
            <a:off x="2558177" y="2074660"/>
            <a:ext cx="298159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R="0" lvl="0" indent="0"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kern="0" cap="none" spc="0" normalizeH="0" baseline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itchFamily="34" charset="0"/>
              </a:defRPr>
            </a:lvl1pPr>
          </a:lstStyle>
          <a:p>
            <a:r>
              <a:rPr lang="en-US" altLang="ko-KR" dirty="0"/>
              <a:t>Pol-less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B607C2D-4B7C-8E62-35F6-DB87179F1E23}"/>
              </a:ext>
            </a:extLst>
          </p:cNvPr>
          <p:cNvSpPr txBox="1"/>
          <p:nvPr/>
        </p:nvSpPr>
        <p:spPr>
          <a:xfrm>
            <a:off x="2558177" y="2229830"/>
            <a:ext cx="298159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itchFamily="34" charset="0"/>
              </a:rPr>
              <a:t>Pol-less</a:t>
            </a:r>
          </a:p>
        </p:txBody>
      </p:sp>
      <p:sp>
        <p:nvSpPr>
          <p:cNvPr id="2" name="실행 단추: 앞으로 또는 다음으로 이동 1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3A255D66-6C62-D691-6EC2-0131A10A2533}"/>
              </a:ext>
            </a:extLst>
          </p:cNvPr>
          <p:cNvSpPr/>
          <p:nvPr/>
        </p:nvSpPr>
        <p:spPr>
          <a:xfrm flipH="1">
            <a:off x="11875755" y="6604005"/>
            <a:ext cx="174171" cy="162773"/>
          </a:xfrm>
          <a:prstGeom prst="actionButtonForwardNext">
            <a:avLst/>
          </a:prstGeom>
          <a:solidFill>
            <a:schemeClr val="bg1">
              <a:lumMod val="85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DE412B2-E17E-A4DD-18F2-3364910F778D}"/>
              </a:ext>
            </a:extLst>
          </p:cNvPr>
          <p:cNvSpPr txBox="1"/>
          <p:nvPr/>
        </p:nvSpPr>
        <p:spPr>
          <a:xfrm>
            <a:off x="2520555" y="5797435"/>
            <a:ext cx="197170" cy="12311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anose="020B0600000101010101" pitchFamily="50" charset="-127"/>
                <a:cs typeface="Arial" pitchFamily="34" charset="0"/>
              </a:rPr>
              <a:t>ODM</a:t>
            </a:r>
          </a:p>
        </p:txBody>
      </p:sp>
    </p:spTree>
    <p:extLst>
      <p:ext uri="{BB962C8B-B14F-4D97-AF65-F5344CB8AC3E}">
        <p14:creationId xmlns:p14="http://schemas.microsoft.com/office/powerpoint/2010/main" val="22971372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80408B-F7F7-4D5B-F2CC-25BA19481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3">
            <a:extLst>
              <a:ext uri="{FF2B5EF4-FFF2-40B4-BE49-F238E27FC236}">
                <a16:creationId xmlns:a16="http://schemas.microsoft.com/office/drawing/2014/main" id="{2C495F69-120B-90D7-9207-1C71E127FA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592" y="74412"/>
            <a:ext cx="5102469" cy="4000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91336" tIns="45671" rIns="91336" bIns="45671">
            <a:spAutoFit/>
          </a:bodyPr>
          <a:lstStyle>
            <a:defPPr>
              <a:defRPr lang="ko-KR"/>
            </a:defPPr>
            <a:lvl1pPr marL="342651" indent="-342651" defTabSz="913739" eaLnBrk="0" hangingPunct="0">
              <a:defRPr sz="2000" b="1">
                <a:solidFill>
                  <a:prstClr val="black">
                    <a:lumMod val="95000"/>
                    <a:lumOff val="5000"/>
                  </a:prstClr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defRPr>
            </a:lvl1pPr>
          </a:lstStyle>
          <a:p>
            <a:pPr marL="342651" marR="0" lvl="0" indent="-342651" algn="l" defTabSz="913739" rtl="0" eaLnBrk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[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유럽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] `25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년 에너지 등급 현황 및 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`26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itchFamily="50" charset="-127"/>
                <a:cs typeface="Arial" pitchFamily="34" charset="0"/>
              </a:rPr>
              <a:t>년   자사 예상</a:t>
            </a:r>
            <a:endParaRPr kumimoji="0" lang="en-US" altLang="ko-KR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itchFamily="34" charset="0"/>
              <a:ea typeface="LG스마트체 Regular" pitchFamily="50" charset="-127"/>
              <a:cs typeface="Arial" pitchFamily="34" charset="0"/>
            </a:endParaRPr>
          </a:p>
        </p:txBody>
      </p:sp>
      <p:grpSp>
        <p:nvGrpSpPr>
          <p:cNvPr id="165" name="그룹 164">
            <a:extLst>
              <a:ext uri="{FF2B5EF4-FFF2-40B4-BE49-F238E27FC236}">
                <a16:creationId xmlns:a16="http://schemas.microsoft.com/office/drawing/2014/main" id="{FB72A8E4-B072-A65F-B53D-4FBC889B0A36}"/>
              </a:ext>
            </a:extLst>
          </p:cNvPr>
          <p:cNvGrpSpPr/>
          <p:nvPr/>
        </p:nvGrpSpPr>
        <p:grpSpPr>
          <a:xfrm>
            <a:off x="17671" y="845313"/>
            <a:ext cx="2133996" cy="231858"/>
            <a:chOff x="3054397" y="869315"/>
            <a:chExt cx="953371" cy="223211"/>
          </a:xfrm>
        </p:grpSpPr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96D20623-C602-412F-3FA1-005AEA6E2BB8}"/>
                </a:ext>
              </a:extLst>
            </p:cNvPr>
            <p:cNvSpPr txBox="1"/>
            <p:nvPr/>
          </p:nvSpPr>
          <p:spPr>
            <a:xfrm>
              <a:off x="3243907" y="869315"/>
              <a:ext cx="574350" cy="20740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자사 </a:t>
              </a:r>
              <a:r>
                <a:rPr kumimoji="1" lang="en-US" altLang="ko-KR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(`25</a:t>
              </a:r>
              <a:r>
                <a:rPr kumimoji="1" lang="ko-KR" alt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년   </a:t>
              </a:r>
              <a:r>
                <a:rPr kumimoji="1" lang="en-US" altLang="ko-KR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PRM)</a:t>
              </a:r>
              <a:endParaRPr kumimoji="1" lang="ko-KR" alt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cxnSp>
          <p:nvCxnSpPr>
            <p:cNvPr id="167" name="직선 연결선 166">
              <a:extLst>
                <a:ext uri="{FF2B5EF4-FFF2-40B4-BE49-F238E27FC236}">
                  <a16:creationId xmlns:a16="http://schemas.microsoft.com/office/drawing/2014/main" id="{96FA45E2-7134-35C5-B44D-303B4D1EA64B}"/>
                </a:ext>
              </a:extLst>
            </p:cNvPr>
            <p:cNvCxnSpPr/>
            <p:nvPr/>
          </p:nvCxnSpPr>
          <p:spPr>
            <a:xfrm>
              <a:off x="3054397" y="1092526"/>
              <a:ext cx="953371" cy="0"/>
            </a:xfrm>
            <a:prstGeom prst="line">
              <a:avLst/>
            </a:prstGeom>
            <a:noFill/>
            <a:ln w="3175" cap="flat" cmpd="sng" algn="ctr">
              <a:solidFill>
                <a:srgbClr val="000000"/>
              </a:solidFill>
              <a:prstDash val="solid"/>
            </a:ln>
            <a:effectLst/>
          </p:spPr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0C3387CB-F8F9-A6BB-C7CA-24B499FF2B3E}"/>
              </a:ext>
            </a:extLst>
          </p:cNvPr>
          <p:cNvGrpSpPr/>
          <p:nvPr/>
        </p:nvGrpSpPr>
        <p:grpSpPr>
          <a:xfrm>
            <a:off x="2194235" y="844607"/>
            <a:ext cx="2133996" cy="231858"/>
            <a:chOff x="3054397" y="869315"/>
            <a:chExt cx="953371" cy="223211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80CC963-0520-99DE-DD1E-F9384D49C5AB}"/>
                </a:ext>
              </a:extLst>
            </p:cNvPr>
            <p:cNvSpPr txBox="1"/>
            <p:nvPr/>
          </p:nvSpPr>
          <p:spPr>
            <a:xfrm>
              <a:off x="3132188" y="869315"/>
              <a:ext cx="797789" cy="20740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자사 </a:t>
              </a:r>
              <a:r>
                <a:rPr kumimoji="1" lang="en-US" altLang="ko-KR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(`26</a:t>
              </a:r>
              <a:r>
                <a:rPr kumimoji="1" lang="ko-KR" alt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년   전체</a:t>
              </a:r>
              <a:r>
                <a:rPr kumimoji="1" lang="en-US" altLang="ko-KR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 </a:t>
              </a:r>
              <a:r>
                <a:rPr kumimoji="1" lang="ko-KR" alt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시리즈</a:t>
              </a:r>
              <a:r>
                <a:rPr kumimoji="1" lang="en-US" altLang="ko-KR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)</a:t>
              </a:r>
              <a:endParaRPr kumimoji="1" lang="ko-KR" alt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F433C6E9-C2FD-2B6F-467E-D09A1411049D}"/>
                </a:ext>
              </a:extLst>
            </p:cNvPr>
            <p:cNvCxnSpPr/>
            <p:nvPr/>
          </p:nvCxnSpPr>
          <p:spPr>
            <a:xfrm>
              <a:off x="3054397" y="1092526"/>
              <a:ext cx="953371" cy="0"/>
            </a:xfrm>
            <a:prstGeom prst="line">
              <a:avLst/>
            </a:prstGeom>
            <a:noFill/>
            <a:ln w="3175" cap="flat" cmpd="sng" algn="ctr">
              <a:solidFill>
                <a:srgbClr val="000000"/>
              </a:solidFill>
              <a:prstDash val="solid"/>
            </a:ln>
            <a:effectLst/>
          </p:spPr>
        </p:cxn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B722974B-08B3-DFCE-61F0-D49D774112D4}"/>
              </a:ext>
            </a:extLst>
          </p:cNvPr>
          <p:cNvSpPr txBox="1"/>
          <p:nvPr/>
        </p:nvSpPr>
        <p:spPr>
          <a:xfrm>
            <a:off x="5058998" y="844074"/>
            <a:ext cx="79829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SS (`25</a:t>
            </a:r>
            <a:r>
              <a:rPr kumimoji="1" lang="ko-KR" alt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년  </a:t>
            </a:r>
            <a:r>
              <a:rPr kumimoji="1" lang="en-US" altLang="ko-KR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)</a:t>
            </a:r>
            <a:endParaRPr kumimoji="1" lang="ko-KR" altLang="en-US" sz="1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DC87D10D-11A2-35DF-48D8-EA0AC2C3E3B2}"/>
              </a:ext>
            </a:extLst>
          </p:cNvPr>
          <p:cNvCxnSpPr/>
          <p:nvPr/>
        </p:nvCxnSpPr>
        <p:spPr>
          <a:xfrm flipV="1">
            <a:off x="4391147" y="1065624"/>
            <a:ext cx="2007844" cy="0"/>
          </a:xfrm>
          <a:prstGeom prst="line">
            <a:avLst/>
          </a:prstGeom>
          <a:noFill/>
          <a:ln w="3175" cap="flat" cmpd="sng" algn="ctr">
            <a:solidFill>
              <a:srgbClr val="000000"/>
            </a:solidFill>
            <a:prstDash val="solid"/>
          </a:ln>
          <a:effectLst/>
        </p:spPr>
      </p:cxn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FA904469-5620-F9AD-2DCA-70AA6F51B5E7}"/>
              </a:ext>
            </a:extLst>
          </p:cNvPr>
          <p:cNvGrpSpPr/>
          <p:nvPr/>
        </p:nvGrpSpPr>
        <p:grpSpPr>
          <a:xfrm>
            <a:off x="6616537" y="844607"/>
            <a:ext cx="1497636" cy="231858"/>
            <a:chOff x="3054397" y="869315"/>
            <a:chExt cx="953371" cy="223211"/>
          </a:xfrm>
        </p:grpSpPr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B75EE4BC-6B8D-D12C-EEFA-B114EF336FBC}"/>
                </a:ext>
              </a:extLst>
            </p:cNvPr>
            <p:cNvSpPr txBox="1"/>
            <p:nvPr/>
          </p:nvSpPr>
          <p:spPr>
            <a:xfrm>
              <a:off x="3270240" y="869315"/>
              <a:ext cx="521686" cy="20740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TCL (`25</a:t>
              </a:r>
              <a:r>
                <a:rPr kumimoji="1" lang="ko-KR" alt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년  </a:t>
              </a:r>
              <a:r>
                <a:rPr kumimoji="1" lang="en-US" altLang="ko-KR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)</a:t>
              </a:r>
              <a:endParaRPr kumimoji="1" lang="ko-KR" alt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cxnSp>
          <p:nvCxnSpPr>
            <p:cNvPr id="449" name="직선 연결선 448">
              <a:extLst>
                <a:ext uri="{FF2B5EF4-FFF2-40B4-BE49-F238E27FC236}">
                  <a16:creationId xmlns:a16="http://schemas.microsoft.com/office/drawing/2014/main" id="{EADEC852-1FC6-22E2-0FC4-A2DB0C1A8036}"/>
                </a:ext>
              </a:extLst>
            </p:cNvPr>
            <p:cNvCxnSpPr/>
            <p:nvPr/>
          </p:nvCxnSpPr>
          <p:spPr>
            <a:xfrm>
              <a:off x="3054397" y="1092526"/>
              <a:ext cx="953371" cy="0"/>
            </a:xfrm>
            <a:prstGeom prst="line">
              <a:avLst/>
            </a:prstGeom>
            <a:noFill/>
            <a:ln w="3175" cap="flat" cmpd="sng" algn="ctr">
              <a:solidFill>
                <a:srgbClr val="000000"/>
              </a:solidFill>
              <a:prstDash val="solid"/>
            </a:ln>
            <a:effectLst/>
          </p:spPr>
        </p:cxnSp>
      </p:grpSp>
      <p:grpSp>
        <p:nvGrpSpPr>
          <p:cNvPr id="459" name="그룹 458">
            <a:extLst>
              <a:ext uri="{FF2B5EF4-FFF2-40B4-BE49-F238E27FC236}">
                <a16:creationId xmlns:a16="http://schemas.microsoft.com/office/drawing/2014/main" id="{A48C9344-6225-F6F8-101C-3D817AF31357}"/>
              </a:ext>
            </a:extLst>
          </p:cNvPr>
          <p:cNvGrpSpPr/>
          <p:nvPr/>
        </p:nvGrpSpPr>
        <p:grpSpPr>
          <a:xfrm>
            <a:off x="8468969" y="845562"/>
            <a:ext cx="1544526" cy="231858"/>
            <a:chOff x="3054397" y="869315"/>
            <a:chExt cx="953371" cy="223211"/>
          </a:xfrm>
        </p:grpSpPr>
        <p:sp>
          <p:nvSpPr>
            <p:cNvPr id="460" name="TextBox 459">
              <a:extLst>
                <a:ext uri="{FF2B5EF4-FFF2-40B4-BE49-F238E27FC236}">
                  <a16:creationId xmlns:a16="http://schemas.microsoft.com/office/drawing/2014/main" id="{96D53CFB-4F86-F92B-5FBB-F34C29C85BAB}"/>
                </a:ext>
              </a:extLst>
            </p:cNvPr>
            <p:cNvSpPr txBox="1"/>
            <p:nvPr/>
          </p:nvSpPr>
          <p:spPr>
            <a:xfrm>
              <a:off x="3170919" y="869315"/>
              <a:ext cx="720332" cy="20740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Hisense (`25</a:t>
              </a:r>
              <a:r>
                <a:rPr kumimoji="1" lang="ko-KR" alt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년  </a:t>
              </a:r>
              <a:r>
                <a:rPr kumimoji="1" lang="en-US" altLang="ko-KR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)</a:t>
              </a:r>
              <a:endParaRPr kumimoji="1" lang="ko-KR" alt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cxnSp>
          <p:nvCxnSpPr>
            <p:cNvPr id="461" name="직선 연결선 460">
              <a:extLst>
                <a:ext uri="{FF2B5EF4-FFF2-40B4-BE49-F238E27FC236}">
                  <a16:creationId xmlns:a16="http://schemas.microsoft.com/office/drawing/2014/main" id="{8D3B1319-F740-FC10-6837-319C0C3BAF6E}"/>
                </a:ext>
              </a:extLst>
            </p:cNvPr>
            <p:cNvCxnSpPr/>
            <p:nvPr/>
          </p:nvCxnSpPr>
          <p:spPr>
            <a:xfrm>
              <a:off x="3054397" y="1092526"/>
              <a:ext cx="953371" cy="0"/>
            </a:xfrm>
            <a:prstGeom prst="line">
              <a:avLst/>
            </a:prstGeom>
            <a:noFill/>
            <a:ln w="3175" cap="flat" cmpd="sng" algn="ctr">
              <a:solidFill>
                <a:srgbClr val="000000"/>
              </a:solidFill>
              <a:prstDash val="solid"/>
            </a:ln>
            <a:effectLst/>
          </p:spPr>
        </p:cxnSp>
      </p:grpSp>
      <p:graphicFrame>
        <p:nvGraphicFramePr>
          <p:cNvPr id="295" name="표 294"/>
          <p:cNvGraphicFramePr>
            <a:graphicFrameLocks noGrp="1"/>
          </p:cNvGraphicFramePr>
          <p:nvPr/>
        </p:nvGraphicFramePr>
        <p:xfrm>
          <a:off x="8970487" y="292184"/>
          <a:ext cx="3074040" cy="167640"/>
        </p:xfrm>
        <a:graphic>
          <a:graphicData uri="http://schemas.openxmlformats.org/drawingml/2006/table">
            <a:tbl>
              <a:tblPr/>
              <a:tblGrid>
                <a:gridCol w="7289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90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90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690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90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90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2735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NewErP</a:t>
                      </a:r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등급</a:t>
                      </a:r>
                      <a:endParaRPr lang="en-US" altLang="ko-KR" sz="11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14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</a:t>
                      </a:r>
                      <a:r>
                        <a:rPr lang="ko-KR" altLang="en-US" sz="11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등급</a:t>
                      </a:r>
                      <a:endParaRPr lang="en-US" altLang="ko-KR" sz="1100" b="1" i="0" u="none" strike="noStrike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14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D5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D</a:t>
                      </a:r>
                      <a:r>
                        <a:rPr lang="ko-KR" altLang="en-US" sz="11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등급</a:t>
                      </a:r>
                      <a:endParaRPr lang="en-US" altLang="ko-KR" sz="1100" b="1" i="0" u="none" strike="noStrike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14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E</a:t>
                      </a:r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등급</a:t>
                      </a:r>
                      <a:endParaRPr lang="en-US" altLang="ko-KR" sz="11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14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F</a:t>
                      </a:r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등급</a:t>
                      </a:r>
                      <a:endParaRPr lang="en-US" altLang="ko-KR" sz="11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14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G</a:t>
                      </a:r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등급</a:t>
                      </a:r>
                      <a:endParaRPr lang="en-US" altLang="ko-KR" sz="11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14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40" name="Rectangle 3936">
            <a:extLst>
              <a:ext uri="{FF2B5EF4-FFF2-40B4-BE49-F238E27FC236}">
                <a16:creationId xmlns:a16="http://schemas.microsoft.com/office/drawing/2014/main" id="{89CE6AF4-8D2D-D75E-596D-D34B4999B4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9947" y="1712797"/>
            <a:ext cx="396000" cy="180000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chemeClr val="tx1"/>
            </a:solidFill>
            <a:prstDash val="solid"/>
          </a:ln>
          <a:effectLst/>
        </p:spPr>
        <p:txBody>
          <a:bodyPr wrap="none" lIns="74286" tIns="37143" rIns="74286" bIns="37143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S95F</a:t>
            </a:r>
          </a:p>
        </p:txBody>
      </p:sp>
      <p:sp>
        <p:nvSpPr>
          <p:cNvPr id="341" name="Rectangle 3936">
            <a:extLst>
              <a:ext uri="{FF2B5EF4-FFF2-40B4-BE49-F238E27FC236}">
                <a16:creationId xmlns:a16="http://schemas.microsoft.com/office/drawing/2014/main" id="{886F5240-B057-D6AD-17DE-4F9557D46A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9947" y="1939834"/>
            <a:ext cx="396000" cy="180000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chemeClr val="tx1"/>
            </a:solidFill>
            <a:prstDash val="solid"/>
          </a:ln>
          <a:effectLst/>
        </p:spPr>
        <p:txBody>
          <a:bodyPr wrap="none" lIns="74286" tIns="37143" rIns="74286" bIns="37143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S90F</a:t>
            </a:r>
          </a:p>
        </p:txBody>
      </p:sp>
      <p:sp>
        <p:nvSpPr>
          <p:cNvPr id="342" name="Rectangle 3936">
            <a:extLst>
              <a:ext uri="{FF2B5EF4-FFF2-40B4-BE49-F238E27FC236}">
                <a16:creationId xmlns:a16="http://schemas.microsoft.com/office/drawing/2014/main" id="{3476C440-C753-AB77-3B20-515D194236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9947" y="2158162"/>
            <a:ext cx="396000" cy="180000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chemeClr val="tx1"/>
            </a:solidFill>
            <a:prstDash val="solid"/>
          </a:ln>
          <a:effectLst/>
        </p:spPr>
        <p:txBody>
          <a:bodyPr wrap="none" lIns="74286" tIns="37143" rIns="74286" bIns="37143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S85F</a:t>
            </a:r>
          </a:p>
        </p:txBody>
      </p:sp>
      <p:sp>
        <p:nvSpPr>
          <p:cNvPr id="364" name="직사각형 363">
            <a:extLst>
              <a:ext uri="{FF2B5EF4-FFF2-40B4-BE49-F238E27FC236}">
                <a16:creationId xmlns:a16="http://schemas.microsoft.com/office/drawing/2014/main" id="{7569FB90-8E2A-4DC1-F8AA-0655DB04AC03}"/>
              </a:ext>
            </a:extLst>
          </p:cNvPr>
          <p:cNvSpPr/>
          <p:nvPr/>
        </p:nvSpPr>
        <p:spPr bwMode="auto">
          <a:xfrm>
            <a:off x="5380808" y="1709309"/>
            <a:ext cx="191664" cy="180000"/>
          </a:xfrm>
          <a:prstGeom prst="rect">
            <a:avLst/>
          </a:prstGeom>
          <a:solidFill>
            <a:srgbClr val="FFC9C9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F</a:t>
            </a:r>
            <a:endParaRPr kumimoji="0" lang="ko-KR" altLang="en-US" sz="7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365" name="직사각형 364">
            <a:extLst>
              <a:ext uri="{FF2B5EF4-FFF2-40B4-BE49-F238E27FC236}">
                <a16:creationId xmlns:a16="http://schemas.microsoft.com/office/drawing/2014/main" id="{5EE77BCC-1E66-7379-925C-66DEC23157AF}"/>
              </a:ext>
            </a:extLst>
          </p:cNvPr>
          <p:cNvSpPr/>
          <p:nvPr/>
        </p:nvSpPr>
        <p:spPr bwMode="auto">
          <a:xfrm>
            <a:off x="5595334" y="1709309"/>
            <a:ext cx="191664" cy="180000"/>
          </a:xfrm>
          <a:prstGeom prst="rect">
            <a:avLst/>
          </a:prstGeom>
          <a:solidFill>
            <a:srgbClr val="FFC9C9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F</a:t>
            </a:r>
            <a:endParaRPr kumimoji="0" lang="ko-KR" altLang="en-US" sz="7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366" name="직사각형 365">
            <a:extLst>
              <a:ext uri="{FF2B5EF4-FFF2-40B4-BE49-F238E27FC236}">
                <a16:creationId xmlns:a16="http://schemas.microsoft.com/office/drawing/2014/main" id="{2B6EE4A3-0EDE-F40F-4FC4-387E53C0CEE3}"/>
              </a:ext>
            </a:extLst>
          </p:cNvPr>
          <p:cNvSpPr/>
          <p:nvPr/>
        </p:nvSpPr>
        <p:spPr bwMode="auto">
          <a:xfrm>
            <a:off x="5797663" y="1709309"/>
            <a:ext cx="191664" cy="180000"/>
          </a:xfrm>
          <a:prstGeom prst="rect">
            <a:avLst/>
          </a:prstGeom>
          <a:solidFill>
            <a:srgbClr val="D9D9D9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G</a:t>
            </a:r>
            <a:endParaRPr kumimoji="0" lang="ko-KR" altLang="en-US" sz="7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367" name="직사각형 366">
            <a:extLst>
              <a:ext uri="{FF2B5EF4-FFF2-40B4-BE49-F238E27FC236}">
                <a16:creationId xmlns:a16="http://schemas.microsoft.com/office/drawing/2014/main" id="{4246C598-46B7-7479-3E30-219EFD3BCF9D}"/>
              </a:ext>
            </a:extLst>
          </p:cNvPr>
          <p:cNvSpPr/>
          <p:nvPr/>
        </p:nvSpPr>
        <p:spPr bwMode="auto">
          <a:xfrm>
            <a:off x="5178237" y="1932639"/>
            <a:ext cx="191664" cy="180000"/>
          </a:xfrm>
          <a:prstGeom prst="rect">
            <a:avLst/>
          </a:prstGeom>
          <a:solidFill>
            <a:srgbClr val="FFC9C9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F</a:t>
            </a:r>
            <a:endParaRPr kumimoji="0" lang="ko-KR" altLang="en-US" sz="7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368" name="직사각형 367">
            <a:extLst>
              <a:ext uri="{FF2B5EF4-FFF2-40B4-BE49-F238E27FC236}">
                <a16:creationId xmlns:a16="http://schemas.microsoft.com/office/drawing/2014/main" id="{DA0D8358-FEE8-2F13-0F6C-7EC3A741A1AE}"/>
              </a:ext>
            </a:extLst>
          </p:cNvPr>
          <p:cNvSpPr/>
          <p:nvPr/>
        </p:nvSpPr>
        <p:spPr bwMode="auto">
          <a:xfrm>
            <a:off x="5380575" y="1932639"/>
            <a:ext cx="191664" cy="180000"/>
          </a:xfrm>
          <a:prstGeom prst="rect">
            <a:avLst/>
          </a:prstGeom>
          <a:solidFill>
            <a:srgbClr val="FFC9C9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F</a:t>
            </a:r>
            <a:endParaRPr kumimoji="0" lang="ko-KR" altLang="en-US" sz="7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369" name="직사각형 368">
            <a:extLst>
              <a:ext uri="{FF2B5EF4-FFF2-40B4-BE49-F238E27FC236}">
                <a16:creationId xmlns:a16="http://schemas.microsoft.com/office/drawing/2014/main" id="{E4193B5B-673D-1E37-39AD-0D34E1AA219B}"/>
              </a:ext>
            </a:extLst>
          </p:cNvPr>
          <p:cNvSpPr/>
          <p:nvPr/>
        </p:nvSpPr>
        <p:spPr bwMode="auto">
          <a:xfrm>
            <a:off x="5592464" y="1932639"/>
            <a:ext cx="191664" cy="180000"/>
          </a:xfrm>
          <a:prstGeom prst="rect">
            <a:avLst/>
          </a:prstGeom>
          <a:solidFill>
            <a:srgbClr val="FFC9C9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F</a:t>
            </a:r>
            <a:endParaRPr kumimoji="0" lang="ko-KR" altLang="en-US" sz="7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370" name="직사각형 369">
            <a:extLst>
              <a:ext uri="{FF2B5EF4-FFF2-40B4-BE49-F238E27FC236}">
                <a16:creationId xmlns:a16="http://schemas.microsoft.com/office/drawing/2014/main" id="{B80095D5-563A-43D3-9B7B-955A09E8B733}"/>
              </a:ext>
            </a:extLst>
          </p:cNvPr>
          <p:cNvSpPr/>
          <p:nvPr/>
        </p:nvSpPr>
        <p:spPr bwMode="auto">
          <a:xfrm>
            <a:off x="5794793" y="1932639"/>
            <a:ext cx="191664" cy="180000"/>
          </a:xfrm>
          <a:prstGeom prst="rect">
            <a:avLst/>
          </a:prstGeom>
          <a:solidFill>
            <a:srgbClr val="D9D9D9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G</a:t>
            </a:r>
            <a:endParaRPr kumimoji="0" lang="ko-KR" altLang="en-US" sz="7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371" name="직사각형 370">
            <a:extLst>
              <a:ext uri="{FF2B5EF4-FFF2-40B4-BE49-F238E27FC236}">
                <a16:creationId xmlns:a16="http://schemas.microsoft.com/office/drawing/2014/main" id="{DA833997-E3F8-68CC-5A02-610A6A33AEC7}"/>
              </a:ext>
            </a:extLst>
          </p:cNvPr>
          <p:cNvSpPr/>
          <p:nvPr/>
        </p:nvSpPr>
        <p:spPr bwMode="auto">
          <a:xfrm>
            <a:off x="5996953" y="1932639"/>
            <a:ext cx="191664" cy="180000"/>
          </a:xfrm>
          <a:prstGeom prst="rect">
            <a:avLst/>
          </a:prstGeom>
          <a:solidFill>
            <a:srgbClr val="D9D9D9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G</a:t>
            </a:r>
            <a:endParaRPr kumimoji="0" lang="ko-KR" altLang="en-US" sz="7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372" name="직사각형 371">
            <a:extLst>
              <a:ext uri="{FF2B5EF4-FFF2-40B4-BE49-F238E27FC236}">
                <a16:creationId xmlns:a16="http://schemas.microsoft.com/office/drawing/2014/main" id="{B838BEB8-F9C2-F8C3-6AB3-5570D9398982}"/>
              </a:ext>
            </a:extLst>
          </p:cNvPr>
          <p:cNvSpPr/>
          <p:nvPr/>
        </p:nvSpPr>
        <p:spPr bwMode="auto">
          <a:xfrm>
            <a:off x="5379793" y="2155970"/>
            <a:ext cx="191664" cy="180000"/>
          </a:xfrm>
          <a:prstGeom prst="rect">
            <a:avLst/>
          </a:prstGeom>
          <a:solidFill>
            <a:srgbClr val="FFC9C9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F</a:t>
            </a:r>
            <a:endParaRPr kumimoji="0" lang="ko-KR" altLang="en-US" sz="7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373" name="직사각형 372">
            <a:extLst>
              <a:ext uri="{FF2B5EF4-FFF2-40B4-BE49-F238E27FC236}">
                <a16:creationId xmlns:a16="http://schemas.microsoft.com/office/drawing/2014/main" id="{06075698-EE8C-A531-DD4F-7FE8CEA2B0C5}"/>
              </a:ext>
            </a:extLst>
          </p:cNvPr>
          <p:cNvSpPr/>
          <p:nvPr/>
        </p:nvSpPr>
        <p:spPr bwMode="auto">
          <a:xfrm>
            <a:off x="5591682" y="2155970"/>
            <a:ext cx="191664" cy="180000"/>
          </a:xfrm>
          <a:prstGeom prst="rect">
            <a:avLst/>
          </a:prstGeom>
          <a:solidFill>
            <a:srgbClr val="FFC9C9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F</a:t>
            </a:r>
            <a:endParaRPr kumimoji="0" lang="ko-KR" altLang="en-US" sz="7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374" name="직사각형 373">
            <a:extLst>
              <a:ext uri="{FF2B5EF4-FFF2-40B4-BE49-F238E27FC236}">
                <a16:creationId xmlns:a16="http://schemas.microsoft.com/office/drawing/2014/main" id="{EB66212C-3C0B-E815-89E2-D97153B748B3}"/>
              </a:ext>
            </a:extLst>
          </p:cNvPr>
          <p:cNvSpPr/>
          <p:nvPr/>
        </p:nvSpPr>
        <p:spPr bwMode="auto">
          <a:xfrm>
            <a:off x="5794011" y="2155970"/>
            <a:ext cx="191664" cy="180000"/>
          </a:xfrm>
          <a:prstGeom prst="rect">
            <a:avLst/>
          </a:prstGeom>
          <a:solidFill>
            <a:srgbClr val="D9D9D9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G</a:t>
            </a:r>
            <a:endParaRPr kumimoji="0" lang="ko-KR" altLang="en-US" sz="7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375" name="직사각형 374">
            <a:extLst>
              <a:ext uri="{FF2B5EF4-FFF2-40B4-BE49-F238E27FC236}">
                <a16:creationId xmlns:a16="http://schemas.microsoft.com/office/drawing/2014/main" id="{BAF54665-86EA-458C-9CB3-D427128BBD0A}"/>
              </a:ext>
            </a:extLst>
          </p:cNvPr>
          <p:cNvSpPr/>
          <p:nvPr/>
        </p:nvSpPr>
        <p:spPr bwMode="auto">
          <a:xfrm>
            <a:off x="5180334" y="2155970"/>
            <a:ext cx="191664" cy="180000"/>
          </a:xfrm>
          <a:prstGeom prst="rect">
            <a:avLst/>
          </a:prstGeom>
          <a:solidFill>
            <a:srgbClr val="FFC9C9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F</a:t>
            </a:r>
            <a:endParaRPr kumimoji="0" lang="ko-KR" altLang="en-US" sz="7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376" name="직사각형 375">
            <a:extLst>
              <a:ext uri="{FF2B5EF4-FFF2-40B4-BE49-F238E27FC236}">
                <a16:creationId xmlns:a16="http://schemas.microsoft.com/office/drawing/2014/main" id="{2B6EE4A3-0EDE-F40F-4FC4-387E53C0CEE3}"/>
              </a:ext>
            </a:extLst>
          </p:cNvPr>
          <p:cNvSpPr/>
          <p:nvPr/>
        </p:nvSpPr>
        <p:spPr bwMode="auto">
          <a:xfrm>
            <a:off x="5183939" y="1713425"/>
            <a:ext cx="191664" cy="180000"/>
          </a:xfrm>
          <a:prstGeom prst="rect">
            <a:avLst/>
          </a:prstGeom>
          <a:solidFill>
            <a:srgbClr val="D9D9D9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G</a:t>
            </a:r>
            <a:endParaRPr kumimoji="0" lang="ko-KR" altLang="en-US" sz="7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377" name="직사각형 376">
            <a:extLst>
              <a:ext uri="{FF2B5EF4-FFF2-40B4-BE49-F238E27FC236}">
                <a16:creationId xmlns:a16="http://schemas.microsoft.com/office/drawing/2014/main" id="{DA833997-E3F8-68CC-5A02-610A6A33AEC7}"/>
              </a:ext>
            </a:extLst>
          </p:cNvPr>
          <p:cNvSpPr/>
          <p:nvPr/>
        </p:nvSpPr>
        <p:spPr bwMode="auto">
          <a:xfrm>
            <a:off x="6198362" y="1937174"/>
            <a:ext cx="191664" cy="180000"/>
          </a:xfrm>
          <a:prstGeom prst="rect">
            <a:avLst/>
          </a:prstGeom>
          <a:solidFill>
            <a:srgbClr val="D9D9D9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G</a:t>
            </a:r>
            <a:endParaRPr kumimoji="0" lang="ko-KR" altLang="en-US" sz="7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399" name="TextBox 398">
            <a:extLst>
              <a:ext uri="{FF2B5EF4-FFF2-40B4-BE49-F238E27FC236}">
                <a16:creationId xmlns:a16="http://schemas.microsoft.com/office/drawing/2014/main" id="{31233C41-7AFA-4659-88BB-830532630ADF}"/>
              </a:ext>
            </a:extLst>
          </p:cNvPr>
          <p:cNvSpPr txBox="1"/>
          <p:nvPr/>
        </p:nvSpPr>
        <p:spPr>
          <a:xfrm>
            <a:off x="39328" y="4511797"/>
            <a:ext cx="441394" cy="123111"/>
          </a:xfrm>
          <a:prstGeom prst="rect">
            <a:avLst/>
          </a:prstGeom>
          <a:noFill/>
        </p:spPr>
        <p:txBody>
          <a:bodyPr wrap="none" lIns="36000" tIns="0" rIns="36000" bIns="0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4K 120Hz</a:t>
            </a:r>
          </a:p>
        </p:txBody>
      </p:sp>
      <p:sp>
        <p:nvSpPr>
          <p:cNvPr id="404" name="TextBox 403">
            <a:extLst>
              <a:ext uri="{FF2B5EF4-FFF2-40B4-BE49-F238E27FC236}">
                <a16:creationId xmlns:a16="http://schemas.microsoft.com/office/drawing/2014/main" id="{AFB1D879-A4F2-4C89-BE83-DD3791815F93}"/>
              </a:ext>
            </a:extLst>
          </p:cNvPr>
          <p:cNvSpPr txBox="1"/>
          <p:nvPr/>
        </p:nvSpPr>
        <p:spPr>
          <a:xfrm>
            <a:off x="39328" y="4634908"/>
            <a:ext cx="394907" cy="123111"/>
          </a:xfrm>
          <a:prstGeom prst="rect">
            <a:avLst/>
          </a:prstGeom>
          <a:noFill/>
        </p:spPr>
        <p:txBody>
          <a:bodyPr wrap="none" lIns="36000" tIns="0" rIns="36000" b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4K 60Hz</a:t>
            </a:r>
          </a:p>
        </p:txBody>
      </p:sp>
      <p:cxnSp>
        <p:nvCxnSpPr>
          <p:cNvPr id="405" name="직선 연결선 404">
            <a:extLst>
              <a:ext uri="{FF2B5EF4-FFF2-40B4-BE49-F238E27FC236}">
                <a16:creationId xmlns:a16="http://schemas.microsoft.com/office/drawing/2014/main" id="{AC550558-7003-421A-A01F-C75FC53750A0}"/>
              </a:ext>
            </a:extLst>
          </p:cNvPr>
          <p:cNvCxnSpPr>
            <a:cxnSpLocks/>
          </p:cNvCxnSpPr>
          <p:nvPr/>
        </p:nvCxnSpPr>
        <p:spPr>
          <a:xfrm>
            <a:off x="68947" y="2633945"/>
            <a:ext cx="11984125" cy="0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6" name="TextBox 405">
            <a:extLst>
              <a:ext uri="{FF2B5EF4-FFF2-40B4-BE49-F238E27FC236}">
                <a16:creationId xmlns:a16="http://schemas.microsoft.com/office/drawing/2014/main" id="{DD1C6A60-EC4F-4C01-BE66-84FE89EB6C85}"/>
              </a:ext>
            </a:extLst>
          </p:cNvPr>
          <p:cNvSpPr txBox="1"/>
          <p:nvPr/>
        </p:nvSpPr>
        <p:spPr>
          <a:xfrm>
            <a:off x="70613" y="2664655"/>
            <a:ext cx="332390" cy="184666"/>
          </a:xfrm>
          <a:prstGeom prst="rect">
            <a:avLst/>
          </a:prstGeom>
          <a:noFill/>
        </p:spPr>
        <p:txBody>
          <a:bodyPr wrap="none" lIns="36000" tIns="0" rIns="36000" b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LCD</a:t>
            </a:r>
            <a:endParaRPr kumimoji="0" lang="ko-KR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408" name="Rectangle 3936">
            <a:extLst>
              <a:ext uri="{FF2B5EF4-FFF2-40B4-BE49-F238E27FC236}">
                <a16:creationId xmlns:a16="http://schemas.microsoft.com/office/drawing/2014/main" id="{CDA18954-D0DC-4049-BFEE-8503DD32B5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0526" y="4103370"/>
            <a:ext cx="385421" cy="180000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chemeClr val="tx1"/>
            </a:solidFill>
            <a:prstDash val="solid"/>
          </a:ln>
          <a:effectLst/>
        </p:spPr>
        <p:txBody>
          <a:bodyPr wrap="none" lIns="74286" tIns="37143" rIns="74286" bIns="37143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QN70F</a:t>
            </a:r>
          </a:p>
        </p:txBody>
      </p:sp>
      <p:sp>
        <p:nvSpPr>
          <p:cNvPr id="409" name="Rectangle 3936">
            <a:hlinkClick r:id="" action="ppaction://noaction"/>
            <a:extLst>
              <a:ext uri="{FF2B5EF4-FFF2-40B4-BE49-F238E27FC236}">
                <a16:creationId xmlns:a16="http://schemas.microsoft.com/office/drawing/2014/main" id="{BBFFCF09-C40F-486D-9C19-42D586B9D3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0526" y="3230053"/>
            <a:ext cx="396000" cy="180000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chemeClr val="tx1"/>
            </a:solidFill>
            <a:prstDash val="solid"/>
          </a:ln>
          <a:effectLst/>
        </p:spPr>
        <p:txBody>
          <a:bodyPr wrap="none" lIns="74286" tIns="37143" rIns="74286" bIns="37143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QN90F</a:t>
            </a:r>
          </a:p>
        </p:txBody>
      </p:sp>
      <p:sp>
        <p:nvSpPr>
          <p:cNvPr id="411" name="Rectangle 3936">
            <a:extLst>
              <a:ext uri="{FF2B5EF4-FFF2-40B4-BE49-F238E27FC236}">
                <a16:creationId xmlns:a16="http://schemas.microsoft.com/office/drawing/2014/main" id="{7A17CC01-BD09-4B67-8BEA-BD93BA094B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0526" y="3695846"/>
            <a:ext cx="396000" cy="180000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chemeClr val="tx1"/>
            </a:solidFill>
            <a:prstDash val="solid"/>
          </a:ln>
          <a:effectLst/>
        </p:spPr>
        <p:txBody>
          <a:bodyPr wrap="none" lIns="74286" tIns="37143" rIns="74286" bIns="37143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QN80F</a:t>
            </a:r>
          </a:p>
        </p:txBody>
      </p:sp>
      <p:sp>
        <p:nvSpPr>
          <p:cNvPr id="412" name="Rectangle 3936">
            <a:extLst>
              <a:ext uri="{FF2B5EF4-FFF2-40B4-BE49-F238E27FC236}">
                <a16:creationId xmlns:a16="http://schemas.microsoft.com/office/drawing/2014/main" id="{8D236624-3380-45A0-90E6-78337D6B3F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0526" y="4894207"/>
            <a:ext cx="396000" cy="180000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chemeClr val="tx1"/>
            </a:solidFill>
            <a:prstDash val="solid"/>
          </a:ln>
          <a:effectLst/>
        </p:spPr>
        <p:txBody>
          <a:bodyPr wrap="none" lIns="74286" tIns="37143" rIns="74286" bIns="37143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Q8F</a:t>
            </a:r>
          </a:p>
        </p:txBody>
      </p:sp>
      <p:cxnSp>
        <p:nvCxnSpPr>
          <p:cNvPr id="413" name="직선 연결선 412">
            <a:extLst>
              <a:ext uri="{FF2B5EF4-FFF2-40B4-BE49-F238E27FC236}">
                <a16:creationId xmlns:a16="http://schemas.microsoft.com/office/drawing/2014/main" id="{C5494729-BB8B-4162-8ECB-EBF05D53BA6E}"/>
              </a:ext>
            </a:extLst>
          </p:cNvPr>
          <p:cNvCxnSpPr>
            <a:cxnSpLocks/>
          </p:cNvCxnSpPr>
          <p:nvPr/>
        </p:nvCxnSpPr>
        <p:spPr>
          <a:xfrm>
            <a:off x="372304" y="4635427"/>
            <a:ext cx="9818443" cy="0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4" name="Rectangle 3936">
            <a:extLst>
              <a:ext uri="{FF2B5EF4-FFF2-40B4-BE49-F238E27FC236}">
                <a16:creationId xmlns:a16="http://schemas.microsoft.com/office/drawing/2014/main" id="{9D9FA9E3-3E99-4DC5-A61D-60D6C90333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3037" y="3222828"/>
            <a:ext cx="390692" cy="176336"/>
          </a:xfrm>
          <a:prstGeom prst="rect">
            <a:avLst/>
          </a:prstGeom>
          <a:noFill/>
          <a:ln w="3175" cap="flat" cmpd="sng" algn="ctr">
            <a:solidFill>
              <a:schemeClr val="tx1"/>
            </a:solidFill>
            <a:prstDash val="solid"/>
          </a:ln>
          <a:effectLst/>
        </p:spPr>
        <p:txBody>
          <a:bodyPr wrap="none" lIns="74286" tIns="37143" rIns="74286" bIns="37143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X11K</a:t>
            </a:r>
          </a:p>
        </p:txBody>
      </p:sp>
      <p:sp>
        <p:nvSpPr>
          <p:cNvPr id="415" name="Rectangle 3936">
            <a:extLst>
              <a:ext uri="{FF2B5EF4-FFF2-40B4-BE49-F238E27FC236}">
                <a16:creationId xmlns:a16="http://schemas.microsoft.com/office/drawing/2014/main" id="{EBDE1294-CECC-4956-B4B0-0D763F10DF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7787" y="5813462"/>
            <a:ext cx="390692" cy="180000"/>
          </a:xfrm>
          <a:prstGeom prst="rect">
            <a:avLst/>
          </a:prstGeom>
          <a:noFill/>
          <a:ln w="3175" cap="flat" cmpd="sng" algn="ctr">
            <a:solidFill>
              <a:schemeClr val="tx1"/>
            </a:solidFill>
            <a:prstDash val="solid"/>
          </a:ln>
          <a:effectLst/>
        </p:spPr>
        <p:txBody>
          <a:bodyPr wrap="none" lIns="74286" tIns="37143" rIns="74286" bIns="37143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P7K</a:t>
            </a:r>
          </a:p>
        </p:txBody>
      </p:sp>
      <p:sp>
        <p:nvSpPr>
          <p:cNvPr id="417" name="Rectangle 3936">
            <a:hlinkClick r:id="" action="ppaction://noaction"/>
            <a:extLst>
              <a:ext uri="{FF2B5EF4-FFF2-40B4-BE49-F238E27FC236}">
                <a16:creationId xmlns:a16="http://schemas.microsoft.com/office/drawing/2014/main" id="{D133ED07-CFBA-4FC9-963C-A12F94A8A3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28" y="3030159"/>
            <a:ext cx="396000" cy="180000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chemeClr val="tx1"/>
            </a:solidFill>
            <a:prstDash val="solid"/>
          </a:ln>
          <a:effectLst/>
        </p:spPr>
        <p:txBody>
          <a:bodyPr wrap="none" lIns="74286" tIns="37143" rIns="74286" bIns="37143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QNED9M</a:t>
            </a:r>
          </a:p>
        </p:txBody>
      </p:sp>
      <p:sp>
        <p:nvSpPr>
          <p:cNvPr id="420" name="Rectangle 3936">
            <a:extLst>
              <a:ext uri="{FF2B5EF4-FFF2-40B4-BE49-F238E27FC236}">
                <a16:creationId xmlns:a16="http://schemas.microsoft.com/office/drawing/2014/main" id="{D770672E-5BC4-42C2-A27E-D7E59679F4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25" y="4103370"/>
            <a:ext cx="396000" cy="180000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chemeClr val="tx1"/>
            </a:solidFill>
            <a:prstDash val="solid"/>
          </a:ln>
          <a:effectLst/>
        </p:spPr>
        <p:txBody>
          <a:bodyPr wrap="none" lIns="74286" tIns="37143" rIns="74286" bIns="37143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QNED85</a:t>
            </a:r>
          </a:p>
        </p:txBody>
      </p:sp>
      <p:sp>
        <p:nvSpPr>
          <p:cNvPr id="427" name="Rectangle 3936">
            <a:extLst>
              <a:ext uri="{FF2B5EF4-FFF2-40B4-BE49-F238E27FC236}">
                <a16:creationId xmlns:a16="http://schemas.microsoft.com/office/drawing/2014/main" id="{E5B28E6D-DE54-4B97-87CA-A81E86F667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9947" y="5223082"/>
            <a:ext cx="396000" cy="180000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chemeClr val="tx1"/>
            </a:solidFill>
            <a:prstDash val="solid"/>
          </a:ln>
          <a:effectLst/>
        </p:spPr>
        <p:txBody>
          <a:bodyPr wrap="none" lIns="74286" tIns="37143" rIns="74286" bIns="37143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Q7F</a:t>
            </a:r>
          </a:p>
        </p:txBody>
      </p:sp>
      <p:sp>
        <p:nvSpPr>
          <p:cNvPr id="433" name="직사각형 432">
            <a:extLst>
              <a:ext uri="{FF2B5EF4-FFF2-40B4-BE49-F238E27FC236}">
                <a16:creationId xmlns:a16="http://schemas.microsoft.com/office/drawing/2014/main" id="{C3A21D4A-4AF1-45F0-9698-C278ED9702D4}"/>
              </a:ext>
            </a:extLst>
          </p:cNvPr>
          <p:cNvSpPr/>
          <p:nvPr/>
        </p:nvSpPr>
        <p:spPr bwMode="auto">
          <a:xfrm>
            <a:off x="5368928" y="3230053"/>
            <a:ext cx="191664" cy="180000"/>
          </a:xfrm>
          <a:prstGeom prst="rect">
            <a:avLst/>
          </a:prstGeom>
          <a:solidFill>
            <a:srgbClr val="FFFF00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E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34" name="직사각형 433">
            <a:extLst>
              <a:ext uri="{FF2B5EF4-FFF2-40B4-BE49-F238E27FC236}">
                <a16:creationId xmlns:a16="http://schemas.microsoft.com/office/drawing/2014/main" id="{AA9AAEC8-EBD7-4A5A-9206-097DC728BC0F}"/>
              </a:ext>
            </a:extLst>
          </p:cNvPr>
          <p:cNvSpPr/>
          <p:nvPr/>
        </p:nvSpPr>
        <p:spPr bwMode="auto">
          <a:xfrm>
            <a:off x="5580817" y="3230053"/>
            <a:ext cx="191664" cy="180000"/>
          </a:xfrm>
          <a:prstGeom prst="rect">
            <a:avLst/>
          </a:prstGeom>
          <a:solidFill>
            <a:srgbClr val="FFC9C9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F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35" name="직사각형 434">
            <a:extLst>
              <a:ext uri="{FF2B5EF4-FFF2-40B4-BE49-F238E27FC236}">
                <a16:creationId xmlns:a16="http://schemas.microsoft.com/office/drawing/2014/main" id="{FE17ECBF-51BD-47B0-B34E-AF726446596B}"/>
              </a:ext>
            </a:extLst>
          </p:cNvPr>
          <p:cNvSpPr/>
          <p:nvPr/>
        </p:nvSpPr>
        <p:spPr bwMode="auto">
          <a:xfrm>
            <a:off x="5783146" y="3230053"/>
            <a:ext cx="191664" cy="180000"/>
          </a:xfrm>
          <a:prstGeom prst="rect">
            <a:avLst/>
          </a:prstGeom>
          <a:solidFill>
            <a:srgbClr val="FFC9C9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F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36" name="직사각형 435">
            <a:extLst>
              <a:ext uri="{FF2B5EF4-FFF2-40B4-BE49-F238E27FC236}">
                <a16:creationId xmlns:a16="http://schemas.microsoft.com/office/drawing/2014/main" id="{3799D25F-49C3-4F8E-BC09-751841998C77}"/>
              </a:ext>
            </a:extLst>
          </p:cNvPr>
          <p:cNvSpPr/>
          <p:nvPr/>
        </p:nvSpPr>
        <p:spPr bwMode="auto">
          <a:xfrm>
            <a:off x="5985303" y="3230053"/>
            <a:ext cx="191664" cy="180000"/>
          </a:xfrm>
          <a:prstGeom prst="rect">
            <a:avLst/>
          </a:prstGeom>
          <a:solidFill>
            <a:srgbClr val="FFC9C9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F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37" name="직사각형 436">
            <a:extLst>
              <a:ext uri="{FF2B5EF4-FFF2-40B4-BE49-F238E27FC236}">
                <a16:creationId xmlns:a16="http://schemas.microsoft.com/office/drawing/2014/main" id="{AE0329E5-845F-47C8-8C93-330B92D4A08C}"/>
              </a:ext>
            </a:extLst>
          </p:cNvPr>
          <p:cNvSpPr/>
          <p:nvPr/>
        </p:nvSpPr>
        <p:spPr bwMode="auto">
          <a:xfrm>
            <a:off x="6190739" y="3230272"/>
            <a:ext cx="191664" cy="182873"/>
          </a:xfrm>
          <a:prstGeom prst="rect">
            <a:avLst/>
          </a:prstGeom>
          <a:solidFill>
            <a:srgbClr val="FFC9C9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F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38" name="직사각형 437">
            <a:extLst>
              <a:ext uri="{FF2B5EF4-FFF2-40B4-BE49-F238E27FC236}">
                <a16:creationId xmlns:a16="http://schemas.microsoft.com/office/drawing/2014/main" id="{C6F9DA03-927A-4926-AC81-A1CE6EF2637F}"/>
              </a:ext>
            </a:extLst>
          </p:cNvPr>
          <p:cNvSpPr/>
          <p:nvPr/>
        </p:nvSpPr>
        <p:spPr bwMode="auto">
          <a:xfrm>
            <a:off x="4966318" y="3230053"/>
            <a:ext cx="191664" cy="180000"/>
          </a:xfrm>
          <a:prstGeom prst="rect">
            <a:avLst/>
          </a:prstGeom>
          <a:solidFill>
            <a:srgbClr val="FFFF00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E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39" name="직사각형 438">
            <a:extLst>
              <a:ext uri="{FF2B5EF4-FFF2-40B4-BE49-F238E27FC236}">
                <a16:creationId xmlns:a16="http://schemas.microsoft.com/office/drawing/2014/main" id="{28294CB2-419F-4C09-9DB0-6C85B30D67E5}"/>
              </a:ext>
            </a:extLst>
          </p:cNvPr>
          <p:cNvSpPr/>
          <p:nvPr/>
        </p:nvSpPr>
        <p:spPr bwMode="auto">
          <a:xfrm>
            <a:off x="5372444" y="3695846"/>
            <a:ext cx="191664" cy="180000"/>
          </a:xfrm>
          <a:prstGeom prst="rect">
            <a:avLst/>
          </a:prstGeom>
          <a:solidFill>
            <a:srgbClr val="FFC9C9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F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40" name="직사각형 439">
            <a:extLst>
              <a:ext uri="{FF2B5EF4-FFF2-40B4-BE49-F238E27FC236}">
                <a16:creationId xmlns:a16="http://schemas.microsoft.com/office/drawing/2014/main" id="{8DB5DDAC-FA71-4CB8-B47F-2394F83F4910}"/>
              </a:ext>
            </a:extLst>
          </p:cNvPr>
          <p:cNvSpPr/>
          <p:nvPr/>
        </p:nvSpPr>
        <p:spPr bwMode="auto">
          <a:xfrm>
            <a:off x="5584333" y="3695846"/>
            <a:ext cx="191664" cy="180000"/>
          </a:xfrm>
          <a:prstGeom prst="rect">
            <a:avLst/>
          </a:prstGeom>
          <a:solidFill>
            <a:srgbClr val="FFC9C9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F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41" name="직사각형 440">
            <a:extLst>
              <a:ext uri="{FF2B5EF4-FFF2-40B4-BE49-F238E27FC236}">
                <a16:creationId xmlns:a16="http://schemas.microsoft.com/office/drawing/2014/main" id="{918993F0-CF2F-4A7C-A361-352F14ADC5F6}"/>
              </a:ext>
            </a:extLst>
          </p:cNvPr>
          <p:cNvSpPr/>
          <p:nvPr/>
        </p:nvSpPr>
        <p:spPr bwMode="auto">
          <a:xfrm>
            <a:off x="5786662" y="3695846"/>
            <a:ext cx="191664" cy="180000"/>
          </a:xfrm>
          <a:prstGeom prst="rect">
            <a:avLst/>
          </a:prstGeom>
          <a:solidFill>
            <a:srgbClr val="FFC9C9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F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42" name="직사각형 441">
            <a:extLst>
              <a:ext uri="{FF2B5EF4-FFF2-40B4-BE49-F238E27FC236}">
                <a16:creationId xmlns:a16="http://schemas.microsoft.com/office/drawing/2014/main" id="{DC86B5AB-96A1-41A0-AC07-25059BB2DD34}"/>
              </a:ext>
            </a:extLst>
          </p:cNvPr>
          <p:cNvSpPr/>
          <p:nvPr/>
        </p:nvSpPr>
        <p:spPr bwMode="auto">
          <a:xfrm>
            <a:off x="5995172" y="3695846"/>
            <a:ext cx="191664" cy="1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G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43" name="직사각형 442">
            <a:extLst>
              <a:ext uri="{FF2B5EF4-FFF2-40B4-BE49-F238E27FC236}">
                <a16:creationId xmlns:a16="http://schemas.microsoft.com/office/drawing/2014/main" id="{AC6B4318-F6A6-4559-A86C-0849C573B720}"/>
              </a:ext>
            </a:extLst>
          </p:cNvPr>
          <p:cNvSpPr/>
          <p:nvPr/>
        </p:nvSpPr>
        <p:spPr bwMode="auto">
          <a:xfrm>
            <a:off x="4966318" y="3695846"/>
            <a:ext cx="191664" cy="180000"/>
          </a:xfrm>
          <a:prstGeom prst="rect">
            <a:avLst/>
          </a:prstGeom>
          <a:solidFill>
            <a:srgbClr val="FFC9C9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F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44" name="직사각형 443">
            <a:extLst>
              <a:ext uri="{FF2B5EF4-FFF2-40B4-BE49-F238E27FC236}">
                <a16:creationId xmlns:a16="http://schemas.microsoft.com/office/drawing/2014/main" id="{B289C99C-AD26-45CC-AC7C-10B17E633DEF}"/>
              </a:ext>
            </a:extLst>
          </p:cNvPr>
          <p:cNvSpPr/>
          <p:nvPr/>
        </p:nvSpPr>
        <p:spPr bwMode="auto">
          <a:xfrm>
            <a:off x="5372444" y="4103370"/>
            <a:ext cx="191664" cy="180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D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45" name="직사각형 444">
            <a:extLst>
              <a:ext uri="{FF2B5EF4-FFF2-40B4-BE49-F238E27FC236}">
                <a16:creationId xmlns:a16="http://schemas.microsoft.com/office/drawing/2014/main" id="{DEE97753-B5FF-4A28-A01D-59051E96D54E}"/>
              </a:ext>
            </a:extLst>
          </p:cNvPr>
          <p:cNvSpPr/>
          <p:nvPr/>
        </p:nvSpPr>
        <p:spPr bwMode="auto">
          <a:xfrm>
            <a:off x="5584333" y="4103370"/>
            <a:ext cx="191664" cy="180000"/>
          </a:xfrm>
          <a:prstGeom prst="rect">
            <a:avLst/>
          </a:prstGeom>
          <a:solidFill>
            <a:srgbClr val="FFFF00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E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46" name="직사각형 445">
            <a:extLst>
              <a:ext uri="{FF2B5EF4-FFF2-40B4-BE49-F238E27FC236}">
                <a16:creationId xmlns:a16="http://schemas.microsoft.com/office/drawing/2014/main" id="{555B4053-D59C-40E7-B0B8-E39148C9A3C5}"/>
              </a:ext>
            </a:extLst>
          </p:cNvPr>
          <p:cNvSpPr/>
          <p:nvPr/>
        </p:nvSpPr>
        <p:spPr bwMode="auto">
          <a:xfrm>
            <a:off x="5786662" y="4103370"/>
            <a:ext cx="191664" cy="180000"/>
          </a:xfrm>
          <a:prstGeom prst="rect">
            <a:avLst/>
          </a:prstGeom>
          <a:solidFill>
            <a:srgbClr val="FFFF00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E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47" name="직사각형 446">
            <a:extLst>
              <a:ext uri="{FF2B5EF4-FFF2-40B4-BE49-F238E27FC236}">
                <a16:creationId xmlns:a16="http://schemas.microsoft.com/office/drawing/2014/main" id="{DBED963D-109B-47BB-82B4-B590CE290B0F}"/>
              </a:ext>
            </a:extLst>
          </p:cNvPr>
          <p:cNvSpPr/>
          <p:nvPr/>
        </p:nvSpPr>
        <p:spPr bwMode="auto">
          <a:xfrm>
            <a:off x="4966318" y="4103370"/>
            <a:ext cx="191664" cy="180000"/>
          </a:xfrm>
          <a:prstGeom prst="rect">
            <a:avLst/>
          </a:prstGeom>
          <a:solidFill>
            <a:srgbClr val="FFFF00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E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51" name="직사각형 450">
            <a:extLst>
              <a:ext uri="{FF2B5EF4-FFF2-40B4-BE49-F238E27FC236}">
                <a16:creationId xmlns:a16="http://schemas.microsoft.com/office/drawing/2014/main" id="{107A1D10-8B20-4635-A585-C90F81274A7B}"/>
              </a:ext>
            </a:extLst>
          </p:cNvPr>
          <p:cNvSpPr/>
          <p:nvPr/>
        </p:nvSpPr>
        <p:spPr bwMode="auto">
          <a:xfrm>
            <a:off x="5380335" y="4894207"/>
            <a:ext cx="191664" cy="180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D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56" name="직사각형 455">
            <a:extLst>
              <a:ext uri="{FF2B5EF4-FFF2-40B4-BE49-F238E27FC236}">
                <a16:creationId xmlns:a16="http://schemas.microsoft.com/office/drawing/2014/main" id="{26C58756-7961-423A-AB0F-52599AB55228}"/>
              </a:ext>
            </a:extLst>
          </p:cNvPr>
          <p:cNvSpPr/>
          <p:nvPr/>
        </p:nvSpPr>
        <p:spPr bwMode="auto">
          <a:xfrm>
            <a:off x="5582966" y="4894207"/>
            <a:ext cx="191664" cy="180000"/>
          </a:xfrm>
          <a:prstGeom prst="rect">
            <a:avLst/>
          </a:prstGeom>
          <a:solidFill>
            <a:srgbClr val="FFFF00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E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57" name="직사각형 456">
            <a:extLst>
              <a:ext uri="{FF2B5EF4-FFF2-40B4-BE49-F238E27FC236}">
                <a16:creationId xmlns:a16="http://schemas.microsoft.com/office/drawing/2014/main" id="{5C6AEAC8-1710-4526-86B4-95BC0FE33D2E}"/>
              </a:ext>
            </a:extLst>
          </p:cNvPr>
          <p:cNvSpPr/>
          <p:nvPr/>
        </p:nvSpPr>
        <p:spPr bwMode="auto">
          <a:xfrm>
            <a:off x="5785597" y="4894207"/>
            <a:ext cx="191664" cy="180000"/>
          </a:xfrm>
          <a:prstGeom prst="rect">
            <a:avLst/>
          </a:prstGeom>
          <a:solidFill>
            <a:srgbClr val="FFFF00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E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58" name="직사각형 457">
            <a:extLst>
              <a:ext uri="{FF2B5EF4-FFF2-40B4-BE49-F238E27FC236}">
                <a16:creationId xmlns:a16="http://schemas.microsoft.com/office/drawing/2014/main" id="{609D7769-FF94-482E-8A09-6120344CFA61}"/>
              </a:ext>
            </a:extLst>
          </p:cNvPr>
          <p:cNvSpPr/>
          <p:nvPr/>
        </p:nvSpPr>
        <p:spPr bwMode="auto">
          <a:xfrm>
            <a:off x="5988228" y="4894207"/>
            <a:ext cx="191664" cy="180000"/>
          </a:xfrm>
          <a:prstGeom prst="rect">
            <a:avLst/>
          </a:prstGeom>
          <a:solidFill>
            <a:srgbClr val="FFFF00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E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63" name="직사각형 462">
            <a:extLst>
              <a:ext uri="{FF2B5EF4-FFF2-40B4-BE49-F238E27FC236}">
                <a16:creationId xmlns:a16="http://schemas.microsoft.com/office/drawing/2014/main" id="{0CA32764-5083-4F20-91C6-40A5E15709F2}"/>
              </a:ext>
            </a:extLst>
          </p:cNvPr>
          <p:cNvSpPr/>
          <p:nvPr/>
        </p:nvSpPr>
        <p:spPr bwMode="auto">
          <a:xfrm>
            <a:off x="4975073" y="4894207"/>
            <a:ext cx="191664" cy="180000"/>
          </a:xfrm>
          <a:prstGeom prst="rect">
            <a:avLst/>
          </a:prstGeom>
          <a:solidFill>
            <a:srgbClr val="FFFF00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E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66" name="직사각형 465">
            <a:extLst>
              <a:ext uri="{FF2B5EF4-FFF2-40B4-BE49-F238E27FC236}">
                <a16:creationId xmlns:a16="http://schemas.microsoft.com/office/drawing/2014/main" id="{F4AA3346-D8DD-4DBB-9727-1233630760B8}"/>
              </a:ext>
            </a:extLst>
          </p:cNvPr>
          <p:cNvSpPr/>
          <p:nvPr/>
        </p:nvSpPr>
        <p:spPr bwMode="auto">
          <a:xfrm>
            <a:off x="6189966" y="4894207"/>
            <a:ext cx="191664" cy="180000"/>
          </a:xfrm>
          <a:prstGeom prst="rect">
            <a:avLst/>
          </a:prstGeom>
          <a:solidFill>
            <a:srgbClr val="FFC9C9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F</a:t>
            </a:r>
            <a:endParaRPr kumimoji="0" lang="ko-KR" altLang="en-US" sz="7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67" name="직사각형 466">
            <a:extLst>
              <a:ext uri="{FF2B5EF4-FFF2-40B4-BE49-F238E27FC236}">
                <a16:creationId xmlns:a16="http://schemas.microsoft.com/office/drawing/2014/main" id="{B6C5A33B-959F-4A8B-A403-A029E5502585}"/>
              </a:ext>
            </a:extLst>
          </p:cNvPr>
          <p:cNvSpPr/>
          <p:nvPr/>
        </p:nvSpPr>
        <p:spPr bwMode="auto">
          <a:xfrm>
            <a:off x="5380335" y="5223082"/>
            <a:ext cx="191664" cy="1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G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69" name="직사각형 468">
            <a:extLst>
              <a:ext uri="{FF2B5EF4-FFF2-40B4-BE49-F238E27FC236}">
                <a16:creationId xmlns:a16="http://schemas.microsoft.com/office/drawing/2014/main" id="{9715FDC6-A9AF-4060-AACF-03F01E71FAE9}"/>
              </a:ext>
            </a:extLst>
          </p:cNvPr>
          <p:cNvSpPr/>
          <p:nvPr/>
        </p:nvSpPr>
        <p:spPr bwMode="auto">
          <a:xfrm>
            <a:off x="5582966" y="5223082"/>
            <a:ext cx="191664" cy="1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G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71" name="직사각형 470">
            <a:extLst>
              <a:ext uri="{FF2B5EF4-FFF2-40B4-BE49-F238E27FC236}">
                <a16:creationId xmlns:a16="http://schemas.microsoft.com/office/drawing/2014/main" id="{DF1839E8-C43C-4B8F-AAA8-310888DEDB01}"/>
              </a:ext>
            </a:extLst>
          </p:cNvPr>
          <p:cNvSpPr/>
          <p:nvPr/>
        </p:nvSpPr>
        <p:spPr bwMode="auto">
          <a:xfrm>
            <a:off x="5785597" y="5223082"/>
            <a:ext cx="191664" cy="1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G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72" name="직사각형 471">
            <a:extLst>
              <a:ext uri="{FF2B5EF4-FFF2-40B4-BE49-F238E27FC236}">
                <a16:creationId xmlns:a16="http://schemas.microsoft.com/office/drawing/2014/main" id="{941B7F02-0F8E-4275-979E-ABD9FE612DB6}"/>
              </a:ext>
            </a:extLst>
          </p:cNvPr>
          <p:cNvSpPr/>
          <p:nvPr/>
        </p:nvSpPr>
        <p:spPr bwMode="auto">
          <a:xfrm>
            <a:off x="5988228" y="5223082"/>
            <a:ext cx="191664" cy="1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G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73" name="직사각형 472">
            <a:extLst>
              <a:ext uri="{FF2B5EF4-FFF2-40B4-BE49-F238E27FC236}">
                <a16:creationId xmlns:a16="http://schemas.microsoft.com/office/drawing/2014/main" id="{E4376361-4335-458F-8BDD-B2B70A6629CC}"/>
              </a:ext>
            </a:extLst>
          </p:cNvPr>
          <p:cNvSpPr/>
          <p:nvPr/>
        </p:nvSpPr>
        <p:spPr bwMode="auto">
          <a:xfrm>
            <a:off x="4975073" y="5223082"/>
            <a:ext cx="191664" cy="1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G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74" name="직사각형 473">
            <a:extLst>
              <a:ext uri="{FF2B5EF4-FFF2-40B4-BE49-F238E27FC236}">
                <a16:creationId xmlns:a16="http://schemas.microsoft.com/office/drawing/2014/main" id="{BC1A683C-349F-4644-8B2C-B5B8DE1B67CB}"/>
              </a:ext>
            </a:extLst>
          </p:cNvPr>
          <p:cNvSpPr/>
          <p:nvPr/>
        </p:nvSpPr>
        <p:spPr bwMode="auto">
          <a:xfrm>
            <a:off x="6189966" y="5223082"/>
            <a:ext cx="191664" cy="1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G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81" name="직사각형 480">
            <a:extLst>
              <a:ext uri="{FF2B5EF4-FFF2-40B4-BE49-F238E27FC236}">
                <a16:creationId xmlns:a16="http://schemas.microsoft.com/office/drawing/2014/main" id="{2056E462-AD44-4D8B-A98F-B9C1C4590429}"/>
              </a:ext>
            </a:extLst>
          </p:cNvPr>
          <p:cNvSpPr/>
          <p:nvPr/>
        </p:nvSpPr>
        <p:spPr bwMode="auto">
          <a:xfrm>
            <a:off x="7060080" y="3222828"/>
            <a:ext cx="190800" cy="180000"/>
          </a:xfrm>
          <a:prstGeom prst="rect">
            <a:avLst/>
          </a:prstGeom>
          <a:solidFill>
            <a:srgbClr val="D9D9D9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G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99" name="직사각형 498">
            <a:extLst>
              <a:ext uri="{FF2B5EF4-FFF2-40B4-BE49-F238E27FC236}">
                <a16:creationId xmlns:a16="http://schemas.microsoft.com/office/drawing/2014/main" id="{DD363082-68E1-4BA2-9474-30074F34E05E}"/>
              </a:ext>
            </a:extLst>
          </p:cNvPr>
          <p:cNvSpPr/>
          <p:nvPr/>
        </p:nvSpPr>
        <p:spPr bwMode="auto">
          <a:xfrm>
            <a:off x="6858174" y="3222828"/>
            <a:ext cx="190800" cy="180000"/>
          </a:xfrm>
          <a:prstGeom prst="rect">
            <a:avLst/>
          </a:prstGeom>
          <a:solidFill>
            <a:srgbClr val="D9D9D9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G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500" name="직사각형 499">
            <a:extLst>
              <a:ext uri="{FF2B5EF4-FFF2-40B4-BE49-F238E27FC236}">
                <a16:creationId xmlns:a16="http://schemas.microsoft.com/office/drawing/2014/main" id="{72B16FEE-1D67-4E7D-96F8-EFABDB8097B3}"/>
              </a:ext>
            </a:extLst>
          </p:cNvPr>
          <p:cNvSpPr/>
          <p:nvPr/>
        </p:nvSpPr>
        <p:spPr bwMode="auto">
          <a:xfrm>
            <a:off x="7312664" y="5813462"/>
            <a:ext cx="191664" cy="180000"/>
          </a:xfrm>
          <a:prstGeom prst="rect">
            <a:avLst/>
          </a:prstGeom>
          <a:solidFill>
            <a:srgbClr val="FFC9C9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F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501" name="직사각형 500">
            <a:extLst>
              <a:ext uri="{FF2B5EF4-FFF2-40B4-BE49-F238E27FC236}">
                <a16:creationId xmlns:a16="http://schemas.microsoft.com/office/drawing/2014/main" id="{0F29A28D-B857-4D5C-A3B0-4747478B703E}"/>
              </a:ext>
            </a:extLst>
          </p:cNvPr>
          <p:cNvSpPr/>
          <p:nvPr/>
        </p:nvSpPr>
        <p:spPr bwMode="auto">
          <a:xfrm>
            <a:off x="7515295" y="5813462"/>
            <a:ext cx="191664" cy="180000"/>
          </a:xfrm>
          <a:prstGeom prst="rect">
            <a:avLst/>
          </a:prstGeom>
          <a:solidFill>
            <a:srgbClr val="FFC9C9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F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502" name="직사각형 501">
            <a:extLst>
              <a:ext uri="{FF2B5EF4-FFF2-40B4-BE49-F238E27FC236}">
                <a16:creationId xmlns:a16="http://schemas.microsoft.com/office/drawing/2014/main" id="{5F49CE08-BEAD-4C0C-8969-0658B8E76090}"/>
              </a:ext>
            </a:extLst>
          </p:cNvPr>
          <p:cNvSpPr/>
          <p:nvPr/>
        </p:nvSpPr>
        <p:spPr bwMode="auto">
          <a:xfrm>
            <a:off x="7721991" y="5813462"/>
            <a:ext cx="191664" cy="180000"/>
          </a:xfrm>
          <a:prstGeom prst="rect">
            <a:avLst/>
          </a:prstGeom>
          <a:solidFill>
            <a:srgbClr val="FFC9C9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F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503" name="직사각형 502">
            <a:extLst>
              <a:ext uri="{FF2B5EF4-FFF2-40B4-BE49-F238E27FC236}">
                <a16:creationId xmlns:a16="http://schemas.microsoft.com/office/drawing/2014/main" id="{8BD9E86C-6776-424C-B29C-ABB53072C370}"/>
              </a:ext>
            </a:extLst>
          </p:cNvPr>
          <p:cNvSpPr/>
          <p:nvPr/>
        </p:nvSpPr>
        <p:spPr bwMode="auto">
          <a:xfrm>
            <a:off x="7110033" y="5813462"/>
            <a:ext cx="191664" cy="180000"/>
          </a:xfrm>
          <a:prstGeom prst="rect">
            <a:avLst/>
          </a:prstGeom>
          <a:solidFill>
            <a:srgbClr val="FFC9C9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F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573" name="직사각형 572">
            <a:extLst>
              <a:ext uri="{FF2B5EF4-FFF2-40B4-BE49-F238E27FC236}">
                <a16:creationId xmlns:a16="http://schemas.microsoft.com/office/drawing/2014/main" id="{CD36EFB5-A5EB-465A-8419-3ECEAC72D5B0}"/>
              </a:ext>
            </a:extLst>
          </p:cNvPr>
          <p:cNvSpPr/>
          <p:nvPr/>
        </p:nvSpPr>
        <p:spPr bwMode="auto">
          <a:xfrm>
            <a:off x="4755372" y="3229507"/>
            <a:ext cx="191664" cy="180000"/>
          </a:xfrm>
          <a:prstGeom prst="rect">
            <a:avLst/>
          </a:prstGeom>
          <a:solidFill>
            <a:srgbClr val="FFFF00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E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574" name="Rectangle 3936">
            <a:hlinkClick r:id="" action="ppaction://noaction"/>
            <a:extLst>
              <a:ext uri="{FF2B5EF4-FFF2-40B4-BE49-F238E27FC236}">
                <a16:creationId xmlns:a16="http://schemas.microsoft.com/office/drawing/2014/main" id="{E8F0DDBD-22A5-41F4-9CCF-9489FCD9DD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0526" y="3475650"/>
            <a:ext cx="396000" cy="180000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chemeClr val="tx1"/>
            </a:solidFill>
            <a:prstDash val="solid"/>
          </a:ln>
          <a:effectLst/>
        </p:spPr>
        <p:txBody>
          <a:bodyPr wrap="none" lIns="74286" tIns="37143" rIns="74286" bIns="37143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QN85F</a:t>
            </a:r>
          </a:p>
        </p:txBody>
      </p:sp>
      <p:sp>
        <p:nvSpPr>
          <p:cNvPr id="575" name="직사각형 574">
            <a:extLst>
              <a:ext uri="{FF2B5EF4-FFF2-40B4-BE49-F238E27FC236}">
                <a16:creationId xmlns:a16="http://schemas.microsoft.com/office/drawing/2014/main" id="{5C7EC487-CBC2-4009-96CF-425463569E6B}"/>
              </a:ext>
            </a:extLst>
          </p:cNvPr>
          <p:cNvSpPr/>
          <p:nvPr/>
        </p:nvSpPr>
        <p:spPr bwMode="auto">
          <a:xfrm>
            <a:off x="5368928" y="3475650"/>
            <a:ext cx="191664" cy="180000"/>
          </a:xfrm>
          <a:prstGeom prst="rect">
            <a:avLst/>
          </a:prstGeom>
          <a:solidFill>
            <a:srgbClr val="FFC9C9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F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576" name="직사각형 575">
            <a:extLst>
              <a:ext uri="{FF2B5EF4-FFF2-40B4-BE49-F238E27FC236}">
                <a16:creationId xmlns:a16="http://schemas.microsoft.com/office/drawing/2014/main" id="{C4267785-4995-4F34-B4A1-1C933A356D7B}"/>
              </a:ext>
            </a:extLst>
          </p:cNvPr>
          <p:cNvSpPr/>
          <p:nvPr/>
        </p:nvSpPr>
        <p:spPr bwMode="auto">
          <a:xfrm>
            <a:off x="5580817" y="3475650"/>
            <a:ext cx="191664" cy="180000"/>
          </a:xfrm>
          <a:prstGeom prst="rect">
            <a:avLst/>
          </a:prstGeom>
          <a:solidFill>
            <a:srgbClr val="FFC9C9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F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577" name="직사각형 576">
            <a:extLst>
              <a:ext uri="{FF2B5EF4-FFF2-40B4-BE49-F238E27FC236}">
                <a16:creationId xmlns:a16="http://schemas.microsoft.com/office/drawing/2014/main" id="{FA9B1E32-93DD-4122-8A04-AC6E886AC6B0}"/>
              </a:ext>
            </a:extLst>
          </p:cNvPr>
          <p:cNvSpPr/>
          <p:nvPr/>
        </p:nvSpPr>
        <p:spPr bwMode="auto">
          <a:xfrm>
            <a:off x="4966318" y="3475650"/>
            <a:ext cx="191664" cy="180000"/>
          </a:xfrm>
          <a:prstGeom prst="rect">
            <a:avLst/>
          </a:prstGeom>
          <a:solidFill>
            <a:srgbClr val="FFC9C9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F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578" name="직사각형 577">
            <a:extLst>
              <a:ext uri="{FF2B5EF4-FFF2-40B4-BE49-F238E27FC236}">
                <a16:creationId xmlns:a16="http://schemas.microsoft.com/office/drawing/2014/main" id="{0FA8450B-AAD9-44BD-91CC-4B2ABAE5EC4C}"/>
              </a:ext>
            </a:extLst>
          </p:cNvPr>
          <p:cNvSpPr/>
          <p:nvPr/>
        </p:nvSpPr>
        <p:spPr bwMode="auto">
          <a:xfrm>
            <a:off x="7923591" y="5813462"/>
            <a:ext cx="191664" cy="180000"/>
          </a:xfrm>
          <a:prstGeom prst="rect">
            <a:avLst/>
          </a:prstGeom>
          <a:solidFill>
            <a:srgbClr val="FFC9C9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F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579" name="Rectangle 3936">
            <a:hlinkClick r:id="" action="ppaction://noaction"/>
            <a:extLst>
              <a:ext uri="{FF2B5EF4-FFF2-40B4-BE49-F238E27FC236}">
                <a16:creationId xmlns:a16="http://schemas.microsoft.com/office/drawing/2014/main" id="{DB9B8454-8DA4-47DA-9E53-CC3A749CFD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2479" y="6034102"/>
            <a:ext cx="396000" cy="180000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chemeClr val="tx1"/>
            </a:solidFill>
            <a:prstDash val="solid"/>
          </a:ln>
          <a:effectLst/>
        </p:spPr>
        <p:txBody>
          <a:bodyPr wrap="none" lIns="74286" tIns="37143" rIns="74286" bIns="37143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V6C</a:t>
            </a:r>
          </a:p>
        </p:txBody>
      </p:sp>
      <p:sp>
        <p:nvSpPr>
          <p:cNvPr id="580" name="직사각형 579">
            <a:extLst>
              <a:ext uri="{FF2B5EF4-FFF2-40B4-BE49-F238E27FC236}">
                <a16:creationId xmlns:a16="http://schemas.microsoft.com/office/drawing/2014/main" id="{239D0069-A502-4608-A5E9-EB78E2E3D03E}"/>
              </a:ext>
            </a:extLst>
          </p:cNvPr>
          <p:cNvSpPr/>
          <p:nvPr/>
        </p:nvSpPr>
        <p:spPr bwMode="auto">
          <a:xfrm>
            <a:off x="7110033" y="6034102"/>
            <a:ext cx="191664" cy="180000"/>
          </a:xfrm>
          <a:prstGeom prst="rect">
            <a:avLst/>
          </a:prstGeom>
          <a:solidFill>
            <a:srgbClr val="FFFF00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E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581" name="직사각형 580">
            <a:extLst>
              <a:ext uri="{FF2B5EF4-FFF2-40B4-BE49-F238E27FC236}">
                <a16:creationId xmlns:a16="http://schemas.microsoft.com/office/drawing/2014/main" id="{F6B69DCA-D840-4565-88A2-91A0361A3D8E}"/>
              </a:ext>
            </a:extLst>
          </p:cNvPr>
          <p:cNvSpPr/>
          <p:nvPr/>
        </p:nvSpPr>
        <p:spPr bwMode="auto">
          <a:xfrm>
            <a:off x="7312664" y="6034102"/>
            <a:ext cx="191664" cy="180000"/>
          </a:xfrm>
          <a:prstGeom prst="rect">
            <a:avLst/>
          </a:prstGeom>
          <a:solidFill>
            <a:srgbClr val="FFFF00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E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582" name="직사각형 581">
            <a:extLst>
              <a:ext uri="{FF2B5EF4-FFF2-40B4-BE49-F238E27FC236}">
                <a16:creationId xmlns:a16="http://schemas.microsoft.com/office/drawing/2014/main" id="{4DBF8518-9D61-4F51-997F-C3842FA6E8A6}"/>
              </a:ext>
            </a:extLst>
          </p:cNvPr>
          <p:cNvSpPr/>
          <p:nvPr/>
        </p:nvSpPr>
        <p:spPr bwMode="auto">
          <a:xfrm>
            <a:off x="7515295" y="6034102"/>
            <a:ext cx="191664" cy="180000"/>
          </a:xfrm>
          <a:prstGeom prst="rect">
            <a:avLst/>
          </a:prstGeom>
          <a:solidFill>
            <a:srgbClr val="FFFF00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E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583" name="직사각형 582">
            <a:extLst>
              <a:ext uri="{FF2B5EF4-FFF2-40B4-BE49-F238E27FC236}">
                <a16:creationId xmlns:a16="http://schemas.microsoft.com/office/drawing/2014/main" id="{8CB37039-196D-47D8-9286-59F0E3A6772D}"/>
              </a:ext>
            </a:extLst>
          </p:cNvPr>
          <p:cNvSpPr/>
          <p:nvPr/>
        </p:nvSpPr>
        <p:spPr bwMode="auto">
          <a:xfrm>
            <a:off x="7721991" y="6034102"/>
            <a:ext cx="191664" cy="180000"/>
          </a:xfrm>
          <a:prstGeom prst="rect">
            <a:avLst/>
          </a:prstGeom>
          <a:solidFill>
            <a:srgbClr val="FFFF00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E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584" name="직사각형 583">
            <a:extLst>
              <a:ext uri="{FF2B5EF4-FFF2-40B4-BE49-F238E27FC236}">
                <a16:creationId xmlns:a16="http://schemas.microsoft.com/office/drawing/2014/main" id="{59115E19-7C20-4B6D-A6E5-4297177DB194}"/>
              </a:ext>
            </a:extLst>
          </p:cNvPr>
          <p:cNvSpPr/>
          <p:nvPr/>
        </p:nvSpPr>
        <p:spPr bwMode="auto">
          <a:xfrm>
            <a:off x="7923591" y="6034102"/>
            <a:ext cx="191664" cy="180000"/>
          </a:xfrm>
          <a:prstGeom prst="rect">
            <a:avLst/>
          </a:prstGeom>
          <a:solidFill>
            <a:srgbClr val="FFC9C9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F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605" name="Rectangle 3936">
            <a:extLst>
              <a:ext uri="{FF2B5EF4-FFF2-40B4-BE49-F238E27FC236}">
                <a16:creationId xmlns:a16="http://schemas.microsoft.com/office/drawing/2014/main" id="{08BCEA79-F519-4AE2-9320-D5556FFCD5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25" y="5127150"/>
            <a:ext cx="396000" cy="180000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chemeClr val="tx1"/>
            </a:solidFill>
            <a:prstDash val="solid"/>
          </a:ln>
          <a:effectLst/>
        </p:spPr>
        <p:txBody>
          <a:bodyPr wrap="none" lIns="74286" tIns="37143" rIns="74286" bIns="37143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QNED80</a:t>
            </a:r>
          </a:p>
        </p:txBody>
      </p:sp>
      <p:sp>
        <p:nvSpPr>
          <p:cNvPr id="606" name="Rectangle 3936">
            <a:hlinkClick r:id="" action="ppaction://noaction"/>
            <a:extLst>
              <a:ext uri="{FF2B5EF4-FFF2-40B4-BE49-F238E27FC236}">
                <a16:creationId xmlns:a16="http://schemas.microsoft.com/office/drawing/2014/main" id="{1507BED8-6650-4638-9284-B697314376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25" y="4897507"/>
            <a:ext cx="396000" cy="180000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chemeClr val="tx1"/>
            </a:solidFill>
            <a:prstDash val="solid"/>
          </a:ln>
          <a:effectLst/>
        </p:spPr>
        <p:txBody>
          <a:bodyPr wrap="none" lIns="74286" tIns="37143" rIns="74286" bIns="37143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QNED82</a:t>
            </a:r>
          </a:p>
        </p:txBody>
      </p:sp>
      <p:sp>
        <p:nvSpPr>
          <p:cNvPr id="616" name="Rectangle 3936">
            <a:extLst>
              <a:ext uri="{FF2B5EF4-FFF2-40B4-BE49-F238E27FC236}">
                <a16:creationId xmlns:a16="http://schemas.microsoft.com/office/drawing/2014/main" id="{3ABB7057-634B-4204-B8C0-3B6DC67E00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25" y="6250824"/>
            <a:ext cx="396000" cy="180000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chemeClr val="tx1"/>
            </a:solidFill>
            <a:prstDash val="solid"/>
          </a:ln>
          <a:effectLst/>
        </p:spPr>
        <p:txBody>
          <a:bodyPr wrap="none" lIns="74286" tIns="37143" rIns="74286" bIns="37143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UA75</a:t>
            </a:r>
          </a:p>
        </p:txBody>
      </p:sp>
      <p:sp>
        <p:nvSpPr>
          <p:cNvPr id="617" name="Rectangle 3936">
            <a:hlinkClick r:id="" action="ppaction://noaction"/>
            <a:extLst>
              <a:ext uri="{FF2B5EF4-FFF2-40B4-BE49-F238E27FC236}">
                <a16:creationId xmlns:a16="http://schemas.microsoft.com/office/drawing/2014/main" id="{4B5C64F9-57D7-450A-B028-CB034828DC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25" y="5853313"/>
            <a:ext cx="396000" cy="180000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chemeClr val="tx1"/>
            </a:solidFill>
            <a:prstDash val="solid"/>
          </a:ln>
          <a:effectLst/>
        </p:spPr>
        <p:txBody>
          <a:bodyPr wrap="none" lIns="74286" tIns="37143" rIns="74286" bIns="37143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NANO80</a:t>
            </a:r>
          </a:p>
        </p:txBody>
      </p:sp>
      <p:sp>
        <p:nvSpPr>
          <p:cNvPr id="631" name="Rectangle 3936">
            <a:hlinkClick r:id="" action="ppaction://noaction"/>
            <a:extLst>
              <a:ext uri="{FF2B5EF4-FFF2-40B4-BE49-F238E27FC236}">
                <a16:creationId xmlns:a16="http://schemas.microsoft.com/office/drawing/2014/main" id="{7A5B4406-39F1-455B-93E3-8BC9D27C80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25" y="5626477"/>
            <a:ext cx="396000" cy="180000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chemeClr val="tx1"/>
            </a:solidFill>
            <a:prstDash val="solid"/>
          </a:ln>
          <a:effectLst/>
        </p:spPr>
        <p:txBody>
          <a:bodyPr wrap="none" lIns="74286" tIns="37143" rIns="74286" bIns="37143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NANO90</a:t>
            </a:r>
          </a:p>
        </p:txBody>
      </p:sp>
      <p:sp>
        <p:nvSpPr>
          <p:cNvPr id="642" name="Rectangle 3936">
            <a:extLst>
              <a:ext uri="{FF2B5EF4-FFF2-40B4-BE49-F238E27FC236}">
                <a16:creationId xmlns:a16="http://schemas.microsoft.com/office/drawing/2014/main" id="{8268FCAB-15A2-4A92-AD04-FA15F8EC9A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25" y="5355771"/>
            <a:ext cx="396000" cy="180000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chemeClr val="tx1"/>
            </a:solidFill>
            <a:prstDash val="solid"/>
          </a:ln>
          <a:effectLst/>
        </p:spPr>
        <p:txBody>
          <a:bodyPr wrap="none" lIns="74286" tIns="37143" rIns="74286" bIns="37143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QNED70</a:t>
            </a:r>
          </a:p>
        </p:txBody>
      </p:sp>
      <p:sp>
        <p:nvSpPr>
          <p:cNvPr id="666" name="모서리가 둥근 직사각형 167">
            <a:extLst>
              <a:ext uri="{FF2B5EF4-FFF2-40B4-BE49-F238E27FC236}">
                <a16:creationId xmlns:a16="http://schemas.microsoft.com/office/drawing/2014/main" id="{2331DD85-293C-409A-A80F-1CCF3E19AACC}"/>
              </a:ext>
            </a:extLst>
          </p:cNvPr>
          <p:cNvSpPr/>
          <p:nvPr/>
        </p:nvSpPr>
        <p:spPr bwMode="auto">
          <a:xfrm>
            <a:off x="4975073" y="1167211"/>
            <a:ext cx="191664" cy="196127"/>
          </a:xfrm>
          <a:prstGeom prst="roundRect">
            <a:avLst/>
          </a:prstGeom>
          <a:noFill/>
          <a:ln w="6350" algn="ctr">
            <a:solidFill>
              <a:schemeClr val="bg1">
                <a:lumMod val="50000"/>
              </a:schemeClr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5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85</a:t>
            </a:r>
            <a:endParaRPr kumimoji="0" lang="ko-KR" altLang="en-US" sz="75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667" name="모서리가 둥근 직사각형 168">
            <a:extLst>
              <a:ext uri="{FF2B5EF4-FFF2-40B4-BE49-F238E27FC236}">
                <a16:creationId xmlns:a16="http://schemas.microsoft.com/office/drawing/2014/main" id="{CDAB29DB-13A6-41B6-AF64-DF03C23C2C88}"/>
              </a:ext>
            </a:extLst>
          </p:cNvPr>
          <p:cNvSpPr/>
          <p:nvPr/>
        </p:nvSpPr>
        <p:spPr bwMode="auto">
          <a:xfrm>
            <a:off x="5177704" y="1167211"/>
            <a:ext cx="191664" cy="196127"/>
          </a:xfrm>
          <a:prstGeom prst="roundRect">
            <a:avLst/>
          </a:prstGeom>
          <a:noFill/>
          <a:ln w="6350" algn="ctr">
            <a:solidFill>
              <a:schemeClr val="bg1">
                <a:lumMod val="50000"/>
              </a:schemeClr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5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83</a:t>
            </a:r>
            <a:endParaRPr kumimoji="0" lang="ko-KR" altLang="en-US" sz="75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668" name="모서리가 둥근 직사각형 169">
            <a:extLst>
              <a:ext uri="{FF2B5EF4-FFF2-40B4-BE49-F238E27FC236}">
                <a16:creationId xmlns:a16="http://schemas.microsoft.com/office/drawing/2014/main" id="{234385FF-3F25-4EDE-9F07-5F31091B22D9}"/>
              </a:ext>
            </a:extLst>
          </p:cNvPr>
          <p:cNvSpPr/>
          <p:nvPr/>
        </p:nvSpPr>
        <p:spPr bwMode="auto">
          <a:xfrm>
            <a:off x="5380335" y="1167211"/>
            <a:ext cx="191664" cy="196127"/>
          </a:xfrm>
          <a:prstGeom prst="roundRect">
            <a:avLst/>
          </a:prstGeom>
          <a:noFill/>
          <a:ln w="6350" algn="ctr">
            <a:solidFill>
              <a:schemeClr val="bg1">
                <a:lumMod val="50000"/>
              </a:schemeClr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5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77</a:t>
            </a:r>
          </a:p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5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75</a:t>
            </a:r>
            <a:endParaRPr kumimoji="0" lang="ko-KR" altLang="en-US" sz="75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669" name="모서리가 둥근 직사각형 171">
            <a:extLst>
              <a:ext uri="{FF2B5EF4-FFF2-40B4-BE49-F238E27FC236}">
                <a16:creationId xmlns:a16="http://schemas.microsoft.com/office/drawing/2014/main" id="{C9F6FA0F-BB3E-4953-A327-982F21A474EB}"/>
              </a:ext>
            </a:extLst>
          </p:cNvPr>
          <p:cNvSpPr/>
          <p:nvPr/>
        </p:nvSpPr>
        <p:spPr bwMode="auto">
          <a:xfrm>
            <a:off x="5582966" y="1167211"/>
            <a:ext cx="191664" cy="196127"/>
          </a:xfrm>
          <a:prstGeom prst="roundRect">
            <a:avLst/>
          </a:prstGeom>
          <a:noFill/>
          <a:ln w="6350" algn="ctr">
            <a:solidFill>
              <a:schemeClr val="bg1">
                <a:lumMod val="50000"/>
              </a:schemeClr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5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65</a:t>
            </a:r>
            <a:endParaRPr kumimoji="0" lang="ko-KR" altLang="en-US" sz="75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670" name="모서리가 둥근 직사각형 172">
            <a:extLst>
              <a:ext uri="{FF2B5EF4-FFF2-40B4-BE49-F238E27FC236}">
                <a16:creationId xmlns:a16="http://schemas.microsoft.com/office/drawing/2014/main" id="{6F4812E8-9124-4600-A27C-D9321DD243D9}"/>
              </a:ext>
            </a:extLst>
          </p:cNvPr>
          <p:cNvSpPr/>
          <p:nvPr/>
        </p:nvSpPr>
        <p:spPr bwMode="auto">
          <a:xfrm>
            <a:off x="4772442" y="1167211"/>
            <a:ext cx="191664" cy="196127"/>
          </a:xfrm>
          <a:prstGeom prst="roundRect">
            <a:avLst/>
          </a:prstGeom>
          <a:noFill/>
          <a:ln w="6350" algn="ctr">
            <a:solidFill>
              <a:schemeClr val="bg1">
                <a:lumMod val="50000"/>
              </a:schemeClr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5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100</a:t>
            </a:r>
          </a:p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5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98</a:t>
            </a:r>
            <a:endParaRPr kumimoji="0" lang="ko-KR" altLang="en-US" sz="75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671" name="모서리가 둥근 직사각형 173">
            <a:extLst>
              <a:ext uri="{FF2B5EF4-FFF2-40B4-BE49-F238E27FC236}">
                <a16:creationId xmlns:a16="http://schemas.microsoft.com/office/drawing/2014/main" id="{F88F1E6F-6103-46D2-B689-7E6F577987B5}"/>
              </a:ext>
            </a:extLst>
          </p:cNvPr>
          <p:cNvSpPr/>
          <p:nvPr/>
        </p:nvSpPr>
        <p:spPr bwMode="auto">
          <a:xfrm>
            <a:off x="5785597" y="1167211"/>
            <a:ext cx="191664" cy="196127"/>
          </a:xfrm>
          <a:prstGeom prst="roundRect">
            <a:avLst/>
          </a:prstGeom>
          <a:noFill/>
          <a:ln w="6350" algn="ctr">
            <a:solidFill>
              <a:schemeClr val="bg1">
                <a:lumMod val="50000"/>
              </a:schemeClr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5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55</a:t>
            </a:r>
            <a:endParaRPr kumimoji="0" lang="ko-KR" altLang="en-US" sz="75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672" name="모서리가 둥근 직사각형 174">
            <a:extLst>
              <a:ext uri="{FF2B5EF4-FFF2-40B4-BE49-F238E27FC236}">
                <a16:creationId xmlns:a16="http://schemas.microsoft.com/office/drawing/2014/main" id="{7F768A36-707D-40C4-845C-C7FD1601261A}"/>
              </a:ext>
            </a:extLst>
          </p:cNvPr>
          <p:cNvSpPr/>
          <p:nvPr/>
        </p:nvSpPr>
        <p:spPr bwMode="auto">
          <a:xfrm>
            <a:off x="5988228" y="1167211"/>
            <a:ext cx="191664" cy="196127"/>
          </a:xfrm>
          <a:prstGeom prst="roundRect">
            <a:avLst/>
          </a:prstGeom>
          <a:noFill/>
          <a:ln w="6350" algn="ctr">
            <a:solidFill>
              <a:schemeClr val="bg1">
                <a:lumMod val="50000"/>
              </a:schemeClr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5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50</a:t>
            </a:r>
          </a:p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5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48</a:t>
            </a:r>
            <a:endParaRPr kumimoji="0" lang="ko-KR" altLang="en-US" sz="75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673" name="모서리가 둥근 직사각형 175">
            <a:extLst>
              <a:ext uri="{FF2B5EF4-FFF2-40B4-BE49-F238E27FC236}">
                <a16:creationId xmlns:a16="http://schemas.microsoft.com/office/drawing/2014/main" id="{5DE315E7-B553-4CC9-85E1-A9E379F1603F}"/>
              </a:ext>
            </a:extLst>
          </p:cNvPr>
          <p:cNvSpPr/>
          <p:nvPr/>
        </p:nvSpPr>
        <p:spPr bwMode="auto">
          <a:xfrm>
            <a:off x="6189966" y="1167211"/>
            <a:ext cx="191664" cy="196127"/>
          </a:xfrm>
          <a:prstGeom prst="roundRect">
            <a:avLst/>
          </a:prstGeom>
          <a:noFill/>
          <a:ln w="6350" algn="ctr">
            <a:solidFill>
              <a:schemeClr val="bg1">
                <a:lumMod val="50000"/>
              </a:schemeClr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5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43</a:t>
            </a:r>
          </a:p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5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42</a:t>
            </a:r>
            <a:endParaRPr kumimoji="0" lang="ko-KR" altLang="en-US" sz="75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675" name="모서리가 둥근 직사각형 169">
            <a:extLst>
              <a:ext uri="{FF2B5EF4-FFF2-40B4-BE49-F238E27FC236}">
                <a16:creationId xmlns:a16="http://schemas.microsoft.com/office/drawing/2014/main" id="{8D36CDC9-465B-430A-B0F9-FDA0B6BA6455}"/>
              </a:ext>
            </a:extLst>
          </p:cNvPr>
          <p:cNvSpPr/>
          <p:nvPr/>
        </p:nvSpPr>
        <p:spPr bwMode="auto">
          <a:xfrm>
            <a:off x="7216791" y="1176290"/>
            <a:ext cx="191664" cy="196127"/>
          </a:xfrm>
          <a:prstGeom prst="roundRect">
            <a:avLst/>
          </a:prstGeom>
          <a:noFill/>
          <a:ln w="6350" algn="ctr">
            <a:solidFill>
              <a:schemeClr val="bg1">
                <a:lumMod val="50000"/>
              </a:schemeClr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5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75</a:t>
            </a:r>
            <a:endParaRPr kumimoji="0" lang="ko-KR" altLang="en-US" sz="75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676" name="모서리가 둥근 직사각형 171">
            <a:extLst>
              <a:ext uri="{FF2B5EF4-FFF2-40B4-BE49-F238E27FC236}">
                <a16:creationId xmlns:a16="http://schemas.microsoft.com/office/drawing/2014/main" id="{C234C7FC-0C67-4113-8F34-DD5B801B16B3}"/>
              </a:ext>
            </a:extLst>
          </p:cNvPr>
          <p:cNvSpPr/>
          <p:nvPr/>
        </p:nvSpPr>
        <p:spPr bwMode="auto">
          <a:xfrm>
            <a:off x="7427968" y="1176290"/>
            <a:ext cx="191664" cy="196127"/>
          </a:xfrm>
          <a:prstGeom prst="roundRect">
            <a:avLst/>
          </a:prstGeom>
          <a:noFill/>
          <a:ln w="6350" algn="ctr">
            <a:solidFill>
              <a:schemeClr val="bg1">
                <a:lumMod val="50000"/>
              </a:schemeClr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5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65</a:t>
            </a:r>
            <a:endParaRPr kumimoji="0" lang="ko-KR" altLang="en-US" sz="75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679" name="모서리가 둥근 직사각형 173">
            <a:extLst>
              <a:ext uri="{FF2B5EF4-FFF2-40B4-BE49-F238E27FC236}">
                <a16:creationId xmlns:a16="http://schemas.microsoft.com/office/drawing/2014/main" id="{FA233464-0B52-4A03-9D28-6127DDC696AC}"/>
              </a:ext>
            </a:extLst>
          </p:cNvPr>
          <p:cNvSpPr/>
          <p:nvPr/>
        </p:nvSpPr>
        <p:spPr bwMode="auto">
          <a:xfrm>
            <a:off x="7647691" y="1176290"/>
            <a:ext cx="191664" cy="196127"/>
          </a:xfrm>
          <a:prstGeom prst="roundRect">
            <a:avLst/>
          </a:prstGeom>
          <a:noFill/>
          <a:ln w="6350" algn="ctr">
            <a:solidFill>
              <a:schemeClr val="bg1">
                <a:lumMod val="50000"/>
              </a:schemeClr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5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55</a:t>
            </a:r>
            <a:endParaRPr kumimoji="0" lang="ko-KR" altLang="en-US" sz="75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687" name="모서리가 둥근 직사각형 173">
            <a:extLst>
              <a:ext uri="{FF2B5EF4-FFF2-40B4-BE49-F238E27FC236}">
                <a16:creationId xmlns:a16="http://schemas.microsoft.com/office/drawing/2014/main" id="{737D347A-844D-44E1-9C32-69F9C19DFBD7}"/>
              </a:ext>
            </a:extLst>
          </p:cNvPr>
          <p:cNvSpPr/>
          <p:nvPr/>
        </p:nvSpPr>
        <p:spPr bwMode="auto">
          <a:xfrm>
            <a:off x="7862933" y="1176996"/>
            <a:ext cx="191664" cy="196127"/>
          </a:xfrm>
          <a:prstGeom prst="roundRect">
            <a:avLst/>
          </a:prstGeom>
          <a:noFill/>
          <a:ln w="6350" algn="ctr">
            <a:solidFill>
              <a:schemeClr val="bg1">
                <a:lumMod val="50000"/>
              </a:schemeClr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5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50</a:t>
            </a:r>
            <a:endParaRPr kumimoji="0" lang="ko-KR" altLang="en-US" sz="75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688" name="모서리가 둥근 직사각형 173">
            <a:extLst>
              <a:ext uri="{FF2B5EF4-FFF2-40B4-BE49-F238E27FC236}">
                <a16:creationId xmlns:a16="http://schemas.microsoft.com/office/drawing/2014/main" id="{68D88796-13CC-4AFF-B517-2B53CD0651B4}"/>
              </a:ext>
            </a:extLst>
          </p:cNvPr>
          <p:cNvSpPr/>
          <p:nvPr/>
        </p:nvSpPr>
        <p:spPr bwMode="auto">
          <a:xfrm>
            <a:off x="8080299" y="1176705"/>
            <a:ext cx="191664" cy="196127"/>
          </a:xfrm>
          <a:prstGeom prst="roundRect">
            <a:avLst/>
          </a:prstGeom>
          <a:noFill/>
          <a:ln w="6350" algn="ctr">
            <a:solidFill>
              <a:schemeClr val="bg1">
                <a:lumMod val="50000"/>
              </a:schemeClr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5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43</a:t>
            </a:r>
            <a:endParaRPr kumimoji="0" lang="ko-KR" altLang="en-US" sz="75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5" name="Rectangle 3936">
            <a:extLst>
              <a:ext uri="{FF2B5EF4-FFF2-40B4-BE49-F238E27FC236}">
                <a16:creationId xmlns:a16="http://schemas.microsoft.com/office/drawing/2014/main" id="{FC4F2C68-305D-CA6D-9F07-1028172047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9947" y="6251555"/>
            <a:ext cx="396000" cy="179269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chemeClr val="tx1"/>
            </a:solidFill>
            <a:prstDash val="solid"/>
          </a:ln>
          <a:effectLst/>
        </p:spPr>
        <p:txBody>
          <a:bodyPr wrap="none" lIns="74286" tIns="37143" rIns="74286" bIns="37143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U7000F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D00C3924-3525-3907-53F2-EAB5D782E88A}"/>
              </a:ext>
            </a:extLst>
          </p:cNvPr>
          <p:cNvSpPr/>
          <p:nvPr/>
        </p:nvSpPr>
        <p:spPr bwMode="auto">
          <a:xfrm>
            <a:off x="5380335" y="6250824"/>
            <a:ext cx="191664" cy="1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G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D72B8834-D867-5591-01B6-914D40C7011A}"/>
              </a:ext>
            </a:extLst>
          </p:cNvPr>
          <p:cNvSpPr/>
          <p:nvPr/>
        </p:nvSpPr>
        <p:spPr bwMode="auto">
          <a:xfrm>
            <a:off x="5582966" y="6250824"/>
            <a:ext cx="191664" cy="1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G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2AD70ADA-C909-5597-084A-B4414092970F}"/>
              </a:ext>
            </a:extLst>
          </p:cNvPr>
          <p:cNvSpPr/>
          <p:nvPr/>
        </p:nvSpPr>
        <p:spPr bwMode="auto">
          <a:xfrm>
            <a:off x="5785597" y="6250824"/>
            <a:ext cx="191664" cy="1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G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43D83540-6D6E-C4CD-4C47-AF77CE449AA5}"/>
              </a:ext>
            </a:extLst>
          </p:cNvPr>
          <p:cNvSpPr/>
          <p:nvPr/>
        </p:nvSpPr>
        <p:spPr bwMode="auto">
          <a:xfrm>
            <a:off x="5988228" y="6250824"/>
            <a:ext cx="191664" cy="1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G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D358D0E4-C009-F7C2-B2FE-747FDECC798C}"/>
              </a:ext>
            </a:extLst>
          </p:cNvPr>
          <p:cNvSpPr/>
          <p:nvPr/>
        </p:nvSpPr>
        <p:spPr bwMode="auto">
          <a:xfrm>
            <a:off x="4983782" y="6250824"/>
            <a:ext cx="191664" cy="1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G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656E8852-003E-E692-D229-4E4008212AE7}"/>
              </a:ext>
            </a:extLst>
          </p:cNvPr>
          <p:cNvSpPr/>
          <p:nvPr/>
        </p:nvSpPr>
        <p:spPr bwMode="auto">
          <a:xfrm>
            <a:off x="6189966" y="6250824"/>
            <a:ext cx="191664" cy="1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G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7770308-E25A-3FA5-8381-0501B77E2081}"/>
              </a:ext>
            </a:extLst>
          </p:cNvPr>
          <p:cNvSpPr/>
          <p:nvPr/>
        </p:nvSpPr>
        <p:spPr bwMode="auto">
          <a:xfrm>
            <a:off x="5384314" y="6020695"/>
            <a:ext cx="191664" cy="1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G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22A6A784-2CAD-B0DF-DF92-3E574B1EFD98}"/>
              </a:ext>
            </a:extLst>
          </p:cNvPr>
          <p:cNvSpPr/>
          <p:nvPr/>
        </p:nvSpPr>
        <p:spPr bwMode="auto">
          <a:xfrm>
            <a:off x="5586945" y="6020695"/>
            <a:ext cx="191664" cy="1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G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7FC78E31-48F4-2999-0E6F-8755DD213A0C}"/>
              </a:ext>
            </a:extLst>
          </p:cNvPr>
          <p:cNvSpPr/>
          <p:nvPr/>
        </p:nvSpPr>
        <p:spPr bwMode="auto">
          <a:xfrm>
            <a:off x="5789576" y="6020695"/>
            <a:ext cx="191664" cy="1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G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2C407742-A5F1-CFBA-A898-BD001EE2C7CD}"/>
              </a:ext>
            </a:extLst>
          </p:cNvPr>
          <p:cNvSpPr/>
          <p:nvPr/>
        </p:nvSpPr>
        <p:spPr bwMode="auto">
          <a:xfrm>
            <a:off x="5992207" y="6020695"/>
            <a:ext cx="191664" cy="1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G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51E86F6F-B826-FDCF-68CE-7B6BC5F18064}"/>
              </a:ext>
            </a:extLst>
          </p:cNvPr>
          <p:cNvSpPr/>
          <p:nvPr/>
        </p:nvSpPr>
        <p:spPr bwMode="auto">
          <a:xfrm>
            <a:off x="4979052" y="6020695"/>
            <a:ext cx="191664" cy="1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G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B114D86B-33F3-94A7-C903-32E702C4C0E8}"/>
              </a:ext>
            </a:extLst>
          </p:cNvPr>
          <p:cNvSpPr/>
          <p:nvPr/>
        </p:nvSpPr>
        <p:spPr bwMode="auto">
          <a:xfrm>
            <a:off x="6193945" y="6020695"/>
            <a:ext cx="191664" cy="1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G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58" name="Rectangle 3936">
            <a:extLst>
              <a:ext uri="{FF2B5EF4-FFF2-40B4-BE49-F238E27FC236}">
                <a16:creationId xmlns:a16="http://schemas.microsoft.com/office/drawing/2014/main" id="{BD606B9D-4473-12D8-276E-2FB731C1A4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31269" y="6043032"/>
            <a:ext cx="396000" cy="180000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chemeClr val="tx1"/>
            </a:solidFill>
            <a:prstDash val="solid"/>
          </a:ln>
          <a:effectLst/>
        </p:spPr>
        <p:txBody>
          <a:bodyPr wrap="none" lIns="74286" tIns="37143" rIns="74286" bIns="37143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U8000F</a:t>
            </a: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0134A787-653C-2DEA-E875-4F719233BF8F}"/>
              </a:ext>
            </a:extLst>
          </p:cNvPr>
          <p:cNvCxnSpPr/>
          <p:nvPr/>
        </p:nvCxnSpPr>
        <p:spPr>
          <a:xfrm>
            <a:off x="2140553" y="881585"/>
            <a:ext cx="0" cy="5921829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6B61B9D5-1E80-CF63-8269-99619A592092}"/>
              </a:ext>
            </a:extLst>
          </p:cNvPr>
          <p:cNvCxnSpPr/>
          <p:nvPr/>
        </p:nvCxnSpPr>
        <p:spPr>
          <a:xfrm>
            <a:off x="4310307" y="862420"/>
            <a:ext cx="0" cy="5921829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9D818FBE-4350-29B1-C8A5-C89C11E8272A}"/>
              </a:ext>
            </a:extLst>
          </p:cNvPr>
          <p:cNvCxnSpPr/>
          <p:nvPr/>
        </p:nvCxnSpPr>
        <p:spPr>
          <a:xfrm>
            <a:off x="6421906" y="812559"/>
            <a:ext cx="0" cy="5921829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42B9B9C9-6A7A-FDF2-F540-76A5CD59A28B}"/>
              </a:ext>
            </a:extLst>
          </p:cNvPr>
          <p:cNvCxnSpPr/>
          <p:nvPr/>
        </p:nvCxnSpPr>
        <p:spPr>
          <a:xfrm>
            <a:off x="8320771" y="773676"/>
            <a:ext cx="0" cy="5921829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4" name="TextBox 323">
            <a:extLst>
              <a:ext uri="{FF2B5EF4-FFF2-40B4-BE49-F238E27FC236}">
                <a16:creationId xmlns:a16="http://schemas.microsoft.com/office/drawing/2014/main" id="{71C8090C-02EF-4169-8711-2E27E1246375}"/>
              </a:ext>
            </a:extLst>
          </p:cNvPr>
          <p:cNvSpPr txBox="1"/>
          <p:nvPr/>
        </p:nvSpPr>
        <p:spPr>
          <a:xfrm>
            <a:off x="8121305" y="1410011"/>
            <a:ext cx="2300238" cy="9541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유럽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에너지 설정 기준</a:t>
            </a:r>
            <a:endParaRPr kumimoji="0" lang="en-US" altLang="ko-KR" sz="800" b="0" i="0" u="none" strike="noStrike" kern="120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  <a:p>
            <a:pPr marL="228600" marR="0" lvl="0" indent="-2286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ESG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준수</a:t>
            </a:r>
            <a:endParaRPr kumimoji="0" lang="en-US" altLang="ko-KR" sz="800" b="0" i="0" u="none" strike="noStrike" kern="120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  <a:p>
            <a:pPr marL="228600" marR="0" lvl="0" indent="-2286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Vivid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휘도 저하가 없는 최고 등급</a:t>
            </a:r>
            <a:endParaRPr kumimoji="0" lang="en-US" altLang="ko-KR" sz="800" b="0" i="0" u="none" strike="noStrike" kern="120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  <a:p>
            <a:pPr marL="228600" marR="0" lvl="0" indent="-2286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Adaptive Dimming Step4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이하설정</a:t>
            </a:r>
            <a:endParaRPr kumimoji="0" lang="en-US" altLang="ko-KR" sz="800" b="0" i="0" u="none" strike="noStrike" kern="120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  <a:p>
            <a:pPr marL="228600" marR="0" lvl="0" indent="-2286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휘도비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Spec &amp; ABC benefit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으로 인해 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Backlight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제약</a:t>
            </a:r>
            <a:endParaRPr kumimoji="0" lang="en-US" altLang="ko-KR" sz="800" b="0" i="0" u="none" strike="noStrike" kern="120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※  CMR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화질설정으로 소비전력 저감요소 없음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E52B32CA-58DA-F7C5-2264-49D9F7588787}"/>
              </a:ext>
            </a:extLst>
          </p:cNvPr>
          <p:cNvCxnSpPr/>
          <p:nvPr/>
        </p:nvCxnSpPr>
        <p:spPr>
          <a:xfrm>
            <a:off x="10177141" y="694735"/>
            <a:ext cx="0" cy="5921829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F611880F-EBDD-ABD8-A319-1879BB95C5CC}"/>
              </a:ext>
            </a:extLst>
          </p:cNvPr>
          <p:cNvGrpSpPr/>
          <p:nvPr/>
        </p:nvGrpSpPr>
        <p:grpSpPr>
          <a:xfrm>
            <a:off x="10077636" y="845731"/>
            <a:ext cx="1923141" cy="231858"/>
            <a:chOff x="3054397" y="869315"/>
            <a:chExt cx="953371" cy="223211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C4ACA50-57B8-726A-828B-5BF1F92199FC}"/>
                </a:ext>
              </a:extLst>
            </p:cNvPr>
            <p:cNvSpPr txBox="1"/>
            <p:nvPr/>
          </p:nvSpPr>
          <p:spPr>
            <a:xfrm>
              <a:off x="3453207" y="869315"/>
              <a:ext cx="155755" cy="20740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비고</a:t>
              </a:r>
            </a:p>
          </p:txBody>
        </p: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3EF74F31-B2F1-D35E-B577-2F1BA191C1B5}"/>
                </a:ext>
              </a:extLst>
            </p:cNvPr>
            <p:cNvCxnSpPr/>
            <p:nvPr/>
          </p:nvCxnSpPr>
          <p:spPr>
            <a:xfrm>
              <a:off x="3054397" y="1092526"/>
              <a:ext cx="953371" cy="0"/>
            </a:xfrm>
            <a:prstGeom prst="line">
              <a:avLst/>
            </a:prstGeom>
            <a:noFill/>
            <a:ln w="3175" cap="flat" cmpd="sng" algn="ctr">
              <a:solidFill>
                <a:srgbClr val="000000"/>
              </a:solidFill>
              <a:prstDash val="solid"/>
            </a:ln>
            <a:effectLst/>
          </p:spPr>
        </p:cxnSp>
      </p:grpSp>
      <p:sp>
        <p:nvSpPr>
          <p:cNvPr id="3" name="모서리가 둥근 직사각형 167">
            <a:extLst>
              <a:ext uri="{FF2B5EF4-FFF2-40B4-BE49-F238E27FC236}">
                <a16:creationId xmlns:a16="http://schemas.microsoft.com/office/drawing/2014/main" id="{3F186D3F-29C0-2DD7-785D-4F44CD40645C}"/>
              </a:ext>
            </a:extLst>
          </p:cNvPr>
          <p:cNvSpPr/>
          <p:nvPr/>
        </p:nvSpPr>
        <p:spPr bwMode="auto">
          <a:xfrm>
            <a:off x="696418" y="1176996"/>
            <a:ext cx="191664" cy="196127"/>
          </a:xfrm>
          <a:prstGeom prst="roundRect">
            <a:avLst/>
          </a:prstGeom>
          <a:noFill/>
          <a:ln w="6350" algn="ctr">
            <a:solidFill>
              <a:schemeClr val="bg1">
                <a:lumMod val="50000"/>
              </a:schemeClr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5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86</a:t>
            </a:r>
            <a:endParaRPr kumimoji="0" lang="ko-KR" altLang="en-US" sz="75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5" name="모서리가 둥근 직사각형 168">
            <a:extLst>
              <a:ext uri="{FF2B5EF4-FFF2-40B4-BE49-F238E27FC236}">
                <a16:creationId xmlns:a16="http://schemas.microsoft.com/office/drawing/2014/main" id="{D1CD91A3-331F-26BE-8E70-BB43F837AE3A}"/>
              </a:ext>
            </a:extLst>
          </p:cNvPr>
          <p:cNvSpPr/>
          <p:nvPr/>
        </p:nvSpPr>
        <p:spPr bwMode="auto">
          <a:xfrm>
            <a:off x="899049" y="1176996"/>
            <a:ext cx="191664" cy="196127"/>
          </a:xfrm>
          <a:prstGeom prst="roundRect">
            <a:avLst/>
          </a:prstGeom>
          <a:noFill/>
          <a:ln w="6350" algn="ctr">
            <a:solidFill>
              <a:schemeClr val="bg1">
                <a:lumMod val="50000"/>
              </a:schemeClr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5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83</a:t>
            </a:r>
            <a:endParaRPr kumimoji="0" lang="ko-KR" altLang="en-US" sz="75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3" name="모서리가 둥근 직사각형 169">
            <a:extLst>
              <a:ext uri="{FF2B5EF4-FFF2-40B4-BE49-F238E27FC236}">
                <a16:creationId xmlns:a16="http://schemas.microsoft.com/office/drawing/2014/main" id="{2B8AC5A8-1726-3783-AED7-08919CD0723F}"/>
              </a:ext>
            </a:extLst>
          </p:cNvPr>
          <p:cNvSpPr/>
          <p:nvPr/>
        </p:nvSpPr>
        <p:spPr bwMode="auto">
          <a:xfrm>
            <a:off x="1101329" y="1176996"/>
            <a:ext cx="191664" cy="196127"/>
          </a:xfrm>
          <a:prstGeom prst="roundRect">
            <a:avLst/>
          </a:prstGeom>
          <a:noFill/>
          <a:ln w="6350" algn="ctr">
            <a:solidFill>
              <a:schemeClr val="bg1">
                <a:lumMod val="50000"/>
              </a:schemeClr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5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77</a:t>
            </a:r>
          </a:p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5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75</a:t>
            </a:r>
            <a:endParaRPr kumimoji="0" lang="ko-KR" altLang="en-US" sz="75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4" name="모서리가 둥근 직사각형 171">
            <a:extLst>
              <a:ext uri="{FF2B5EF4-FFF2-40B4-BE49-F238E27FC236}">
                <a16:creationId xmlns:a16="http://schemas.microsoft.com/office/drawing/2014/main" id="{127EEA36-7DAD-0C78-F145-88CB7BDC269A}"/>
              </a:ext>
            </a:extLst>
          </p:cNvPr>
          <p:cNvSpPr/>
          <p:nvPr/>
        </p:nvSpPr>
        <p:spPr bwMode="auto">
          <a:xfrm>
            <a:off x="1305971" y="1176996"/>
            <a:ext cx="191664" cy="196127"/>
          </a:xfrm>
          <a:prstGeom prst="roundRect">
            <a:avLst/>
          </a:prstGeom>
          <a:noFill/>
          <a:ln w="6350" algn="ctr">
            <a:solidFill>
              <a:schemeClr val="bg1">
                <a:lumMod val="50000"/>
              </a:schemeClr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5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65</a:t>
            </a:r>
            <a:endParaRPr kumimoji="0" lang="ko-KR" altLang="en-US" sz="75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5" name="모서리가 둥근 직사각형 172">
            <a:extLst>
              <a:ext uri="{FF2B5EF4-FFF2-40B4-BE49-F238E27FC236}">
                <a16:creationId xmlns:a16="http://schemas.microsoft.com/office/drawing/2014/main" id="{2F0A42DC-6755-6948-FA18-FBA597FEB0C5}"/>
              </a:ext>
            </a:extLst>
          </p:cNvPr>
          <p:cNvSpPr/>
          <p:nvPr/>
        </p:nvSpPr>
        <p:spPr bwMode="auto">
          <a:xfrm>
            <a:off x="493787" y="1176996"/>
            <a:ext cx="191664" cy="196127"/>
          </a:xfrm>
          <a:prstGeom prst="roundRect">
            <a:avLst/>
          </a:prstGeom>
          <a:noFill/>
          <a:ln w="6350" algn="ctr">
            <a:solidFill>
              <a:schemeClr val="bg1">
                <a:lumMod val="50000"/>
              </a:schemeClr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5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100</a:t>
            </a:r>
          </a:p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5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97</a:t>
            </a:r>
            <a:endParaRPr kumimoji="0" lang="ko-KR" altLang="en-US" sz="75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6" name="모서리가 둥근 직사각형 173">
            <a:extLst>
              <a:ext uri="{FF2B5EF4-FFF2-40B4-BE49-F238E27FC236}">
                <a16:creationId xmlns:a16="http://schemas.microsoft.com/office/drawing/2014/main" id="{BCA4BECF-A530-D5D7-0D4A-A2AC7E6F311A}"/>
              </a:ext>
            </a:extLst>
          </p:cNvPr>
          <p:cNvSpPr/>
          <p:nvPr/>
        </p:nvSpPr>
        <p:spPr bwMode="auto">
          <a:xfrm>
            <a:off x="1511069" y="1176996"/>
            <a:ext cx="191664" cy="196127"/>
          </a:xfrm>
          <a:prstGeom prst="roundRect">
            <a:avLst/>
          </a:prstGeom>
          <a:noFill/>
          <a:ln w="6350" algn="ctr">
            <a:solidFill>
              <a:schemeClr val="bg1">
                <a:lumMod val="50000"/>
              </a:schemeClr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5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55</a:t>
            </a:r>
            <a:endParaRPr kumimoji="0" lang="ko-KR" altLang="en-US" sz="75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7" name="모서리가 둥근 직사각형 174">
            <a:extLst>
              <a:ext uri="{FF2B5EF4-FFF2-40B4-BE49-F238E27FC236}">
                <a16:creationId xmlns:a16="http://schemas.microsoft.com/office/drawing/2014/main" id="{55CB9C3C-C92F-48AA-64DB-102C8871D515}"/>
              </a:ext>
            </a:extLst>
          </p:cNvPr>
          <p:cNvSpPr/>
          <p:nvPr/>
        </p:nvSpPr>
        <p:spPr bwMode="auto">
          <a:xfrm>
            <a:off x="1711402" y="1176996"/>
            <a:ext cx="191664" cy="196127"/>
          </a:xfrm>
          <a:prstGeom prst="roundRect">
            <a:avLst/>
          </a:prstGeom>
          <a:noFill/>
          <a:ln w="6350" algn="ctr">
            <a:solidFill>
              <a:schemeClr val="bg1">
                <a:lumMod val="50000"/>
              </a:schemeClr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5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50</a:t>
            </a:r>
          </a:p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5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48</a:t>
            </a:r>
            <a:endParaRPr kumimoji="0" lang="ko-KR" altLang="en-US" sz="75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8" name="모서리가 둥근 직사각형 175">
            <a:extLst>
              <a:ext uri="{FF2B5EF4-FFF2-40B4-BE49-F238E27FC236}">
                <a16:creationId xmlns:a16="http://schemas.microsoft.com/office/drawing/2014/main" id="{E7C3FBCB-40E1-CD97-7611-9BBDD97A8CAE}"/>
              </a:ext>
            </a:extLst>
          </p:cNvPr>
          <p:cNvSpPr/>
          <p:nvPr/>
        </p:nvSpPr>
        <p:spPr bwMode="auto">
          <a:xfrm>
            <a:off x="1915691" y="1176996"/>
            <a:ext cx="191664" cy="196127"/>
          </a:xfrm>
          <a:prstGeom prst="roundRect">
            <a:avLst/>
          </a:prstGeom>
          <a:noFill/>
          <a:ln w="6350" algn="ctr">
            <a:solidFill>
              <a:schemeClr val="bg1">
                <a:lumMod val="50000"/>
              </a:schemeClr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5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43</a:t>
            </a:r>
          </a:p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5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42</a:t>
            </a:r>
            <a:endParaRPr kumimoji="0" lang="ko-KR" altLang="en-US" sz="75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8DFC870-AE9C-C097-4722-736206E7BB6B}"/>
              </a:ext>
            </a:extLst>
          </p:cNvPr>
          <p:cNvSpPr txBox="1"/>
          <p:nvPr/>
        </p:nvSpPr>
        <p:spPr>
          <a:xfrm>
            <a:off x="24928" y="1181826"/>
            <a:ext cx="423761" cy="184666"/>
          </a:xfrm>
          <a:prstGeom prst="rect">
            <a:avLst/>
          </a:prstGeom>
          <a:noFill/>
        </p:spPr>
        <p:txBody>
          <a:bodyPr wrap="none" lIns="36000" tIns="0" rIns="36000" b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OLED</a:t>
            </a:r>
            <a:endParaRPr kumimoji="0" lang="ko-KR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30" name="Rectangle 3936">
            <a:extLst>
              <a:ext uri="{FF2B5EF4-FFF2-40B4-BE49-F238E27FC236}">
                <a16:creationId xmlns:a16="http://schemas.microsoft.com/office/drawing/2014/main" id="{07920192-F1C6-9AA8-309B-F9F454188E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25" y="1488325"/>
            <a:ext cx="396000" cy="180000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chemeClr val="tx1"/>
            </a:solidFill>
            <a:prstDash val="solid"/>
          </a:ln>
          <a:effectLst/>
        </p:spPr>
        <p:txBody>
          <a:bodyPr wrap="none" lIns="74286" tIns="37143" rIns="74286" bIns="37143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M5</a:t>
            </a:r>
          </a:p>
        </p:txBody>
      </p:sp>
      <p:sp>
        <p:nvSpPr>
          <p:cNvPr id="31" name="Rectangle 3936">
            <a:extLst>
              <a:ext uri="{FF2B5EF4-FFF2-40B4-BE49-F238E27FC236}">
                <a16:creationId xmlns:a16="http://schemas.microsoft.com/office/drawing/2014/main" id="{63BCB961-7C63-C7C3-0206-66D2AC7F7D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25" y="2167025"/>
            <a:ext cx="396000" cy="180000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chemeClr val="tx1"/>
            </a:solidFill>
            <a:prstDash val="solid"/>
          </a:ln>
          <a:effectLst/>
        </p:spPr>
        <p:txBody>
          <a:bodyPr wrap="none" lIns="74286" tIns="37143" rIns="74286" bIns="37143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B5</a:t>
            </a:r>
          </a:p>
        </p:txBody>
      </p:sp>
      <p:sp>
        <p:nvSpPr>
          <p:cNvPr id="32" name="Rectangle 3936">
            <a:hlinkClick r:id="" action="ppaction://noaction"/>
            <a:extLst>
              <a:ext uri="{FF2B5EF4-FFF2-40B4-BE49-F238E27FC236}">
                <a16:creationId xmlns:a16="http://schemas.microsoft.com/office/drawing/2014/main" id="{EEC9F3F3-1077-B427-C339-6B218DA619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25" y="1943694"/>
            <a:ext cx="396000" cy="180000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chemeClr val="tx1"/>
            </a:solidFill>
            <a:prstDash val="solid"/>
          </a:ln>
          <a:effectLst/>
        </p:spPr>
        <p:txBody>
          <a:bodyPr wrap="none" lIns="74286" tIns="37143" rIns="74286" bIns="37143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C5</a:t>
            </a:r>
          </a:p>
        </p:txBody>
      </p:sp>
      <p:sp>
        <p:nvSpPr>
          <p:cNvPr id="33" name="Rectangle 3936">
            <a:hlinkClick r:id="" action="ppaction://noaction"/>
            <a:extLst>
              <a:ext uri="{FF2B5EF4-FFF2-40B4-BE49-F238E27FC236}">
                <a16:creationId xmlns:a16="http://schemas.microsoft.com/office/drawing/2014/main" id="{D28E2E3B-A5BC-6C47-7FAB-0E4AB9208C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25" y="1720364"/>
            <a:ext cx="396000" cy="180000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chemeClr val="tx1"/>
            </a:solidFill>
            <a:prstDash val="solid"/>
          </a:ln>
          <a:effectLst/>
        </p:spPr>
        <p:txBody>
          <a:bodyPr wrap="none" lIns="74286" tIns="37143" rIns="74286" bIns="37143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G5</a:t>
            </a:r>
          </a:p>
        </p:txBody>
      </p:sp>
      <p:sp>
        <p:nvSpPr>
          <p:cNvPr id="476" name="모서리가 둥근 직사각형 167">
            <a:extLst>
              <a:ext uri="{FF2B5EF4-FFF2-40B4-BE49-F238E27FC236}">
                <a16:creationId xmlns:a16="http://schemas.microsoft.com/office/drawing/2014/main" id="{43B9F3C6-DC41-6D65-0715-D3C8792C7927}"/>
              </a:ext>
            </a:extLst>
          </p:cNvPr>
          <p:cNvSpPr/>
          <p:nvPr/>
        </p:nvSpPr>
        <p:spPr bwMode="auto">
          <a:xfrm>
            <a:off x="2868495" y="1176290"/>
            <a:ext cx="191664" cy="196127"/>
          </a:xfrm>
          <a:prstGeom prst="roundRect">
            <a:avLst/>
          </a:prstGeom>
          <a:noFill/>
          <a:ln w="6350" algn="ctr">
            <a:solidFill>
              <a:schemeClr val="bg1">
                <a:lumMod val="50000"/>
              </a:schemeClr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5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86</a:t>
            </a:r>
            <a:endParaRPr kumimoji="0" lang="ko-KR" altLang="en-US" sz="75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77" name="모서리가 둥근 직사각형 168">
            <a:extLst>
              <a:ext uri="{FF2B5EF4-FFF2-40B4-BE49-F238E27FC236}">
                <a16:creationId xmlns:a16="http://schemas.microsoft.com/office/drawing/2014/main" id="{AA58A088-9DB6-6ED0-DE9F-636A1C0E8111}"/>
              </a:ext>
            </a:extLst>
          </p:cNvPr>
          <p:cNvSpPr/>
          <p:nvPr/>
        </p:nvSpPr>
        <p:spPr bwMode="auto">
          <a:xfrm>
            <a:off x="3071126" y="1176290"/>
            <a:ext cx="191664" cy="196127"/>
          </a:xfrm>
          <a:prstGeom prst="roundRect">
            <a:avLst/>
          </a:prstGeom>
          <a:noFill/>
          <a:ln w="6350" algn="ctr">
            <a:solidFill>
              <a:schemeClr val="bg1">
                <a:lumMod val="50000"/>
              </a:schemeClr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5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83</a:t>
            </a:r>
            <a:endParaRPr kumimoji="0" lang="ko-KR" altLang="en-US" sz="75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78" name="모서리가 둥근 직사각형 169">
            <a:extLst>
              <a:ext uri="{FF2B5EF4-FFF2-40B4-BE49-F238E27FC236}">
                <a16:creationId xmlns:a16="http://schemas.microsoft.com/office/drawing/2014/main" id="{751F2A62-C541-B2D3-859E-158F0CB66148}"/>
              </a:ext>
            </a:extLst>
          </p:cNvPr>
          <p:cNvSpPr/>
          <p:nvPr/>
        </p:nvSpPr>
        <p:spPr bwMode="auto">
          <a:xfrm>
            <a:off x="3273757" y="1176290"/>
            <a:ext cx="191664" cy="196127"/>
          </a:xfrm>
          <a:prstGeom prst="roundRect">
            <a:avLst/>
          </a:prstGeom>
          <a:noFill/>
          <a:ln w="6350" algn="ctr">
            <a:solidFill>
              <a:schemeClr val="bg1">
                <a:lumMod val="50000"/>
              </a:schemeClr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5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77</a:t>
            </a:r>
          </a:p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5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75</a:t>
            </a:r>
            <a:endParaRPr kumimoji="0" lang="ko-KR" altLang="en-US" sz="75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79" name="모서리가 둥근 직사각형 171">
            <a:extLst>
              <a:ext uri="{FF2B5EF4-FFF2-40B4-BE49-F238E27FC236}">
                <a16:creationId xmlns:a16="http://schemas.microsoft.com/office/drawing/2014/main" id="{823CC4E5-AB9B-0DB1-2A46-0D518CEC4DF0}"/>
              </a:ext>
            </a:extLst>
          </p:cNvPr>
          <p:cNvSpPr/>
          <p:nvPr/>
        </p:nvSpPr>
        <p:spPr bwMode="auto">
          <a:xfrm>
            <a:off x="3476388" y="1176290"/>
            <a:ext cx="191664" cy="196127"/>
          </a:xfrm>
          <a:prstGeom prst="roundRect">
            <a:avLst/>
          </a:prstGeom>
          <a:noFill/>
          <a:ln w="6350" algn="ctr">
            <a:solidFill>
              <a:schemeClr val="bg1">
                <a:lumMod val="50000"/>
              </a:schemeClr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5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65</a:t>
            </a:r>
            <a:endParaRPr kumimoji="0" lang="ko-KR" altLang="en-US" sz="75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80" name="모서리가 둥근 직사각형 172">
            <a:extLst>
              <a:ext uri="{FF2B5EF4-FFF2-40B4-BE49-F238E27FC236}">
                <a16:creationId xmlns:a16="http://schemas.microsoft.com/office/drawing/2014/main" id="{9A68E6D3-D1A1-F237-BEFC-B473D8059040}"/>
              </a:ext>
            </a:extLst>
          </p:cNvPr>
          <p:cNvSpPr/>
          <p:nvPr/>
        </p:nvSpPr>
        <p:spPr bwMode="auto">
          <a:xfrm>
            <a:off x="2665864" y="1176290"/>
            <a:ext cx="191664" cy="196127"/>
          </a:xfrm>
          <a:prstGeom prst="roundRect">
            <a:avLst/>
          </a:prstGeom>
          <a:noFill/>
          <a:ln w="6350" algn="ctr">
            <a:solidFill>
              <a:schemeClr val="bg1">
                <a:lumMod val="50000"/>
              </a:schemeClr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5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100</a:t>
            </a:r>
          </a:p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5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97</a:t>
            </a:r>
            <a:endParaRPr kumimoji="0" lang="ko-KR" altLang="en-US" sz="75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83" name="모서리가 둥근 직사각형 173">
            <a:extLst>
              <a:ext uri="{FF2B5EF4-FFF2-40B4-BE49-F238E27FC236}">
                <a16:creationId xmlns:a16="http://schemas.microsoft.com/office/drawing/2014/main" id="{5EBF554F-C3E9-BA81-75C2-4CFE4EB054F5}"/>
              </a:ext>
            </a:extLst>
          </p:cNvPr>
          <p:cNvSpPr/>
          <p:nvPr/>
        </p:nvSpPr>
        <p:spPr bwMode="auto">
          <a:xfrm>
            <a:off x="3679019" y="1176290"/>
            <a:ext cx="191664" cy="196127"/>
          </a:xfrm>
          <a:prstGeom prst="roundRect">
            <a:avLst/>
          </a:prstGeom>
          <a:noFill/>
          <a:ln w="6350" algn="ctr">
            <a:solidFill>
              <a:schemeClr val="bg1">
                <a:lumMod val="50000"/>
              </a:schemeClr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5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55</a:t>
            </a:r>
            <a:endParaRPr kumimoji="0" lang="ko-KR" altLang="en-US" sz="75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84" name="모서리가 둥근 직사각형 174">
            <a:extLst>
              <a:ext uri="{FF2B5EF4-FFF2-40B4-BE49-F238E27FC236}">
                <a16:creationId xmlns:a16="http://schemas.microsoft.com/office/drawing/2014/main" id="{60A5BBD5-511F-9C26-F57D-A4FAFC8C39F8}"/>
              </a:ext>
            </a:extLst>
          </p:cNvPr>
          <p:cNvSpPr/>
          <p:nvPr/>
        </p:nvSpPr>
        <p:spPr bwMode="auto">
          <a:xfrm>
            <a:off x="3881650" y="1176290"/>
            <a:ext cx="191664" cy="196127"/>
          </a:xfrm>
          <a:prstGeom prst="roundRect">
            <a:avLst/>
          </a:prstGeom>
          <a:noFill/>
          <a:ln w="6350" algn="ctr">
            <a:solidFill>
              <a:schemeClr val="bg1">
                <a:lumMod val="50000"/>
              </a:schemeClr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5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50</a:t>
            </a:r>
          </a:p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5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48</a:t>
            </a:r>
            <a:endParaRPr kumimoji="0" lang="ko-KR" altLang="en-US" sz="75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85" name="모서리가 둥근 직사각형 175">
            <a:extLst>
              <a:ext uri="{FF2B5EF4-FFF2-40B4-BE49-F238E27FC236}">
                <a16:creationId xmlns:a16="http://schemas.microsoft.com/office/drawing/2014/main" id="{6AD6A8CA-042C-EE84-70D8-B65AA9C65A3C}"/>
              </a:ext>
            </a:extLst>
          </p:cNvPr>
          <p:cNvSpPr/>
          <p:nvPr/>
        </p:nvSpPr>
        <p:spPr bwMode="auto">
          <a:xfrm>
            <a:off x="4092992" y="1176290"/>
            <a:ext cx="191664" cy="196127"/>
          </a:xfrm>
          <a:prstGeom prst="roundRect">
            <a:avLst/>
          </a:prstGeom>
          <a:noFill/>
          <a:ln w="6350" algn="ctr">
            <a:solidFill>
              <a:schemeClr val="bg1">
                <a:lumMod val="50000"/>
              </a:schemeClr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5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43</a:t>
            </a:r>
          </a:p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5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42</a:t>
            </a:r>
            <a:endParaRPr kumimoji="0" lang="ko-KR" altLang="en-US" sz="75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86" name="Rectangle 3936">
            <a:extLst>
              <a:ext uri="{FF2B5EF4-FFF2-40B4-BE49-F238E27FC236}">
                <a16:creationId xmlns:a16="http://schemas.microsoft.com/office/drawing/2014/main" id="{BCF58C98-936C-1E82-C1E0-5A9ACB598F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4356" y="1417729"/>
            <a:ext cx="396000" cy="180000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chemeClr val="tx1"/>
            </a:solidFill>
            <a:prstDash val="solid"/>
          </a:ln>
          <a:effectLst/>
        </p:spPr>
        <p:txBody>
          <a:bodyPr wrap="none" lIns="74286" tIns="37143" rIns="74286" bIns="37143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W6</a:t>
            </a:r>
          </a:p>
        </p:txBody>
      </p:sp>
      <p:sp>
        <p:nvSpPr>
          <p:cNvPr id="487" name="Rectangle 3936">
            <a:extLst>
              <a:ext uri="{FF2B5EF4-FFF2-40B4-BE49-F238E27FC236}">
                <a16:creationId xmlns:a16="http://schemas.microsoft.com/office/drawing/2014/main" id="{AADAD409-2905-C956-F2FA-0FFEFF13E6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4356" y="2096429"/>
            <a:ext cx="396000" cy="180000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chemeClr val="tx1"/>
            </a:solidFill>
            <a:prstDash val="solid"/>
          </a:ln>
          <a:effectLst/>
        </p:spPr>
        <p:txBody>
          <a:bodyPr wrap="none" lIns="74286" tIns="37143" rIns="74286" bIns="37143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B6</a:t>
            </a:r>
          </a:p>
        </p:txBody>
      </p:sp>
      <p:sp>
        <p:nvSpPr>
          <p:cNvPr id="488" name="Rectangle 3936">
            <a:hlinkClick r:id="" action="ppaction://noaction"/>
            <a:extLst>
              <a:ext uri="{FF2B5EF4-FFF2-40B4-BE49-F238E27FC236}">
                <a16:creationId xmlns:a16="http://schemas.microsoft.com/office/drawing/2014/main" id="{C65271CB-8E87-BCAF-34C3-194E58177C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4356" y="1873098"/>
            <a:ext cx="396000" cy="180000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chemeClr val="tx1"/>
            </a:solidFill>
            <a:prstDash val="solid"/>
          </a:ln>
          <a:effectLst/>
        </p:spPr>
        <p:txBody>
          <a:bodyPr wrap="none" lIns="74286" tIns="37143" rIns="74286" bIns="37143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C6</a:t>
            </a:r>
          </a:p>
        </p:txBody>
      </p:sp>
      <p:sp>
        <p:nvSpPr>
          <p:cNvPr id="489" name="Rectangle 3936">
            <a:hlinkClick r:id="" action="ppaction://noaction"/>
            <a:extLst>
              <a:ext uri="{FF2B5EF4-FFF2-40B4-BE49-F238E27FC236}">
                <a16:creationId xmlns:a16="http://schemas.microsoft.com/office/drawing/2014/main" id="{E301E9A8-8013-675D-76ED-26D0907DD7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4356" y="1649768"/>
            <a:ext cx="396000" cy="180000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chemeClr val="tx1"/>
            </a:solidFill>
            <a:prstDash val="solid"/>
          </a:ln>
          <a:effectLst/>
        </p:spPr>
        <p:txBody>
          <a:bodyPr wrap="none" lIns="74286" tIns="37143" rIns="74286" bIns="37143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G6</a:t>
            </a:r>
          </a:p>
        </p:txBody>
      </p:sp>
      <p:sp>
        <p:nvSpPr>
          <p:cNvPr id="490" name="Rectangle 3936">
            <a:extLst>
              <a:ext uri="{FF2B5EF4-FFF2-40B4-BE49-F238E27FC236}">
                <a16:creationId xmlns:a16="http://schemas.microsoft.com/office/drawing/2014/main" id="{1A1A8749-C6C9-229E-B3E6-BFD73C4D27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8865" y="2322266"/>
            <a:ext cx="396000" cy="180000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chemeClr val="tx1"/>
            </a:solidFill>
            <a:prstDash val="solid"/>
          </a:ln>
          <a:effectLst/>
        </p:spPr>
        <p:txBody>
          <a:bodyPr wrap="none" lIns="74286" tIns="37143" rIns="74286" bIns="37143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B6E</a:t>
            </a:r>
          </a:p>
        </p:txBody>
      </p:sp>
      <p:sp>
        <p:nvSpPr>
          <p:cNvPr id="349" name="직사각형 348">
            <a:extLst>
              <a:ext uri="{FF2B5EF4-FFF2-40B4-BE49-F238E27FC236}">
                <a16:creationId xmlns:a16="http://schemas.microsoft.com/office/drawing/2014/main" id="{AC6B4318-F6A6-4559-A86C-0849C573B720}"/>
              </a:ext>
            </a:extLst>
          </p:cNvPr>
          <p:cNvSpPr/>
          <p:nvPr/>
        </p:nvSpPr>
        <p:spPr bwMode="auto">
          <a:xfrm>
            <a:off x="4759787" y="3695846"/>
            <a:ext cx="191664" cy="180000"/>
          </a:xfrm>
          <a:prstGeom prst="rect">
            <a:avLst/>
          </a:prstGeom>
          <a:solidFill>
            <a:srgbClr val="FFC9C9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F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383" name="모서리가 둥근 직사각형 167">
            <a:extLst>
              <a:ext uri="{FF2B5EF4-FFF2-40B4-BE49-F238E27FC236}">
                <a16:creationId xmlns:a16="http://schemas.microsoft.com/office/drawing/2014/main" id="{2331DD85-293C-409A-A80F-1CCF3E19AACC}"/>
              </a:ext>
            </a:extLst>
          </p:cNvPr>
          <p:cNvSpPr/>
          <p:nvPr/>
        </p:nvSpPr>
        <p:spPr bwMode="auto">
          <a:xfrm>
            <a:off x="6991803" y="1181739"/>
            <a:ext cx="191664" cy="196127"/>
          </a:xfrm>
          <a:prstGeom prst="roundRect">
            <a:avLst/>
          </a:prstGeom>
          <a:noFill/>
          <a:ln w="6350" algn="ctr">
            <a:solidFill>
              <a:schemeClr val="bg1">
                <a:lumMod val="50000"/>
              </a:schemeClr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5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85</a:t>
            </a:r>
            <a:endParaRPr kumimoji="0" lang="ko-KR" altLang="en-US" sz="75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384" name="모서리가 둥근 직사각형 172">
            <a:extLst>
              <a:ext uri="{FF2B5EF4-FFF2-40B4-BE49-F238E27FC236}">
                <a16:creationId xmlns:a16="http://schemas.microsoft.com/office/drawing/2014/main" id="{6F4812E8-9124-4600-A27C-D9321DD243D9}"/>
              </a:ext>
            </a:extLst>
          </p:cNvPr>
          <p:cNvSpPr/>
          <p:nvPr/>
        </p:nvSpPr>
        <p:spPr bwMode="auto">
          <a:xfrm>
            <a:off x="6789172" y="1181739"/>
            <a:ext cx="191664" cy="196127"/>
          </a:xfrm>
          <a:prstGeom prst="roundRect">
            <a:avLst/>
          </a:prstGeom>
          <a:noFill/>
          <a:ln w="6350" algn="ctr">
            <a:solidFill>
              <a:schemeClr val="bg1">
                <a:lumMod val="50000"/>
              </a:schemeClr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5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100</a:t>
            </a:r>
          </a:p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5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98</a:t>
            </a:r>
            <a:endParaRPr kumimoji="0" lang="ko-KR" altLang="en-US" sz="75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385" name="Rectangle 3936">
            <a:extLst>
              <a:ext uri="{FF2B5EF4-FFF2-40B4-BE49-F238E27FC236}">
                <a16:creationId xmlns:a16="http://schemas.microsoft.com/office/drawing/2014/main" id="{CDA18954-D0DC-4049-BFEE-8503DD32B5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6610" y="4103370"/>
            <a:ext cx="385421" cy="180000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chemeClr val="tx1"/>
            </a:solidFill>
            <a:prstDash val="solid"/>
          </a:ln>
          <a:effectLst/>
        </p:spPr>
        <p:txBody>
          <a:bodyPr wrap="none" lIns="74286" tIns="37143" rIns="74286" bIns="37143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MQLED70K</a:t>
            </a:r>
          </a:p>
        </p:txBody>
      </p:sp>
      <p:sp>
        <p:nvSpPr>
          <p:cNvPr id="386" name="Rectangle 3936">
            <a:extLst>
              <a:ext uri="{FF2B5EF4-FFF2-40B4-BE49-F238E27FC236}">
                <a16:creationId xmlns:a16="http://schemas.microsoft.com/office/drawing/2014/main" id="{7A17CC01-BD09-4B67-8BEA-BD93BA094B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6610" y="3695846"/>
            <a:ext cx="396000" cy="180000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chemeClr val="tx1"/>
            </a:solidFill>
            <a:prstDash val="solid"/>
          </a:ln>
          <a:effectLst/>
        </p:spPr>
        <p:txBody>
          <a:bodyPr wrap="none" lIns="74286" tIns="37143" rIns="74286" bIns="37143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MQLED75K</a:t>
            </a:r>
          </a:p>
        </p:txBody>
      </p:sp>
      <p:sp>
        <p:nvSpPr>
          <p:cNvPr id="391" name="직사각형 390">
            <a:extLst>
              <a:ext uri="{FF2B5EF4-FFF2-40B4-BE49-F238E27FC236}">
                <a16:creationId xmlns:a16="http://schemas.microsoft.com/office/drawing/2014/main" id="{AC6B4318-F6A6-4559-A86C-0849C573B720}"/>
              </a:ext>
            </a:extLst>
          </p:cNvPr>
          <p:cNvSpPr/>
          <p:nvPr/>
        </p:nvSpPr>
        <p:spPr bwMode="auto">
          <a:xfrm>
            <a:off x="7058218" y="3695846"/>
            <a:ext cx="191664" cy="180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D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396" name="Rectangle 3936">
            <a:hlinkClick r:id="" action="ppaction://noaction"/>
            <a:extLst>
              <a:ext uri="{FF2B5EF4-FFF2-40B4-BE49-F238E27FC236}">
                <a16:creationId xmlns:a16="http://schemas.microsoft.com/office/drawing/2014/main" id="{E8F0DDBD-22A5-41F4-9CCF-9489FCD9DD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6610" y="3475650"/>
            <a:ext cx="396000" cy="180000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chemeClr val="tx1"/>
            </a:solidFill>
            <a:prstDash val="solid"/>
          </a:ln>
          <a:effectLst/>
        </p:spPr>
        <p:txBody>
          <a:bodyPr wrap="none" lIns="74286" tIns="37143" rIns="74286" bIns="37143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MQLED85K</a:t>
            </a:r>
          </a:p>
        </p:txBody>
      </p:sp>
      <p:sp>
        <p:nvSpPr>
          <p:cNvPr id="397" name="직사각형 396">
            <a:extLst>
              <a:ext uri="{FF2B5EF4-FFF2-40B4-BE49-F238E27FC236}">
                <a16:creationId xmlns:a16="http://schemas.microsoft.com/office/drawing/2014/main" id="{5C7EC487-CBC2-4009-96CF-425463569E6B}"/>
              </a:ext>
            </a:extLst>
          </p:cNvPr>
          <p:cNvSpPr/>
          <p:nvPr/>
        </p:nvSpPr>
        <p:spPr bwMode="auto">
          <a:xfrm>
            <a:off x="7460828" y="3475650"/>
            <a:ext cx="191664" cy="180000"/>
          </a:xfrm>
          <a:prstGeom prst="rect">
            <a:avLst/>
          </a:prstGeom>
          <a:solidFill>
            <a:srgbClr val="FFC9C9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F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398" name="직사각형 397">
            <a:extLst>
              <a:ext uri="{FF2B5EF4-FFF2-40B4-BE49-F238E27FC236}">
                <a16:creationId xmlns:a16="http://schemas.microsoft.com/office/drawing/2014/main" id="{C4267785-4995-4F34-B4A1-1C933A356D7B}"/>
              </a:ext>
            </a:extLst>
          </p:cNvPr>
          <p:cNvSpPr/>
          <p:nvPr/>
        </p:nvSpPr>
        <p:spPr bwMode="auto">
          <a:xfrm>
            <a:off x="7664171" y="3475650"/>
            <a:ext cx="191664" cy="180000"/>
          </a:xfrm>
          <a:prstGeom prst="rect">
            <a:avLst/>
          </a:prstGeom>
          <a:solidFill>
            <a:srgbClr val="FFC9C9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F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00" name="직사각형 399">
            <a:extLst>
              <a:ext uri="{FF2B5EF4-FFF2-40B4-BE49-F238E27FC236}">
                <a16:creationId xmlns:a16="http://schemas.microsoft.com/office/drawing/2014/main" id="{FA9B1E32-93DD-4122-8A04-AC6E886AC6B0}"/>
              </a:ext>
            </a:extLst>
          </p:cNvPr>
          <p:cNvSpPr/>
          <p:nvPr/>
        </p:nvSpPr>
        <p:spPr bwMode="auto">
          <a:xfrm>
            <a:off x="7058218" y="3475650"/>
            <a:ext cx="191664" cy="180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D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02" name="Rectangle 3936">
            <a:extLst>
              <a:ext uri="{FF2B5EF4-FFF2-40B4-BE49-F238E27FC236}">
                <a16:creationId xmlns:a16="http://schemas.microsoft.com/office/drawing/2014/main" id="{8D236624-3380-45A0-90E6-78337D6B3F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6689" y="4696881"/>
            <a:ext cx="396000" cy="180000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chemeClr val="tx1"/>
            </a:solidFill>
            <a:prstDash val="solid"/>
          </a:ln>
          <a:effectLst/>
        </p:spPr>
        <p:txBody>
          <a:bodyPr wrap="none" lIns="74286" tIns="37143" rIns="74286" bIns="37143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C6KX2</a:t>
            </a:r>
          </a:p>
        </p:txBody>
      </p:sp>
      <p:sp>
        <p:nvSpPr>
          <p:cNvPr id="403" name="Rectangle 3936">
            <a:extLst>
              <a:ext uri="{FF2B5EF4-FFF2-40B4-BE49-F238E27FC236}">
                <a16:creationId xmlns:a16="http://schemas.microsoft.com/office/drawing/2014/main" id="{E5B28E6D-DE54-4B97-87CA-A81E86F667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4656" y="4914658"/>
            <a:ext cx="396000" cy="180000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chemeClr val="tx1"/>
            </a:solidFill>
            <a:prstDash val="solid"/>
          </a:ln>
          <a:effectLst/>
        </p:spPr>
        <p:txBody>
          <a:bodyPr wrap="none" lIns="74286" tIns="37143" rIns="74286" bIns="37143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C6KX1</a:t>
            </a:r>
          </a:p>
        </p:txBody>
      </p:sp>
      <p:sp>
        <p:nvSpPr>
          <p:cNvPr id="407" name="직사각형 406">
            <a:extLst>
              <a:ext uri="{FF2B5EF4-FFF2-40B4-BE49-F238E27FC236}">
                <a16:creationId xmlns:a16="http://schemas.microsoft.com/office/drawing/2014/main" id="{107A1D10-8B20-4635-A585-C90F81274A7B}"/>
              </a:ext>
            </a:extLst>
          </p:cNvPr>
          <p:cNvSpPr/>
          <p:nvPr/>
        </p:nvSpPr>
        <p:spPr bwMode="auto">
          <a:xfrm>
            <a:off x="7309940" y="4696881"/>
            <a:ext cx="191664" cy="180000"/>
          </a:xfrm>
          <a:prstGeom prst="rect">
            <a:avLst/>
          </a:prstGeom>
          <a:solidFill>
            <a:srgbClr val="FFFF00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E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10" name="직사각형 409">
            <a:extLst>
              <a:ext uri="{FF2B5EF4-FFF2-40B4-BE49-F238E27FC236}">
                <a16:creationId xmlns:a16="http://schemas.microsoft.com/office/drawing/2014/main" id="{26C58756-7961-423A-AB0F-52599AB55228}"/>
              </a:ext>
            </a:extLst>
          </p:cNvPr>
          <p:cNvSpPr/>
          <p:nvPr/>
        </p:nvSpPr>
        <p:spPr bwMode="auto">
          <a:xfrm>
            <a:off x="7512571" y="4696881"/>
            <a:ext cx="191664" cy="180000"/>
          </a:xfrm>
          <a:prstGeom prst="rect">
            <a:avLst/>
          </a:prstGeom>
          <a:solidFill>
            <a:srgbClr val="FFFF00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E</a:t>
            </a:r>
            <a:endParaRPr kumimoji="0" lang="ko-KR" altLang="en-US" sz="7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26" name="직사각형 425">
            <a:extLst>
              <a:ext uri="{FF2B5EF4-FFF2-40B4-BE49-F238E27FC236}">
                <a16:creationId xmlns:a16="http://schemas.microsoft.com/office/drawing/2014/main" id="{0CA32764-5083-4F20-91C6-40A5E15709F2}"/>
              </a:ext>
            </a:extLst>
          </p:cNvPr>
          <p:cNvSpPr/>
          <p:nvPr/>
        </p:nvSpPr>
        <p:spPr bwMode="auto">
          <a:xfrm>
            <a:off x="7109782" y="4696881"/>
            <a:ext cx="191664" cy="180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D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31" name="직사각형 430">
            <a:extLst>
              <a:ext uri="{FF2B5EF4-FFF2-40B4-BE49-F238E27FC236}">
                <a16:creationId xmlns:a16="http://schemas.microsoft.com/office/drawing/2014/main" id="{DF1839E8-C43C-4B8F-AAA8-310888DEDB01}"/>
              </a:ext>
            </a:extLst>
          </p:cNvPr>
          <p:cNvSpPr/>
          <p:nvPr/>
        </p:nvSpPr>
        <p:spPr bwMode="auto">
          <a:xfrm>
            <a:off x="7715202" y="4914658"/>
            <a:ext cx="191664" cy="180000"/>
          </a:xfrm>
          <a:prstGeom prst="rect">
            <a:avLst/>
          </a:prstGeom>
          <a:solidFill>
            <a:srgbClr val="FFC9C9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F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559" name="직사각형 558">
            <a:extLst>
              <a:ext uri="{FF2B5EF4-FFF2-40B4-BE49-F238E27FC236}">
                <a16:creationId xmlns:a16="http://schemas.microsoft.com/office/drawing/2014/main" id="{E4376361-4335-458F-8BDD-B2B70A6629CC}"/>
              </a:ext>
            </a:extLst>
          </p:cNvPr>
          <p:cNvSpPr/>
          <p:nvPr/>
        </p:nvSpPr>
        <p:spPr bwMode="auto">
          <a:xfrm>
            <a:off x="7109782" y="4914658"/>
            <a:ext cx="191664" cy="180000"/>
          </a:xfrm>
          <a:prstGeom prst="rect">
            <a:avLst/>
          </a:prstGeom>
          <a:solidFill>
            <a:srgbClr val="FFC9C9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F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564" name="직사각형 563">
            <a:extLst>
              <a:ext uri="{FF2B5EF4-FFF2-40B4-BE49-F238E27FC236}">
                <a16:creationId xmlns:a16="http://schemas.microsoft.com/office/drawing/2014/main" id="{AC6B4318-F6A6-4559-A86C-0849C573B720}"/>
              </a:ext>
            </a:extLst>
          </p:cNvPr>
          <p:cNvSpPr/>
          <p:nvPr/>
        </p:nvSpPr>
        <p:spPr bwMode="auto">
          <a:xfrm>
            <a:off x="7261894" y="3695846"/>
            <a:ext cx="191664" cy="180000"/>
          </a:xfrm>
          <a:prstGeom prst="rect">
            <a:avLst/>
          </a:prstGeom>
          <a:solidFill>
            <a:srgbClr val="FFFF00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E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565" name="직사각형 564">
            <a:extLst>
              <a:ext uri="{FF2B5EF4-FFF2-40B4-BE49-F238E27FC236}">
                <a16:creationId xmlns:a16="http://schemas.microsoft.com/office/drawing/2014/main" id="{FA9B1E32-93DD-4122-8A04-AC6E886AC6B0}"/>
              </a:ext>
            </a:extLst>
          </p:cNvPr>
          <p:cNvSpPr/>
          <p:nvPr/>
        </p:nvSpPr>
        <p:spPr bwMode="auto">
          <a:xfrm>
            <a:off x="7261894" y="3475650"/>
            <a:ext cx="191664" cy="180000"/>
          </a:xfrm>
          <a:prstGeom prst="rect">
            <a:avLst/>
          </a:prstGeom>
          <a:solidFill>
            <a:srgbClr val="FFC9C9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F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566" name="직사각형 565">
            <a:extLst>
              <a:ext uri="{FF2B5EF4-FFF2-40B4-BE49-F238E27FC236}">
                <a16:creationId xmlns:a16="http://schemas.microsoft.com/office/drawing/2014/main" id="{C4267785-4995-4F34-B4A1-1C933A356D7B}"/>
              </a:ext>
            </a:extLst>
          </p:cNvPr>
          <p:cNvSpPr/>
          <p:nvPr/>
        </p:nvSpPr>
        <p:spPr bwMode="auto">
          <a:xfrm>
            <a:off x="7868203" y="3475650"/>
            <a:ext cx="191664" cy="180000"/>
          </a:xfrm>
          <a:prstGeom prst="rect">
            <a:avLst/>
          </a:prstGeom>
          <a:solidFill>
            <a:srgbClr val="FFC9C9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F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567" name="직사각형 566">
            <a:extLst>
              <a:ext uri="{FF2B5EF4-FFF2-40B4-BE49-F238E27FC236}">
                <a16:creationId xmlns:a16="http://schemas.microsoft.com/office/drawing/2014/main" id="{28294CB2-419F-4C09-9DB0-6C85B30D67E5}"/>
              </a:ext>
            </a:extLst>
          </p:cNvPr>
          <p:cNvSpPr/>
          <p:nvPr/>
        </p:nvSpPr>
        <p:spPr bwMode="auto">
          <a:xfrm>
            <a:off x="7462916" y="4103370"/>
            <a:ext cx="191664" cy="180000"/>
          </a:xfrm>
          <a:prstGeom prst="rect">
            <a:avLst/>
          </a:prstGeom>
          <a:solidFill>
            <a:srgbClr val="FFFF00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E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568" name="직사각형 567">
            <a:extLst>
              <a:ext uri="{FF2B5EF4-FFF2-40B4-BE49-F238E27FC236}">
                <a16:creationId xmlns:a16="http://schemas.microsoft.com/office/drawing/2014/main" id="{8DB5DDAC-FA71-4CB8-B47F-2394F83F4910}"/>
              </a:ext>
            </a:extLst>
          </p:cNvPr>
          <p:cNvSpPr/>
          <p:nvPr/>
        </p:nvSpPr>
        <p:spPr bwMode="auto">
          <a:xfrm>
            <a:off x="7674805" y="4103370"/>
            <a:ext cx="191664" cy="180000"/>
          </a:xfrm>
          <a:prstGeom prst="rect">
            <a:avLst/>
          </a:prstGeom>
          <a:solidFill>
            <a:srgbClr val="FFC9C9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F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569" name="직사각형 568">
            <a:extLst>
              <a:ext uri="{FF2B5EF4-FFF2-40B4-BE49-F238E27FC236}">
                <a16:creationId xmlns:a16="http://schemas.microsoft.com/office/drawing/2014/main" id="{918993F0-CF2F-4A7C-A361-352F14ADC5F6}"/>
              </a:ext>
            </a:extLst>
          </p:cNvPr>
          <p:cNvSpPr/>
          <p:nvPr/>
        </p:nvSpPr>
        <p:spPr bwMode="auto">
          <a:xfrm>
            <a:off x="7877134" y="4103370"/>
            <a:ext cx="191664" cy="180000"/>
          </a:xfrm>
          <a:prstGeom prst="rect">
            <a:avLst/>
          </a:prstGeom>
          <a:solidFill>
            <a:srgbClr val="FFFF00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E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572" name="직사각형 571">
            <a:extLst>
              <a:ext uri="{FF2B5EF4-FFF2-40B4-BE49-F238E27FC236}">
                <a16:creationId xmlns:a16="http://schemas.microsoft.com/office/drawing/2014/main" id="{AC6B4318-F6A6-4559-A86C-0849C573B720}"/>
              </a:ext>
            </a:extLst>
          </p:cNvPr>
          <p:cNvSpPr/>
          <p:nvPr/>
        </p:nvSpPr>
        <p:spPr bwMode="auto">
          <a:xfrm>
            <a:off x="7260466" y="4103370"/>
            <a:ext cx="191664" cy="180000"/>
          </a:xfrm>
          <a:prstGeom prst="rect">
            <a:avLst/>
          </a:prstGeom>
          <a:solidFill>
            <a:srgbClr val="FFFF00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E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585" name="Rectangle 3936">
            <a:extLst>
              <a:ext uri="{FF2B5EF4-FFF2-40B4-BE49-F238E27FC236}">
                <a16:creationId xmlns:a16="http://schemas.microsoft.com/office/drawing/2014/main" id="{8D236624-3380-45A0-90E6-78337D6B3F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4715" y="5131169"/>
            <a:ext cx="396000" cy="180000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chemeClr val="tx1"/>
            </a:solidFill>
            <a:prstDash val="solid"/>
          </a:ln>
          <a:effectLst/>
        </p:spPr>
        <p:txBody>
          <a:bodyPr wrap="none" lIns="74286" tIns="37143" rIns="74286" bIns="37143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QLED780</a:t>
            </a:r>
          </a:p>
        </p:txBody>
      </p:sp>
      <p:sp>
        <p:nvSpPr>
          <p:cNvPr id="586" name="Rectangle 3936">
            <a:extLst>
              <a:ext uri="{FF2B5EF4-FFF2-40B4-BE49-F238E27FC236}">
                <a16:creationId xmlns:a16="http://schemas.microsoft.com/office/drawing/2014/main" id="{E5B28E6D-DE54-4B97-87CA-A81E86F667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2682" y="5348946"/>
            <a:ext cx="396000" cy="180000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chemeClr val="tx1"/>
            </a:solidFill>
            <a:prstDash val="solid"/>
          </a:ln>
          <a:effectLst/>
        </p:spPr>
        <p:txBody>
          <a:bodyPr wrap="none" lIns="74286" tIns="37143" rIns="74286" bIns="37143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T8C/P8K</a:t>
            </a:r>
          </a:p>
        </p:txBody>
      </p:sp>
      <p:sp>
        <p:nvSpPr>
          <p:cNvPr id="587" name="직사각형 586">
            <a:extLst>
              <a:ext uri="{FF2B5EF4-FFF2-40B4-BE49-F238E27FC236}">
                <a16:creationId xmlns:a16="http://schemas.microsoft.com/office/drawing/2014/main" id="{107A1D10-8B20-4635-A585-C90F81274A7B}"/>
              </a:ext>
            </a:extLst>
          </p:cNvPr>
          <p:cNvSpPr/>
          <p:nvPr/>
        </p:nvSpPr>
        <p:spPr bwMode="auto">
          <a:xfrm>
            <a:off x="7307966" y="5131169"/>
            <a:ext cx="191664" cy="180000"/>
          </a:xfrm>
          <a:prstGeom prst="rect">
            <a:avLst/>
          </a:prstGeom>
          <a:solidFill>
            <a:srgbClr val="FFC9C9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F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588" name="직사각형 587">
            <a:extLst>
              <a:ext uri="{FF2B5EF4-FFF2-40B4-BE49-F238E27FC236}">
                <a16:creationId xmlns:a16="http://schemas.microsoft.com/office/drawing/2014/main" id="{26C58756-7961-423A-AB0F-52599AB55228}"/>
              </a:ext>
            </a:extLst>
          </p:cNvPr>
          <p:cNvSpPr/>
          <p:nvPr/>
        </p:nvSpPr>
        <p:spPr bwMode="auto">
          <a:xfrm>
            <a:off x="7510597" y="5131169"/>
            <a:ext cx="191664" cy="180000"/>
          </a:xfrm>
          <a:prstGeom prst="rect">
            <a:avLst/>
          </a:prstGeom>
          <a:solidFill>
            <a:srgbClr val="FFC9C9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F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589" name="직사각형 588">
            <a:extLst>
              <a:ext uri="{FF2B5EF4-FFF2-40B4-BE49-F238E27FC236}">
                <a16:creationId xmlns:a16="http://schemas.microsoft.com/office/drawing/2014/main" id="{5C6AEAC8-1710-4526-86B4-95BC0FE33D2E}"/>
              </a:ext>
            </a:extLst>
          </p:cNvPr>
          <p:cNvSpPr/>
          <p:nvPr/>
        </p:nvSpPr>
        <p:spPr bwMode="auto">
          <a:xfrm>
            <a:off x="7713228" y="5131169"/>
            <a:ext cx="191664" cy="180000"/>
          </a:xfrm>
          <a:prstGeom prst="rect">
            <a:avLst/>
          </a:prstGeom>
          <a:solidFill>
            <a:srgbClr val="FFC9C9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F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590" name="직사각형 589">
            <a:extLst>
              <a:ext uri="{FF2B5EF4-FFF2-40B4-BE49-F238E27FC236}">
                <a16:creationId xmlns:a16="http://schemas.microsoft.com/office/drawing/2014/main" id="{609D7769-FF94-482E-8A09-6120344CFA61}"/>
              </a:ext>
            </a:extLst>
          </p:cNvPr>
          <p:cNvSpPr/>
          <p:nvPr/>
        </p:nvSpPr>
        <p:spPr bwMode="auto">
          <a:xfrm>
            <a:off x="7915859" y="5131169"/>
            <a:ext cx="191664" cy="180000"/>
          </a:xfrm>
          <a:prstGeom prst="rect">
            <a:avLst/>
          </a:prstGeom>
          <a:solidFill>
            <a:srgbClr val="FFC9C9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F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591" name="직사각형 590">
            <a:extLst>
              <a:ext uri="{FF2B5EF4-FFF2-40B4-BE49-F238E27FC236}">
                <a16:creationId xmlns:a16="http://schemas.microsoft.com/office/drawing/2014/main" id="{0CA32764-5083-4F20-91C6-40A5E15709F2}"/>
              </a:ext>
            </a:extLst>
          </p:cNvPr>
          <p:cNvSpPr/>
          <p:nvPr/>
        </p:nvSpPr>
        <p:spPr bwMode="auto">
          <a:xfrm>
            <a:off x="7107808" y="5131169"/>
            <a:ext cx="191664" cy="180000"/>
          </a:xfrm>
          <a:prstGeom prst="rect">
            <a:avLst/>
          </a:prstGeom>
          <a:solidFill>
            <a:srgbClr val="FFC9C9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F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592" name="직사각형 591">
            <a:extLst>
              <a:ext uri="{FF2B5EF4-FFF2-40B4-BE49-F238E27FC236}">
                <a16:creationId xmlns:a16="http://schemas.microsoft.com/office/drawing/2014/main" id="{F4AA3346-D8DD-4DBB-9727-1233630760B8}"/>
              </a:ext>
            </a:extLst>
          </p:cNvPr>
          <p:cNvSpPr/>
          <p:nvPr/>
        </p:nvSpPr>
        <p:spPr bwMode="auto">
          <a:xfrm>
            <a:off x="8108888" y="5131169"/>
            <a:ext cx="191664" cy="180000"/>
          </a:xfrm>
          <a:prstGeom prst="rect">
            <a:avLst/>
          </a:prstGeom>
          <a:solidFill>
            <a:srgbClr val="FFC9C9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F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600" name="직사각형 599">
            <a:extLst>
              <a:ext uri="{FF2B5EF4-FFF2-40B4-BE49-F238E27FC236}">
                <a16:creationId xmlns:a16="http://schemas.microsoft.com/office/drawing/2014/main" id="{B6C5A33B-959F-4A8B-A403-A029E5502585}"/>
              </a:ext>
            </a:extLst>
          </p:cNvPr>
          <p:cNvSpPr/>
          <p:nvPr/>
        </p:nvSpPr>
        <p:spPr bwMode="auto">
          <a:xfrm>
            <a:off x="7307966" y="5348946"/>
            <a:ext cx="191664" cy="180000"/>
          </a:xfrm>
          <a:prstGeom prst="rect">
            <a:avLst/>
          </a:prstGeom>
          <a:solidFill>
            <a:srgbClr val="FFC9C9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F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601" name="직사각형 600">
            <a:extLst>
              <a:ext uri="{FF2B5EF4-FFF2-40B4-BE49-F238E27FC236}">
                <a16:creationId xmlns:a16="http://schemas.microsoft.com/office/drawing/2014/main" id="{9715FDC6-A9AF-4060-AACF-03F01E71FAE9}"/>
              </a:ext>
            </a:extLst>
          </p:cNvPr>
          <p:cNvSpPr/>
          <p:nvPr/>
        </p:nvSpPr>
        <p:spPr bwMode="auto">
          <a:xfrm>
            <a:off x="7510597" y="5348946"/>
            <a:ext cx="191664" cy="180000"/>
          </a:xfrm>
          <a:prstGeom prst="rect">
            <a:avLst/>
          </a:prstGeom>
          <a:solidFill>
            <a:srgbClr val="FFC9C9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F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602" name="직사각형 601">
            <a:extLst>
              <a:ext uri="{FF2B5EF4-FFF2-40B4-BE49-F238E27FC236}">
                <a16:creationId xmlns:a16="http://schemas.microsoft.com/office/drawing/2014/main" id="{DF1839E8-C43C-4B8F-AAA8-310888DEDB01}"/>
              </a:ext>
            </a:extLst>
          </p:cNvPr>
          <p:cNvSpPr/>
          <p:nvPr/>
        </p:nvSpPr>
        <p:spPr bwMode="auto">
          <a:xfrm>
            <a:off x="7713228" y="5348946"/>
            <a:ext cx="191664" cy="180000"/>
          </a:xfrm>
          <a:prstGeom prst="rect">
            <a:avLst/>
          </a:prstGeom>
          <a:solidFill>
            <a:srgbClr val="FFC9C9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F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604" name="직사각형 603">
            <a:extLst>
              <a:ext uri="{FF2B5EF4-FFF2-40B4-BE49-F238E27FC236}">
                <a16:creationId xmlns:a16="http://schemas.microsoft.com/office/drawing/2014/main" id="{E4376361-4335-458F-8BDD-B2B70A6629CC}"/>
              </a:ext>
            </a:extLst>
          </p:cNvPr>
          <p:cNvSpPr/>
          <p:nvPr/>
        </p:nvSpPr>
        <p:spPr bwMode="auto">
          <a:xfrm>
            <a:off x="7107808" y="5348946"/>
            <a:ext cx="191664" cy="180000"/>
          </a:xfrm>
          <a:prstGeom prst="rect">
            <a:avLst/>
          </a:prstGeom>
          <a:solidFill>
            <a:srgbClr val="FFC9C9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F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620" name="Rectangle 3936">
            <a:extLst>
              <a:ext uri="{FF2B5EF4-FFF2-40B4-BE49-F238E27FC236}">
                <a16:creationId xmlns:a16="http://schemas.microsoft.com/office/drawing/2014/main" id="{E5B28E6D-DE54-4B97-87CA-A81E86F667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1254" y="5578260"/>
            <a:ext cx="396000" cy="180000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chemeClr val="tx1"/>
            </a:solidFill>
            <a:prstDash val="solid"/>
          </a:ln>
          <a:effectLst/>
        </p:spPr>
        <p:txBody>
          <a:bodyPr wrap="none" lIns="74286" tIns="37143" rIns="74286" bIns="37143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T6C</a:t>
            </a:r>
          </a:p>
        </p:txBody>
      </p:sp>
      <p:sp>
        <p:nvSpPr>
          <p:cNvPr id="621" name="직사각형 620">
            <a:extLst>
              <a:ext uri="{FF2B5EF4-FFF2-40B4-BE49-F238E27FC236}">
                <a16:creationId xmlns:a16="http://schemas.microsoft.com/office/drawing/2014/main" id="{B6C5A33B-959F-4A8B-A403-A029E5502585}"/>
              </a:ext>
            </a:extLst>
          </p:cNvPr>
          <p:cNvSpPr/>
          <p:nvPr/>
        </p:nvSpPr>
        <p:spPr bwMode="auto">
          <a:xfrm>
            <a:off x="7306538" y="5578260"/>
            <a:ext cx="191664" cy="180000"/>
          </a:xfrm>
          <a:prstGeom prst="rect">
            <a:avLst/>
          </a:prstGeom>
          <a:solidFill>
            <a:srgbClr val="FFC9C9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F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640" name="직사각형 639">
            <a:extLst>
              <a:ext uri="{FF2B5EF4-FFF2-40B4-BE49-F238E27FC236}">
                <a16:creationId xmlns:a16="http://schemas.microsoft.com/office/drawing/2014/main" id="{9715FDC6-A9AF-4060-AACF-03F01E71FAE9}"/>
              </a:ext>
            </a:extLst>
          </p:cNvPr>
          <p:cNvSpPr/>
          <p:nvPr/>
        </p:nvSpPr>
        <p:spPr bwMode="auto">
          <a:xfrm>
            <a:off x="7509169" y="5578260"/>
            <a:ext cx="191664" cy="180000"/>
          </a:xfrm>
          <a:prstGeom prst="rect">
            <a:avLst/>
          </a:prstGeom>
          <a:solidFill>
            <a:srgbClr val="FFC9C9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F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641" name="직사각형 640">
            <a:extLst>
              <a:ext uri="{FF2B5EF4-FFF2-40B4-BE49-F238E27FC236}">
                <a16:creationId xmlns:a16="http://schemas.microsoft.com/office/drawing/2014/main" id="{DF1839E8-C43C-4B8F-AAA8-310888DEDB01}"/>
              </a:ext>
            </a:extLst>
          </p:cNvPr>
          <p:cNvSpPr/>
          <p:nvPr/>
        </p:nvSpPr>
        <p:spPr bwMode="auto">
          <a:xfrm>
            <a:off x="7711800" y="5578260"/>
            <a:ext cx="191664" cy="180000"/>
          </a:xfrm>
          <a:prstGeom prst="rect">
            <a:avLst/>
          </a:prstGeom>
          <a:solidFill>
            <a:srgbClr val="FFC9C9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F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647" name="직사각형 646">
            <a:extLst>
              <a:ext uri="{FF2B5EF4-FFF2-40B4-BE49-F238E27FC236}">
                <a16:creationId xmlns:a16="http://schemas.microsoft.com/office/drawing/2014/main" id="{941B7F02-0F8E-4275-979E-ABD9FE612DB6}"/>
              </a:ext>
            </a:extLst>
          </p:cNvPr>
          <p:cNvSpPr/>
          <p:nvPr/>
        </p:nvSpPr>
        <p:spPr bwMode="auto">
          <a:xfrm>
            <a:off x="7914431" y="5578260"/>
            <a:ext cx="191664" cy="180000"/>
          </a:xfrm>
          <a:prstGeom prst="rect">
            <a:avLst/>
          </a:prstGeom>
          <a:solidFill>
            <a:srgbClr val="FFC9C9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F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648" name="직사각형 647">
            <a:extLst>
              <a:ext uri="{FF2B5EF4-FFF2-40B4-BE49-F238E27FC236}">
                <a16:creationId xmlns:a16="http://schemas.microsoft.com/office/drawing/2014/main" id="{E4376361-4335-458F-8BDD-B2B70A6629CC}"/>
              </a:ext>
            </a:extLst>
          </p:cNvPr>
          <p:cNvSpPr/>
          <p:nvPr/>
        </p:nvSpPr>
        <p:spPr bwMode="auto">
          <a:xfrm>
            <a:off x="7106380" y="5578260"/>
            <a:ext cx="191664" cy="180000"/>
          </a:xfrm>
          <a:prstGeom prst="rect">
            <a:avLst/>
          </a:prstGeom>
          <a:solidFill>
            <a:srgbClr val="FFC9C9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F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649" name="직사각형 648">
            <a:extLst>
              <a:ext uri="{FF2B5EF4-FFF2-40B4-BE49-F238E27FC236}">
                <a16:creationId xmlns:a16="http://schemas.microsoft.com/office/drawing/2014/main" id="{BC1A683C-349F-4644-8B2C-B5B8DE1B67CB}"/>
              </a:ext>
            </a:extLst>
          </p:cNvPr>
          <p:cNvSpPr/>
          <p:nvPr/>
        </p:nvSpPr>
        <p:spPr bwMode="auto">
          <a:xfrm>
            <a:off x="8107460" y="5578260"/>
            <a:ext cx="191664" cy="1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G</a:t>
            </a:r>
            <a:endParaRPr kumimoji="0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650" name="Rectangle 3936">
            <a:hlinkClick r:id="" action="ppaction://noaction"/>
            <a:extLst>
              <a:ext uri="{FF2B5EF4-FFF2-40B4-BE49-F238E27FC236}">
                <a16:creationId xmlns:a16="http://schemas.microsoft.com/office/drawing/2014/main" id="{DB9B8454-8DA4-47DA-9E53-CC3A749CFD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9597" y="6254870"/>
            <a:ext cx="396000" cy="180000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chemeClr val="tx1"/>
            </a:solidFill>
            <a:prstDash val="solid"/>
          </a:ln>
          <a:effectLst/>
        </p:spPr>
        <p:txBody>
          <a:bodyPr wrap="none" lIns="74286" tIns="37143" rIns="74286" bIns="37143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P6K</a:t>
            </a:r>
          </a:p>
        </p:txBody>
      </p:sp>
      <p:sp>
        <p:nvSpPr>
          <p:cNvPr id="651" name="직사각형 650">
            <a:extLst>
              <a:ext uri="{FF2B5EF4-FFF2-40B4-BE49-F238E27FC236}">
                <a16:creationId xmlns:a16="http://schemas.microsoft.com/office/drawing/2014/main" id="{239D0069-A502-4608-A5E9-EB78E2E3D03E}"/>
              </a:ext>
            </a:extLst>
          </p:cNvPr>
          <p:cNvSpPr/>
          <p:nvPr/>
        </p:nvSpPr>
        <p:spPr bwMode="auto">
          <a:xfrm>
            <a:off x="7117151" y="6254870"/>
            <a:ext cx="191664" cy="180000"/>
          </a:xfrm>
          <a:prstGeom prst="rect">
            <a:avLst/>
          </a:prstGeom>
          <a:solidFill>
            <a:srgbClr val="FFFF00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E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652" name="직사각형 651">
            <a:extLst>
              <a:ext uri="{FF2B5EF4-FFF2-40B4-BE49-F238E27FC236}">
                <a16:creationId xmlns:a16="http://schemas.microsoft.com/office/drawing/2014/main" id="{F6B69DCA-D840-4565-88A2-91A0361A3D8E}"/>
              </a:ext>
            </a:extLst>
          </p:cNvPr>
          <p:cNvSpPr/>
          <p:nvPr/>
        </p:nvSpPr>
        <p:spPr bwMode="auto">
          <a:xfrm>
            <a:off x="7319782" y="6254870"/>
            <a:ext cx="191664" cy="180000"/>
          </a:xfrm>
          <a:prstGeom prst="rect">
            <a:avLst/>
          </a:prstGeom>
          <a:solidFill>
            <a:srgbClr val="FFFF00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E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653" name="직사각형 652">
            <a:extLst>
              <a:ext uri="{FF2B5EF4-FFF2-40B4-BE49-F238E27FC236}">
                <a16:creationId xmlns:a16="http://schemas.microsoft.com/office/drawing/2014/main" id="{4DBF8518-9D61-4F51-997F-C3842FA6E8A6}"/>
              </a:ext>
            </a:extLst>
          </p:cNvPr>
          <p:cNvSpPr/>
          <p:nvPr/>
        </p:nvSpPr>
        <p:spPr bwMode="auto">
          <a:xfrm>
            <a:off x="7522413" y="6254870"/>
            <a:ext cx="191664" cy="180000"/>
          </a:xfrm>
          <a:prstGeom prst="rect">
            <a:avLst/>
          </a:prstGeom>
          <a:solidFill>
            <a:srgbClr val="FFFF00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E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654" name="직사각형 653">
            <a:extLst>
              <a:ext uri="{FF2B5EF4-FFF2-40B4-BE49-F238E27FC236}">
                <a16:creationId xmlns:a16="http://schemas.microsoft.com/office/drawing/2014/main" id="{8CB37039-196D-47D8-9286-59F0E3A6772D}"/>
              </a:ext>
            </a:extLst>
          </p:cNvPr>
          <p:cNvSpPr/>
          <p:nvPr/>
        </p:nvSpPr>
        <p:spPr bwMode="auto">
          <a:xfrm>
            <a:off x="7729109" y="6254870"/>
            <a:ext cx="191664" cy="180000"/>
          </a:xfrm>
          <a:prstGeom prst="rect">
            <a:avLst/>
          </a:prstGeom>
          <a:solidFill>
            <a:srgbClr val="FFFF00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E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657" name="직사각형 656">
            <a:extLst>
              <a:ext uri="{FF2B5EF4-FFF2-40B4-BE49-F238E27FC236}">
                <a16:creationId xmlns:a16="http://schemas.microsoft.com/office/drawing/2014/main" id="{59115E19-7C20-4B6D-A6E5-4297177DB194}"/>
              </a:ext>
            </a:extLst>
          </p:cNvPr>
          <p:cNvSpPr/>
          <p:nvPr/>
        </p:nvSpPr>
        <p:spPr bwMode="auto">
          <a:xfrm>
            <a:off x="7930709" y="6254870"/>
            <a:ext cx="191664" cy="180000"/>
          </a:xfrm>
          <a:prstGeom prst="rect">
            <a:avLst/>
          </a:prstGeom>
          <a:solidFill>
            <a:srgbClr val="FFC9C9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F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658" name="Rectangle 3936">
            <a:extLst>
              <a:ext uri="{FF2B5EF4-FFF2-40B4-BE49-F238E27FC236}">
                <a16:creationId xmlns:a16="http://schemas.microsoft.com/office/drawing/2014/main" id="{9D9FA9E3-3E99-4DC5-A61D-60D6C90333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34687" y="3214829"/>
            <a:ext cx="390692" cy="176336"/>
          </a:xfrm>
          <a:prstGeom prst="rect">
            <a:avLst/>
          </a:prstGeom>
          <a:noFill/>
          <a:ln w="3175" cap="flat" cmpd="sng" algn="ctr">
            <a:solidFill>
              <a:schemeClr val="tx1"/>
            </a:solidFill>
            <a:prstDash val="solid"/>
          </a:ln>
          <a:effectLst/>
        </p:spPr>
        <p:txBody>
          <a:bodyPr wrap="none" lIns="74286" tIns="37143" rIns="74286" bIns="37143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U8Q</a:t>
            </a:r>
          </a:p>
        </p:txBody>
      </p:sp>
      <p:sp>
        <p:nvSpPr>
          <p:cNvPr id="659" name="Rectangle 3936">
            <a:extLst>
              <a:ext uri="{FF2B5EF4-FFF2-40B4-BE49-F238E27FC236}">
                <a16:creationId xmlns:a16="http://schemas.microsoft.com/office/drawing/2014/main" id="{EBDE1294-CECC-4956-B4B0-0D763F10DF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39437" y="5805463"/>
            <a:ext cx="390692" cy="180000"/>
          </a:xfrm>
          <a:prstGeom prst="rect">
            <a:avLst/>
          </a:prstGeom>
          <a:noFill/>
          <a:ln w="3175" cap="flat" cmpd="sng" algn="ctr">
            <a:solidFill>
              <a:schemeClr val="tx1"/>
            </a:solidFill>
            <a:prstDash val="solid"/>
          </a:ln>
          <a:effectLst/>
        </p:spPr>
        <p:txBody>
          <a:bodyPr wrap="none" lIns="74286" tIns="37143" rIns="74286" bIns="37143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A7Q</a:t>
            </a:r>
          </a:p>
        </p:txBody>
      </p:sp>
      <p:sp>
        <p:nvSpPr>
          <p:cNvPr id="663" name="직사각형 662">
            <a:extLst>
              <a:ext uri="{FF2B5EF4-FFF2-40B4-BE49-F238E27FC236}">
                <a16:creationId xmlns:a16="http://schemas.microsoft.com/office/drawing/2014/main" id="{0F29A28D-B857-4D5C-A3B0-4747478B703E}"/>
              </a:ext>
            </a:extLst>
          </p:cNvPr>
          <p:cNvSpPr/>
          <p:nvPr/>
        </p:nvSpPr>
        <p:spPr bwMode="auto">
          <a:xfrm>
            <a:off x="9395491" y="5805463"/>
            <a:ext cx="191664" cy="180000"/>
          </a:xfrm>
          <a:prstGeom prst="rect">
            <a:avLst/>
          </a:prstGeom>
          <a:solidFill>
            <a:srgbClr val="FFFF00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E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664" name="직사각형 663">
            <a:extLst>
              <a:ext uri="{FF2B5EF4-FFF2-40B4-BE49-F238E27FC236}">
                <a16:creationId xmlns:a16="http://schemas.microsoft.com/office/drawing/2014/main" id="{5F49CE08-BEAD-4C0C-8969-0658B8E76090}"/>
              </a:ext>
            </a:extLst>
          </p:cNvPr>
          <p:cNvSpPr/>
          <p:nvPr/>
        </p:nvSpPr>
        <p:spPr bwMode="auto">
          <a:xfrm>
            <a:off x="9593641" y="5805463"/>
            <a:ext cx="191664" cy="180000"/>
          </a:xfrm>
          <a:prstGeom prst="rect">
            <a:avLst/>
          </a:prstGeom>
          <a:solidFill>
            <a:srgbClr val="FFFF00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E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674" name="직사각형 673">
            <a:extLst>
              <a:ext uri="{FF2B5EF4-FFF2-40B4-BE49-F238E27FC236}">
                <a16:creationId xmlns:a16="http://schemas.microsoft.com/office/drawing/2014/main" id="{0FA8450B-AAD9-44BD-91CC-4B2ABAE5EC4C}"/>
              </a:ext>
            </a:extLst>
          </p:cNvPr>
          <p:cNvSpPr/>
          <p:nvPr/>
        </p:nvSpPr>
        <p:spPr bwMode="auto">
          <a:xfrm>
            <a:off x="9786695" y="5805463"/>
            <a:ext cx="191664" cy="180000"/>
          </a:xfrm>
          <a:prstGeom prst="rect">
            <a:avLst/>
          </a:prstGeom>
          <a:solidFill>
            <a:srgbClr val="FFFF00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E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677" name="Rectangle 3936">
            <a:hlinkClick r:id="" action="ppaction://noaction"/>
            <a:extLst>
              <a:ext uri="{FF2B5EF4-FFF2-40B4-BE49-F238E27FC236}">
                <a16:creationId xmlns:a16="http://schemas.microsoft.com/office/drawing/2014/main" id="{DB9B8454-8DA4-47DA-9E53-CC3A749CFD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34129" y="6026103"/>
            <a:ext cx="396000" cy="180000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chemeClr val="tx1"/>
            </a:solidFill>
            <a:prstDash val="solid"/>
          </a:ln>
          <a:effectLst/>
        </p:spPr>
        <p:txBody>
          <a:bodyPr wrap="none" lIns="74286" tIns="37143" rIns="74286" bIns="37143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A6Q</a:t>
            </a:r>
          </a:p>
        </p:txBody>
      </p:sp>
      <p:sp>
        <p:nvSpPr>
          <p:cNvPr id="678" name="직사각형 677">
            <a:extLst>
              <a:ext uri="{FF2B5EF4-FFF2-40B4-BE49-F238E27FC236}">
                <a16:creationId xmlns:a16="http://schemas.microsoft.com/office/drawing/2014/main" id="{239D0069-A502-4608-A5E9-EB78E2E3D03E}"/>
              </a:ext>
            </a:extLst>
          </p:cNvPr>
          <p:cNvSpPr/>
          <p:nvPr/>
        </p:nvSpPr>
        <p:spPr bwMode="auto">
          <a:xfrm>
            <a:off x="8990229" y="6026103"/>
            <a:ext cx="191664" cy="180000"/>
          </a:xfrm>
          <a:prstGeom prst="rect">
            <a:avLst/>
          </a:prstGeom>
          <a:solidFill>
            <a:srgbClr val="FFFF00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E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681" name="직사각형 680">
            <a:extLst>
              <a:ext uri="{FF2B5EF4-FFF2-40B4-BE49-F238E27FC236}">
                <a16:creationId xmlns:a16="http://schemas.microsoft.com/office/drawing/2014/main" id="{F6B69DCA-D840-4565-88A2-91A0361A3D8E}"/>
              </a:ext>
            </a:extLst>
          </p:cNvPr>
          <p:cNvSpPr/>
          <p:nvPr/>
        </p:nvSpPr>
        <p:spPr bwMode="auto">
          <a:xfrm>
            <a:off x="9192860" y="6026103"/>
            <a:ext cx="191664" cy="180000"/>
          </a:xfrm>
          <a:prstGeom prst="rect">
            <a:avLst/>
          </a:prstGeom>
          <a:solidFill>
            <a:srgbClr val="FFFF00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E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689" name="직사각형 688">
            <a:extLst>
              <a:ext uri="{FF2B5EF4-FFF2-40B4-BE49-F238E27FC236}">
                <a16:creationId xmlns:a16="http://schemas.microsoft.com/office/drawing/2014/main" id="{4DBF8518-9D61-4F51-997F-C3842FA6E8A6}"/>
              </a:ext>
            </a:extLst>
          </p:cNvPr>
          <p:cNvSpPr/>
          <p:nvPr/>
        </p:nvSpPr>
        <p:spPr bwMode="auto">
          <a:xfrm>
            <a:off x="9395491" y="6026103"/>
            <a:ext cx="191664" cy="180000"/>
          </a:xfrm>
          <a:prstGeom prst="rect">
            <a:avLst/>
          </a:prstGeom>
          <a:solidFill>
            <a:srgbClr val="FFFF00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E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690" name="직사각형 689">
            <a:extLst>
              <a:ext uri="{FF2B5EF4-FFF2-40B4-BE49-F238E27FC236}">
                <a16:creationId xmlns:a16="http://schemas.microsoft.com/office/drawing/2014/main" id="{8CB37039-196D-47D8-9286-59F0E3A6772D}"/>
              </a:ext>
            </a:extLst>
          </p:cNvPr>
          <p:cNvSpPr/>
          <p:nvPr/>
        </p:nvSpPr>
        <p:spPr bwMode="auto">
          <a:xfrm>
            <a:off x="9593641" y="6026103"/>
            <a:ext cx="191664" cy="180000"/>
          </a:xfrm>
          <a:prstGeom prst="rect">
            <a:avLst/>
          </a:prstGeom>
          <a:solidFill>
            <a:srgbClr val="FFFF00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E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691" name="직사각형 690">
            <a:extLst>
              <a:ext uri="{FF2B5EF4-FFF2-40B4-BE49-F238E27FC236}">
                <a16:creationId xmlns:a16="http://schemas.microsoft.com/office/drawing/2014/main" id="{59115E19-7C20-4B6D-A6E5-4297177DB194}"/>
              </a:ext>
            </a:extLst>
          </p:cNvPr>
          <p:cNvSpPr/>
          <p:nvPr/>
        </p:nvSpPr>
        <p:spPr bwMode="auto">
          <a:xfrm>
            <a:off x="9786695" y="6026103"/>
            <a:ext cx="191664" cy="180000"/>
          </a:xfrm>
          <a:prstGeom prst="rect">
            <a:avLst/>
          </a:prstGeom>
          <a:solidFill>
            <a:srgbClr val="FFFF00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E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692" name="모서리가 둥근 직사각형 169">
            <a:extLst>
              <a:ext uri="{FF2B5EF4-FFF2-40B4-BE49-F238E27FC236}">
                <a16:creationId xmlns:a16="http://schemas.microsoft.com/office/drawing/2014/main" id="{8D36CDC9-465B-430A-B0F9-FDA0B6BA6455}"/>
              </a:ext>
            </a:extLst>
          </p:cNvPr>
          <p:cNvSpPr/>
          <p:nvPr/>
        </p:nvSpPr>
        <p:spPr bwMode="auto">
          <a:xfrm>
            <a:off x="9088441" y="1168291"/>
            <a:ext cx="191664" cy="196127"/>
          </a:xfrm>
          <a:prstGeom prst="roundRect">
            <a:avLst/>
          </a:prstGeom>
          <a:noFill/>
          <a:ln w="6350" algn="ctr">
            <a:solidFill>
              <a:schemeClr val="bg1">
                <a:lumMod val="50000"/>
              </a:schemeClr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5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75</a:t>
            </a:r>
            <a:endParaRPr kumimoji="0" lang="ko-KR" altLang="en-US" sz="75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693" name="모서리가 둥근 직사각형 171">
            <a:extLst>
              <a:ext uri="{FF2B5EF4-FFF2-40B4-BE49-F238E27FC236}">
                <a16:creationId xmlns:a16="http://schemas.microsoft.com/office/drawing/2014/main" id="{C234C7FC-0C67-4113-8F34-DD5B801B16B3}"/>
              </a:ext>
            </a:extLst>
          </p:cNvPr>
          <p:cNvSpPr/>
          <p:nvPr/>
        </p:nvSpPr>
        <p:spPr bwMode="auto">
          <a:xfrm>
            <a:off x="9299618" y="1168291"/>
            <a:ext cx="191664" cy="196127"/>
          </a:xfrm>
          <a:prstGeom prst="roundRect">
            <a:avLst/>
          </a:prstGeom>
          <a:noFill/>
          <a:ln w="6350" algn="ctr">
            <a:solidFill>
              <a:schemeClr val="bg1">
                <a:lumMod val="50000"/>
              </a:schemeClr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5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65</a:t>
            </a:r>
            <a:endParaRPr kumimoji="0" lang="ko-KR" altLang="en-US" sz="75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694" name="모서리가 둥근 직사각형 173">
            <a:extLst>
              <a:ext uri="{FF2B5EF4-FFF2-40B4-BE49-F238E27FC236}">
                <a16:creationId xmlns:a16="http://schemas.microsoft.com/office/drawing/2014/main" id="{FA233464-0B52-4A03-9D28-6127DDC696AC}"/>
              </a:ext>
            </a:extLst>
          </p:cNvPr>
          <p:cNvSpPr/>
          <p:nvPr/>
        </p:nvSpPr>
        <p:spPr bwMode="auto">
          <a:xfrm>
            <a:off x="9519341" y="1168291"/>
            <a:ext cx="191664" cy="196127"/>
          </a:xfrm>
          <a:prstGeom prst="roundRect">
            <a:avLst/>
          </a:prstGeom>
          <a:noFill/>
          <a:ln w="6350" algn="ctr">
            <a:solidFill>
              <a:schemeClr val="bg1">
                <a:lumMod val="50000"/>
              </a:schemeClr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5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55</a:t>
            </a:r>
            <a:endParaRPr kumimoji="0" lang="ko-KR" altLang="en-US" sz="75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695" name="모서리가 둥근 직사각형 173">
            <a:extLst>
              <a:ext uri="{FF2B5EF4-FFF2-40B4-BE49-F238E27FC236}">
                <a16:creationId xmlns:a16="http://schemas.microsoft.com/office/drawing/2014/main" id="{737D347A-844D-44E1-9C32-69F9C19DFBD7}"/>
              </a:ext>
            </a:extLst>
          </p:cNvPr>
          <p:cNvSpPr/>
          <p:nvPr/>
        </p:nvSpPr>
        <p:spPr bwMode="auto">
          <a:xfrm>
            <a:off x="9734583" y="1168997"/>
            <a:ext cx="191664" cy="196127"/>
          </a:xfrm>
          <a:prstGeom prst="roundRect">
            <a:avLst/>
          </a:prstGeom>
          <a:noFill/>
          <a:ln w="6350" algn="ctr">
            <a:solidFill>
              <a:schemeClr val="bg1">
                <a:lumMod val="50000"/>
              </a:schemeClr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5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50</a:t>
            </a:r>
            <a:endParaRPr kumimoji="0" lang="ko-KR" altLang="en-US" sz="75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696" name="모서리가 둥근 직사각형 173">
            <a:extLst>
              <a:ext uri="{FF2B5EF4-FFF2-40B4-BE49-F238E27FC236}">
                <a16:creationId xmlns:a16="http://schemas.microsoft.com/office/drawing/2014/main" id="{68D88796-13CC-4AFF-B517-2B53CD0651B4}"/>
              </a:ext>
            </a:extLst>
          </p:cNvPr>
          <p:cNvSpPr/>
          <p:nvPr/>
        </p:nvSpPr>
        <p:spPr bwMode="auto">
          <a:xfrm>
            <a:off x="9951949" y="1168706"/>
            <a:ext cx="191664" cy="196127"/>
          </a:xfrm>
          <a:prstGeom prst="roundRect">
            <a:avLst/>
          </a:prstGeom>
          <a:noFill/>
          <a:ln w="6350" algn="ctr">
            <a:solidFill>
              <a:schemeClr val="bg1">
                <a:lumMod val="50000"/>
              </a:schemeClr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5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43</a:t>
            </a:r>
          </a:p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5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40</a:t>
            </a:r>
            <a:endParaRPr kumimoji="0" lang="ko-KR" altLang="en-US" sz="75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698" name="모서리가 둥근 직사각형 167">
            <a:extLst>
              <a:ext uri="{FF2B5EF4-FFF2-40B4-BE49-F238E27FC236}">
                <a16:creationId xmlns:a16="http://schemas.microsoft.com/office/drawing/2014/main" id="{2331DD85-293C-409A-A80F-1CCF3E19AACC}"/>
              </a:ext>
            </a:extLst>
          </p:cNvPr>
          <p:cNvSpPr/>
          <p:nvPr/>
        </p:nvSpPr>
        <p:spPr bwMode="auto">
          <a:xfrm>
            <a:off x="8863453" y="1173740"/>
            <a:ext cx="191664" cy="196127"/>
          </a:xfrm>
          <a:prstGeom prst="roundRect">
            <a:avLst/>
          </a:prstGeom>
          <a:noFill/>
          <a:ln w="6350" algn="ctr">
            <a:solidFill>
              <a:schemeClr val="bg1">
                <a:lumMod val="50000"/>
              </a:schemeClr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5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85</a:t>
            </a:r>
            <a:endParaRPr kumimoji="0" lang="ko-KR" altLang="en-US" sz="75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699" name="모서리가 둥근 직사각형 172">
            <a:extLst>
              <a:ext uri="{FF2B5EF4-FFF2-40B4-BE49-F238E27FC236}">
                <a16:creationId xmlns:a16="http://schemas.microsoft.com/office/drawing/2014/main" id="{6F4812E8-9124-4600-A27C-D9321DD243D9}"/>
              </a:ext>
            </a:extLst>
          </p:cNvPr>
          <p:cNvSpPr/>
          <p:nvPr/>
        </p:nvSpPr>
        <p:spPr bwMode="auto">
          <a:xfrm>
            <a:off x="8660822" y="1173740"/>
            <a:ext cx="191664" cy="196127"/>
          </a:xfrm>
          <a:prstGeom prst="roundRect">
            <a:avLst/>
          </a:prstGeom>
          <a:noFill/>
          <a:ln w="6350" algn="ctr">
            <a:solidFill>
              <a:schemeClr val="bg1">
                <a:lumMod val="50000"/>
              </a:schemeClr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5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100</a:t>
            </a:r>
          </a:p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5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98</a:t>
            </a:r>
            <a:endParaRPr kumimoji="0" lang="ko-KR" altLang="en-US" sz="75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700" name="Rectangle 3936">
            <a:extLst>
              <a:ext uri="{FF2B5EF4-FFF2-40B4-BE49-F238E27FC236}">
                <a16:creationId xmlns:a16="http://schemas.microsoft.com/office/drawing/2014/main" id="{CDA18954-D0DC-4049-BFEE-8503DD32B5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38260" y="4103370"/>
            <a:ext cx="385421" cy="180000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chemeClr val="tx1"/>
            </a:solidFill>
            <a:prstDash val="solid"/>
          </a:ln>
          <a:effectLst/>
        </p:spPr>
        <p:txBody>
          <a:bodyPr wrap="none" lIns="74286" tIns="37143" rIns="74286" bIns="37143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E8Q</a:t>
            </a:r>
          </a:p>
        </p:txBody>
      </p:sp>
      <p:sp>
        <p:nvSpPr>
          <p:cNvPr id="701" name="Rectangle 3936">
            <a:extLst>
              <a:ext uri="{FF2B5EF4-FFF2-40B4-BE49-F238E27FC236}">
                <a16:creationId xmlns:a16="http://schemas.microsoft.com/office/drawing/2014/main" id="{7A17CC01-BD09-4B67-8BEA-BD93BA094B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38260" y="3475650"/>
            <a:ext cx="396000" cy="180000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chemeClr val="tx1"/>
            </a:solidFill>
            <a:prstDash val="solid"/>
          </a:ln>
          <a:effectLst/>
        </p:spPr>
        <p:txBody>
          <a:bodyPr wrap="none" lIns="74286" tIns="37143" rIns="74286" bIns="37143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U7Q Pro</a:t>
            </a:r>
          </a:p>
        </p:txBody>
      </p:sp>
      <p:sp>
        <p:nvSpPr>
          <p:cNvPr id="708" name="Rectangle 3936">
            <a:extLst>
              <a:ext uri="{FF2B5EF4-FFF2-40B4-BE49-F238E27FC236}">
                <a16:creationId xmlns:a16="http://schemas.microsoft.com/office/drawing/2014/main" id="{8D236624-3380-45A0-90E6-78337D6B3F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38339" y="4688882"/>
            <a:ext cx="396000" cy="180000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chemeClr val="tx1"/>
            </a:solidFill>
            <a:prstDash val="solid"/>
          </a:ln>
          <a:effectLst/>
        </p:spPr>
        <p:txBody>
          <a:bodyPr wrap="none" lIns="74286" tIns="37143" rIns="74286" bIns="37143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E7Q Pro</a:t>
            </a:r>
          </a:p>
        </p:txBody>
      </p:sp>
      <p:sp>
        <p:nvSpPr>
          <p:cNvPr id="709" name="Rectangle 3936">
            <a:extLst>
              <a:ext uri="{FF2B5EF4-FFF2-40B4-BE49-F238E27FC236}">
                <a16:creationId xmlns:a16="http://schemas.microsoft.com/office/drawing/2014/main" id="{E5B28E6D-DE54-4B97-87CA-A81E86F667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36306" y="4906659"/>
            <a:ext cx="396000" cy="180000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chemeClr val="tx1"/>
            </a:solidFill>
            <a:prstDash val="solid"/>
          </a:ln>
          <a:effectLst/>
        </p:spPr>
        <p:txBody>
          <a:bodyPr wrap="none" lIns="74286" tIns="37143" rIns="74286" bIns="37143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E7Q</a:t>
            </a:r>
          </a:p>
        </p:txBody>
      </p:sp>
      <p:sp>
        <p:nvSpPr>
          <p:cNvPr id="710" name="직사각형 709">
            <a:extLst>
              <a:ext uri="{FF2B5EF4-FFF2-40B4-BE49-F238E27FC236}">
                <a16:creationId xmlns:a16="http://schemas.microsoft.com/office/drawing/2014/main" id="{107A1D10-8B20-4635-A585-C90F81274A7B}"/>
              </a:ext>
            </a:extLst>
          </p:cNvPr>
          <p:cNvSpPr/>
          <p:nvPr/>
        </p:nvSpPr>
        <p:spPr bwMode="auto">
          <a:xfrm>
            <a:off x="9181590" y="4688882"/>
            <a:ext cx="191664" cy="180000"/>
          </a:xfrm>
          <a:prstGeom prst="rect">
            <a:avLst/>
          </a:prstGeom>
          <a:solidFill>
            <a:srgbClr val="FFFF00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E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711" name="직사각형 710">
            <a:extLst>
              <a:ext uri="{FF2B5EF4-FFF2-40B4-BE49-F238E27FC236}">
                <a16:creationId xmlns:a16="http://schemas.microsoft.com/office/drawing/2014/main" id="{26C58756-7961-423A-AB0F-52599AB55228}"/>
              </a:ext>
            </a:extLst>
          </p:cNvPr>
          <p:cNvSpPr/>
          <p:nvPr/>
        </p:nvSpPr>
        <p:spPr bwMode="auto">
          <a:xfrm>
            <a:off x="9384221" y="4688882"/>
            <a:ext cx="191664" cy="180000"/>
          </a:xfrm>
          <a:prstGeom prst="rect">
            <a:avLst/>
          </a:prstGeom>
          <a:solidFill>
            <a:srgbClr val="FFFF00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E</a:t>
            </a:r>
            <a:endParaRPr kumimoji="0" lang="ko-KR" altLang="en-US" sz="7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712" name="직사각형 711">
            <a:extLst>
              <a:ext uri="{FF2B5EF4-FFF2-40B4-BE49-F238E27FC236}">
                <a16:creationId xmlns:a16="http://schemas.microsoft.com/office/drawing/2014/main" id="{609D7769-FF94-482E-8A09-6120344CFA61}"/>
              </a:ext>
            </a:extLst>
          </p:cNvPr>
          <p:cNvSpPr/>
          <p:nvPr/>
        </p:nvSpPr>
        <p:spPr bwMode="auto">
          <a:xfrm>
            <a:off x="9780937" y="4688882"/>
            <a:ext cx="191664" cy="180000"/>
          </a:xfrm>
          <a:prstGeom prst="rect">
            <a:avLst/>
          </a:prstGeom>
          <a:solidFill>
            <a:srgbClr val="FFFF00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E</a:t>
            </a:r>
            <a:endParaRPr kumimoji="0" lang="ko-KR" altLang="en-US" sz="7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713" name="직사각형 712">
            <a:extLst>
              <a:ext uri="{FF2B5EF4-FFF2-40B4-BE49-F238E27FC236}">
                <a16:creationId xmlns:a16="http://schemas.microsoft.com/office/drawing/2014/main" id="{0CA32764-5083-4F20-91C6-40A5E15709F2}"/>
              </a:ext>
            </a:extLst>
          </p:cNvPr>
          <p:cNvSpPr/>
          <p:nvPr/>
        </p:nvSpPr>
        <p:spPr bwMode="auto">
          <a:xfrm>
            <a:off x="8981432" y="4688882"/>
            <a:ext cx="191664" cy="180000"/>
          </a:xfrm>
          <a:prstGeom prst="rect">
            <a:avLst/>
          </a:prstGeom>
          <a:solidFill>
            <a:srgbClr val="FFFF00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E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714" name="직사각형 713">
            <a:extLst>
              <a:ext uri="{FF2B5EF4-FFF2-40B4-BE49-F238E27FC236}">
                <a16:creationId xmlns:a16="http://schemas.microsoft.com/office/drawing/2014/main" id="{B6C5A33B-959F-4A8B-A403-A029E5502585}"/>
              </a:ext>
            </a:extLst>
          </p:cNvPr>
          <p:cNvSpPr/>
          <p:nvPr/>
        </p:nvSpPr>
        <p:spPr bwMode="auto">
          <a:xfrm>
            <a:off x="9181590" y="4906659"/>
            <a:ext cx="191664" cy="180000"/>
          </a:xfrm>
          <a:prstGeom prst="rect">
            <a:avLst/>
          </a:prstGeom>
          <a:solidFill>
            <a:srgbClr val="FFFF00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E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715" name="직사각형 714">
            <a:extLst>
              <a:ext uri="{FF2B5EF4-FFF2-40B4-BE49-F238E27FC236}">
                <a16:creationId xmlns:a16="http://schemas.microsoft.com/office/drawing/2014/main" id="{9715FDC6-A9AF-4060-AACF-03F01E71FAE9}"/>
              </a:ext>
            </a:extLst>
          </p:cNvPr>
          <p:cNvSpPr/>
          <p:nvPr/>
        </p:nvSpPr>
        <p:spPr bwMode="auto">
          <a:xfrm>
            <a:off x="9384221" y="4906659"/>
            <a:ext cx="191664" cy="180000"/>
          </a:xfrm>
          <a:prstGeom prst="rect">
            <a:avLst/>
          </a:prstGeom>
          <a:solidFill>
            <a:srgbClr val="FFFF00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E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716" name="직사각형 715">
            <a:extLst>
              <a:ext uri="{FF2B5EF4-FFF2-40B4-BE49-F238E27FC236}">
                <a16:creationId xmlns:a16="http://schemas.microsoft.com/office/drawing/2014/main" id="{DF1839E8-C43C-4B8F-AAA8-310888DEDB01}"/>
              </a:ext>
            </a:extLst>
          </p:cNvPr>
          <p:cNvSpPr/>
          <p:nvPr/>
        </p:nvSpPr>
        <p:spPr bwMode="auto">
          <a:xfrm>
            <a:off x="9586852" y="4906659"/>
            <a:ext cx="191664" cy="180000"/>
          </a:xfrm>
          <a:prstGeom prst="rect">
            <a:avLst/>
          </a:prstGeom>
          <a:solidFill>
            <a:srgbClr val="FFFF00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E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717" name="직사각형 716">
            <a:extLst>
              <a:ext uri="{FF2B5EF4-FFF2-40B4-BE49-F238E27FC236}">
                <a16:creationId xmlns:a16="http://schemas.microsoft.com/office/drawing/2014/main" id="{941B7F02-0F8E-4275-979E-ABD9FE612DB6}"/>
              </a:ext>
            </a:extLst>
          </p:cNvPr>
          <p:cNvSpPr/>
          <p:nvPr/>
        </p:nvSpPr>
        <p:spPr bwMode="auto">
          <a:xfrm>
            <a:off x="9780937" y="4906659"/>
            <a:ext cx="191664" cy="180000"/>
          </a:xfrm>
          <a:prstGeom prst="rect">
            <a:avLst/>
          </a:prstGeom>
          <a:solidFill>
            <a:srgbClr val="FFFF00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E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718" name="직사각형 717">
            <a:extLst>
              <a:ext uri="{FF2B5EF4-FFF2-40B4-BE49-F238E27FC236}">
                <a16:creationId xmlns:a16="http://schemas.microsoft.com/office/drawing/2014/main" id="{E4376361-4335-458F-8BDD-B2B70A6629CC}"/>
              </a:ext>
            </a:extLst>
          </p:cNvPr>
          <p:cNvSpPr/>
          <p:nvPr/>
        </p:nvSpPr>
        <p:spPr bwMode="auto">
          <a:xfrm>
            <a:off x="8981432" y="4906659"/>
            <a:ext cx="191664" cy="180000"/>
          </a:xfrm>
          <a:prstGeom prst="rect">
            <a:avLst/>
          </a:prstGeom>
          <a:solidFill>
            <a:srgbClr val="FFFF00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E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726" name="Rectangle 3936">
            <a:extLst>
              <a:ext uri="{FF2B5EF4-FFF2-40B4-BE49-F238E27FC236}">
                <a16:creationId xmlns:a16="http://schemas.microsoft.com/office/drawing/2014/main" id="{8D236624-3380-45A0-90E6-78337D6B3F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36365" y="5123170"/>
            <a:ext cx="396000" cy="180000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chemeClr val="tx1"/>
            </a:solidFill>
            <a:prstDash val="solid"/>
          </a:ln>
          <a:effectLst/>
        </p:spPr>
        <p:txBody>
          <a:bodyPr wrap="none" lIns="74286" tIns="37143" rIns="74286" bIns="37143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E6Q</a:t>
            </a:r>
          </a:p>
        </p:txBody>
      </p:sp>
      <p:sp>
        <p:nvSpPr>
          <p:cNvPr id="727" name="Rectangle 3936">
            <a:extLst>
              <a:ext uri="{FF2B5EF4-FFF2-40B4-BE49-F238E27FC236}">
                <a16:creationId xmlns:a16="http://schemas.microsoft.com/office/drawing/2014/main" id="{E5B28E6D-DE54-4B97-87CA-A81E86F667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34332" y="5340947"/>
            <a:ext cx="396000" cy="180000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chemeClr val="tx1"/>
            </a:solidFill>
            <a:prstDash val="solid"/>
          </a:ln>
          <a:effectLst/>
        </p:spPr>
        <p:txBody>
          <a:bodyPr wrap="none" lIns="74286" tIns="37143" rIns="74286" bIns="37143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E5Q</a:t>
            </a:r>
          </a:p>
        </p:txBody>
      </p:sp>
      <p:sp>
        <p:nvSpPr>
          <p:cNvPr id="728" name="직사각형 727">
            <a:extLst>
              <a:ext uri="{FF2B5EF4-FFF2-40B4-BE49-F238E27FC236}">
                <a16:creationId xmlns:a16="http://schemas.microsoft.com/office/drawing/2014/main" id="{107A1D10-8B20-4635-A585-C90F81274A7B}"/>
              </a:ext>
            </a:extLst>
          </p:cNvPr>
          <p:cNvSpPr/>
          <p:nvPr/>
        </p:nvSpPr>
        <p:spPr bwMode="auto">
          <a:xfrm>
            <a:off x="9188162" y="5123170"/>
            <a:ext cx="191664" cy="180000"/>
          </a:xfrm>
          <a:prstGeom prst="rect">
            <a:avLst/>
          </a:prstGeom>
          <a:solidFill>
            <a:srgbClr val="FFFF00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E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729" name="직사각형 728">
            <a:extLst>
              <a:ext uri="{FF2B5EF4-FFF2-40B4-BE49-F238E27FC236}">
                <a16:creationId xmlns:a16="http://schemas.microsoft.com/office/drawing/2014/main" id="{26C58756-7961-423A-AB0F-52599AB55228}"/>
              </a:ext>
            </a:extLst>
          </p:cNvPr>
          <p:cNvSpPr/>
          <p:nvPr/>
        </p:nvSpPr>
        <p:spPr bwMode="auto">
          <a:xfrm>
            <a:off x="9390793" y="5123170"/>
            <a:ext cx="191664" cy="180000"/>
          </a:xfrm>
          <a:prstGeom prst="rect">
            <a:avLst/>
          </a:prstGeom>
          <a:solidFill>
            <a:srgbClr val="FFFF00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E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730" name="직사각형 729">
            <a:extLst>
              <a:ext uri="{FF2B5EF4-FFF2-40B4-BE49-F238E27FC236}">
                <a16:creationId xmlns:a16="http://schemas.microsoft.com/office/drawing/2014/main" id="{5C6AEAC8-1710-4526-86B4-95BC0FE33D2E}"/>
              </a:ext>
            </a:extLst>
          </p:cNvPr>
          <p:cNvSpPr/>
          <p:nvPr/>
        </p:nvSpPr>
        <p:spPr bwMode="auto">
          <a:xfrm>
            <a:off x="9584878" y="5123170"/>
            <a:ext cx="191664" cy="180000"/>
          </a:xfrm>
          <a:prstGeom prst="rect">
            <a:avLst/>
          </a:prstGeom>
          <a:solidFill>
            <a:srgbClr val="FFFF00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E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731" name="직사각형 730">
            <a:extLst>
              <a:ext uri="{FF2B5EF4-FFF2-40B4-BE49-F238E27FC236}">
                <a16:creationId xmlns:a16="http://schemas.microsoft.com/office/drawing/2014/main" id="{609D7769-FF94-482E-8A09-6120344CFA61}"/>
              </a:ext>
            </a:extLst>
          </p:cNvPr>
          <p:cNvSpPr/>
          <p:nvPr/>
        </p:nvSpPr>
        <p:spPr bwMode="auto">
          <a:xfrm>
            <a:off x="9778963" y="5123170"/>
            <a:ext cx="191664" cy="180000"/>
          </a:xfrm>
          <a:prstGeom prst="rect">
            <a:avLst/>
          </a:prstGeom>
          <a:solidFill>
            <a:srgbClr val="FFFF00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E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732" name="직사각형 731">
            <a:extLst>
              <a:ext uri="{FF2B5EF4-FFF2-40B4-BE49-F238E27FC236}">
                <a16:creationId xmlns:a16="http://schemas.microsoft.com/office/drawing/2014/main" id="{0CA32764-5083-4F20-91C6-40A5E15709F2}"/>
              </a:ext>
            </a:extLst>
          </p:cNvPr>
          <p:cNvSpPr/>
          <p:nvPr/>
        </p:nvSpPr>
        <p:spPr bwMode="auto">
          <a:xfrm>
            <a:off x="8988004" y="5123170"/>
            <a:ext cx="191664" cy="180000"/>
          </a:xfrm>
          <a:prstGeom prst="rect">
            <a:avLst/>
          </a:prstGeom>
          <a:solidFill>
            <a:srgbClr val="FFFF00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E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733" name="직사각형 732">
            <a:extLst>
              <a:ext uri="{FF2B5EF4-FFF2-40B4-BE49-F238E27FC236}">
                <a16:creationId xmlns:a16="http://schemas.microsoft.com/office/drawing/2014/main" id="{F4AA3346-D8DD-4DBB-9727-1233630760B8}"/>
              </a:ext>
            </a:extLst>
          </p:cNvPr>
          <p:cNvSpPr/>
          <p:nvPr/>
        </p:nvSpPr>
        <p:spPr bwMode="auto">
          <a:xfrm>
            <a:off x="9980701" y="5123170"/>
            <a:ext cx="191664" cy="180000"/>
          </a:xfrm>
          <a:prstGeom prst="rect">
            <a:avLst/>
          </a:prstGeom>
          <a:solidFill>
            <a:srgbClr val="FFFF00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E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738" name="Rectangle 3936">
            <a:extLst>
              <a:ext uri="{FF2B5EF4-FFF2-40B4-BE49-F238E27FC236}">
                <a16:creationId xmlns:a16="http://schemas.microsoft.com/office/drawing/2014/main" id="{E5B28E6D-DE54-4B97-87CA-A81E86F667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32904" y="5570261"/>
            <a:ext cx="396000" cy="180000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chemeClr val="tx1"/>
            </a:solidFill>
            <a:prstDash val="solid"/>
          </a:ln>
          <a:effectLst/>
        </p:spPr>
        <p:txBody>
          <a:bodyPr wrap="none" lIns="74286" tIns="37143" rIns="74286" bIns="37143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E4Q</a:t>
            </a:r>
          </a:p>
        </p:txBody>
      </p:sp>
      <p:sp>
        <p:nvSpPr>
          <p:cNvPr id="744" name="직사각형 743">
            <a:extLst>
              <a:ext uri="{FF2B5EF4-FFF2-40B4-BE49-F238E27FC236}">
                <a16:creationId xmlns:a16="http://schemas.microsoft.com/office/drawing/2014/main" id="{BC1A683C-349F-4644-8B2C-B5B8DE1B67CB}"/>
              </a:ext>
            </a:extLst>
          </p:cNvPr>
          <p:cNvSpPr/>
          <p:nvPr/>
        </p:nvSpPr>
        <p:spPr bwMode="auto">
          <a:xfrm>
            <a:off x="9979273" y="5570261"/>
            <a:ext cx="191664" cy="1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G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745" name="Rectangle 3936">
            <a:hlinkClick r:id="" action="ppaction://noaction"/>
            <a:extLst>
              <a:ext uri="{FF2B5EF4-FFF2-40B4-BE49-F238E27FC236}">
                <a16:creationId xmlns:a16="http://schemas.microsoft.com/office/drawing/2014/main" id="{DB9B8454-8DA4-47DA-9E53-CC3A749CFD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41247" y="6246871"/>
            <a:ext cx="396000" cy="180000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chemeClr val="tx1"/>
            </a:solidFill>
            <a:prstDash val="solid"/>
          </a:ln>
          <a:effectLst/>
        </p:spPr>
        <p:txBody>
          <a:bodyPr wrap="none" lIns="74286" tIns="37143" rIns="74286" bIns="37143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A4Q</a:t>
            </a:r>
          </a:p>
        </p:txBody>
      </p:sp>
      <p:sp>
        <p:nvSpPr>
          <p:cNvPr id="750" name="직사각형 749">
            <a:extLst>
              <a:ext uri="{FF2B5EF4-FFF2-40B4-BE49-F238E27FC236}">
                <a16:creationId xmlns:a16="http://schemas.microsoft.com/office/drawing/2014/main" id="{59115E19-7C20-4B6D-A6E5-4297177DB194}"/>
              </a:ext>
            </a:extLst>
          </p:cNvPr>
          <p:cNvSpPr/>
          <p:nvPr/>
        </p:nvSpPr>
        <p:spPr bwMode="auto">
          <a:xfrm>
            <a:off x="9990371" y="6246871"/>
            <a:ext cx="191664" cy="180000"/>
          </a:xfrm>
          <a:prstGeom prst="rect">
            <a:avLst/>
          </a:prstGeom>
          <a:solidFill>
            <a:srgbClr val="FFC9C9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F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751" name="직사각형 750">
            <a:extLst>
              <a:ext uri="{FF2B5EF4-FFF2-40B4-BE49-F238E27FC236}">
                <a16:creationId xmlns:a16="http://schemas.microsoft.com/office/drawing/2014/main" id="{107A1D10-8B20-4635-A585-C90F81274A7B}"/>
              </a:ext>
            </a:extLst>
          </p:cNvPr>
          <p:cNvSpPr/>
          <p:nvPr/>
        </p:nvSpPr>
        <p:spPr bwMode="auto">
          <a:xfrm>
            <a:off x="9177367" y="3214829"/>
            <a:ext cx="191664" cy="180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D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752" name="직사각형 751">
            <a:extLst>
              <a:ext uri="{FF2B5EF4-FFF2-40B4-BE49-F238E27FC236}">
                <a16:creationId xmlns:a16="http://schemas.microsoft.com/office/drawing/2014/main" id="{26C58756-7961-423A-AB0F-52599AB55228}"/>
              </a:ext>
            </a:extLst>
          </p:cNvPr>
          <p:cNvSpPr/>
          <p:nvPr/>
        </p:nvSpPr>
        <p:spPr bwMode="auto">
          <a:xfrm>
            <a:off x="9371452" y="3214829"/>
            <a:ext cx="191664" cy="180000"/>
          </a:xfrm>
          <a:prstGeom prst="rect">
            <a:avLst/>
          </a:prstGeom>
          <a:solidFill>
            <a:srgbClr val="FFFF00"/>
          </a:solidFill>
          <a:ln w="3175" cmpd="sng" algn="ctr">
            <a:solidFill>
              <a:srgbClr val="262626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E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753" name="직사각형 752">
            <a:extLst>
              <a:ext uri="{FF2B5EF4-FFF2-40B4-BE49-F238E27FC236}">
                <a16:creationId xmlns:a16="http://schemas.microsoft.com/office/drawing/2014/main" id="{5C6AEAC8-1710-4526-86B4-95BC0FE33D2E}"/>
              </a:ext>
            </a:extLst>
          </p:cNvPr>
          <p:cNvSpPr/>
          <p:nvPr/>
        </p:nvSpPr>
        <p:spPr bwMode="auto">
          <a:xfrm>
            <a:off x="9574083" y="3214829"/>
            <a:ext cx="191664" cy="180000"/>
          </a:xfrm>
          <a:prstGeom prst="rect">
            <a:avLst/>
          </a:prstGeom>
          <a:solidFill>
            <a:srgbClr val="FFFF00"/>
          </a:solidFill>
          <a:ln w="3175" cmpd="sng" algn="ctr">
            <a:solidFill>
              <a:srgbClr val="262626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E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755" name="직사각형 754">
            <a:extLst>
              <a:ext uri="{FF2B5EF4-FFF2-40B4-BE49-F238E27FC236}">
                <a16:creationId xmlns:a16="http://schemas.microsoft.com/office/drawing/2014/main" id="{0CA32764-5083-4F20-91C6-40A5E15709F2}"/>
              </a:ext>
            </a:extLst>
          </p:cNvPr>
          <p:cNvSpPr/>
          <p:nvPr/>
        </p:nvSpPr>
        <p:spPr bwMode="auto">
          <a:xfrm>
            <a:off x="8977209" y="3214829"/>
            <a:ext cx="191664" cy="180000"/>
          </a:xfrm>
          <a:prstGeom prst="rect">
            <a:avLst/>
          </a:prstGeom>
          <a:solidFill>
            <a:srgbClr val="5DD5FF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C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757" name="Rectangle 3936">
            <a:extLst>
              <a:ext uri="{FF2B5EF4-FFF2-40B4-BE49-F238E27FC236}">
                <a16:creationId xmlns:a16="http://schemas.microsoft.com/office/drawing/2014/main" id="{CDA18954-D0DC-4049-BFEE-8503DD32B5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37880" y="3695846"/>
            <a:ext cx="385421" cy="180000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chemeClr val="tx1"/>
            </a:solidFill>
            <a:prstDash val="solid"/>
          </a:ln>
          <a:effectLst/>
        </p:spPr>
        <p:txBody>
          <a:bodyPr wrap="none" lIns="74286" tIns="37143" rIns="74286" bIns="37143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U7Q</a:t>
            </a:r>
          </a:p>
        </p:txBody>
      </p:sp>
      <p:sp>
        <p:nvSpPr>
          <p:cNvPr id="758" name="직사각형 757">
            <a:extLst>
              <a:ext uri="{FF2B5EF4-FFF2-40B4-BE49-F238E27FC236}">
                <a16:creationId xmlns:a16="http://schemas.microsoft.com/office/drawing/2014/main" id="{DD363082-68E1-4BA2-9474-30074F34E05E}"/>
              </a:ext>
            </a:extLst>
          </p:cNvPr>
          <p:cNvSpPr/>
          <p:nvPr/>
        </p:nvSpPr>
        <p:spPr bwMode="auto">
          <a:xfrm>
            <a:off x="8779690" y="3476847"/>
            <a:ext cx="190800" cy="180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D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759" name="직사각형 758">
            <a:extLst>
              <a:ext uri="{FF2B5EF4-FFF2-40B4-BE49-F238E27FC236}">
                <a16:creationId xmlns:a16="http://schemas.microsoft.com/office/drawing/2014/main" id="{107A1D10-8B20-4635-A585-C90F81274A7B}"/>
              </a:ext>
            </a:extLst>
          </p:cNvPr>
          <p:cNvSpPr/>
          <p:nvPr/>
        </p:nvSpPr>
        <p:spPr bwMode="auto">
          <a:xfrm>
            <a:off x="9175957" y="3476847"/>
            <a:ext cx="191664" cy="180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D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760" name="직사각형 759">
            <a:extLst>
              <a:ext uri="{FF2B5EF4-FFF2-40B4-BE49-F238E27FC236}">
                <a16:creationId xmlns:a16="http://schemas.microsoft.com/office/drawing/2014/main" id="{26C58756-7961-423A-AB0F-52599AB55228}"/>
              </a:ext>
            </a:extLst>
          </p:cNvPr>
          <p:cNvSpPr/>
          <p:nvPr/>
        </p:nvSpPr>
        <p:spPr bwMode="auto">
          <a:xfrm>
            <a:off x="9378588" y="3476847"/>
            <a:ext cx="191664" cy="180000"/>
          </a:xfrm>
          <a:prstGeom prst="rect">
            <a:avLst/>
          </a:prstGeom>
          <a:solidFill>
            <a:srgbClr val="FFFF00"/>
          </a:solidFill>
          <a:ln w="3175" cmpd="sng" algn="ctr">
            <a:solidFill>
              <a:srgbClr val="262626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E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761" name="직사각형 760">
            <a:extLst>
              <a:ext uri="{FF2B5EF4-FFF2-40B4-BE49-F238E27FC236}">
                <a16:creationId xmlns:a16="http://schemas.microsoft.com/office/drawing/2014/main" id="{5C6AEAC8-1710-4526-86B4-95BC0FE33D2E}"/>
              </a:ext>
            </a:extLst>
          </p:cNvPr>
          <p:cNvSpPr/>
          <p:nvPr/>
        </p:nvSpPr>
        <p:spPr bwMode="auto">
          <a:xfrm>
            <a:off x="9581219" y="3476847"/>
            <a:ext cx="191664" cy="180000"/>
          </a:xfrm>
          <a:prstGeom prst="rect">
            <a:avLst/>
          </a:prstGeom>
          <a:solidFill>
            <a:srgbClr val="FFFF00"/>
          </a:solidFill>
          <a:ln w="3175" cmpd="sng" algn="ctr">
            <a:solidFill>
              <a:srgbClr val="262626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E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765" name="직사각형 764">
            <a:extLst>
              <a:ext uri="{FF2B5EF4-FFF2-40B4-BE49-F238E27FC236}">
                <a16:creationId xmlns:a16="http://schemas.microsoft.com/office/drawing/2014/main" id="{DD363082-68E1-4BA2-9474-30074F34E05E}"/>
              </a:ext>
            </a:extLst>
          </p:cNvPr>
          <p:cNvSpPr/>
          <p:nvPr/>
        </p:nvSpPr>
        <p:spPr bwMode="auto">
          <a:xfrm>
            <a:off x="8779690" y="3688777"/>
            <a:ext cx="190800" cy="180000"/>
          </a:xfrm>
          <a:prstGeom prst="rect">
            <a:avLst/>
          </a:prstGeom>
          <a:solidFill>
            <a:srgbClr val="FFC9C9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F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766" name="직사각형 765">
            <a:extLst>
              <a:ext uri="{FF2B5EF4-FFF2-40B4-BE49-F238E27FC236}">
                <a16:creationId xmlns:a16="http://schemas.microsoft.com/office/drawing/2014/main" id="{107A1D10-8B20-4635-A585-C90F81274A7B}"/>
              </a:ext>
            </a:extLst>
          </p:cNvPr>
          <p:cNvSpPr/>
          <p:nvPr/>
        </p:nvSpPr>
        <p:spPr bwMode="auto">
          <a:xfrm>
            <a:off x="9175957" y="3688777"/>
            <a:ext cx="191664" cy="180000"/>
          </a:xfrm>
          <a:prstGeom prst="rect">
            <a:avLst/>
          </a:prstGeom>
          <a:solidFill>
            <a:srgbClr val="FFFF00"/>
          </a:solidFill>
          <a:ln w="3175" cmpd="sng" algn="ctr">
            <a:solidFill>
              <a:srgbClr val="262626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E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767" name="직사각형 766">
            <a:extLst>
              <a:ext uri="{FF2B5EF4-FFF2-40B4-BE49-F238E27FC236}">
                <a16:creationId xmlns:a16="http://schemas.microsoft.com/office/drawing/2014/main" id="{26C58756-7961-423A-AB0F-52599AB55228}"/>
              </a:ext>
            </a:extLst>
          </p:cNvPr>
          <p:cNvSpPr/>
          <p:nvPr/>
        </p:nvSpPr>
        <p:spPr bwMode="auto">
          <a:xfrm>
            <a:off x="9378588" y="3688777"/>
            <a:ext cx="191664" cy="180000"/>
          </a:xfrm>
          <a:prstGeom prst="rect">
            <a:avLst/>
          </a:prstGeom>
          <a:solidFill>
            <a:srgbClr val="FFFF00"/>
          </a:solidFill>
          <a:ln w="3175" cmpd="sng" algn="ctr">
            <a:solidFill>
              <a:srgbClr val="262626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E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768" name="직사각형 767">
            <a:extLst>
              <a:ext uri="{FF2B5EF4-FFF2-40B4-BE49-F238E27FC236}">
                <a16:creationId xmlns:a16="http://schemas.microsoft.com/office/drawing/2014/main" id="{5C6AEAC8-1710-4526-86B4-95BC0FE33D2E}"/>
              </a:ext>
            </a:extLst>
          </p:cNvPr>
          <p:cNvSpPr/>
          <p:nvPr/>
        </p:nvSpPr>
        <p:spPr bwMode="auto">
          <a:xfrm>
            <a:off x="9581219" y="3688777"/>
            <a:ext cx="191664" cy="180000"/>
          </a:xfrm>
          <a:prstGeom prst="rect">
            <a:avLst/>
          </a:prstGeom>
          <a:solidFill>
            <a:srgbClr val="FFFF00"/>
          </a:solidFill>
          <a:ln w="3175" cmpd="sng" algn="ctr">
            <a:solidFill>
              <a:srgbClr val="262626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E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769" name="직사각형 768">
            <a:extLst>
              <a:ext uri="{FF2B5EF4-FFF2-40B4-BE49-F238E27FC236}">
                <a16:creationId xmlns:a16="http://schemas.microsoft.com/office/drawing/2014/main" id="{609D7769-FF94-482E-8A09-6120344CFA61}"/>
              </a:ext>
            </a:extLst>
          </p:cNvPr>
          <p:cNvSpPr/>
          <p:nvPr/>
        </p:nvSpPr>
        <p:spPr bwMode="auto">
          <a:xfrm>
            <a:off x="9775304" y="3688777"/>
            <a:ext cx="191664" cy="180000"/>
          </a:xfrm>
          <a:prstGeom prst="rect">
            <a:avLst/>
          </a:prstGeom>
          <a:solidFill>
            <a:srgbClr val="FFFF00"/>
          </a:solidFill>
          <a:ln w="3175" cmpd="sng" algn="ctr">
            <a:solidFill>
              <a:srgbClr val="262626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E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770" name="직사각형 769">
            <a:extLst>
              <a:ext uri="{FF2B5EF4-FFF2-40B4-BE49-F238E27FC236}">
                <a16:creationId xmlns:a16="http://schemas.microsoft.com/office/drawing/2014/main" id="{0CA32764-5083-4F20-91C6-40A5E15709F2}"/>
              </a:ext>
            </a:extLst>
          </p:cNvPr>
          <p:cNvSpPr/>
          <p:nvPr/>
        </p:nvSpPr>
        <p:spPr bwMode="auto">
          <a:xfrm>
            <a:off x="8975799" y="3688777"/>
            <a:ext cx="191664" cy="180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D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772" name="직사각형 771">
            <a:extLst>
              <a:ext uri="{FF2B5EF4-FFF2-40B4-BE49-F238E27FC236}">
                <a16:creationId xmlns:a16="http://schemas.microsoft.com/office/drawing/2014/main" id="{DD363082-68E1-4BA2-9474-30074F34E05E}"/>
              </a:ext>
            </a:extLst>
          </p:cNvPr>
          <p:cNvSpPr/>
          <p:nvPr/>
        </p:nvSpPr>
        <p:spPr bwMode="auto">
          <a:xfrm>
            <a:off x="8785291" y="4692387"/>
            <a:ext cx="190800" cy="180000"/>
          </a:xfrm>
          <a:prstGeom prst="rect">
            <a:avLst/>
          </a:prstGeom>
          <a:solidFill>
            <a:srgbClr val="FFFF00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E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773" name="직사각형 772">
            <a:extLst>
              <a:ext uri="{FF2B5EF4-FFF2-40B4-BE49-F238E27FC236}">
                <a16:creationId xmlns:a16="http://schemas.microsoft.com/office/drawing/2014/main" id="{107A1D10-8B20-4635-A585-C90F81274A7B}"/>
              </a:ext>
            </a:extLst>
          </p:cNvPr>
          <p:cNvSpPr/>
          <p:nvPr/>
        </p:nvSpPr>
        <p:spPr bwMode="auto">
          <a:xfrm>
            <a:off x="9164551" y="4103370"/>
            <a:ext cx="191664" cy="180000"/>
          </a:xfrm>
          <a:prstGeom prst="rect">
            <a:avLst/>
          </a:prstGeom>
          <a:solidFill>
            <a:srgbClr val="FFFF00"/>
          </a:solidFill>
          <a:ln w="3175" cmpd="sng" algn="ctr">
            <a:solidFill>
              <a:srgbClr val="262626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E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774" name="직사각형 773">
            <a:extLst>
              <a:ext uri="{FF2B5EF4-FFF2-40B4-BE49-F238E27FC236}">
                <a16:creationId xmlns:a16="http://schemas.microsoft.com/office/drawing/2014/main" id="{26C58756-7961-423A-AB0F-52599AB55228}"/>
              </a:ext>
            </a:extLst>
          </p:cNvPr>
          <p:cNvSpPr/>
          <p:nvPr/>
        </p:nvSpPr>
        <p:spPr bwMode="auto">
          <a:xfrm>
            <a:off x="9367182" y="4103370"/>
            <a:ext cx="191664" cy="180000"/>
          </a:xfrm>
          <a:prstGeom prst="rect">
            <a:avLst/>
          </a:prstGeom>
          <a:solidFill>
            <a:srgbClr val="FFFF00"/>
          </a:solidFill>
          <a:ln w="3175" cmpd="sng" algn="ctr">
            <a:solidFill>
              <a:srgbClr val="262626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E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775" name="직사각형 774">
            <a:extLst>
              <a:ext uri="{FF2B5EF4-FFF2-40B4-BE49-F238E27FC236}">
                <a16:creationId xmlns:a16="http://schemas.microsoft.com/office/drawing/2014/main" id="{5C6AEAC8-1710-4526-86B4-95BC0FE33D2E}"/>
              </a:ext>
            </a:extLst>
          </p:cNvPr>
          <p:cNvSpPr/>
          <p:nvPr/>
        </p:nvSpPr>
        <p:spPr bwMode="auto">
          <a:xfrm>
            <a:off x="9569813" y="4103370"/>
            <a:ext cx="191664" cy="180000"/>
          </a:xfrm>
          <a:prstGeom prst="rect">
            <a:avLst/>
          </a:prstGeom>
          <a:solidFill>
            <a:srgbClr val="FFFF00"/>
          </a:solidFill>
          <a:ln w="3175" cmpd="sng" algn="ctr">
            <a:solidFill>
              <a:srgbClr val="262626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E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780" name="직사각형 779">
            <a:extLst>
              <a:ext uri="{FF2B5EF4-FFF2-40B4-BE49-F238E27FC236}">
                <a16:creationId xmlns:a16="http://schemas.microsoft.com/office/drawing/2014/main" id="{BC1A683C-349F-4644-8B2C-B5B8DE1B67CB}"/>
              </a:ext>
            </a:extLst>
          </p:cNvPr>
          <p:cNvSpPr/>
          <p:nvPr/>
        </p:nvSpPr>
        <p:spPr bwMode="auto">
          <a:xfrm>
            <a:off x="9985477" y="5346148"/>
            <a:ext cx="191664" cy="1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G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781" name="직사각형 780">
            <a:extLst>
              <a:ext uri="{FF2B5EF4-FFF2-40B4-BE49-F238E27FC236}">
                <a16:creationId xmlns:a16="http://schemas.microsoft.com/office/drawing/2014/main" id="{BC1A683C-349F-4644-8B2C-B5B8DE1B67CB}"/>
              </a:ext>
            </a:extLst>
          </p:cNvPr>
          <p:cNvSpPr/>
          <p:nvPr/>
        </p:nvSpPr>
        <p:spPr bwMode="auto">
          <a:xfrm>
            <a:off x="9985477" y="6022038"/>
            <a:ext cx="191664" cy="180000"/>
          </a:xfrm>
          <a:prstGeom prst="rect">
            <a:avLst/>
          </a:prstGeom>
          <a:solidFill>
            <a:srgbClr val="FFFF00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E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783" name="직사각형 782">
            <a:extLst>
              <a:ext uri="{FF2B5EF4-FFF2-40B4-BE49-F238E27FC236}">
                <a16:creationId xmlns:a16="http://schemas.microsoft.com/office/drawing/2014/main" id="{0CA32764-5083-4F20-91C6-40A5E15709F2}"/>
              </a:ext>
            </a:extLst>
          </p:cNvPr>
          <p:cNvSpPr/>
          <p:nvPr/>
        </p:nvSpPr>
        <p:spPr bwMode="auto">
          <a:xfrm>
            <a:off x="8975876" y="3476847"/>
            <a:ext cx="191664" cy="180000"/>
          </a:xfrm>
          <a:prstGeom prst="rect">
            <a:avLst/>
          </a:prstGeom>
          <a:solidFill>
            <a:srgbClr val="5DD5FF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C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784" name="직사각형 783">
            <a:extLst>
              <a:ext uri="{FF2B5EF4-FFF2-40B4-BE49-F238E27FC236}">
                <a16:creationId xmlns:a16="http://schemas.microsoft.com/office/drawing/2014/main" id="{5C6AEAC8-1710-4526-86B4-95BC0FE33D2E}"/>
              </a:ext>
            </a:extLst>
          </p:cNvPr>
          <p:cNvSpPr/>
          <p:nvPr/>
        </p:nvSpPr>
        <p:spPr bwMode="auto">
          <a:xfrm>
            <a:off x="9756068" y="4102004"/>
            <a:ext cx="191664" cy="180000"/>
          </a:xfrm>
          <a:prstGeom prst="rect">
            <a:avLst/>
          </a:prstGeom>
          <a:solidFill>
            <a:srgbClr val="FFFF00"/>
          </a:solidFill>
          <a:ln w="3175" cmpd="sng" algn="ctr">
            <a:solidFill>
              <a:srgbClr val="262626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E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785" name="사각형: 둥근 모서리 543">
            <a:extLst>
              <a:ext uri="{FF2B5EF4-FFF2-40B4-BE49-F238E27FC236}">
                <a16:creationId xmlns:a16="http://schemas.microsoft.com/office/drawing/2014/main" id="{FEC360FD-DE9C-D206-D479-44F0CDDD43B7}"/>
              </a:ext>
            </a:extLst>
          </p:cNvPr>
          <p:cNvSpPr/>
          <p:nvPr/>
        </p:nvSpPr>
        <p:spPr>
          <a:xfrm rot="16200000">
            <a:off x="9853355" y="5381935"/>
            <a:ext cx="486459" cy="307672"/>
          </a:xfrm>
          <a:prstGeom prst="round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86" name="TextBox 785">
            <a:extLst>
              <a:ext uri="{FF2B5EF4-FFF2-40B4-BE49-F238E27FC236}">
                <a16:creationId xmlns:a16="http://schemas.microsoft.com/office/drawing/2014/main" id="{5833C243-94D9-D6A1-F0B9-74BF80A45C86}"/>
              </a:ext>
            </a:extLst>
          </p:cNvPr>
          <p:cNvSpPr txBox="1"/>
          <p:nvPr/>
        </p:nvSpPr>
        <p:spPr bwMode="auto">
          <a:xfrm>
            <a:off x="9846269" y="5416129"/>
            <a:ext cx="112210" cy="8207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0" tIns="0" rIns="0" bIns="0" rtlCol="0" anchor="ctr" anchorCtr="0">
            <a:spAutoFit/>
          </a:bodyPr>
          <a:lstStyle>
            <a:defPPr>
              <a:defRPr lang="ko-KR"/>
            </a:defPPr>
            <a:lvl1pPr marR="0" lvl="0" indent="0" algn="ctr" fontAlgn="base" latinLnBrk="0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 kumimoji="1" sz="750" b="0" i="0" u="none" strike="noStrike" kern="0" cap="none" spc="0" normalizeH="0" baseline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1" lang="en-US" altLang="ko-KR" sz="750" b="0" i="0" u="none" strike="noStrike" kern="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Arial" panose="020B0604020202020204" pitchFamily="34" charset="0"/>
              </a:rPr>
              <a:t>40”</a:t>
            </a:r>
          </a:p>
        </p:txBody>
      </p:sp>
      <p:sp>
        <p:nvSpPr>
          <p:cNvPr id="787" name="직사각형 786">
            <a:extLst>
              <a:ext uri="{FF2B5EF4-FFF2-40B4-BE49-F238E27FC236}">
                <a16:creationId xmlns:a16="http://schemas.microsoft.com/office/drawing/2014/main" id="{0FA8450B-AAD9-44BD-91CC-4B2ABAE5EC4C}"/>
              </a:ext>
            </a:extLst>
          </p:cNvPr>
          <p:cNvSpPr/>
          <p:nvPr/>
        </p:nvSpPr>
        <p:spPr bwMode="auto">
          <a:xfrm>
            <a:off x="9982352" y="5804752"/>
            <a:ext cx="191664" cy="180000"/>
          </a:xfrm>
          <a:prstGeom prst="rect">
            <a:avLst/>
          </a:prstGeom>
          <a:solidFill>
            <a:srgbClr val="FFFF00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E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788" name="TextBox 787">
            <a:extLst>
              <a:ext uri="{FF2B5EF4-FFF2-40B4-BE49-F238E27FC236}">
                <a16:creationId xmlns:a16="http://schemas.microsoft.com/office/drawing/2014/main" id="{5833C243-94D9-D6A1-F0B9-74BF80A45C86}"/>
              </a:ext>
            </a:extLst>
          </p:cNvPr>
          <p:cNvSpPr txBox="1"/>
          <p:nvPr/>
        </p:nvSpPr>
        <p:spPr bwMode="auto">
          <a:xfrm>
            <a:off x="9844774" y="6311141"/>
            <a:ext cx="112210" cy="8207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0" tIns="0" rIns="0" bIns="0" rtlCol="0" anchor="ctr" anchorCtr="0">
            <a:spAutoFit/>
          </a:bodyPr>
          <a:lstStyle>
            <a:defPPr>
              <a:defRPr lang="ko-KR"/>
            </a:defPPr>
            <a:lvl1pPr marR="0" lvl="0" indent="0" algn="ctr" fontAlgn="base" latinLnBrk="0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 kumimoji="1" sz="750" b="0" i="0" u="none" strike="noStrike" kern="0" cap="none" spc="0" normalizeH="0" baseline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1" lang="en-US" altLang="ko-KR" sz="750" b="0" i="0" u="none" strike="noStrike" kern="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Arial" panose="020B0604020202020204" pitchFamily="34" charset="0"/>
              </a:rPr>
              <a:t>40”</a:t>
            </a:r>
          </a:p>
        </p:txBody>
      </p:sp>
      <p:sp>
        <p:nvSpPr>
          <p:cNvPr id="790" name="사각형: 둥근 모서리 533">
            <a:extLst>
              <a:ext uri="{FF2B5EF4-FFF2-40B4-BE49-F238E27FC236}">
                <a16:creationId xmlns:a16="http://schemas.microsoft.com/office/drawing/2014/main" id="{0AAB0DE6-31A9-B81E-535A-19581F34C68F}"/>
              </a:ext>
            </a:extLst>
          </p:cNvPr>
          <p:cNvSpPr/>
          <p:nvPr/>
        </p:nvSpPr>
        <p:spPr>
          <a:xfrm rot="16200000">
            <a:off x="9973322" y="6212947"/>
            <a:ext cx="225224" cy="258448"/>
          </a:xfrm>
          <a:prstGeom prst="round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17" name="Rectangle 3936">
            <a:extLst>
              <a:ext uri="{FF2B5EF4-FFF2-40B4-BE49-F238E27FC236}">
                <a16:creationId xmlns:a16="http://schemas.microsoft.com/office/drawing/2014/main" id="{04F837F3-FF55-4A2D-E57E-3A1030131E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4356" y="4103370"/>
            <a:ext cx="396000" cy="180000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chemeClr val="tx1"/>
            </a:solidFill>
            <a:prstDash val="solid"/>
          </a:ln>
          <a:effectLst/>
        </p:spPr>
        <p:txBody>
          <a:bodyPr wrap="none" lIns="74286" tIns="37143" rIns="74286" bIns="37143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QNED85</a:t>
            </a:r>
          </a:p>
        </p:txBody>
      </p:sp>
      <p:sp>
        <p:nvSpPr>
          <p:cNvPr id="520" name="Rectangle 3936">
            <a:extLst>
              <a:ext uri="{FF2B5EF4-FFF2-40B4-BE49-F238E27FC236}">
                <a16:creationId xmlns:a16="http://schemas.microsoft.com/office/drawing/2014/main" id="{8F777871-0B7B-2B93-8552-0C9C71C60E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4356" y="2818294"/>
            <a:ext cx="396000" cy="180000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chemeClr val="tx1"/>
            </a:solidFill>
            <a:prstDash val="solid"/>
          </a:ln>
          <a:effectLst/>
        </p:spPr>
        <p:txBody>
          <a:bodyPr wrap="none" lIns="74286" tIns="37143" rIns="74286" bIns="37143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MRGB95</a:t>
            </a:r>
          </a:p>
        </p:txBody>
      </p:sp>
      <p:sp>
        <p:nvSpPr>
          <p:cNvPr id="544" name="Rectangle 3936">
            <a:extLst>
              <a:ext uri="{FF2B5EF4-FFF2-40B4-BE49-F238E27FC236}">
                <a16:creationId xmlns:a16="http://schemas.microsoft.com/office/drawing/2014/main" id="{039B1B4D-AF3C-5736-A541-A109259BEB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7429" y="3031401"/>
            <a:ext cx="396000" cy="180000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chemeClr val="tx1"/>
            </a:solidFill>
            <a:prstDash val="solid"/>
          </a:ln>
          <a:effectLst/>
        </p:spPr>
        <p:txBody>
          <a:bodyPr wrap="none" lIns="74286" tIns="37143" rIns="74286" bIns="37143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MRGB9M</a:t>
            </a:r>
          </a:p>
        </p:txBody>
      </p:sp>
      <p:sp>
        <p:nvSpPr>
          <p:cNvPr id="549" name="직사각형 548">
            <a:extLst>
              <a:ext uri="{FF2B5EF4-FFF2-40B4-BE49-F238E27FC236}">
                <a16:creationId xmlns:a16="http://schemas.microsoft.com/office/drawing/2014/main" id="{15FC6F5B-F7E9-40E1-ABA4-8F235A049DC8}"/>
              </a:ext>
            </a:extLst>
          </p:cNvPr>
          <p:cNvSpPr/>
          <p:nvPr/>
        </p:nvSpPr>
        <p:spPr bwMode="auto">
          <a:xfrm>
            <a:off x="2868495" y="3038530"/>
            <a:ext cx="191664" cy="180000"/>
          </a:xfrm>
          <a:prstGeom prst="rect">
            <a:avLst/>
          </a:prstGeom>
          <a:solidFill>
            <a:srgbClr val="FFFF00"/>
          </a:solidFill>
          <a:ln w="3175" cmpd="sng" algn="ctr">
            <a:solidFill>
              <a:srgbClr val="262626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E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560" name="직사각형 559">
            <a:extLst>
              <a:ext uri="{FF2B5EF4-FFF2-40B4-BE49-F238E27FC236}">
                <a16:creationId xmlns:a16="http://schemas.microsoft.com/office/drawing/2014/main" id="{ABF7A0A3-B193-0B98-F281-01CF1C3BDF8E}"/>
              </a:ext>
            </a:extLst>
          </p:cNvPr>
          <p:cNvSpPr/>
          <p:nvPr/>
        </p:nvSpPr>
        <p:spPr bwMode="auto">
          <a:xfrm>
            <a:off x="3273757" y="3038530"/>
            <a:ext cx="191664" cy="180000"/>
          </a:xfrm>
          <a:prstGeom prst="rect">
            <a:avLst/>
          </a:prstGeom>
          <a:solidFill>
            <a:srgbClr val="FFC9C9"/>
          </a:solidFill>
          <a:ln w="3175" cmpd="sng" algn="ctr">
            <a:solidFill>
              <a:srgbClr val="262626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F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561" name="직사각형 560">
            <a:extLst>
              <a:ext uri="{FF2B5EF4-FFF2-40B4-BE49-F238E27FC236}">
                <a16:creationId xmlns:a16="http://schemas.microsoft.com/office/drawing/2014/main" id="{6E9FB403-B9D3-C3DA-70B9-3A21239777A8}"/>
              </a:ext>
            </a:extLst>
          </p:cNvPr>
          <p:cNvSpPr/>
          <p:nvPr/>
        </p:nvSpPr>
        <p:spPr bwMode="auto">
          <a:xfrm>
            <a:off x="3476388" y="3037571"/>
            <a:ext cx="191664" cy="180000"/>
          </a:xfrm>
          <a:prstGeom prst="rect">
            <a:avLst/>
          </a:prstGeom>
          <a:solidFill>
            <a:srgbClr val="D9D9D9"/>
          </a:solidFill>
          <a:ln w="28575" cmpd="sng" algn="ctr">
            <a:solidFill>
              <a:srgbClr val="262626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G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570" name="직사각형 569">
            <a:extLst>
              <a:ext uri="{FF2B5EF4-FFF2-40B4-BE49-F238E27FC236}">
                <a16:creationId xmlns:a16="http://schemas.microsoft.com/office/drawing/2014/main" id="{3D382D37-9240-9B8A-2F8D-7793FD6B1A77}"/>
              </a:ext>
            </a:extLst>
          </p:cNvPr>
          <p:cNvSpPr/>
          <p:nvPr/>
        </p:nvSpPr>
        <p:spPr bwMode="auto">
          <a:xfrm>
            <a:off x="3273757" y="2818294"/>
            <a:ext cx="191664" cy="180000"/>
          </a:xfrm>
          <a:prstGeom prst="rect">
            <a:avLst/>
          </a:prstGeom>
          <a:solidFill>
            <a:srgbClr val="FFC9C9"/>
          </a:solidFill>
          <a:ln w="3175" cmpd="sng" algn="ctr">
            <a:solidFill>
              <a:srgbClr val="262626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F</a:t>
            </a:r>
            <a:endParaRPr kumimoji="0" lang="ko-KR" altLang="en-US" sz="7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571" name="직사각형 570">
            <a:extLst>
              <a:ext uri="{FF2B5EF4-FFF2-40B4-BE49-F238E27FC236}">
                <a16:creationId xmlns:a16="http://schemas.microsoft.com/office/drawing/2014/main" id="{12287190-DC13-472C-95F6-1029EAA39623}"/>
              </a:ext>
            </a:extLst>
          </p:cNvPr>
          <p:cNvSpPr/>
          <p:nvPr/>
        </p:nvSpPr>
        <p:spPr bwMode="auto">
          <a:xfrm>
            <a:off x="2868495" y="2818294"/>
            <a:ext cx="191664" cy="180000"/>
          </a:xfrm>
          <a:prstGeom prst="rect">
            <a:avLst/>
          </a:prstGeom>
          <a:solidFill>
            <a:srgbClr val="FFC9C9"/>
          </a:solidFill>
          <a:ln w="3175" cmpd="sng" algn="ctr">
            <a:solidFill>
              <a:srgbClr val="262626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F</a:t>
            </a:r>
            <a:endParaRPr kumimoji="0" lang="ko-KR" altLang="en-US" sz="7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28" name="직사각형 127">
            <a:extLst>
              <a:ext uri="{FF2B5EF4-FFF2-40B4-BE49-F238E27FC236}">
                <a16:creationId xmlns:a16="http://schemas.microsoft.com/office/drawing/2014/main" id="{96077B6F-ACA9-5469-69C5-570FA210BBFE}"/>
              </a:ext>
            </a:extLst>
          </p:cNvPr>
          <p:cNvSpPr/>
          <p:nvPr/>
        </p:nvSpPr>
        <p:spPr bwMode="auto">
          <a:xfrm>
            <a:off x="2665864" y="2818294"/>
            <a:ext cx="191664" cy="180000"/>
          </a:xfrm>
          <a:prstGeom prst="rect">
            <a:avLst/>
          </a:prstGeom>
          <a:solidFill>
            <a:srgbClr val="FFC9C9"/>
          </a:solidFill>
          <a:ln w="3175" cmpd="sng" algn="ctr">
            <a:solidFill>
              <a:srgbClr val="262626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F</a:t>
            </a:r>
            <a:endParaRPr kumimoji="0" lang="ko-KR" altLang="en-US" sz="7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29" name="직사각형 128">
            <a:extLst>
              <a:ext uri="{FF2B5EF4-FFF2-40B4-BE49-F238E27FC236}">
                <a16:creationId xmlns:a16="http://schemas.microsoft.com/office/drawing/2014/main" id="{B0E070E5-38AB-F020-D0DB-45405C1973E4}"/>
              </a:ext>
            </a:extLst>
          </p:cNvPr>
          <p:cNvSpPr/>
          <p:nvPr/>
        </p:nvSpPr>
        <p:spPr bwMode="auto">
          <a:xfrm>
            <a:off x="3273757" y="4103370"/>
            <a:ext cx="191664" cy="180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285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D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30" name="직사각형 129">
            <a:extLst>
              <a:ext uri="{FF2B5EF4-FFF2-40B4-BE49-F238E27FC236}">
                <a16:creationId xmlns:a16="http://schemas.microsoft.com/office/drawing/2014/main" id="{3875AE50-D84C-A918-BCB8-5B55E6DBB11C}"/>
              </a:ext>
            </a:extLst>
          </p:cNvPr>
          <p:cNvSpPr/>
          <p:nvPr/>
        </p:nvSpPr>
        <p:spPr bwMode="auto">
          <a:xfrm>
            <a:off x="3476388" y="4103370"/>
            <a:ext cx="191664" cy="180000"/>
          </a:xfrm>
          <a:prstGeom prst="rect">
            <a:avLst/>
          </a:prstGeom>
          <a:solidFill>
            <a:srgbClr val="FFFF00"/>
          </a:solidFill>
          <a:ln w="285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E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31" name="직사각형 130">
            <a:extLst>
              <a:ext uri="{FF2B5EF4-FFF2-40B4-BE49-F238E27FC236}">
                <a16:creationId xmlns:a16="http://schemas.microsoft.com/office/drawing/2014/main" id="{A9020D42-6C04-6A5D-52F2-ED9A31A8543B}"/>
              </a:ext>
            </a:extLst>
          </p:cNvPr>
          <p:cNvSpPr/>
          <p:nvPr/>
        </p:nvSpPr>
        <p:spPr bwMode="auto">
          <a:xfrm>
            <a:off x="2868495" y="4103370"/>
            <a:ext cx="191664" cy="180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D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32" name="직사각형 131">
            <a:extLst>
              <a:ext uri="{FF2B5EF4-FFF2-40B4-BE49-F238E27FC236}">
                <a16:creationId xmlns:a16="http://schemas.microsoft.com/office/drawing/2014/main" id="{883832BC-6322-47B6-7DA9-060BEAC311CE}"/>
              </a:ext>
            </a:extLst>
          </p:cNvPr>
          <p:cNvSpPr/>
          <p:nvPr/>
        </p:nvSpPr>
        <p:spPr bwMode="auto">
          <a:xfrm>
            <a:off x="3679019" y="4103370"/>
            <a:ext cx="191664" cy="180000"/>
          </a:xfrm>
          <a:prstGeom prst="rect">
            <a:avLst/>
          </a:prstGeom>
          <a:solidFill>
            <a:srgbClr val="FFFF00"/>
          </a:solidFill>
          <a:ln w="285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E</a:t>
            </a:r>
            <a:endParaRPr kumimoji="0" lang="ko-KR" altLang="en-US" sz="7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33" name="직사각형 132">
            <a:extLst>
              <a:ext uri="{FF2B5EF4-FFF2-40B4-BE49-F238E27FC236}">
                <a16:creationId xmlns:a16="http://schemas.microsoft.com/office/drawing/2014/main" id="{ED6A4203-3E63-1F5F-7155-A0EECBA42625}"/>
              </a:ext>
            </a:extLst>
          </p:cNvPr>
          <p:cNvSpPr/>
          <p:nvPr/>
        </p:nvSpPr>
        <p:spPr bwMode="auto">
          <a:xfrm>
            <a:off x="3881650" y="4103370"/>
            <a:ext cx="191664" cy="180000"/>
          </a:xfrm>
          <a:prstGeom prst="rect">
            <a:avLst/>
          </a:prstGeom>
          <a:solidFill>
            <a:srgbClr val="FFFF00"/>
          </a:solidFill>
          <a:ln w="285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E</a:t>
            </a:r>
            <a:endParaRPr kumimoji="0" lang="ko-KR" altLang="en-US" sz="7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34" name="Rectangle 3936">
            <a:extLst>
              <a:ext uri="{FF2B5EF4-FFF2-40B4-BE49-F238E27FC236}">
                <a16:creationId xmlns:a16="http://schemas.microsoft.com/office/drawing/2014/main" id="{07A4BCC6-880A-70C7-BAC0-8628DF7C84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4356" y="4333036"/>
            <a:ext cx="396000" cy="180000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chemeClr val="tx1"/>
            </a:solidFill>
            <a:prstDash val="solid"/>
          </a:ln>
          <a:effectLst/>
        </p:spPr>
        <p:txBody>
          <a:bodyPr wrap="none" lIns="74286" tIns="37143" rIns="74286" bIns="37143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QNED82</a:t>
            </a:r>
          </a:p>
        </p:txBody>
      </p:sp>
      <p:sp>
        <p:nvSpPr>
          <p:cNvPr id="141" name="Rectangle 3936">
            <a:extLst>
              <a:ext uri="{FF2B5EF4-FFF2-40B4-BE49-F238E27FC236}">
                <a16:creationId xmlns:a16="http://schemas.microsoft.com/office/drawing/2014/main" id="{98F13B4C-C341-021E-B4E8-27D42FF6CE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7429" y="3475650"/>
            <a:ext cx="396000" cy="180000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chemeClr val="tx1"/>
            </a:solidFill>
            <a:prstDash val="solid"/>
          </a:ln>
          <a:effectLst/>
        </p:spPr>
        <p:txBody>
          <a:bodyPr wrap="none" lIns="74286" tIns="37143" rIns="74286" bIns="37143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MRGB85</a:t>
            </a:r>
          </a:p>
        </p:txBody>
      </p:sp>
      <p:sp>
        <p:nvSpPr>
          <p:cNvPr id="146" name="직사각형 145">
            <a:extLst>
              <a:ext uri="{FF2B5EF4-FFF2-40B4-BE49-F238E27FC236}">
                <a16:creationId xmlns:a16="http://schemas.microsoft.com/office/drawing/2014/main" id="{890993D3-451D-B275-36A5-71216B68CF30}"/>
              </a:ext>
            </a:extLst>
          </p:cNvPr>
          <p:cNvSpPr/>
          <p:nvPr/>
        </p:nvSpPr>
        <p:spPr bwMode="auto">
          <a:xfrm>
            <a:off x="3273757" y="3475650"/>
            <a:ext cx="191664" cy="180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D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47" name="직사각형 146">
            <a:extLst>
              <a:ext uri="{FF2B5EF4-FFF2-40B4-BE49-F238E27FC236}">
                <a16:creationId xmlns:a16="http://schemas.microsoft.com/office/drawing/2014/main" id="{F3A31BCC-7E9C-24C5-250A-97BFB32DC8D1}"/>
              </a:ext>
            </a:extLst>
          </p:cNvPr>
          <p:cNvSpPr/>
          <p:nvPr/>
        </p:nvSpPr>
        <p:spPr bwMode="auto">
          <a:xfrm>
            <a:off x="3476388" y="3475650"/>
            <a:ext cx="191664" cy="180000"/>
          </a:xfrm>
          <a:prstGeom prst="rect">
            <a:avLst/>
          </a:prstGeom>
          <a:solidFill>
            <a:srgbClr val="FFFF00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E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48" name="직사각형 147">
            <a:extLst>
              <a:ext uri="{FF2B5EF4-FFF2-40B4-BE49-F238E27FC236}">
                <a16:creationId xmlns:a16="http://schemas.microsoft.com/office/drawing/2014/main" id="{03D71032-51FA-D0AF-66EF-5DCE7923AA53}"/>
              </a:ext>
            </a:extLst>
          </p:cNvPr>
          <p:cNvSpPr/>
          <p:nvPr/>
        </p:nvSpPr>
        <p:spPr bwMode="auto">
          <a:xfrm>
            <a:off x="2868495" y="3475650"/>
            <a:ext cx="191664" cy="180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D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49" name="직사각형 148">
            <a:extLst>
              <a:ext uri="{FF2B5EF4-FFF2-40B4-BE49-F238E27FC236}">
                <a16:creationId xmlns:a16="http://schemas.microsoft.com/office/drawing/2014/main" id="{71D3B87A-BDA4-5360-452B-86C86FE09590}"/>
              </a:ext>
            </a:extLst>
          </p:cNvPr>
          <p:cNvSpPr/>
          <p:nvPr/>
        </p:nvSpPr>
        <p:spPr bwMode="auto">
          <a:xfrm>
            <a:off x="3679019" y="3475650"/>
            <a:ext cx="191664" cy="180000"/>
          </a:xfrm>
          <a:prstGeom prst="rect">
            <a:avLst/>
          </a:prstGeom>
          <a:solidFill>
            <a:srgbClr val="FFFF00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E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54" name="직사각형 153">
            <a:extLst>
              <a:ext uri="{FF2B5EF4-FFF2-40B4-BE49-F238E27FC236}">
                <a16:creationId xmlns:a16="http://schemas.microsoft.com/office/drawing/2014/main" id="{BCD7750A-F05D-000C-B79A-BB01F78EC00A}"/>
              </a:ext>
            </a:extLst>
          </p:cNvPr>
          <p:cNvSpPr/>
          <p:nvPr/>
        </p:nvSpPr>
        <p:spPr bwMode="auto">
          <a:xfrm>
            <a:off x="2868495" y="4340272"/>
            <a:ext cx="190800" cy="180000"/>
          </a:xfrm>
          <a:prstGeom prst="rect">
            <a:avLst/>
          </a:prstGeom>
          <a:solidFill>
            <a:srgbClr val="FFC9C9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F</a:t>
            </a:r>
            <a:endParaRPr kumimoji="0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68" name="직사각형 167">
            <a:extLst>
              <a:ext uri="{FF2B5EF4-FFF2-40B4-BE49-F238E27FC236}">
                <a16:creationId xmlns:a16="http://schemas.microsoft.com/office/drawing/2014/main" id="{A7B565CB-A2E6-D2DF-B09B-47135347BB57}"/>
              </a:ext>
            </a:extLst>
          </p:cNvPr>
          <p:cNvSpPr/>
          <p:nvPr/>
        </p:nvSpPr>
        <p:spPr bwMode="auto">
          <a:xfrm>
            <a:off x="3273757" y="4340272"/>
            <a:ext cx="190800" cy="180000"/>
          </a:xfrm>
          <a:prstGeom prst="rect">
            <a:avLst/>
          </a:prstGeom>
          <a:solidFill>
            <a:srgbClr val="FFC9C9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F</a:t>
            </a:r>
            <a:endParaRPr kumimoji="0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69" name="직사각형 168">
            <a:extLst>
              <a:ext uri="{FF2B5EF4-FFF2-40B4-BE49-F238E27FC236}">
                <a16:creationId xmlns:a16="http://schemas.microsoft.com/office/drawing/2014/main" id="{890EC536-118E-D5AC-AC63-361A4C7D3F5F}"/>
              </a:ext>
            </a:extLst>
          </p:cNvPr>
          <p:cNvSpPr/>
          <p:nvPr/>
        </p:nvSpPr>
        <p:spPr bwMode="auto">
          <a:xfrm>
            <a:off x="3476388" y="4338968"/>
            <a:ext cx="190800" cy="180000"/>
          </a:xfrm>
          <a:prstGeom prst="rect">
            <a:avLst/>
          </a:prstGeom>
          <a:solidFill>
            <a:srgbClr val="FFC9C9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F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70" name="직사각형 169">
            <a:extLst>
              <a:ext uri="{FF2B5EF4-FFF2-40B4-BE49-F238E27FC236}">
                <a16:creationId xmlns:a16="http://schemas.microsoft.com/office/drawing/2014/main" id="{AE3E03C0-252D-8A3D-B569-6F0A506040F2}"/>
              </a:ext>
            </a:extLst>
          </p:cNvPr>
          <p:cNvSpPr/>
          <p:nvPr/>
        </p:nvSpPr>
        <p:spPr bwMode="auto">
          <a:xfrm>
            <a:off x="3881650" y="4338968"/>
            <a:ext cx="190800" cy="180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G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72" name="직사각형 171">
            <a:extLst>
              <a:ext uri="{FF2B5EF4-FFF2-40B4-BE49-F238E27FC236}">
                <a16:creationId xmlns:a16="http://schemas.microsoft.com/office/drawing/2014/main" id="{B98D2567-4162-6D91-C89F-2C0FF7E684BE}"/>
              </a:ext>
            </a:extLst>
          </p:cNvPr>
          <p:cNvSpPr/>
          <p:nvPr/>
        </p:nvSpPr>
        <p:spPr bwMode="auto">
          <a:xfrm>
            <a:off x="4092992" y="4338968"/>
            <a:ext cx="190800" cy="180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G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75" name="직사각형 174">
            <a:extLst>
              <a:ext uri="{FF2B5EF4-FFF2-40B4-BE49-F238E27FC236}">
                <a16:creationId xmlns:a16="http://schemas.microsoft.com/office/drawing/2014/main" id="{009AB184-3F3E-04D7-0CCE-F5B8D0316611}"/>
              </a:ext>
            </a:extLst>
          </p:cNvPr>
          <p:cNvSpPr/>
          <p:nvPr/>
        </p:nvSpPr>
        <p:spPr bwMode="auto">
          <a:xfrm>
            <a:off x="3881650" y="3474222"/>
            <a:ext cx="191664" cy="180000"/>
          </a:xfrm>
          <a:prstGeom prst="rect">
            <a:avLst/>
          </a:prstGeom>
          <a:solidFill>
            <a:srgbClr val="FFFF00"/>
          </a:solidFill>
          <a:ln w="28575" cmpd="sng" algn="ctr">
            <a:solidFill>
              <a:srgbClr val="262626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E</a:t>
            </a:r>
            <a:endParaRPr kumimoji="0" lang="ko-KR" altLang="en-US" sz="7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76" name="직사각형 175">
            <a:extLst>
              <a:ext uri="{FF2B5EF4-FFF2-40B4-BE49-F238E27FC236}">
                <a16:creationId xmlns:a16="http://schemas.microsoft.com/office/drawing/2014/main" id="{683E420D-D447-5A1F-2A82-677EC7725140}"/>
              </a:ext>
            </a:extLst>
          </p:cNvPr>
          <p:cNvSpPr/>
          <p:nvPr/>
        </p:nvSpPr>
        <p:spPr bwMode="auto">
          <a:xfrm>
            <a:off x="2665864" y="4104960"/>
            <a:ext cx="191664" cy="180000"/>
          </a:xfrm>
          <a:prstGeom prst="rect">
            <a:avLst/>
          </a:prstGeom>
          <a:solidFill>
            <a:srgbClr val="FFFF00"/>
          </a:solidFill>
          <a:ln w="285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E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91" name="직사각형 190">
            <a:extLst>
              <a:ext uri="{FF2B5EF4-FFF2-40B4-BE49-F238E27FC236}">
                <a16:creationId xmlns:a16="http://schemas.microsoft.com/office/drawing/2014/main" id="{4E061954-E0B0-A3CD-F3BD-A06D67DBF886}"/>
              </a:ext>
            </a:extLst>
          </p:cNvPr>
          <p:cNvSpPr/>
          <p:nvPr/>
        </p:nvSpPr>
        <p:spPr bwMode="auto">
          <a:xfrm>
            <a:off x="3683530" y="4337879"/>
            <a:ext cx="190800" cy="180000"/>
          </a:xfrm>
          <a:prstGeom prst="rect">
            <a:avLst/>
          </a:prstGeom>
          <a:solidFill>
            <a:schemeClr val="bg1">
              <a:lumMod val="85000"/>
            </a:schemeClr>
          </a:solidFill>
          <a:ln w="285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G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593" name="Rectangle 3936">
            <a:extLst>
              <a:ext uri="{FF2B5EF4-FFF2-40B4-BE49-F238E27FC236}">
                <a16:creationId xmlns:a16="http://schemas.microsoft.com/office/drawing/2014/main" id="{C793EBA0-D134-3491-76DD-F19415C9DF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4356" y="6250824"/>
            <a:ext cx="396000" cy="180000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chemeClr val="tx1"/>
            </a:solidFill>
            <a:prstDash val="solid"/>
          </a:ln>
          <a:effectLst/>
        </p:spPr>
        <p:txBody>
          <a:bodyPr wrap="none" lIns="74286" tIns="37143" rIns="74286" bIns="37143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NU85</a:t>
            </a:r>
          </a:p>
        </p:txBody>
      </p:sp>
      <p:sp>
        <p:nvSpPr>
          <p:cNvPr id="594" name="Rectangle 3936">
            <a:extLst>
              <a:ext uri="{FF2B5EF4-FFF2-40B4-BE49-F238E27FC236}">
                <a16:creationId xmlns:a16="http://schemas.microsoft.com/office/drawing/2014/main" id="{B4FD0D6C-6ECE-31ED-F1DA-352A84A427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4356" y="5349650"/>
            <a:ext cx="396000" cy="180000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chemeClr val="tx1"/>
            </a:solidFill>
            <a:prstDash val="solid"/>
          </a:ln>
          <a:effectLst/>
        </p:spPr>
        <p:txBody>
          <a:bodyPr wrap="none" lIns="74286" tIns="37143" rIns="74286" bIns="37143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QNED80</a:t>
            </a:r>
          </a:p>
        </p:txBody>
      </p:sp>
      <p:sp>
        <p:nvSpPr>
          <p:cNvPr id="595" name="직사각형 594">
            <a:extLst>
              <a:ext uri="{FF2B5EF4-FFF2-40B4-BE49-F238E27FC236}">
                <a16:creationId xmlns:a16="http://schemas.microsoft.com/office/drawing/2014/main" id="{422D14D7-DC81-AB50-43C4-BEFECE05CA74}"/>
              </a:ext>
            </a:extLst>
          </p:cNvPr>
          <p:cNvSpPr/>
          <p:nvPr/>
        </p:nvSpPr>
        <p:spPr bwMode="auto">
          <a:xfrm>
            <a:off x="2868495" y="6250824"/>
            <a:ext cx="190800" cy="180000"/>
          </a:xfrm>
          <a:prstGeom prst="rect">
            <a:avLst/>
          </a:prstGeom>
          <a:solidFill>
            <a:srgbClr val="FFC9C9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F</a:t>
            </a:r>
          </a:p>
        </p:txBody>
      </p:sp>
      <p:sp>
        <p:nvSpPr>
          <p:cNvPr id="596" name="직사각형 595">
            <a:extLst>
              <a:ext uri="{FF2B5EF4-FFF2-40B4-BE49-F238E27FC236}">
                <a16:creationId xmlns:a16="http://schemas.microsoft.com/office/drawing/2014/main" id="{2E4969CD-14EB-A0A5-1ABA-D6BB68B0B02A}"/>
              </a:ext>
            </a:extLst>
          </p:cNvPr>
          <p:cNvSpPr/>
          <p:nvPr/>
        </p:nvSpPr>
        <p:spPr bwMode="auto">
          <a:xfrm>
            <a:off x="3273757" y="6250824"/>
            <a:ext cx="190800" cy="180000"/>
          </a:xfrm>
          <a:prstGeom prst="rect">
            <a:avLst/>
          </a:prstGeom>
          <a:solidFill>
            <a:srgbClr val="FFC9C9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F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597" name="직사각형 596">
            <a:extLst>
              <a:ext uri="{FF2B5EF4-FFF2-40B4-BE49-F238E27FC236}">
                <a16:creationId xmlns:a16="http://schemas.microsoft.com/office/drawing/2014/main" id="{0767662A-E13C-FC68-53A2-53BFE27962FA}"/>
              </a:ext>
            </a:extLst>
          </p:cNvPr>
          <p:cNvSpPr/>
          <p:nvPr/>
        </p:nvSpPr>
        <p:spPr bwMode="auto">
          <a:xfrm>
            <a:off x="3476388" y="5349650"/>
            <a:ext cx="190800" cy="180000"/>
          </a:xfrm>
          <a:prstGeom prst="rect">
            <a:avLst/>
          </a:prstGeom>
          <a:solidFill>
            <a:srgbClr val="FFC9C9"/>
          </a:solidFill>
          <a:ln w="285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F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598" name="직사각형 597">
            <a:extLst>
              <a:ext uri="{FF2B5EF4-FFF2-40B4-BE49-F238E27FC236}">
                <a16:creationId xmlns:a16="http://schemas.microsoft.com/office/drawing/2014/main" id="{A538175B-E8FD-EF8C-B32A-FE92421D8CCE}"/>
              </a:ext>
            </a:extLst>
          </p:cNvPr>
          <p:cNvSpPr/>
          <p:nvPr/>
        </p:nvSpPr>
        <p:spPr bwMode="auto">
          <a:xfrm>
            <a:off x="3679019" y="5349650"/>
            <a:ext cx="190800" cy="180000"/>
          </a:xfrm>
          <a:prstGeom prst="rect">
            <a:avLst/>
          </a:prstGeom>
          <a:solidFill>
            <a:srgbClr val="FFC9C9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F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599" name="직사각형 598">
            <a:extLst>
              <a:ext uri="{FF2B5EF4-FFF2-40B4-BE49-F238E27FC236}">
                <a16:creationId xmlns:a16="http://schemas.microsoft.com/office/drawing/2014/main" id="{867D8E67-DD12-6750-524A-E5F13232E35B}"/>
              </a:ext>
            </a:extLst>
          </p:cNvPr>
          <p:cNvSpPr/>
          <p:nvPr/>
        </p:nvSpPr>
        <p:spPr bwMode="auto">
          <a:xfrm>
            <a:off x="3881650" y="5349650"/>
            <a:ext cx="190800" cy="180000"/>
          </a:xfrm>
          <a:prstGeom prst="rect">
            <a:avLst/>
          </a:prstGeom>
          <a:solidFill>
            <a:srgbClr val="FFC9C9"/>
          </a:solidFill>
          <a:ln w="285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F</a:t>
            </a:r>
          </a:p>
        </p:txBody>
      </p:sp>
      <p:sp>
        <p:nvSpPr>
          <p:cNvPr id="603" name="직사각형 602">
            <a:extLst>
              <a:ext uri="{FF2B5EF4-FFF2-40B4-BE49-F238E27FC236}">
                <a16:creationId xmlns:a16="http://schemas.microsoft.com/office/drawing/2014/main" id="{86053DF6-4B03-D055-C44C-27329AA40AD0}"/>
              </a:ext>
            </a:extLst>
          </p:cNvPr>
          <p:cNvSpPr/>
          <p:nvPr/>
        </p:nvSpPr>
        <p:spPr bwMode="auto">
          <a:xfrm>
            <a:off x="4092992" y="5349650"/>
            <a:ext cx="190800" cy="180000"/>
          </a:xfrm>
          <a:prstGeom prst="rect">
            <a:avLst/>
          </a:prstGeom>
          <a:solidFill>
            <a:schemeClr val="bg1">
              <a:lumMod val="85000"/>
            </a:schemeClr>
          </a:solidFill>
          <a:ln w="285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G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619" name="직사각형 618">
            <a:extLst>
              <a:ext uri="{FF2B5EF4-FFF2-40B4-BE49-F238E27FC236}">
                <a16:creationId xmlns:a16="http://schemas.microsoft.com/office/drawing/2014/main" id="{C620C663-D08E-7E17-BAC6-BFD8616A374F}"/>
              </a:ext>
            </a:extLst>
          </p:cNvPr>
          <p:cNvSpPr/>
          <p:nvPr/>
        </p:nvSpPr>
        <p:spPr bwMode="auto">
          <a:xfrm>
            <a:off x="3476388" y="6249520"/>
            <a:ext cx="190800" cy="180000"/>
          </a:xfrm>
          <a:prstGeom prst="rect">
            <a:avLst/>
          </a:prstGeom>
          <a:solidFill>
            <a:srgbClr val="FFC9C9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F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660" name="직사각형 659">
            <a:extLst>
              <a:ext uri="{FF2B5EF4-FFF2-40B4-BE49-F238E27FC236}">
                <a16:creationId xmlns:a16="http://schemas.microsoft.com/office/drawing/2014/main" id="{E7E7D775-0797-5701-5AB9-A255C02FB7E2}"/>
              </a:ext>
            </a:extLst>
          </p:cNvPr>
          <p:cNvSpPr/>
          <p:nvPr/>
        </p:nvSpPr>
        <p:spPr bwMode="auto">
          <a:xfrm>
            <a:off x="3679019" y="6249520"/>
            <a:ext cx="190800" cy="180000"/>
          </a:xfrm>
          <a:prstGeom prst="rect">
            <a:avLst/>
          </a:prstGeom>
          <a:solidFill>
            <a:srgbClr val="FFC9C9"/>
          </a:solidFill>
          <a:ln w="285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F</a:t>
            </a:r>
            <a:endParaRPr kumimoji="0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662" name="직사각형 661">
            <a:extLst>
              <a:ext uri="{FF2B5EF4-FFF2-40B4-BE49-F238E27FC236}">
                <a16:creationId xmlns:a16="http://schemas.microsoft.com/office/drawing/2014/main" id="{5BA1FBEE-9EC5-D0BE-8D06-9428FBDBAD98}"/>
              </a:ext>
            </a:extLst>
          </p:cNvPr>
          <p:cNvSpPr/>
          <p:nvPr/>
        </p:nvSpPr>
        <p:spPr bwMode="auto">
          <a:xfrm>
            <a:off x="4092992" y="6249520"/>
            <a:ext cx="190800" cy="1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285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G</a:t>
            </a:r>
            <a:endParaRPr kumimoji="0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665" name="직사각형 664">
            <a:extLst>
              <a:ext uri="{FF2B5EF4-FFF2-40B4-BE49-F238E27FC236}">
                <a16:creationId xmlns:a16="http://schemas.microsoft.com/office/drawing/2014/main" id="{A9169D18-6238-C34A-324A-3CE2445F55F6}"/>
              </a:ext>
            </a:extLst>
          </p:cNvPr>
          <p:cNvSpPr/>
          <p:nvPr/>
        </p:nvSpPr>
        <p:spPr bwMode="auto">
          <a:xfrm>
            <a:off x="2868495" y="5349650"/>
            <a:ext cx="190800" cy="180000"/>
          </a:xfrm>
          <a:prstGeom prst="rect">
            <a:avLst/>
          </a:prstGeom>
          <a:solidFill>
            <a:srgbClr val="FFC9C9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F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680" name="직사각형 679">
            <a:extLst>
              <a:ext uri="{FF2B5EF4-FFF2-40B4-BE49-F238E27FC236}">
                <a16:creationId xmlns:a16="http://schemas.microsoft.com/office/drawing/2014/main" id="{C2BE4D7A-1440-2B9F-9C54-85DC857440FC}"/>
              </a:ext>
            </a:extLst>
          </p:cNvPr>
          <p:cNvSpPr/>
          <p:nvPr/>
        </p:nvSpPr>
        <p:spPr bwMode="auto">
          <a:xfrm>
            <a:off x="3273757" y="5349650"/>
            <a:ext cx="190800" cy="180000"/>
          </a:xfrm>
          <a:prstGeom prst="rect">
            <a:avLst/>
          </a:prstGeom>
          <a:solidFill>
            <a:srgbClr val="FFC9C9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F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682" name="Rectangle 3936">
            <a:extLst>
              <a:ext uri="{FF2B5EF4-FFF2-40B4-BE49-F238E27FC236}">
                <a16:creationId xmlns:a16="http://schemas.microsoft.com/office/drawing/2014/main" id="{4FDF8C16-D54A-AAD4-9CE9-E4FC6B844E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1019" y="5800657"/>
            <a:ext cx="396000" cy="180000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chemeClr val="tx1"/>
            </a:solidFill>
            <a:prstDash val="solid"/>
          </a:ln>
          <a:effectLst/>
        </p:spPr>
        <p:txBody>
          <a:bodyPr wrap="none" lIns="74286" tIns="37143" rIns="74286" bIns="37143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QNED70</a:t>
            </a:r>
          </a:p>
        </p:txBody>
      </p:sp>
      <p:sp>
        <p:nvSpPr>
          <p:cNvPr id="683" name="직사각형 682">
            <a:extLst>
              <a:ext uri="{FF2B5EF4-FFF2-40B4-BE49-F238E27FC236}">
                <a16:creationId xmlns:a16="http://schemas.microsoft.com/office/drawing/2014/main" id="{E1132E40-F372-B887-0B95-EE3C79F221FD}"/>
              </a:ext>
            </a:extLst>
          </p:cNvPr>
          <p:cNvSpPr/>
          <p:nvPr/>
        </p:nvSpPr>
        <p:spPr bwMode="auto">
          <a:xfrm>
            <a:off x="2875158" y="5800657"/>
            <a:ext cx="190800" cy="180000"/>
          </a:xfrm>
          <a:prstGeom prst="rect">
            <a:avLst/>
          </a:prstGeom>
          <a:solidFill>
            <a:srgbClr val="FFFF00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E</a:t>
            </a:r>
            <a:endParaRPr kumimoji="0" lang="en-US" altLang="ko-KR" sz="7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684" name="직사각형 683">
            <a:extLst>
              <a:ext uri="{FF2B5EF4-FFF2-40B4-BE49-F238E27FC236}">
                <a16:creationId xmlns:a16="http://schemas.microsoft.com/office/drawing/2014/main" id="{F0E69BB2-48CF-4698-142C-72B662EA554E}"/>
              </a:ext>
            </a:extLst>
          </p:cNvPr>
          <p:cNvSpPr/>
          <p:nvPr/>
        </p:nvSpPr>
        <p:spPr bwMode="auto">
          <a:xfrm>
            <a:off x="3280420" y="5800657"/>
            <a:ext cx="190800" cy="180000"/>
          </a:xfrm>
          <a:prstGeom prst="rect">
            <a:avLst/>
          </a:prstGeom>
          <a:solidFill>
            <a:srgbClr val="FFC9C9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F</a:t>
            </a:r>
            <a:endParaRPr kumimoji="0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686" name="직사각형 685">
            <a:extLst>
              <a:ext uri="{FF2B5EF4-FFF2-40B4-BE49-F238E27FC236}">
                <a16:creationId xmlns:a16="http://schemas.microsoft.com/office/drawing/2014/main" id="{7D069EBE-1730-ACED-E5B3-ED337F42F1D6}"/>
              </a:ext>
            </a:extLst>
          </p:cNvPr>
          <p:cNvSpPr/>
          <p:nvPr/>
        </p:nvSpPr>
        <p:spPr bwMode="auto">
          <a:xfrm>
            <a:off x="3483051" y="5799353"/>
            <a:ext cx="190800" cy="180000"/>
          </a:xfrm>
          <a:prstGeom prst="rect">
            <a:avLst/>
          </a:prstGeom>
          <a:solidFill>
            <a:srgbClr val="FFC9C9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F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702" name="직사각형 701">
            <a:extLst>
              <a:ext uri="{FF2B5EF4-FFF2-40B4-BE49-F238E27FC236}">
                <a16:creationId xmlns:a16="http://schemas.microsoft.com/office/drawing/2014/main" id="{56BC225E-136B-C696-B303-36848285B116}"/>
              </a:ext>
            </a:extLst>
          </p:cNvPr>
          <p:cNvSpPr/>
          <p:nvPr/>
        </p:nvSpPr>
        <p:spPr bwMode="auto">
          <a:xfrm>
            <a:off x="3685682" y="5799353"/>
            <a:ext cx="190800" cy="180000"/>
          </a:xfrm>
          <a:prstGeom prst="rect">
            <a:avLst/>
          </a:prstGeom>
          <a:solidFill>
            <a:srgbClr val="FFC9C9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F</a:t>
            </a:r>
          </a:p>
        </p:txBody>
      </p:sp>
      <p:sp>
        <p:nvSpPr>
          <p:cNvPr id="703" name="직사각형 702">
            <a:extLst>
              <a:ext uri="{FF2B5EF4-FFF2-40B4-BE49-F238E27FC236}">
                <a16:creationId xmlns:a16="http://schemas.microsoft.com/office/drawing/2014/main" id="{B6A59329-A653-5D3C-D35B-07740477AF7F}"/>
              </a:ext>
            </a:extLst>
          </p:cNvPr>
          <p:cNvSpPr/>
          <p:nvPr/>
        </p:nvSpPr>
        <p:spPr bwMode="auto">
          <a:xfrm>
            <a:off x="3888313" y="5799353"/>
            <a:ext cx="190800" cy="180000"/>
          </a:xfrm>
          <a:prstGeom prst="rect">
            <a:avLst/>
          </a:prstGeom>
          <a:solidFill>
            <a:srgbClr val="FFC9C9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F</a:t>
            </a:r>
            <a:endParaRPr kumimoji="0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56" name="직사각형 255">
            <a:extLst>
              <a:ext uri="{FF2B5EF4-FFF2-40B4-BE49-F238E27FC236}">
                <a16:creationId xmlns:a16="http://schemas.microsoft.com/office/drawing/2014/main" id="{1E0C16A1-41C0-1234-1B54-E05B2A8D8979}"/>
              </a:ext>
            </a:extLst>
          </p:cNvPr>
          <p:cNvSpPr/>
          <p:nvPr/>
        </p:nvSpPr>
        <p:spPr bwMode="auto">
          <a:xfrm>
            <a:off x="4099655" y="5799353"/>
            <a:ext cx="190800" cy="180000"/>
          </a:xfrm>
          <a:prstGeom prst="rect">
            <a:avLst/>
          </a:prstGeom>
          <a:solidFill>
            <a:srgbClr val="FFC9C9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F</a:t>
            </a:r>
            <a:endParaRPr kumimoji="0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64" name="직사각형 263">
            <a:extLst>
              <a:ext uri="{FF2B5EF4-FFF2-40B4-BE49-F238E27FC236}">
                <a16:creationId xmlns:a16="http://schemas.microsoft.com/office/drawing/2014/main" id="{47D34823-8C47-9068-D40C-15E1B24BBA46}"/>
              </a:ext>
            </a:extLst>
          </p:cNvPr>
          <p:cNvSpPr/>
          <p:nvPr/>
        </p:nvSpPr>
        <p:spPr bwMode="auto">
          <a:xfrm>
            <a:off x="7305588" y="4910296"/>
            <a:ext cx="191664" cy="180000"/>
          </a:xfrm>
          <a:prstGeom prst="rect">
            <a:avLst/>
          </a:prstGeom>
          <a:solidFill>
            <a:srgbClr val="FFFF00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E</a:t>
            </a:r>
            <a:endParaRPr kumimoji="0" lang="ko-KR" altLang="en-US" sz="7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75" name="직사각형 274">
            <a:extLst>
              <a:ext uri="{FF2B5EF4-FFF2-40B4-BE49-F238E27FC236}">
                <a16:creationId xmlns:a16="http://schemas.microsoft.com/office/drawing/2014/main" id="{12F204D0-B3AE-5DC4-7AC9-6C951DED197A}"/>
              </a:ext>
            </a:extLst>
          </p:cNvPr>
          <p:cNvSpPr/>
          <p:nvPr/>
        </p:nvSpPr>
        <p:spPr bwMode="auto">
          <a:xfrm>
            <a:off x="7508219" y="4910296"/>
            <a:ext cx="191664" cy="180000"/>
          </a:xfrm>
          <a:prstGeom prst="rect">
            <a:avLst/>
          </a:prstGeom>
          <a:solidFill>
            <a:srgbClr val="FFC9C9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F</a:t>
            </a:r>
            <a:endParaRPr kumimoji="0" lang="ko-KR" altLang="en-US" sz="7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77" name="직사각형 276">
            <a:extLst>
              <a:ext uri="{FF2B5EF4-FFF2-40B4-BE49-F238E27FC236}">
                <a16:creationId xmlns:a16="http://schemas.microsoft.com/office/drawing/2014/main" id="{F6F8761C-93BE-2472-2B77-1A622FD255B1}"/>
              </a:ext>
            </a:extLst>
          </p:cNvPr>
          <p:cNvSpPr/>
          <p:nvPr/>
        </p:nvSpPr>
        <p:spPr bwMode="auto">
          <a:xfrm>
            <a:off x="7913481" y="4910296"/>
            <a:ext cx="191664" cy="180000"/>
          </a:xfrm>
          <a:prstGeom prst="rect">
            <a:avLst/>
          </a:prstGeom>
          <a:solidFill>
            <a:srgbClr val="FFFF00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E</a:t>
            </a:r>
            <a:endParaRPr kumimoji="0" lang="ko-KR" altLang="en-US" sz="7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78" name="직사각형 277">
            <a:extLst>
              <a:ext uri="{FF2B5EF4-FFF2-40B4-BE49-F238E27FC236}">
                <a16:creationId xmlns:a16="http://schemas.microsoft.com/office/drawing/2014/main" id="{D7E2976B-B0CF-D1BC-C762-375D396AB195}"/>
              </a:ext>
            </a:extLst>
          </p:cNvPr>
          <p:cNvSpPr/>
          <p:nvPr/>
        </p:nvSpPr>
        <p:spPr bwMode="auto">
          <a:xfrm>
            <a:off x="7911507" y="5126807"/>
            <a:ext cx="191664" cy="180000"/>
          </a:xfrm>
          <a:prstGeom prst="rect">
            <a:avLst/>
          </a:prstGeom>
          <a:solidFill>
            <a:srgbClr val="FFFF00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E</a:t>
            </a:r>
            <a:endParaRPr kumimoji="0" lang="ko-KR" altLang="en-US" sz="7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79" name="직사각형 278">
            <a:extLst>
              <a:ext uri="{FF2B5EF4-FFF2-40B4-BE49-F238E27FC236}">
                <a16:creationId xmlns:a16="http://schemas.microsoft.com/office/drawing/2014/main" id="{794F799D-3346-104B-83E3-BCE8CDFBE314}"/>
              </a:ext>
            </a:extLst>
          </p:cNvPr>
          <p:cNvSpPr/>
          <p:nvPr/>
        </p:nvSpPr>
        <p:spPr bwMode="auto">
          <a:xfrm>
            <a:off x="7719557" y="4692581"/>
            <a:ext cx="191664" cy="180000"/>
          </a:xfrm>
          <a:prstGeom prst="rect">
            <a:avLst/>
          </a:prstGeom>
          <a:solidFill>
            <a:srgbClr val="FFC9C9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F</a:t>
            </a:r>
            <a:endParaRPr kumimoji="0" lang="ko-KR" altLang="en-US" sz="7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80" name="직사각형 279">
            <a:extLst>
              <a:ext uri="{FF2B5EF4-FFF2-40B4-BE49-F238E27FC236}">
                <a16:creationId xmlns:a16="http://schemas.microsoft.com/office/drawing/2014/main" id="{5A8CD7F9-4DD1-15F3-9909-1329122DAB84}"/>
              </a:ext>
            </a:extLst>
          </p:cNvPr>
          <p:cNvSpPr/>
          <p:nvPr/>
        </p:nvSpPr>
        <p:spPr bwMode="auto">
          <a:xfrm>
            <a:off x="7917836" y="4688219"/>
            <a:ext cx="191664" cy="180000"/>
          </a:xfrm>
          <a:prstGeom prst="rect">
            <a:avLst/>
          </a:prstGeom>
          <a:solidFill>
            <a:srgbClr val="FFFF00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E</a:t>
            </a:r>
            <a:endParaRPr kumimoji="0" lang="ko-KR" altLang="en-US" sz="7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81" name="직사각형 280">
            <a:extLst>
              <a:ext uri="{FF2B5EF4-FFF2-40B4-BE49-F238E27FC236}">
                <a16:creationId xmlns:a16="http://schemas.microsoft.com/office/drawing/2014/main" id="{2B6C352A-AF20-760C-6D4C-485665766185}"/>
              </a:ext>
            </a:extLst>
          </p:cNvPr>
          <p:cNvSpPr/>
          <p:nvPr/>
        </p:nvSpPr>
        <p:spPr bwMode="auto">
          <a:xfrm>
            <a:off x="9190840" y="5805954"/>
            <a:ext cx="191664" cy="180000"/>
          </a:xfrm>
          <a:prstGeom prst="rect">
            <a:avLst/>
          </a:prstGeom>
          <a:noFill/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TBD</a:t>
            </a:r>
            <a:endParaRPr kumimoji="0" lang="ko-KR" altLang="en-US" sz="7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82" name="직사각형 281">
            <a:extLst>
              <a:ext uri="{FF2B5EF4-FFF2-40B4-BE49-F238E27FC236}">
                <a16:creationId xmlns:a16="http://schemas.microsoft.com/office/drawing/2014/main" id="{744F7800-7296-5C39-50B7-2A95D93234B0}"/>
              </a:ext>
            </a:extLst>
          </p:cNvPr>
          <p:cNvSpPr/>
          <p:nvPr/>
        </p:nvSpPr>
        <p:spPr bwMode="auto">
          <a:xfrm>
            <a:off x="9981665" y="4902916"/>
            <a:ext cx="191664" cy="180000"/>
          </a:xfrm>
          <a:prstGeom prst="rect">
            <a:avLst/>
          </a:prstGeom>
          <a:solidFill>
            <a:srgbClr val="FFC9C9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F</a:t>
            </a:r>
            <a:endParaRPr kumimoji="0" lang="ko-KR" altLang="en-US" sz="7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83" name="직사각형 282">
            <a:extLst>
              <a:ext uri="{FF2B5EF4-FFF2-40B4-BE49-F238E27FC236}">
                <a16:creationId xmlns:a16="http://schemas.microsoft.com/office/drawing/2014/main" id="{8C2C20D8-D479-FD41-7E0C-1458A8E8BD3B}"/>
              </a:ext>
            </a:extLst>
          </p:cNvPr>
          <p:cNvSpPr/>
          <p:nvPr/>
        </p:nvSpPr>
        <p:spPr bwMode="auto">
          <a:xfrm>
            <a:off x="9968173" y="4684521"/>
            <a:ext cx="191664" cy="180000"/>
          </a:xfrm>
          <a:prstGeom prst="rect">
            <a:avLst/>
          </a:prstGeom>
          <a:solidFill>
            <a:srgbClr val="FFC9C9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F</a:t>
            </a:r>
            <a:endParaRPr kumimoji="0" lang="ko-KR" altLang="en-US" sz="7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84" name="직사각형 283">
            <a:extLst>
              <a:ext uri="{FF2B5EF4-FFF2-40B4-BE49-F238E27FC236}">
                <a16:creationId xmlns:a16="http://schemas.microsoft.com/office/drawing/2014/main" id="{C4AC7A26-10FF-54C6-270D-3391BD7A3259}"/>
              </a:ext>
            </a:extLst>
          </p:cNvPr>
          <p:cNvSpPr/>
          <p:nvPr/>
        </p:nvSpPr>
        <p:spPr bwMode="auto">
          <a:xfrm>
            <a:off x="9588872" y="4695858"/>
            <a:ext cx="191664" cy="180000"/>
          </a:xfrm>
          <a:prstGeom prst="rect">
            <a:avLst/>
          </a:prstGeom>
          <a:solidFill>
            <a:srgbClr val="FFFF00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E</a:t>
            </a:r>
            <a:endParaRPr kumimoji="0" lang="ko-KR" altLang="en-US" sz="7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016A3D7-2EFE-B2A3-C015-6BCAB03696B3}"/>
              </a:ext>
            </a:extLst>
          </p:cNvPr>
          <p:cNvSpPr/>
          <p:nvPr/>
        </p:nvSpPr>
        <p:spPr bwMode="auto">
          <a:xfrm>
            <a:off x="678954" y="3230466"/>
            <a:ext cx="191664" cy="180000"/>
          </a:xfrm>
          <a:prstGeom prst="rect">
            <a:avLst/>
          </a:prstGeom>
          <a:solidFill>
            <a:srgbClr val="FFC9C9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F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4E7530C1-C247-3D9E-32F0-DBB6B8580CFE}"/>
              </a:ext>
            </a:extLst>
          </p:cNvPr>
          <p:cNvSpPr/>
          <p:nvPr/>
        </p:nvSpPr>
        <p:spPr bwMode="auto">
          <a:xfrm>
            <a:off x="1084488" y="3230466"/>
            <a:ext cx="191664" cy="180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G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4E554CFF-41FB-6322-A7B1-3B4695BADDEE}"/>
              </a:ext>
            </a:extLst>
          </p:cNvPr>
          <p:cNvSpPr/>
          <p:nvPr/>
        </p:nvSpPr>
        <p:spPr bwMode="auto">
          <a:xfrm>
            <a:off x="1085803" y="4103370"/>
            <a:ext cx="191664" cy="180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D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062E2D2B-56B9-E9EA-77A2-35B409C6C830}"/>
              </a:ext>
            </a:extLst>
          </p:cNvPr>
          <p:cNvSpPr/>
          <p:nvPr/>
        </p:nvSpPr>
        <p:spPr bwMode="auto">
          <a:xfrm>
            <a:off x="1297692" y="4103370"/>
            <a:ext cx="191664" cy="180000"/>
          </a:xfrm>
          <a:prstGeom prst="rect">
            <a:avLst/>
          </a:prstGeom>
          <a:solidFill>
            <a:srgbClr val="FFFF00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E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93B30637-5196-D519-BF75-6626BACE1738}"/>
              </a:ext>
            </a:extLst>
          </p:cNvPr>
          <p:cNvSpPr/>
          <p:nvPr/>
        </p:nvSpPr>
        <p:spPr bwMode="auto">
          <a:xfrm>
            <a:off x="683148" y="4103370"/>
            <a:ext cx="191664" cy="180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D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82" name="직사각형 481">
            <a:extLst>
              <a:ext uri="{FF2B5EF4-FFF2-40B4-BE49-F238E27FC236}">
                <a16:creationId xmlns:a16="http://schemas.microsoft.com/office/drawing/2014/main" id="{21198900-1C3E-D084-4C4F-0D1DEABB8BD6}"/>
              </a:ext>
            </a:extLst>
          </p:cNvPr>
          <p:cNvSpPr/>
          <p:nvPr/>
        </p:nvSpPr>
        <p:spPr bwMode="auto">
          <a:xfrm>
            <a:off x="1295434" y="3229507"/>
            <a:ext cx="191664" cy="180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G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504" name="직사각형 503">
            <a:extLst>
              <a:ext uri="{FF2B5EF4-FFF2-40B4-BE49-F238E27FC236}">
                <a16:creationId xmlns:a16="http://schemas.microsoft.com/office/drawing/2014/main" id="{EADB9B47-C2F2-387E-2BA4-7083AFC09166}"/>
              </a:ext>
            </a:extLst>
          </p:cNvPr>
          <p:cNvSpPr/>
          <p:nvPr/>
        </p:nvSpPr>
        <p:spPr bwMode="auto">
          <a:xfrm>
            <a:off x="470347" y="4103370"/>
            <a:ext cx="191664" cy="180000"/>
          </a:xfrm>
          <a:prstGeom prst="rect">
            <a:avLst/>
          </a:prstGeom>
          <a:solidFill>
            <a:srgbClr val="FFC9C9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F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505" name="직사각형 504">
            <a:extLst>
              <a:ext uri="{FF2B5EF4-FFF2-40B4-BE49-F238E27FC236}">
                <a16:creationId xmlns:a16="http://schemas.microsoft.com/office/drawing/2014/main" id="{A71E1C22-C1FA-4DE1-9022-76DA245C9249}"/>
              </a:ext>
            </a:extLst>
          </p:cNvPr>
          <p:cNvSpPr/>
          <p:nvPr/>
        </p:nvSpPr>
        <p:spPr bwMode="auto">
          <a:xfrm>
            <a:off x="1510286" y="4103370"/>
            <a:ext cx="191664" cy="180000"/>
          </a:xfrm>
          <a:prstGeom prst="rect">
            <a:avLst/>
          </a:prstGeom>
          <a:solidFill>
            <a:srgbClr val="FFFF00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E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534" name="직사각형 533">
            <a:extLst>
              <a:ext uri="{FF2B5EF4-FFF2-40B4-BE49-F238E27FC236}">
                <a16:creationId xmlns:a16="http://schemas.microsoft.com/office/drawing/2014/main" id="{08A2C4EB-4480-FA2E-AD28-9C5631A0A79B}"/>
              </a:ext>
            </a:extLst>
          </p:cNvPr>
          <p:cNvSpPr/>
          <p:nvPr/>
        </p:nvSpPr>
        <p:spPr bwMode="auto">
          <a:xfrm>
            <a:off x="1713708" y="4103370"/>
            <a:ext cx="191664" cy="180000"/>
          </a:xfrm>
          <a:prstGeom prst="rect">
            <a:avLst/>
          </a:prstGeom>
          <a:solidFill>
            <a:srgbClr val="FFC9C9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F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535" name="직사각형 534">
            <a:extLst>
              <a:ext uri="{FF2B5EF4-FFF2-40B4-BE49-F238E27FC236}">
                <a16:creationId xmlns:a16="http://schemas.microsoft.com/office/drawing/2014/main" id="{ED6E5DF1-0D4A-A66F-151E-DA61326B5B76}"/>
              </a:ext>
            </a:extLst>
          </p:cNvPr>
          <p:cNvSpPr/>
          <p:nvPr/>
        </p:nvSpPr>
        <p:spPr bwMode="auto">
          <a:xfrm>
            <a:off x="1908443" y="4103370"/>
            <a:ext cx="191664" cy="180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G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537" name="직사각형 536">
            <a:extLst>
              <a:ext uri="{FF2B5EF4-FFF2-40B4-BE49-F238E27FC236}">
                <a16:creationId xmlns:a16="http://schemas.microsoft.com/office/drawing/2014/main" id="{2B6E6CDE-5950-5A57-F8BF-9A9E975AB4FE}"/>
              </a:ext>
            </a:extLst>
          </p:cNvPr>
          <p:cNvSpPr/>
          <p:nvPr/>
        </p:nvSpPr>
        <p:spPr bwMode="auto">
          <a:xfrm>
            <a:off x="696418" y="4897507"/>
            <a:ext cx="190800" cy="180000"/>
          </a:xfrm>
          <a:prstGeom prst="rect">
            <a:avLst/>
          </a:prstGeom>
          <a:solidFill>
            <a:srgbClr val="FFFF00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E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538" name="직사각형 537">
            <a:extLst>
              <a:ext uri="{FF2B5EF4-FFF2-40B4-BE49-F238E27FC236}">
                <a16:creationId xmlns:a16="http://schemas.microsoft.com/office/drawing/2014/main" id="{1C97CDFD-A65D-E745-6947-91B6C910D0E5}"/>
              </a:ext>
            </a:extLst>
          </p:cNvPr>
          <p:cNvSpPr/>
          <p:nvPr/>
        </p:nvSpPr>
        <p:spPr bwMode="auto">
          <a:xfrm>
            <a:off x="1101680" y="4897507"/>
            <a:ext cx="190800" cy="180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D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539" name="직사각형 538">
            <a:extLst>
              <a:ext uri="{FF2B5EF4-FFF2-40B4-BE49-F238E27FC236}">
                <a16:creationId xmlns:a16="http://schemas.microsoft.com/office/drawing/2014/main" id="{C38535D3-738D-1B5B-D508-6216DFA06043}"/>
              </a:ext>
            </a:extLst>
          </p:cNvPr>
          <p:cNvSpPr/>
          <p:nvPr/>
        </p:nvSpPr>
        <p:spPr bwMode="auto">
          <a:xfrm>
            <a:off x="1304311" y="4897507"/>
            <a:ext cx="190800" cy="180000"/>
          </a:xfrm>
          <a:prstGeom prst="rect">
            <a:avLst/>
          </a:prstGeom>
          <a:solidFill>
            <a:srgbClr val="FFFF00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E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540" name="직사각형 539">
            <a:extLst>
              <a:ext uri="{FF2B5EF4-FFF2-40B4-BE49-F238E27FC236}">
                <a16:creationId xmlns:a16="http://schemas.microsoft.com/office/drawing/2014/main" id="{CF2B9FE3-1D07-B9F8-2CF3-DD14817D2E51}"/>
              </a:ext>
            </a:extLst>
          </p:cNvPr>
          <p:cNvSpPr/>
          <p:nvPr/>
        </p:nvSpPr>
        <p:spPr bwMode="auto">
          <a:xfrm>
            <a:off x="1506942" y="4897507"/>
            <a:ext cx="190800" cy="180000"/>
          </a:xfrm>
          <a:prstGeom prst="rect">
            <a:avLst/>
          </a:prstGeom>
          <a:solidFill>
            <a:srgbClr val="FFC9C9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F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541" name="직사각형 540">
            <a:extLst>
              <a:ext uri="{FF2B5EF4-FFF2-40B4-BE49-F238E27FC236}">
                <a16:creationId xmlns:a16="http://schemas.microsoft.com/office/drawing/2014/main" id="{10A91C30-5365-5E40-8483-8364CBE87BFF}"/>
              </a:ext>
            </a:extLst>
          </p:cNvPr>
          <p:cNvSpPr/>
          <p:nvPr/>
        </p:nvSpPr>
        <p:spPr bwMode="auto">
          <a:xfrm>
            <a:off x="1101680" y="5127150"/>
            <a:ext cx="190800" cy="180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D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542" name="직사각형 541">
            <a:extLst>
              <a:ext uri="{FF2B5EF4-FFF2-40B4-BE49-F238E27FC236}">
                <a16:creationId xmlns:a16="http://schemas.microsoft.com/office/drawing/2014/main" id="{8DB0AACC-30B6-4154-4A9A-FA212E80A39B}"/>
              </a:ext>
            </a:extLst>
          </p:cNvPr>
          <p:cNvSpPr/>
          <p:nvPr/>
        </p:nvSpPr>
        <p:spPr bwMode="auto">
          <a:xfrm>
            <a:off x="1304311" y="5127150"/>
            <a:ext cx="190800" cy="180000"/>
          </a:xfrm>
          <a:prstGeom prst="rect">
            <a:avLst/>
          </a:prstGeom>
          <a:solidFill>
            <a:srgbClr val="FFFF00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E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545" name="직사각형 544">
            <a:extLst>
              <a:ext uri="{FF2B5EF4-FFF2-40B4-BE49-F238E27FC236}">
                <a16:creationId xmlns:a16="http://schemas.microsoft.com/office/drawing/2014/main" id="{6219FB9B-9DE2-C888-0946-50601F08DA7F}"/>
              </a:ext>
            </a:extLst>
          </p:cNvPr>
          <p:cNvSpPr/>
          <p:nvPr/>
        </p:nvSpPr>
        <p:spPr bwMode="auto">
          <a:xfrm>
            <a:off x="1506942" y="5127150"/>
            <a:ext cx="190800" cy="180000"/>
          </a:xfrm>
          <a:prstGeom prst="rect">
            <a:avLst/>
          </a:prstGeom>
          <a:solidFill>
            <a:srgbClr val="FFFF00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E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546" name="직사각형 545">
            <a:extLst>
              <a:ext uri="{FF2B5EF4-FFF2-40B4-BE49-F238E27FC236}">
                <a16:creationId xmlns:a16="http://schemas.microsoft.com/office/drawing/2014/main" id="{66CCC146-D061-E857-E196-AD2305D424CD}"/>
              </a:ext>
            </a:extLst>
          </p:cNvPr>
          <p:cNvSpPr/>
          <p:nvPr/>
        </p:nvSpPr>
        <p:spPr bwMode="auto">
          <a:xfrm>
            <a:off x="1709573" y="5127150"/>
            <a:ext cx="190800" cy="180000"/>
          </a:xfrm>
          <a:prstGeom prst="rect">
            <a:avLst/>
          </a:prstGeom>
          <a:solidFill>
            <a:srgbClr val="FFC9C9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F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547" name="직사각형 546">
            <a:extLst>
              <a:ext uri="{FF2B5EF4-FFF2-40B4-BE49-F238E27FC236}">
                <a16:creationId xmlns:a16="http://schemas.microsoft.com/office/drawing/2014/main" id="{DBE54056-9924-5427-842C-32C065B2C168}"/>
              </a:ext>
            </a:extLst>
          </p:cNvPr>
          <p:cNvSpPr/>
          <p:nvPr/>
        </p:nvSpPr>
        <p:spPr bwMode="auto">
          <a:xfrm>
            <a:off x="696418" y="5127150"/>
            <a:ext cx="190800" cy="180000"/>
          </a:xfrm>
          <a:prstGeom prst="rect">
            <a:avLst/>
          </a:prstGeom>
          <a:solidFill>
            <a:srgbClr val="FFFF00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E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548" name="직사각형 547">
            <a:extLst>
              <a:ext uri="{FF2B5EF4-FFF2-40B4-BE49-F238E27FC236}">
                <a16:creationId xmlns:a16="http://schemas.microsoft.com/office/drawing/2014/main" id="{8BA04803-77B5-1F4A-D412-30FFD52340EE}"/>
              </a:ext>
            </a:extLst>
          </p:cNvPr>
          <p:cNvSpPr/>
          <p:nvPr/>
        </p:nvSpPr>
        <p:spPr bwMode="auto">
          <a:xfrm>
            <a:off x="696418" y="5869269"/>
            <a:ext cx="190800" cy="180000"/>
          </a:xfrm>
          <a:prstGeom prst="rect">
            <a:avLst/>
          </a:prstGeom>
          <a:solidFill>
            <a:srgbClr val="FFC9C9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F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550" name="직사각형 549">
            <a:extLst>
              <a:ext uri="{FF2B5EF4-FFF2-40B4-BE49-F238E27FC236}">
                <a16:creationId xmlns:a16="http://schemas.microsoft.com/office/drawing/2014/main" id="{511F585D-7C94-8BA2-BA03-CFCA315D26E0}"/>
              </a:ext>
            </a:extLst>
          </p:cNvPr>
          <p:cNvSpPr/>
          <p:nvPr/>
        </p:nvSpPr>
        <p:spPr bwMode="auto">
          <a:xfrm>
            <a:off x="1101680" y="5869269"/>
            <a:ext cx="190800" cy="180000"/>
          </a:xfrm>
          <a:prstGeom prst="rect">
            <a:avLst/>
          </a:prstGeom>
          <a:solidFill>
            <a:srgbClr val="FFC9C9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F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551" name="직사각형 550">
            <a:extLst>
              <a:ext uri="{FF2B5EF4-FFF2-40B4-BE49-F238E27FC236}">
                <a16:creationId xmlns:a16="http://schemas.microsoft.com/office/drawing/2014/main" id="{FF6D67CC-C0BB-1854-F7DB-337DF5DFF2B7}"/>
              </a:ext>
            </a:extLst>
          </p:cNvPr>
          <p:cNvSpPr/>
          <p:nvPr/>
        </p:nvSpPr>
        <p:spPr bwMode="auto">
          <a:xfrm>
            <a:off x="1304311" y="5869269"/>
            <a:ext cx="190800" cy="180000"/>
          </a:xfrm>
          <a:prstGeom prst="rect">
            <a:avLst/>
          </a:prstGeom>
          <a:solidFill>
            <a:srgbClr val="FFC9C9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F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552" name="직사각형 551">
            <a:extLst>
              <a:ext uri="{FF2B5EF4-FFF2-40B4-BE49-F238E27FC236}">
                <a16:creationId xmlns:a16="http://schemas.microsoft.com/office/drawing/2014/main" id="{61B3A792-0EAF-66EB-92A4-67EC0F346203}"/>
              </a:ext>
            </a:extLst>
          </p:cNvPr>
          <p:cNvSpPr/>
          <p:nvPr/>
        </p:nvSpPr>
        <p:spPr bwMode="auto">
          <a:xfrm>
            <a:off x="1506942" y="5869269"/>
            <a:ext cx="190800" cy="180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G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553" name="직사각형 552">
            <a:extLst>
              <a:ext uri="{FF2B5EF4-FFF2-40B4-BE49-F238E27FC236}">
                <a16:creationId xmlns:a16="http://schemas.microsoft.com/office/drawing/2014/main" id="{9CDD2B8B-7FBA-6B02-D2A4-BE1DE2B2AC98}"/>
              </a:ext>
            </a:extLst>
          </p:cNvPr>
          <p:cNvSpPr/>
          <p:nvPr/>
        </p:nvSpPr>
        <p:spPr bwMode="auto">
          <a:xfrm>
            <a:off x="1912206" y="5869269"/>
            <a:ext cx="190800" cy="180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G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554" name="직사각형 553">
            <a:extLst>
              <a:ext uri="{FF2B5EF4-FFF2-40B4-BE49-F238E27FC236}">
                <a16:creationId xmlns:a16="http://schemas.microsoft.com/office/drawing/2014/main" id="{9C37A69E-BB8D-8C80-63CE-F5C89092BEA0}"/>
              </a:ext>
            </a:extLst>
          </p:cNvPr>
          <p:cNvSpPr/>
          <p:nvPr/>
        </p:nvSpPr>
        <p:spPr bwMode="auto">
          <a:xfrm>
            <a:off x="1304311" y="6250824"/>
            <a:ext cx="190800" cy="180000"/>
          </a:xfrm>
          <a:prstGeom prst="rect">
            <a:avLst/>
          </a:prstGeom>
          <a:solidFill>
            <a:srgbClr val="FFC9C9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F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555" name="직사각형 554">
            <a:extLst>
              <a:ext uri="{FF2B5EF4-FFF2-40B4-BE49-F238E27FC236}">
                <a16:creationId xmlns:a16="http://schemas.microsoft.com/office/drawing/2014/main" id="{21ACC1F8-C0FD-78A7-971D-7C9A4BC4C794}"/>
              </a:ext>
            </a:extLst>
          </p:cNvPr>
          <p:cNvSpPr/>
          <p:nvPr/>
        </p:nvSpPr>
        <p:spPr bwMode="auto">
          <a:xfrm>
            <a:off x="1506942" y="6250824"/>
            <a:ext cx="190800" cy="180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G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556" name="직사각형 555">
            <a:extLst>
              <a:ext uri="{FF2B5EF4-FFF2-40B4-BE49-F238E27FC236}">
                <a16:creationId xmlns:a16="http://schemas.microsoft.com/office/drawing/2014/main" id="{D8371886-1FB0-58DE-744A-72F9F54F9C8E}"/>
              </a:ext>
            </a:extLst>
          </p:cNvPr>
          <p:cNvSpPr/>
          <p:nvPr/>
        </p:nvSpPr>
        <p:spPr bwMode="auto">
          <a:xfrm>
            <a:off x="1709573" y="6250824"/>
            <a:ext cx="190800" cy="180000"/>
          </a:xfrm>
          <a:prstGeom prst="rect">
            <a:avLst/>
          </a:prstGeom>
          <a:solidFill>
            <a:srgbClr val="FFC9C9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F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557" name="직사각형 556">
            <a:extLst>
              <a:ext uri="{FF2B5EF4-FFF2-40B4-BE49-F238E27FC236}">
                <a16:creationId xmlns:a16="http://schemas.microsoft.com/office/drawing/2014/main" id="{F6DBAF4C-2191-FD8E-10DB-1EA9935981C0}"/>
              </a:ext>
            </a:extLst>
          </p:cNvPr>
          <p:cNvSpPr/>
          <p:nvPr/>
        </p:nvSpPr>
        <p:spPr bwMode="auto">
          <a:xfrm>
            <a:off x="1912206" y="6250824"/>
            <a:ext cx="190800" cy="180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G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4B053A8F-C02E-CE6F-D0BC-E2200C0E0D67}"/>
              </a:ext>
            </a:extLst>
          </p:cNvPr>
          <p:cNvSpPr/>
          <p:nvPr/>
        </p:nvSpPr>
        <p:spPr bwMode="auto">
          <a:xfrm>
            <a:off x="1101680" y="5649669"/>
            <a:ext cx="190800" cy="180000"/>
          </a:xfrm>
          <a:prstGeom prst="rect">
            <a:avLst/>
          </a:prstGeom>
          <a:solidFill>
            <a:srgbClr val="FFFF00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E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36" name="직사각형 135">
            <a:extLst>
              <a:ext uri="{FF2B5EF4-FFF2-40B4-BE49-F238E27FC236}">
                <a16:creationId xmlns:a16="http://schemas.microsoft.com/office/drawing/2014/main" id="{5CA4C5D1-7729-7284-CB51-63C0E74E2853}"/>
              </a:ext>
            </a:extLst>
          </p:cNvPr>
          <p:cNvSpPr/>
          <p:nvPr/>
        </p:nvSpPr>
        <p:spPr bwMode="auto">
          <a:xfrm>
            <a:off x="1304311" y="5649669"/>
            <a:ext cx="190800" cy="180000"/>
          </a:xfrm>
          <a:prstGeom prst="rect">
            <a:avLst/>
          </a:prstGeom>
          <a:solidFill>
            <a:srgbClr val="FFC9C9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F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37" name="직사각형 136">
            <a:extLst>
              <a:ext uri="{FF2B5EF4-FFF2-40B4-BE49-F238E27FC236}">
                <a16:creationId xmlns:a16="http://schemas.microsoft.com/office/drawing/2014/main" id="{B8672DE0-CD9C-1FF8-A6B7-759826834C5A}"/>
              </a:ext>
            </a:extLst>
          </p:cNvPr>
          <p:cNvSpPr/>
          <p:nvPr/>
        </p:nvSpPr>
        <p:spPr bwMode="auto">
          <a:xfrm>
            <a:off x="1506942" y="5649669"/>
            <a:ext cx="190800" cy="180000"/>
          </a:xfrm>
          <a:prstGeom prst="rect">
            <a:avLst/>
          </a:prstGeom>
          <a:solidFill>
            <a:srgbClr val="FFC9C9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F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38" name="직사각형 137">
            <a:extLst>
              <a:ext uri="{FF2B5EF4-FFF2-40B4-BE49-F238E27FC236}">
                <a16:creationId xmlns:a16="http://schemas.microsoft.com/office/drawing/2014/main" id="{B1B0E666-567E-0EC8-2668-4182D9364452}"/>
              </a:ext>
            </a:extLst>
          </p:cNvPr>
          <p:cNvSpPr/>
          <p:nvPr/>
        </p:nvSpPr>
        <p:spPr bwMode="auto">
          <a:xfrm>
            <a:off x="1709573" y="5649669"/>
            <a:ext cx="190800" cy="180000"/>
          </a:xfrm>
          <a:prstGeom prst="rect">
            <a:avLst/>
          </a:prstGeom>
          <a:solidFill>
            <a:srgbClr val="FFC9C9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F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AD510F5C-44A1-C46F-CE3B-FFB34CABADAF}"/>
              </a:ext>
            </a:extLst>
          </p:cNvPr>
          <p:cNvSpPr/>
          <p:nvPr/>
        </p:nvSpPr>
        <p:spPr bwMode="auto">
          <a:xfrm>
            <a:off x="1912206" y="5649669"/>
            <a:ext cx="190800" cy="180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G</a:t>
            </a:r>
            <a:endParaRPr kumimoji="0" lang="ko-KR" altLang="en-US" sz="7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40" name="직사각형 139">
            <a:extLst>
              <a:ext uri="{FF2B5EF4-FFF2-40B4-BE49-F238E27FC236}">
                <a16:creationId xmlns:a16="http://schemas.microsoft.com/office/drawing/2014/main" id="{46AF8353-7B19-8385-506C-18F1A632DB75}"/>
              </a:ext>
            </a:extLst>
          </p:cNvPr>
          <p:cNvSpPr/>
          <p:nvPr/>
        </p:nvSpPr>
        <p:spPr bwMode="auto">
          <a:xfrm>
            <a:off x="1709573" y="5869269"/>
            <a:ext cx="190800" cy="180000"/>
          </a:xfrm>
          <a:prstGeom prst="rect">
            <a:avLst/>
          </a:prstGeom>
          <a:solidFill>
            <a:srgbClr val="FFC9C9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F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42" name="직사각형 141">
            <a:extLst>
              <a:ext uri="{FF2B5EF4-FFF2-40B4-BE49-F238E27FC236}">
                <a16:creationId xmlns:a16="http://schemas.microsoft.com/office/drawing/2014/main" id="{A2037283-9E7A-337C-37BF-592066B4CF81}"/>
              </a:ext>
            </a:extLst>
          </p:cNvPr>
          <p:cNvSpPr/>
          <p:nvPr/>
        </p:nvSpPr>
        <p:spPr bwMode="auto">
          <a:xfrm>
            <a:off x="1709572" y="4897507"/>
            <a:ext cx="190800" cy="180000"/>
          </a:xfrm>
          <a:prstGeom prst="rect">
            <a:avLst/>
          </a:prstGeom>
          <a:solidFill>
            <a:srgbClr val="FFC9C9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F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43" name="직사각형 142">
            <a:extLst>
              <a:ext uri="{FF2B5EF4-FFF2-40B4-BE49-F238E27FC236}">
                <a16:creationId xmlns:a16="http://schemas.microsoft.com/office/drawing/2014/main" id="{5F8C9FCE-740E-D464-CA6C-1F460A3E6C21}"/>
              </a:ext>
            </a:extLst>
          </p:cNvPr>
          <p:cNvSpPr/>
          <p:nvPr/>
        </p:nvSpPr>
        <p:spPr bwMode="auto">
          <a:xfrm>
            <a:off x="1304311" y="5355771"/>
            <a:ext cx="190800" cy="180000"/>
          </a:xfrm>
          <a:prstGeom prst="rect">
            <a:avLst/>
          </a:prstGeom>
          <a:solidFill>
            <a:srgbClr val="FFC9C9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F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44" name="직사각형 143">
            <a:extLst>
              <a:ext uri="{FF2B5EF4-FFF2-40B4-BE49-F238E27FC236}">
                <a16:creationId xmlns:a16="http://schemas.microsoft.com/office/drawing/2014/main" id="{D89BD58F-EB3B-E2BC-9CBB-1FC2CC55B454}"/>
              </a:ext>
            </a:extLst>
          </p:cNvPr>
          <p:cNvSpPr/>
          <p:nvPr/>
        </p:nvSpPr>
        <p:spPr bwMode="auto">
          <a:xfrm>
            <a:off x="1506942" y="5355771"/>
            <a:ext cx="190800" cy="180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G</a:t>
            </a:r>
            <a:endParaRPr kumimoji="0" lang="ko-KR" altLang="en-US" sz="7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45" name="직사각형 144">
            <a:extLst>
              <a:ext uri="{FF2B5EF4-FFF2-40B4-BE49-F238E27FC236}">
                <a16:creationId xmlns:a16="http://schemas.microsoft.com/office/drawing/2014/main" id="{1CD65602-39A3-DB9A-F759-315B5298B9CE}"/>
              </a:ext>
            </a:extLst>
          </p:cNvPr>
          <p:cNvSpPr/>
          <p:nvPr/>
        </p:nvSpPr>
        <p:spPr bwMode="auto">
          <a:xfrm>
            <a:off x="1709573" y="5355771"/>
            <a:ext cx="190800" cy="180000"/>
          </a:xfrm>
          <a:prstGeom prst="rect">
            <a:avLst/>
          </a:prstGeom>
          <a:solidFill>
            <a:srgbClr val="FFC9C9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F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50" name="직사각형 149">
            <a:extLst>
              <a:ext uri="{FF2B5EF4-FFF2-40B4-BE49-F238E27FC236}">
                <a16:creationId xmlns:a16="http://schemas.microsoft.com/office/drawing/2014/main" id="{73AAF116-0BFB-95C7-14CC-D96F409BF78D}"/>
              </a:ext>
            </a:extLst>
          </p:cNvPr>
          <p:cNvSpPr/>
          <p:nvPr/>
        </p:nvSpPr>
        <p:spPr bwMode="auto">
          <a:xfrm>
            <a:off x="1912206" y="5355771"/>
            <a:ext cx="190800" cy="180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G</a:t>
            </a:r>
            <a:endParaRPr kumimoji="0" lang="ko-KR" altLang="en-US" sz="7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80652D05-8342-81A3-0DAA-DDD967960427}"/>
              </a:ext>
            </a:extLst>
          </p:cNvPr>
          <p:cNvSpPr txBox="1"/>
          <p:nvPr/>
        </p:nvSpPr>
        <p:spPr bwMode="auto">
          <a:xfrm>
            <a:off x="1812659" y="3932567"/>
            <a:ext cx="184346" cy="807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0" tIns="0" rIns="0" bIns="0" rtlCol="0" anchor="ctr" anchorCtr="0">
            <a:spAutoFit/>
          </a:bodyPr>
          <a:lstStyle>
            <a:defPPr>
              <a:defRPr lang="ko-KR"/>
            </a:defPPr>
            <a:lvl1pPr marR="0" lvl="0" indent="0" algn="ctr" fontAlgn="base" latinLnBrk="0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 kumimoji="1" sz="750" b="0" i="0" u="none" strike="noStrike" kern="0" cap="none" spc="0" normalizeH="0" baseline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1" lang="en-US" altLang="ko-KR" sz="750" b="0" i="0" u="none" strike="noStrike" kern="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Arial" panose="020B0604020202020204" pitchFamily="34" charset="0"/>
              </a:rPr>
              <a:t>60Hz</a:t>
            </a:r>
          </a:p>
        </p:txBody>
      </p:sp>
      <p:sp>
        <p:nvSpPr>
          <p:cNvPr id="152" name="오른쪽 중괄호 151">
            <a:extLst>
              <a:ext uri="{FF2B5EF4-FFF2-40B4-BE49-F238E27FC236}">
                <a16:creationId xmlns:a16="http://schemas.microsoft.com/office/drawing/2014/main" id="{3D4BAA8E-E10C-DB0A-8F69-F12463120D5A}"/>
              </a:ext>
            </a:extLst>
          </p:cNvPr>
          <p:cNvSpPr/>
          <p:nvPr/>
        </p:nvSpPr>
        <p:spPr>
          <a:xfrm rot="16200000">
            <a:off x="1877399" y="3921828"/>
            <a:ext cx="73585" cy="279531"/>
          </a:xfrm>
          <a:prstGeom prst="rightBrace">
            <a:avLst/>
          </a:prstGeom>
          <a:ln>
            <a:solidFill>
              <a:srgbClr val="00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3" name="직사각형 152">
            <a:extLst>
              <a:ext uri="{FF2B5EF4-FFF2-40B4-BE49-F238E27FC236}">
                <a16:creationId xmlns:a16="http://schemas.microsoft.com/office/drawing/2014/main" id="{8DE0730A-0AB8-F06A-51A8-1193F4D7C442}"/>
              </a:ext>
            </a:extLst>
          </p:cNvPr>
          <p:cNvSpPr/>
          <p:nvPr/>
        </p:nvSpPr>
        <p:spPr bwMode="auto">
          <a:xfrm>
            <a:off x="474140" y="1720364"/>
            <a:ext cx="191664" cy="180000"/>
          </a:xfrm>
          <a:prstGeom prst="rect">
            <a:avLst/>
          </a:prstGeom>
          <a:solidFill>
            <a:srgbClr val="FFC9C9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F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55" name="직사각형 154">
            <a:extLst>
              <a:ext uri="{FF2B5EF4-FFF2-40B4-BE49-F238E27FC236}">
                <a16:creationId xmlns:a16="http://schemas.microsoft.com/office/drawing/2014/main" id="{7B954407-2439-2EF4-08C5-BE15EE74D15F}"/>
              </a:ext>
            </a:extLst>
          </p:cNvPr>
          <p:cNvSpPr/>
          <p:nvPr/>
        </p:nvSpPr>
        <p:spPr bwMode="auto">
          <a:xfrm>
            <a:off x="887117" y="1720364"/>
            <a:ext cx="191664" cy="180000"/>
          </a:xfrm>
          <a:prstGeom prst="rect">
            <a:avLst/>
          </a:prstGeom>
          <a:solidFill>
            <a:srgbClr val="FFFF00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E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56" name="직사각형 155">
            <a:extLst>
              <a:ext uri="{FF2B5EF4-FFF2-40B4-BE49-F238E27FC236}">
                <a16:creationId xmlns:a16="http://schemas.microsoft.com/office/drawing/2014/main" id="{FD2CF2ED-A81E-2275-1B62-E870CE937972}"/>
              </a:ext>
            </a:extLst>
          </p:cNvPr>
          <p:cNvSpPr/>
          <p:nvPr/>
        </p:nvSpPr>
        <p:spPr bwMode="auto">
          <a:xfrm>
            <a:off x="1101329" y="1720364"/>
            <a:ext cx="191664" cy="180000"/>
          </a:xfrm>
          <a:prstGeom prst="rect">
            <a:avLst/>
          </a:prstGeom>
          <a:solidFill>
            <a:srgbClr val="FFFF00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E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57" name="직사각형 156">
            <a:extLst>
              <a:ext uri="{FF2B5EF4-FFF2-40B4-BE49-F238E27FC236}">
                <a16:creationId xmlns:a16="http://schemas.microsoft.com/office/drawing/2014/main" id="{71D90E80-F331-BA54-6010-D028FF62A7C9}"/>
              </a:ext>
            </a:extLst>
          </p:cNvPr>
          <p:cNvSpPr/>
          <p:nvPr/>
        </p:nvSpPr>
        <p:spPr bwMode="auto">
          <a:xfrm>
            <a:off x="1305971" y="1720364"/>
            <a:ext cx="191664" cy="180000"/>
          </a:xfrm>
          <a:prstGeom prst="rect">
            <a:avLst/>
          </a:prstGeom>
          <a:solidFill>
            <a:srgbClr val="FFFF00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E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58" name="직사각형 157">
            <a:extLst>
              <a:ext uri="{FF2B5EF4-FFF2-40B4-BE49-F238E27FC236}">
                <a16:creationId xmlns:a16="http://schemas.microsoft.com/office/drawing/2014/main" id="{BF3F88FE-C054-C5CA-D39A-981CA1DDD322}"/>
              </a:ext>
            </a:extLst>
          </p:cNvPr>
          <p:cNvSpPr/>
          <p:nvPr/>
        </p:nvSpPr>
        <p:spPr bwMode="auto">
          <a:xfrm>
            <a:off x="1511069" y="1720364"/>
            <a:ext cx="191664" cy="180000"/>
          </a:xfrm>
          <a:prstGeom prst="rect">
            <a:avLst/>
          </a:prstGeom>
          <a:solidFill>
            <a:srgbClr val="FFFF00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E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59" name="직사각형 158">
            <a:extLst>
              <a:ext uri="{FF2B5EF4-FFF2-40B4-BE49-F238E27FC236}">
                <a16:creationId xmlns:a16="http://schemas.microsoft.com/office/drawing/2014/main" id="{6AB3EDCF-7A39-188B-4D27-EB73DA974780}"/>
              </a:ext>
            </a:extLst>
          </p:cNvPr>
          <p:cNvSpPr/>
          <p:nvPr/>
        </p:nvSpPr>
        <p:spPr bwMode="auto">
          <a:xfrm>
            <a:off x="884247" y="1943694"/>
            <a:ext cx="191664" cy="180000"/>
          </a:xfrm>
          <a:prstGeom prst="rect">
            <a:avLst/>
          </a:prstGeom>
          <a:solidFill>
            <a:srgbClr val="FFC9C9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F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60" name="직사각형 159">
            <a:extLst>
              <a:ext uri="{FF2B5EF4-FFF2-40B4-BE49-F238E27FC236}">
                <a16:creationId xmlns:a16="http://schemas.microsoft.com/office/drawing/2014/main" id="{51B2C20F-20E5-D835-8483-47B1377BB688}"/>
              </a:ext>
            </a:extLst>
          </p:cNvPr>
          <p:cNvSpPr/>
          <p:nvPr/>
        </p:nvSpPr>
        <p:spPr bwMode="auto">
          <a:xfrm>
            <a:off x="1101329" y="1943694"/>
            <a:ext cx="191664" cy="180000"/>
          </a:xfrm>
          <a:prstGeom prst="rect">
            <a:avLst/>
          </a:prstGeom>
          <a:solidFill>
            <a:srgbClr val="FFC9C9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F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61" name="직사각형 160">
            <a:extLst>
              <a:ext uri="{FF2B5EF4-FFF2-40B4-BE49-F238E27FC236}">
                <a16:creationId xmlns:a16="http://schemas.microsoft.com/office/drawing/2014/main" id="{15028B67-20A3-C0DE-D30B-4A9C23EC6B1F}"/>
              </a:ext>
            </a:extLst>
          </p:cNvPr>
          <p:cNvSpPr/>
          <p:nvPr/>
        </p:nvSpPr>
        <p:spPr bwMode="auto">
          <a:xfrm>
            <a:off x="1305971" y="1950007"/>
            <a:ext cx="191664" cy="180000"/>
          </a:xfrm>
          <a:prstGeom prst="rect">
            <a:avLst/>
          </a:prstGeom>
          <a:solidFill>
            <a:srgbClr val="FFC9C9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F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62" name="직사각형 161">
            <a:extLst>
              <a:ext uri="{FF2B5EF4-FFF2-40B4-BE49-F238E27FC236}">
                <a16:creationId xmlns:a16="http://schemas.microsoft.com/office/drawing/2014/main" id="{2067F7A3-09C5-E1D4-E794-7B1EC51D398F}"/>
              </a:ext>
            </a:extLst>
          </p:cNvPr>
          <p:cNvSpPr/>
          <p:nvPr/>
        </p:nvSpPr>
        <p:spPr bwMode="auto">
          <a:xfrm>
            <a:off x="1511069" y="1943694"/>
            <a:ext cx="191664" cy="180000"/>
          </a:xfrm>
          <a:prstGeom prst="rect">
            <a:avLst/>
          </a:prstGeom>
          <a:solidFill>
            <a:srgbClr val="FFC9C9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F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63" name="직사각형 162">
            <a:extLst>
              <a:ext uri="{FF2B5EF4-FFF2-40B4-BE49-F238E27FC236}">
                <a16:creationId xmlns:a16="http://schemas.microsoft.com/office/drawing/2014/main" id="{8E81469F-FBFF-D753-FCC7-A0F677D6BD90}"/>
              </a:ext>
            </a:extLst>
          </p:cNvPr>
          <p:cNvSpPr/>
          <p:nvPr/>
        </p:nvSpPr>
        <p:spPr bwMode="auto">
          <a:xfrm>
            <a:off x="1711402" y="1943694"/>
            <a:ext cx="191664" cy="180000"/>
          </a:xfrm>
          <a:prstGeom prst="rect">
            <a:avLst/>
          </a:prstGeom>
          <a:solidFill>
            <a:srgbClr val="D9D9D9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G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64" name="직사각형 163">
            <a:extLst>
              <a:ext uri="{FF2B5EF4-FFF2-40B4-BE49-F238E27FC236}">
                <a16:creationId xmlns:a16="http://schemas.microsoft.com/office/drawing/2014/main" id="{7F5A1263-8DF7-63C0-EC85-5F96C3F5FCF2}"/>
              </a:ext>
            </a:extLst>
          </p:cNvPr>
          <p:cNvSpPr/>
          <p:nvPr/>
        </p:nvSpPr>
        <p:spPr bwMode="auto">
          <a:xfrm>
            <a:off x="1915691" y="1942273"/>
            <a:ext cx="191664" cy="182873"/>
          </a:xfrm>
          <a:prstGeom prst="rect">
            <a:avLst/>
          </a:prstGeom>
          <a:solidFill>
            <a:srgbClr val="D9D9D9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G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71" name="직사각형 170">
            <a:extLst>
              <a:ext uri="{FF2B5EF4-FFF2-40B4-BE49-F238E27FC236}">
                <a16:creationId xmlns:a16="http://schemas.microsoft.com/office/drawing/2014/main" id="{88EAC2AB-A659-D50A-27DB-6577519DF2E2}"/>
              </a:ext>
            </a:extLst>
          </p:cNvPr>
          <p:cNvSpPr/>
          <p:nvPr/>
        </p:nvSpPr>
        <p:spPr bwMode="auto">
          <a:xfrm>
            <a:off x="1101329" y="2167025"/>
            <a:ext cx="191664" cy="180000"/>
          </a:xfrm>
          <a:prstGeom prst="rect">
            <a:avLst/>
          </a:prstGeom>
          <a:solidFill>
            <a:srgbClr val="FFC9C9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F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73" name="직사각형 172">
            <a:extLst>
              <a:ext uri="{FF2B5EF4-FFF2-40B4-BE49-F238E27FC236}">
                <a16:creationId xmlns:a16="http://schemas.microsoft.com/office/drawing/2014/main" id="{6916AA9A-F6B3-E314-AFAC-D29A69724146}"/>
              </a:ext>
            </a:extLst>
          </p:cNvPr>
          <p:cNvSpPr/>
          <p:nvPr/>
        </p:nvSpPr>
        <p:spPr bwMode="auto">
          <a:xfrm>
            <a:off x="1305971" y="2167025"/>
            <a:ext cx="191664" cy="180000"/>
          </a:xfrm>
          <a:prstGeom prst="rect">
            <a:avLst/>
          </a:prstGeom>
          <a:solidFill>
            <a:srgbClr val="FFC9C9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F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74" name="직사각형 173">
            <a:extLst>
              <a:ext uri="{FF2B5EF4-FFF2-40B4-BE49-F238E27FC236}">
                <a16:creationId xmlns:a16="http://schemas.microsoft.com/office/drawing/2014/main" id="{59409712-C191-CFE7-3F2E-8C4F74051E1C}"/>
              </a:ext>
            </a:extLst>
          </p:cNvPr>
          <p:cNvSpPr/>
          <p:nvPr/>
        </p:nvSpPr>
        <p:spPr bwMode="auto">
          <a:xfrm>
            <a:off x="1511069" y="2167025"/>
            <a:ext cx="191664" cy="180000"/>
          </a:xfrm>
          <a:prstGeom prst="rect">
            <a:avLst/>
          </a:prstGeom>
          <a:solidFill>
            <a:srgbClr val="FFC9C9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F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77" name="직사각형 176">
            <a:extLst>
              <a:ext uri="{FF2B5EF4-FFF2-40B4-BE49-F238E27FC236}">
                <a16:creationId xmlns:a16="http://schemas.microsoft.com/office/drawing/2014/main" id="{E3ABF626-B3A2-C94E-7B90-C2EA22E82F18}"/>
              </a:ext>
            </a:extLst>
          </p:cNvPr>
          <p:cNvSpPr/>
          <p:nvPr/>
        </p:nvSpPr>
        <p:spPr bwMode="auto">
          <a:xfrm>
            <a:off x="1711402" y="2167025"/>
            <a:ext cx="191664" cy="180000"/>
          </a:xfrm>
          <a:prstGeom prst="rect">
            <a:avLst/>
          </a:prstGeom>
          <a:solidFill>
            <a:srgbClr val="D9D9D9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G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78" name="직사각형 177">
            <a:extLst>
              <a:ext uri="{FF2B5EF4-FFF2-40B4-BE49-F238E27FC236}">
                <a16:creationId xmlns:a16="http://schemas.microsoft.com/office/drawing/2014/main" id="{000E301C-DE3B-FF1B-BFB1-173BC11E19B2}"/>
              </a:ext>
            </a:extLst>
          </p:cNvPr>
          <p:cNvSpPr/>
          <p:nvPr/>
        </p:nvSpPr>
        <p:spPr bwMode="auto">
          <a:xfrm>
            <a:off x="886344" y="2167025"/>
            <a:ext cx="191664" cy="180000"/>
          </a:xfrm>
          <a:prstGeom prst="rect">
            <a:avLst/>
          </a:prstGeom>
          <a:solidFill>
            <a:srgbClr val="FFC9C9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F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79" name="직사각형 178">
            <a:extLst>
              <a:ext uri="{FF2B5EF4-FFF2-40B4-BE49-F238E27FC236}">
                <a16:creationId xmlns:a16="http://schemas.microsoft.com/office/drawing/2014/main" id="{519BFE5F-D7D1-87A9-16F8-2D37E56B8F86}"/>
              </a:ext>
            </a:extLst>
          </p:cNvPr>
          <p:cNvSpPr/>
          <p:nvPr/>
        </p:nvSpPr>
        <p:spPr bwMode="auto">
          <a:xfrm>
            <a:off x="476182" y="1487661"/>
            <a:ext cx="191664" cy="180000"/>
          </a:xfrm>
          <a:prstGeom prst="rect">
            <a:avLst/>
          </a:prstGeom>
          <a:solidFill>
            <a:srgbClr val="D9D9D9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G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80" name="직사각형 179">
            <a:extLst>
              <a:ext uri="{FF2B5EF4-FFF2-40B4-BE49-F238E27FC236}">
                <a16:creationId xmlns:a16="http://schemas.microsoft.com/office/drawing/2014/main" id="{2235E63A-97D7-1E2C-D57E-F4BB5107D315}"/>
              </a:ext>
            </a:extLst>
          </p:cNvPr>
          <p:cNvSpPr/>
          <p:nvPr/>
        </p:nvSpPr>
        <p:spPr bwMode="auto">
          <a:xfrm>
            <a:off x="884247" y="1487661"/>
            <a:ext cx="191664" cy="180000"/>
          </a:xfrm>
          <a:prstGeom prst="rect">
            <a:avLst/>
          </a:prstGeom>
          <a:solidFill>
            <a:srgbClr val="FFC9C9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F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81" name="직사각형 180">
            <a:extLst>
              <a:ext uri="{FF2B5EF4-FFF2-40B4-BE49-F238E27FC236}">
                <a16:creationId xmlns:a16="http://schemas.microsoft.com/office/drawing/2014/main" id="{97769B16-0274-7D6E-FF37-0F591038BE48}"/>
              </a:ext>
            </a:extLst>
          </p:cNvPr>
          <p:cNvSpPr/>
          <p:nvPr/>
        </p:nvSpPr>
        <p:spPr bwMode="auto">
          <a:xfrm>
            <a:off x="1101329" y="1487661"/>
            <a:ext cx="191664" cy="180000"/>
          </a:xfrm>
          <a:prstGeom prst="rect">
            <a:avLst/>
          </a:prstGeom>
          <a:solidFill>
            <a:srgbClr val="FFC9C9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F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82" name="직사각형 181">
            <a:extLst>
              <a:ext uri="{FF2B5EF4-FFF2-40B4-BE49-F238E27FC236}">
                <a16:creationId xmlns:a16="http://schemas.microsoft.com/office/drawing/2014/main" id="{A4856407-4D90-047E-FC41-0FB70A6D1209}"/>
              </a:ext>
            </a:extLst>
          </p:cNvPr>
          <p:cNvSpPr/>
          <p:nvPr/>
        </p:nvSpPr>
        <p:spPr bwMode="auto">
          <a:xfrm>
            <a:off x="1305971" y="1487661"/>
            <a:ext cx="191664" cy="180000"/>
          </a:xfrm>
          <a:prstGeom prst="rect">
            <a:avLst/>
          </a:prstGeom>
          <a:solidFill>
            <a:srgbClr val="D9D9D9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G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83" name="직사각형 182">
            <a:extLst>
              <a:ext uri="{FF2B5EF4-FFF2-40B4-BE49-F238E27FC236}">
                <a16:creationId xmlns:a16="http://schemas.microsoft.com/office/drawing/2014/main" id="{83315A0C-8D1C-C17D-7F20-D10B5C75ED13}"/>
              </a:ext>
            </a:extLst>
          </p:cNvPr>
          <p:cNvSpPr/>
          <p:nvPr/>
        </p:nvSpPr>
        <p:spPr bwMode="auto">
          <a:xfrm>
            <a:off x="1711402" y="1718062"/>
            <a:ext cx="191664" cy="180000"/>
          </a:xfrm>
          <a:prstGeom prst="rect">
            <a:avLst/>
          </a:prstGeom>
          <a:solidFill>
            <a:srgbClr val="FFC9C9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F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84" name="직사각형 183">
            <a:extLst>
              <a:ext uri="{FF2B5EF4-FFF2-40B4-BE49-F238E27FC236}">
                <a16:creationId xmlns:a16="http://schemas.microsoft.com/office/drawing/2014/main" id="{C659EEC0-494F-13FE-0799-367085B09E66}"/>
              </a:ext>
            </a:extLst>
          </p:cNvPr>
          <p:cNvSpPr/>
          <p:nvPr/>
        </p:nvSpPr>
        <p:spPr bwMode="auto">
          <a:xfrm>
            <a:off x="1099963" y="5355771"/>
            <a:ext cx="190800" cy="180000"/>
          </a:xfrm>
          <a:prstGeom prst="rect">
            <a:avLst/>
          </a:prstGeom>
          <a:solidFill>
            <a:srgbClr val="FFC9C9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F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85" name="직사각형 184">
            <a:extLst>
              <a:ext uri="{FF2B5EF4-FFF2-40B4-BE49-F238E27FC236}">
                <a16:creationId xmlns:a16="http://schemas.microsoft.com/office/drawing/2014/main" id="{0C7B1EBF-3FA8-08C8-A901-0AABCD712B29}"/>
              </a:ext>
            </a:extLst>
          </p:cNvPr>
          <p:cNvSpPr/>
          <p:nvPr/>
        </p:nvSpPr>
        <p:spPr bwMode="auto">
          <a:xfrm>
            <a:off x="694701" y="5355771"/>
            <a:ext cx="190800" cy="180000"/>
          </a:xfrm>
          <a:prstGeom prst="rect">
            <a:avLst/>
          </a:prstGeom>
          <a:solidFill>
            <a:srgbClr val="FFC9C9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F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86" name="직사각형 132">
            <a:extLst>
              <a:ext uri="{FF2B5EF4-FFF2-40B4-BE49-F238E27FC236}">
                <a16:creationId xmlns:a16="http://schemas.microsoft.com/office/drawing/2014/main" id="{5061CA1D-1862-6BF9-4EF3-729D42EB5A02}"/>
              </a:ext>
            </a:extLst>
          </p:cNvPr>
          <p:cNvSpPr/>
          <p:nvPr/>
        </p:nvSpPr>
        <p:spPr bwMode="auto">
          <a:xfrm>
            <a:off x="1913838" y="4898520"/>
            <a:ext cx="190800" cy="180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G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87" name="직사각형 133">
            <a:extLst>
              <a:ext uri="{FF2B5EF4-FFF2-40B4-BE49-F238E27FC236}">
                <a16:creationId xmlns:a16="http://schemas.microsoft.com/office/drawing/2014/main" id="{46BEA9B8-D55C-FD7C-5812-AF1AC16180C0}"/>
              </a:ext>
            </a:extLst>
          </p:cNvPr>
          <p:cNvSpPr/>
          <p:nvPr/>
        </p:nvSpPr>
        <p:spPr bwMode="auto">
          <a:xfrm>
            <a:off x="1913838" y="5130212"/>
            <a:ext cx="190800" cy="180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G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655" name="Rectangle 3936">
            <a:extLst>
              <a:ext uri="{FF2B5EF4-FFF2-40B4-BE49-F238E27FC236}">
                <a16:creationId xmlns:a16="http://schemas.microsoft.com/office/drawing/2014/main" id="{517CD638-F0AE-7F46-65ED-CE1BEE499C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43652" y="2369182"/>
            <a:ext cx="390692" cy="176336"/>
          </a:xfrm>
          <a:prstGeom prst="rect">
            <a:avLst/>
          </a:prstGeom>
          <a:noFill/>
          <a:ln w="3175" cap="flat" cmpd="sng" algn="ctr">
            <a:solidFill>
              <a:schemeClr val="tx1"/>
            </a:solidFill>
            <a:prstDash val="solid"/>
          </a:ln>
          <a:effectLst/>
        </p:spPr>
        <p:txBody>
          <a:bodyPr wrap="none" lIns="74286" tIns="37143" rIns="74286" bIns="37143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A85Q</a:t>
            </a:r>
          </a:p>
        </p:txBody>
      </p:sp>
      <p:sp>
        <p:nvSpPr>
          <p:cNvPr id="656" name="직사각형 655">
            <a:extLst>
              <a:ext uri="{FF2B5EF4-FFF2-40B4-BE49-F238E27FC236}">
                <a16:creationId xmlns:a16="http://schemas.microsoft.com/office/drawing/2014/main" id="{6B124E29-FE1E-307E-1DC5-7352FE33269D}"/>
              </a:ext>
            </a:extLst>
          </p:cNvPr>
          <p:cNvSpPr/>
          <p:nvPr/>
        </p:nvSpPr>
        <p:spPr bwMode="auto">
          <a:xfrm>
            <a:off x="9344558" y="2335970"/>
            <a:ext cx="191664" cy="180000"/>
          </a:xfrm>
          <a:prstGeom prst="rect">
            <a:avLst/>
          </a:prstGeom>
          <a:solidFill>
            <a:srgbClr val="D9D9D9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G</a:t>
            </a:r>
            <a:endParaRPr kumimoji="0" lang="ko-KR" altLang="en-US" sz="7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685" name="직사각형 684">
            <a:extLst>
              <a:ext uri="{FF2B5EF4-FFF2-40B4-BE49-F238E27FC236}">
                <a16:creationId xmlns:a16="http://schemas.microsoft.com/office/drawing/2014/main" id="{35CD0B74-1604-7BE7-A9B1-0319CD523372}"/>
              </a:ext>
            </a:extLst>
          </p:cNvPr>
          <p:cNvSpPr/>
          <p:nvPr/>
        </p:nvSpPr>
        <p:spPr bwMode="auto">
          <a:xfrm>
            <a:off x="9547189" y="2335970"/>
            <a:ext cx="191664" cy="180000"/>
          </a:xfrm>
          <a:prstGeom prst="rect">
            <a:avLst/>
          </a:prstGeom>
          <a:solidFill>
            <a:srgbClr val="D9D9D9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G</a:t>
            </a:r>
            <a:endParaRPr kumimoji="0" lang="ko-KR" altLang="en-US" sz="7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81F95169-A643-8806-F5A0-63952E37E616}"/>
              </a:ext>
            </a:extLst>
          </p:cNvPr>
          <p:cNvSpPr/>
          <p:nvPr/>
        </p:nvSpPr>
        <p:spPr bwMode="auto">
          <a:xfrm>
            <a:off x="2659617" y="1674194"/>
            <a:ext cx="191664" cy="180000"/>
          </a:xfrm>
          <a:prstGeom prst="rect">
            <a:avLst/>
          </a:prstGeom>
          <a:solidFill>
            <a:srgbClr val="FFC9C9"/>
          </a:solidFill>
          <a:ln w="3175" cmpd="sng" algn="ctr">
            <a:solidFill>
              <a:srgbClr val="262626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F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E3F21B37-92AE-C4CA-59D3-5BB0C80DB3F9}"/>
              </a:ext>
            </a:extLst>
          </p:cNvPr>
          <p:cNvSpPr/>
          <p:nvPr/>
        </p:nvSpPr>
        <p:spPr bwMode="auto">
          <a:xfrm>
            <a:off x="3048554" y="1674194"/>
            <a:ext cx="191664" cy="180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D</a:t>
            </a:r>
            <a:endParaRPr kumimoji="0" lang="ko-KR" altLang="en-US" sz="7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48" name="직사각형 447">
            <a:extLst>
              <a:ext uri="{FF2B5EF4-FFF2-40B4-BE49-F238E27FC236}">
                <a16:creationId xmlns:a16="http://schemas.microsoft.com/office/drawing/2014/main" id="{76FBE83A-EF31-5125-40F5-3D1D5AF682C3}"/>
              </a:ext>
            </a:extLst>
          </p:cNvPr>
          <p:cNvSpPr/>
          <p:nvPr/>
        </p:nvSpPr>
        <p:spPr bwMode="auto">
          <a:xfrm>
            <a:off x="3251185" y="1674194"/>
            <a:ext cx="191664" cy="180000"/>
          </a:xfrm>
          <a:prstGeom prst="rect">
            <a:avLst/>
          </a:prstGeom>
          <a:solidFill>
            <a:srgbClr val="FFFF00"/>
          </a:solidFill>
          <a:ln w="3175" cmpd="sng" algn="ctr">
            <a:solidFill>
              <a:srgbClr val="262626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E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50" name="직사각형 449">
            <a:extLst>
              <a:ext uri="{FF2B5EF4-FFF2-40B4-BE49-F238E27FC236}">
                <a16:creationId xmlns:a16="http://schemas.microsoft.com/office/drawing/2014/main" id="{826A1F25-BC9F-520B-C3E2-5BD10CE02553}"/>
              </a:ext>
            </a:extLst>
          </p:cNvPr>
          <p:cNvSpPr/>
          <p:nvPr/>
        </p:nvSpPr>
        <p:spPr bwMode="auto">
          <a:xfrm>
            <a:off x="3453816" y="1674194"/>
            <a:ext cx="191664" cy="180000"/>
          </a:xfrm>
          <a:prstGeom prst="rect">
            <a:avLst/>
          </a:prstGeom>
          <a:solidFill>
            <a:srgbClr val="FFFF00"/>
          </a:solidFill>
          <a:ln w="3175" cmpd="sng" algn="ctr">
            <a:solidFill>
              <a:srgbClr val="262626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E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52" name="직사각형 451">
            <a:extLst>
              <a:ext uri="{FF2B5EF4-FFF2-40B4-BE49-F238E27FC236}">
                <a16:creationId xmlns:a16="http://schemas.microsoft.com/office/drawing/2014/main" id="{573D9E6A-5457-F73E-58B7-1BF1042C013F}"/>
              </a:ext>
            </a:extLst>
          </p:cNvPr>
          <p:cNvSpPr/>
          <p:nvPr/>
        </p:nvSpPr>
        <p:spPr bwMode="auto">
          <a:xfrm>
            <a:off x="3656447" y="1674194"/>
            <a:ext cx="191664" cy="180000"/>
          </a:xfrm>
          <a:prstGeom prst="rect">
            <a:avLst/>
          </a:prstGeom>
          <a:solidFill>
            <a:srgbClr val="FFFF00"/>
          </a:solidFill>
          <a:ln w="3175" cmpd="sng" algn="ctr">
            <a:solidFill>
              <a:srgbClr val="262626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E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53" name="직사각형 452">
            <a:extLst>
              <a:ext uri="{FF2B5EF4-FFF2-40B4-BE49-F238E27FC236}">
                <a16:creationId xmlns:a16="http://schemas.microsoft.com/office/drawing/2014/main" id="{9E55CF35-D50F-01E5-72A6-2AF5802D294A}"/>
              </a:ext>
            </a:extLst>
          </p:cNvPr>
          <p:cNvSpPr/>
          <p:nvPr/>
        </p:nvSpPr>
        <p:spPr bwMode="auto">
          <a:xfrm>
            <a:off x="3048554" y="1897524"/>
            <a:ext cx="191664" cy="180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D</a:t>
            </a:r>
            <a:endParaRPr kumimoji="0" lang="ko-KR" altLang="en-US" sz="7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54" name="직사각형 453">
            <a:extLst>
              <a:ext uri="{FF2B5EF4-FFF2-40B4-BE49-F238E27FC236}">
                <a16:creationId xmlns:a16="http://schemas.microsoft.com/office/drawing/2014/main" id="{406F3C2A-8EED-177F-7B28-6F62C15C6F23}"/>
              </a:ext>
            </a:extLst>
          </p:cNvPr>
          <p:cNvSpPr/>
          <p:nvPr/>
        </p:nvSpPr>
        <p:spPr bwMode="auto">
          <a:xfrm>
            <a:off x="3251185" y="1897524"/>
            <a:ext cx="191664" cy="180000"/>
          </a:xfrm>
          <a:prstGeom prst="rect">
            <a:avLst/>
          </a:prstGeom>
          <a:solidFill>
            <a:srgbClr val="FFFF00"/>
          </a:solidFill>
          <a:ln w="3175" cmpd="sng" algn="ctr">
            <a:solidFill>
              <a:srgbClr val="262626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E</a:t>
            </a:r>
            <a:endParaRPr kumimoji="0" lang="ko-KR" altLang="en-US" sz="7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55" name="직사각형 454">
            <a:extLst>
              <a:ext uri="{FF2B5EF4-FFF2-40B4-BE49-F238E27FC236}">
                <a16:creationId xmlns:a16="http://schemas.microsoft.com/office/drawing/2014/main" id="{D3C24C56-338A-1FAF-FE7B-6BF1D3098BA4}"/>
              </a:ext>
            </a:extLst>
          </p:cNvPr>
          <p:cNvSpPr/>
          <p:nvPr/>
        </p:nvSpPr>
        <p:spPr bwMode="auto">
          <a:xfrm>
            <a:off x="3453816" y="1895599"/>
            <a:ext cx="191664" cy="180000"/>
          </a:xfrm>
          <a:prstGeom prst="rect">
            <a:avLst/>
          </a:prstGeom>
          <a:solidFill>
            <a:srgbClr val="FFC9C9"/>
          </a:solidFill>
          <a:ln w="3175" cmpd="sng" algn="ctr">
            <a:solidFill>
              <a:srgbClr val="262626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F</a:t>
            </a:r>
            <a:endParaRPr kumimoji="0" lang="ko-KR" altLang="en-US" sz="7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62" name="직사각형 461">
            <a:extLst>
              <a:ext uri="{FF2B5EF4-FFF2-40B4-BE49-F238E27FC236}">
                <a16:creationId xmlns:a16="http://schemas.microsoft.com/office/drawing/2014/main" id="{DB610D10-C657-39C6-1879-0042BB1C72A1}"/>
              </a:ext>
            </a:extLst>
          </p:cNvPr>
          <p:cNvSpPr/>
          <p:nvPr/>
        </p:nvSpPr>
        <p:spPr bwMode="auto">
          <a:xfrm>
            <a:off x="3656447" y="1897524"/>
            <a:ext cx="191664" cy="180000"/>
          </a:xfrm>
          <a:prstGeom prst="rect">
            <a:avLst/>
          </a:prstGeom>
          <a:solidFill>
            <a:srgbClr val="FFC9C9"/>
          </a:solidFill>
          <a:ln w="3175" cmpd="sng" algn="ctr">
            <a:solidFill>
              <a:srgbClr val="262626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F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64" name="직사각형 463">
            <a:extLst>
              <a:ext uri="{FF2B5EF4-FFF2-40B4-BE49-F238E27FC236}">
                <a16:creationId xmlns:a16="http://schemas.microsoft.com/office/drawing/2014/main" id="{CAABDA26-C9D7-B066-3C5B-448FD04330A2}"/>
              </a:ext>
            </a:extLst>
          </p:cNvPr>
          <p:cNvSpPr/>
          <p:nvPr/>
        </p:nvSpPr>
        <p:spPr bwMode="auto">
          <a:xfrm>
            <a:off x="3859078" y="1897524"/>
            <a:ext cx="191664" cy="183600"/>
          </a:xfrm>
          <a:prstGeom prst="rect">
            <a:avLst/>
          </a:prstGeom>
          <a:solidFill>
            <a:srgbClr val="FFFF00"/>
          </a:solidFill>
          <a:ln w="3175" cmpd="sng" algn="ctr">
            <a:solidFill>
              <a:srgbClr val="262626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E</a:t>
            </a:r>
            <a:endParaRPr kumimoji="0" lang="ko-KR" altLang="en-US" sz="7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65" name="직사각형 464">
            <a:extLst>
              <a:ext uri="{FF2B5EF4-FFF2-40B4-BE49-F238E27FC236}">
                <a16:creationId xmlns:a16="http://schemas.microsoft.com/office/drawing/2014/main" id="{34C5C501-1F85-41C9-69C4-2C902A5F09ED}"/>
              </a:ext>
            </a:extLst>
          </p:cNvPr>
          <p:cNvSpPr/>
          <p:nvPr/>
        </p:nvSpPr>
        <p:spPr bwMode="auto">
          <a:xfrm>
            <a:off x="4070420" y="1897307"/>
            <a:ext cx="191664" cy="180000"/>
          </a:xfrm>
          <a:prstGeom prst="rect">
            <a:avLst/>
          </a:prstGeom>
          <a:solidFill>
            <a:srgbClr val="D9D9D9"/>
          </a:solidFill>
          <a:ln w="3175" cmpd="sng" algn="ctr">
            <a:solidFill>
              <a:srgbClr val="262626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G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68" name="직사각형 467">
            <a:extLst>
              <a:ext uri="{FF2B5EF4-FFF2-40B4-BE49-F238E27FC236}">
                <a16:creationId xmlns:a16="http://schemas.microsoft.com/office/drawing/2014/main" id="{E59355B5-8E13-6FB7-799B-048277A9A35F}"/>
              </a:ext>
            </a:extLst>
          </p:cNvPr>
          <p:cNvSpPr/>
          <p:nvPr/>
        </p:nvSpPr>
        <p:spPr bwMode="auto">
          <a:xfrm>
            <a:off x="3251185" y="2120855"/>
            <a:ext cx="191664" cy="180000"/>
          </a:xfrm>
          <a:prstGeom prst="rect">
            <a:avLst/>
          </a:prstGeom>
          <a:solidFill>
            <a:srgbClr val="FFC9C9"/>
          </a:solidFill>
          <a:ln w="3175" cmpd="sng" algn="ctr">
            <a:solidFill>
              <a:srgbClr val="262626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F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70" name="직사각형 469">
            <a:extLst>
              <a:ext uri="{FF2B5EF4-FFF2-40B4-BE49-F238E27FC236}">
                <a16:creationId xmlns:a16="http://schemas.microsoft.com/office/drawing/2014/main" id="{D451C3C8-C761-F08C-B30F-2C074AFF6FB8}"/>
              </a:ext>
            </a:extLst>
          </p:cNvPr>
          <p:cNvSpPr/>
          <p:nvPr/>
        </p:nvSpPr>
        <p:spPr bwMode="auto">
          <a:xfrm>
            <a:off x="3453816" y="2120855"/>
            <a:ext cx="191664" cy="180000"/>
          </a:xfrm>
          <a:prstGeom prst="rect">
            <a:avLst/>
          </a:prstGeom>
          <a:solidFill>
            <a:srgbClr val="FFC9C9"/>
          </a:solidFill>
          <a:ln w="3175" cmpd="sng" algn="ctr">
            <a:solidFill>
              <a:srgbClr val="262626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F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75" name="직사각형 474">
            <a:extLst>
              <a:ext uri="{FF2B5EF4-FFF2-40B4-BE49-F238E27FC236}">
                <a16:creationId xmlns:a16="http://schemas.microsoft.com/office/drawing/2014/main" id="{7E2B25D1-7FD3-AC21-1BCB-8B0DC73607F1}"/>
              </a:ext>
            </a:extLst>
          </p:cNvPr>
          <p:cNvSpPr/>
          <p:nvPr/>
        </p:nvSpPr>
        <p:spPr bwMode="auto">
          <a:xfrm>
            <a:off x="3656447" y="2120855"/>
            <a:ext cx="191664" cy="180000"/>
          </a:xfrm>
          <a:prstGeom prst="rect">
            <a:avLst/>
          </a:prstGeom>
          <a:solidFill>
            <a:srgbClr val="FFC9C9"/>
          </a:solidFill>
          <a:ln w="3175" cmpd="sng" algn="ctr">
            <a:solidFill>
              <a:srgbClr val="262626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F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506" name="직사각형 505">
            <a:extLst>
              <a:ext uri="{FF2B5EF4-FFF2-40B4-BE49-F238E27FC236}">
                <a16:creationId xmlns:a16="http://schemas.microsoft.com/office/drawing/2014/main" id="{1E16AF44-733A-AEE2-11C1-01E8788D4953}"/>
              </a:ext>
            </a:extLst>
          </p:cNvPr>
          <p:cNvSpPr/>
          <p:nvPr/>
        </p:nvSpPr>
        <p:spPr bwMode="auto">
          <a:xfrm>
            <a:off x="3859078" y="2120855"/>
            <a:ext cx="191664" cy="180000"/>
          </a:xfrm>
          <a:prstGeom prst="rect">
            <a:avLst/>
          </a:prstGeom>
          <a:solidFill>
            <a:srgbClr val="D9D9D9"/>
          </a:solidFill>
          <a:ln w="3175" cmpd="sng" algn="ctr">
            <a:solidFill>
              <a:srgbClr val="262626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G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508" name="직사각형 507">
            <a:extLst>
              <a:ext uri="{FF2B5EF4-FFF2-40B4-BE49-F238E27FC236}">
                <a16:creationId xmlns:a16="http://schemas.microsoft.com/office/drawing/2014/main" id="{80B3F640-B374-AB5B-0738-C7F8E7C663EF}"/>
              </a:ext>
            </a:extLst>
          </p:cNvPr>
          <p:cNvSpPr/>
          <p:nvPr/>
        </p:nvSpPr>
        <p:spPr bwMode="auto">
          <a:xfrm>
            <a:off x="3048554" y="2120855"/>
            <a:ext cx="191664" cy="180000"/>
          </a:xfrm>
          <a:prstGeom prst="rect">
            <a:avLst/>
          </a:prstGeom>
          <a:solidFill>
            <a:srgbClr val="FFC9C9"/>
          </a:solidFill>
          <a:ln w="3175" cmpd="sng" algn="ctr">
            <a:solidFill>
              <a:srgbClr val="262626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F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509" name="직사각형 508">
            <a:extLst>
              <a:ext uri="{FF2B5EF4-FFF2-40B4-BE49-F238E27FC236}">
                <a16:creationId xmlns:a16="http://schemas.microsoft.com/office/drawing/2014/main" id="{DBF2FDA4-1264-16CA-3304-7225105307B8}"/>
              </a:ext>
            </a:extLst>
          </p:cNvPr>
          <p:cNvSpPr/>
          <p:nvPr/>
        </p:nvSpPr>
        <p:spPr bwMode="auto">
          <a:xfrm>
            <a:off x="3048554" y="1441491"/>
            <a:ext cx="191664" cy="180000"/>
          </a:xfrm>
          <a:prstGeom prst="rect">
            <a:avLst/>
          </a:prstGeom>
          <a:solidFill>
            <a:srgbClr val="FFC9C9"/>
          </a:solidFill>
          <a:ln w="3175" cmpd="sng" algn="ctr">
            <a:solidFill>
              <a:srgbClr val="262626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F</a:t>
            </a:r>
            <a:endParaRPr kumimoji="0" lang="ko-KR" altLang="en-US" sz="7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528" name="직사각형 527">
            <a:extLst>
              <a:ext uri="{FF2B5EF4-FFF2-40B4-BE49-F238E27FC236}">
                <a16:creationId xmlns:a16="http://schemas.microsoft.com/office/drawing/2014/main" id="{5C24854A-58C3-4647-3AFD-0CFFB37F1A63}"/>
              </a:ext>
            </a:extLst>
          </p:cNvPr>
          <p:cNvSpPr/>
          <p:nvPr/>
        </p:nvSpPr>
        <p:spPr bwMode="auto">
          <a:xfrm>
            <a:off x="3251185" y="1441491"/>
            <a:ext cx="191664" cy="180000"/>
          </a:xfrm>
          <a:prstGeom prst="rect">
            <a:avLst/>
          </a:prstGeom>
          <a:solidFill>
            <a:srgbClr val="FFC9C9"/>
          </a:solidFill>
          <a:ln w="3175" cmpd="sng" algn="ctr">
            <a:solidFill>
              <a:srgbClr val="262626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F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532" name="직사각형 531">
            <a:extLst>
              <a:ext uri="{FF2B5EF4-FFF2-40B4-BE49-F238E27FC236}">
                <a16:creationId xmlns:a16="http://schemas.microsoft.com/office/drawing/2014/main" id="{FB0E5DAF-A08F-A363-6483-710D7D92885A}"/>
              </a:ext>
            </a:extLst>
          </p:cNvPr>
          <p:cNvSpPr/>
          <p:nvPr/>
        </p:nvSpPr>
        <p:spPr bwMode="auto">
          <a:xfrm>
            <a:off x="3859078" y="1671892"/>
            <a:ext cx="191664" cy="180000"/>
          </a:xfrm>
          <a:prstGeom prst="rect">
            <a:avLst/>
          </a:prstGeom>
          <a:solidFill>
            <a:srgbClr val="FFFF00"/>
          </a:solidFill>
          <a:ln w="3175" cmpd="sng" algn="ctr">
            <a:solidFill>
              <a:srgbClr val="262626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E</a:t>
            </a:r>
            <a:endParaRPr kumimoji="0" lang="ko-KR" altLang="en-US" sz="7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562" name="직사각형 561">
            <a:extLst>
              <a:ext uri="{FF2B5EF4-FFF2-40B4-BE49-F238E27FC236}">
                <a16:creationId xmlns:a16="http://schemas.microsoft.com/office/drawing/2014/main" id="{AA0E680E-7286-D5DE-2CCC-0E8A2ECE974E}"/>
              </a:ext>
            </a:extLst>
          </p:cNvPr>
          <p:cNvSpPr/>
          <p:nvPr/>
        </p:nvSpPr>
        <p:spPr bwMode="auto">
          <a:xfrm>
            <a:off x="3251185" y="2343595"/>
            <a:ext cx="191664" cy="180000"/>
          </a:xfrm>
          <a:prstGeom prst="rect">
            <a:avLst/>
          </a:prstGeom>
          <a:solidFill>
            <a:srgbClr val="FFFF00"/>
          </a:solidFill>
          <a:ln w="3175" cmpd="sng" algn="ctr">
            <a:solidFill>
              <a:srgbClr val="262626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E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563" name="직사각형 562">
            <a:extLst>
              <a:ext uri="{FF2B5EF4-FFF2-40B4-BE49-F238E27FC236}">
                <a16:creationId xmlns:a16="http://schemas.microsoft.com/office/drawing/2014/main" id="{412D7463-560B-4F5D-43AC-9DB508AE0B34}"/>
              </a:ext>
            </a:extLst>
          </p:cNvPr>
          <p:cNvSpPr/>
          <p:nvPr/>
        </p:nvSpPr>
        <p:spPr bwMode="auto">
          <a:xfrm>
            <a:off x="3453816" y="2343595"/>
            <a:ext cx="191664" cy="180000"/>
          </a:xfrm>
          <a:prstGeom prst="rect">
            <a:avLst/>
          </a:prstGeom>
          <a:solidFill>
            <a:srgbClr val="FFFF00"/>
          </a:solidFill>
          <a:ln w="3175" cmpd="sng" algn="ctr">
            <a:solidFill>
              <a:srgbClr val="262626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E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607" name="직사각형 606">
            <a:extLst>
              <a:ext uri="{FF2B5EF4-FFF2-40B4-BE49-F238E27FC236}">
                <a16:creationId xmlns:a16="http://schemas.microsoft.com/office/drawing/2014/main" id="{B9DF9339-FF44-3BC8-D40D-72A1BF848F25}"/>
              </a:ext>
            </a:extLst>
          </p:cNvPr>
          <p:cNvSpPr/>
          <p:nvPr/>
        </p:nvSpPr>
        <p:spPr bwMode="auto">
          <a:xfrm>
            <a:off x="3656447" y="2343595"/>
            <a:ext cx="191664" cy="180000"/>
          </a:xfrm>
          <a:prstGeom prst="rect">
            <a:avLst/>
          </a:prstGeom>
          <a:solidFill>
            <a:srgbClr val="FFC9C9"/>
          </a:solidFill>
          <a:ln w="3175" cmpd="sng" algn="ctr">
            <a:solidFill>
              <a:srgbClr val="262626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F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608" name="직사각형 607">
            <a:extLst>
              <a:ext uri="{FF2B5EF4-FFF2-40B4-BE49-F238E27FC236}">
                <a16:creationId xmlns:a16="http://schemas.microsoft.com/office/drawing/2014/main" id="{F19C8504-95F4-D249-BBF7-720339C60157}"/>
              </a:ext>
            </a:extLst>
          </p:cNvPr>
          <p:cNvSpPr/>
          <p:nvPr/>
        </p:nvSpPr>
        <p:spPr bwMode="auto">
          <a:xfrm>
            <a:off x="3048554" y="2343595"/>
            <a:ext cx="191664" cy="180000"/>
          </a:xfrm>
          <a:prstGeom prst="rect">
            <a:avLst/>
          </a:prstGeom>
          <a:solidFill>
            <a:srgbClr val="FFFF00"/>
          </a:solidFill>
          <a:ln w="3175" cmpd="sng" algn="ctr">
            <a:solidFill>
              <a:srgbClr val="262626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E</a:t>
            </a:r>
            <a:endParaRPr kumimoji="0" lang="ko-KR" altLang="en-US" sz="7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5955140-6B68-D274-FE21-0F6992361F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94923" y="6336871"/>
            <a:ext cx="913823" cy="430788"/>
          </a:xfrm>
          <a:prstGeom prst="rect">
            <a:avLst/>
          </a:prstGeom>
          <a:solidFill>
            <a:srgbClr val="006600"/>
          </a:solidFill>
          <a:ln w="12700" algn="ctr">
            <a:solidFill>
              <a:srgbClr val="006600"/>
            </a:solidFill>
            <a:miter lim="800000"/>
            <a:headEnd/>
            <a:tailEnd/>
          </a:ln>
        </p:spPr>
        <p:txBody>
          <a:bodyPr wrap="none" lIns="91336" tIns="45671" rIns="91336" bIns="45671">
            <a:spAutoFit/>
          </a:bodyPr>
          <a:lstStyle>
            <a:defPPr>
              <a:defRPr lang="ko-KR"/>
            </a:defPPr>
            <a:lvl1pPr marL="342651" indent="-342651" defTabSz="913739" eaLnBrk="0" hangingPunct="0">
              <a:defRPr sz="2000" b="1">
                <a:solidFill>
                  <a:prstClr val="black">
                    <a:lumMod val="95000"/>
                    <a:lumOff val="5000"/>
                  </a:prstClr>
                </a:solidFill>
                <a:latin typeface="Arial Narrow" pitchFamily="34" charset="0"/>
                <a:ea typeface="LG스마트체 Regular" pitchFamily="50" charset="-127"/>
                <a:cs typeface="Arial" pitchFamily="34" charset="0"/>
              </a:defRPr>
            </a:lvl1pPr>
          </a:lstStyle>
          <a:p>
            <a:pPr marL="342651" marR="0" lvl="0" indent="-342651" algn="l" defTabSz="913739" rtl="0" eaLnBrk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100" dirty="0">
                <a:solidFill>
                  <a:srgbClr val="FFFFFF"/>
                </a:solidFill>
                <a:latin typeface="Arial Narrow"/>
              </a:rPr>
              <a:t>월드컵 절기</a:t>
            </a:r>
            <a:endParaRPr lang="en-US" altLang="ko-KR" sz="1100" dirty="0">
              <a:solidFill>
                <a:srgbClr val="FFFFFF"/>
              </a:solidFill>
              <a:latin typeface="Arial Narrow"/>
            </a:endParaRPr>
          </a:p>
          <a:p>
            <a:pPr marL="342651" marR="0" lvl="0" indent="-342651" algn="l" defTabSz="913739" rtl="0" eaLnBrk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/>
                <a:ea typeface="LG스마트체 Regular" pitchFamily="50" charset="-127"/>
                <a:cs typeface="Arial" pitchFamily="34" charset="0"/>
              </a:rPr>
              <a:t>NU83 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/>
                <a:ea typeface="LG스마트체 Regular" pitchFamily="50" charset="-127"/>
                <a:cs typeface="Arial" pitchFamily="34" charset="0"/>
              </a:rPr>
              <a:t>개발 건</a:t>
            </a:r>
            <a:endParaRPr kumimoji="0" lang="en-US" altLang="ko-KR" sz="11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arrow"/>
              <a:ea typeface="LG스마트체 Regular" pitchFamily="50" charset="-127"/>
              <a:cs typeface="Arial" pitchFamily="34" charset="0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F4BFA4F-CB90-F17B-0F22-B84A1A84B427}"/>
              </a:ext>
            </a:extLst>
          </p:cNvPr>
          <p:cNvSpPr/>
          <p:nvPr/>
        </p:nvSpPr>
        <p:spPr bwMode="auto">
          <a:xfrm>
            <a:off x="3883930" y="6249520"/>
            <a:ext cx="190800" cy="180000"/>
          </a:xfrm>
          <a:prstGeom prst="rect">
            <a:avLst/>
          </a:prstGeom>
          <a:solidFill>
            <a:schemeClr val="bg1">
              <a:lumMod val="75000"/>
            </a:schemeClr>
          </a:solidFill>
          <a:ln w="285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G</a:t>
            </a:r>
            <a:endParaRPr kumimoji="0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0" name="Rectangle 3936">
            <a:extLst>
              <a:ext uri="{FF2B5EF4-FFF2-40B4-BE49-F238E27FC236}">
                <a16:creationId xmlns:a16="http://schemas.microsoft.com/office/drawing/2014/main" id="{DC6D9A64-F89F-8C54-8E93-F537CC5E1D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4356" y="6456909"/>
            <a:ext cx="396000" cy="180000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chemeClr val="tx1"/>
            </a:solidFill>
            <a:prstDash val="solid"/>
          </a:ln>
          <a:effectLst/>
        </p:spPr>
        <p:txBody>
          <a:bodyPr wrap="none" lIns="74286" tIns="37143" rIns="74286" bIns="37143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NU8E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B4711599-9AFB-E898-6794-C9C3A1C2AA59}"/>
              </a:ext>
            </a:extLst>
          </p:cNvPr>
          <p:cNvSpPr/>
          <p:nvPr/>
        </p:nvSpPr>
        <p:spPr bwMode="auto">
          <a:xfrm>
            <a:off x="2875158" y="6454783"/>
            <a:ext cx="190800" cy="180000"/>
          </a:xfrm>
          <a:prstGeom prst="rect">
            <a:avLst/>
          </a:prstGeom>
          <a:solidFill>
            <a:srgbClr val="FFFF00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E</a:t>
            </a:r>
            <a:endParaRPr kumimoji="0" lang="en-US" altLang="ko-KR" sz="7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1B96B22D-5046-1541-AE78-DB8C2ACCD6CA}"/>
              </a:ext>
            </a:extLst>
          </p:cNvPr>
          <p:cNvSpPr/>
          <p:nvPr/>
        </p:nvSpPr>
        <p:spPr bwMode="auto">
          <a:xfrm>
            <a:off x="3276343" y="6454783"/>
            <a:ext cx="190800" cy="180000"/>
          </a:xfrm>
          <a:prstGeom prst="rect">
            <a:avLst/>
          </a:prstGeom>
          <a:solidFill>
            <a:srgbClr val="FFFF00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E</a:t>
            </a:r>
            <a:endParaRPr kumimoji="0" lang="en-US" altLang="ko-KR" sz="7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91" name="직사각형 490">
            <a:extLst>
              <a:ext uri="{FF2B5EF4-FFF2-40B4-BE49-F238E27FC236}">
                <a16:creationId xmlns:a16="http://schemas.microsoft.com/office/drawing/2014/main" id="{E890D58B-50F9-76CC-76F9-C1BC9E252209}"/>
              </a:ext>
            </a:extLst>
          </p:cNvPr>
          <p:cNvSpPr/>
          <p:nvPr/>
        </p:nvSpPr>
        <p:spPr bwMode="auto">
          <a:xfrm>
            <a:off x="3467872" y="6454783"/>
            <a:ext cx="190800" cy="180000"/>
          </a:xfrm>
          <a:prstGeom prst="rect">
            <a:avLst/>
          </a:prstGeom>
          <a:solidFill>
            <a:srgbClr val="FFFF00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E</a:t>
            </a:r>
            <a:endParaRPr kumimoji="0" lang="en-US" altLang="ko-KR" sz="7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92" name="직사각형 491">
            <a:extLst>
              <a:ext uri="{FF2B5EF4-FFF2-40B4-BE49-F238E27FC236}">
                <a16:creationId xmlns:a16="http://schemas.microsoft.com/office/drawing/2014/main" id="{3DFA95C5-4B5E-8CB3-25F5-72E1D9908457}"/>
              </a:ext>
            </a:extLst>
          </p:cNvPr>
          <p:cNvSpPr/>
          <p:nvPr/>
        </p:nvSpPr>
        <p:spPr bwMode="auto">
          <a:xfrm>
            <a:off x="3676494" y="6454783"/>
            <a:ext cx="190800" cy="180000"/>
          </a:xfrm>
          <a:prstGeom prst="rect">
            <a:avLst/>
          </a:prstGeom>
          <a:solidFill>
            <a:srgbClr val="FFFF00"/>
          </a:solidFill>
          <a:ln w="31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E</a:t>
            </a:r>
            <a:endParaRPr kumimoji="0" lang="en-US" altLang="ko-KR" sz="7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93" name="직사각형 492">
            <a:extLst>
              <a:ext uri="{FF2B5EF4-FFF2-40B4-BE49-F238E27FC236}">
                <a16:creationId xmlns:a16="http://schemas.microsoft.com/office/drawing/2014/main" id="{04AF1CD4-61A6-4607-DBB3-E2D0CAF5B6A5}"/>
              </a:ext>
            </a:extLst>
          </p:cNvPr>
          <p:cNvSpPr/>
          <p:nvPr/>
        </p:nvSpPr>
        <p:spPr bwMode="auto">
          <a:xfrm>
            <a:off x="3879116" y="6454783"/>
            <a:ext cx="190800" cy="180000"/>
          </a:xfrm>
          <a:prstGeom prst="rect">
            <a:avLst/>
          </a:prstGeom>
          <a:solidFill>
            <a:srgbClr val="FFC9C9"/>
          </a:solidFill>
          <a:ln w="285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F</a:t>
            </a:r>
            <a:endParaRPr kumimoji="0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94" name="직사각형 493">
            <a:extLst>
              <a:ext uri="{FF2B5EF4-FFF2-40B4-BE49-F238E27FC236}">
                <a16:creationId xmlns:a16="http://schemas.microsoft.com/office/drawing/2014/main" id="{F83C57FD-F671-3E9E-8B44-FF08E47CA464}"/>
              </a:ext>
            </a:extLst>
          </p:cNvPr>
          <p:cNvSpPr/>
          <p:nvPr/>
        </p:nvSpPr>
        <p:spPr bwMode="auto">
          <a:xfrm>
            <a:off x="4088448" y="6454783"/>
            <a:ext cx="190800" cy="180000"/>
          </a:xfrm>
          <a:prstGeom prst="rect">
            <a:avLst/>
          </a:prstGeom>
          <a:solidFill>
            <a:srgbClr val="FFC9C9"/>
          </a:solidFill>
          <a:ln w="28575" cmpd="sng" algn="ctr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F</a:t>
            </a:r>
            <a:endParaRPr kumimoji="0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1" name="실행 단추: 앞으로 또는 다음으로 이동 20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021C86C3-B4F2-BB0E-C9AC-CBF3ACAFBB52}"/>
              </a:ext>
            </a:extLst>
          </p:cNvPr>
          <p:cNvSpPr/>
          <p:nvPr/>
        </p:nvSpPr>
        <p:spPr>
          <a:xfrm flipH="1">
            <a:off x="11875755" y="6604005"/>
            <a:ext cx="174171" cy="162773"/>
          </a:xfrm>
          <a:prstGeom prst="actionButtonForwardNext">
            <a:avLst/>
          </a:prstGeom>
          <a:solidFill>
            <a:schemeClr val="bg1">
              <a:lumMod val="85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139420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2998FD-F1F9-EAB5-00A3-E18DB60CA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Text Box 2">
            <a:extLst>
              <a:ext uri="{FF2B5EF4-FFF2-40B4-BE49-F238E27FC236}">
                <a16:creationId xmlns:a16="http://schemas.microsoft.com/office/drawing/2014/main" id="{044C6F7E-8663-1CE0-E4DB-4005C1BD8C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474" y="77822"/>
            <a:ext cx="3856615" cy="4000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91336" tIns="45671" rIns="91336" bIns="45671">
            <a:spAutoFit/>
          </a:bodyPr>
          <a:lstStyle>
            <a:defPPr>
              <a:defRPr lang="ko-KR"/>
            </a:defPPr>
            <a:lvl1pPr marL="342651" indent="-342651" defTabSz="913739" eaLnBrk="0" hangingPunct="0">
              <a:defRPr sz="2000" b="1">
                <a:solidFill>
                  <a:prstClr val="black">
                    <a:lumMod val="95000"/>
                    <a:lumOff val="5000"/>
                  </a:prstClr>
                </a:solidFill>
                <a:latin typeface="Arial Narrow"/>
                <a:ea typeface="LG스마트체 Regular" pitchFamily="50" charset="-127"/>
                <a:cs typeface="Arial" pitchFamily="34" charset="0"/>
              </a:defRPr>
            </a:lvl1pPr>
          </a:lstStyle>
          <a:p>
            <a:pPr marL="342651" marR="0" lvl="0" indent="-342651" algn="l" defTabSz="913739" rtl="0" eaLnBrk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/>
                <a:ea typeface="LG스마트체 Regular" pitchFamily="50" charset="-127"/>
                <a:cs typeface="Arial" pitchFamily="34" charset="0"/>
              </a:rPr>
              <a:t>’26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/>
                <a:ea typeface="LG스마트체 Regular" pitchFamily="50" charset="-127"/>
                <a:cs typeface="Arial" pitchFamily="34" charset="0"/>
              </a:rPr>
              <a:t>년 디자인 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/>
                <a:ea typeface="LG스마트체 Regular" pitchFamily="50" charset="-127"/>
                <a:cs typeface="Arial" pitchFamily="34" charset="0"/>
              </a:rPr>
              <a:t>Color / Stand Variation  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06562347-EA0C-07A1-9603-309CC9440E9C}"/>
              </a:ext>
            </a:extLst>
          </p:cNvPr>
          <p:cNvGraphicFramePr>
            <a:graphicFrameLocks noGrp="1"/>
          </p:cNvGraphicFramePr>
          <p:nvPr/>
        </p:nvGraphicFramePr>
        <p:xfrm>
          <a:off x="228000" y="792480"/>
          <a:ext cx="11736000" cy="5782320"/>
        </p:xfrm>
        <a:graphic>
          <a:graphicData uri="http://schemas.openxmlformats.org/drawingml/2006/table">
            <a:tbl>
              <a:tblPr/>
              <a:tblGrid>
                <a:gridCol w="684000">
                  <a:extLst>
                    <a:ext uri="{9D8B030D-6E8A-4147-A177-3AD203B41FA5}">
                      <a16:colId xmlns:a16="http://schemas.microsoft.com/office/drawing/2014/main" val="3879696720"/>
                    </a:ext>
                  </a:extLst>
                </a:gridCol>
                <a:gridCol w="684000">
                  <a:extLst>
                    <a:ext uri="{9D8B030D-6E8A-4147-A177-3AD203B41FA5}">
                      <a16:colId xmlns:a16="http://schemas.microsoft.com/office/drawing/2014/main" val="2279587811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1280807693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370130732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3842758553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399211276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407499276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856185093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3561338904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1547481673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600740150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688985621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3877170782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4094691819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883850833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680277313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1381153053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999144078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Series</a:t>
                      </a: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DDD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Inch</a:t>
                      </a: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DDD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  <a:cs typeface="+mn-cs"/>
                        </a:rPr>
                        <a:t>1Pole Stand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  <a:cs typeface="+mn-cs"/>
                        </a:rPr>
                        <a:t>2Pole Stand</a:t>
                      </a: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  <a:cs typeface="+mn-cs"/>
                        </a:rPr>
                        <a:t>Front Color</a:t>
                      </a: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2028855"/>
                  </a:ext>
                </a:extLst>
              </a:tr>
              <a:tr h="1620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22Y New </a:t>
                      </a:r>
                      <a:br>
                        <a:rPr 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</a:br>
                      <a:r>
                        <a:rPr 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W/Swivel</a:t>
                      </a:r>
                    </a:p>
                  </a:txBody>
                  <a:tcPr marL="5346" marR="5346" marT="5346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Essence </a:t>
                      </a:r>
                      <a:br>
                        <a:rPr 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</a:br>
                      <a:r>
                        <a:rPr 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Floating</a:t>
                      </a:r>
                    </a:p>
                  </a:txBody>
                  <a:tcPr marL="5346" marR="5346" marT="5346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Edge </a:t>
                      </a:r>
                      <a:br>
                        <a:rPr 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</a:br>
                      <a:r>
                        <a:rPr 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Slope</a:t>
                      </a:r>
                    </a:p>
                  </a:txBody>
                  <a:tcPr marL="5346" marR="5346" marT="5346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Essence </a:t>
                      </a:r>
                      <a:br>
                        <a:rPr 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</a:br>
                      <a:r>
                        <a:rPr 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Square</a:t>
                      </a:r>
                    </a:p>
                  </a:txBody>
                  <a:tcPr marL="5346" marR="5346" marT="5346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Alpine</a:t>
                      </a:r>
                    </a:p>
                  </a:txBody>
                  <a:tcPr marL="5346" marR="5346" marT="5346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Edge </a:t>
                      </a:r>
                      <a:b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</a:b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Plate </a:t>
                      </a:r>
                    </a:p>
                  </a:txBody>
                  <a:tcPr marL="5346" marR="5346" marT="5346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Essence </a:t>
                      </a:r>
                    </a:p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Plate</a:t>
                      </a:r>
                    </a:p>
                  </a:txBody>
                  <a:tcPr marL="5346" marR="5346" marT="5346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Blade</a:t>
                      </a:r>
                    </a:p>
                  </a:txBody>
                  <a:tcPr marL="5346" marR="5346" marT="5346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Slim Metal</a:t>
                      </a:r>
                    </a:p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 Edge </a:t>
                      </a:r>
                    </a:p>
                  </a:txBody>
                  <a:tcPr marL="5346" marR="5346" marT="5346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Warm</a:t>
                      </a:r>
                    </a:p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Silver</a:t>
                      </a:r>
                    </a:p>
                  </a:txBody>
                  <a:tcPr marL="5346" marR="5346" marT="5346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Light</a:t>
                      </a:r>
                    </a:p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Satin Silver</a:t>
                      </a:r>
                    </a:p>
                  </a:txBody>
                  <a:tcPr marL="5346" marR="5346" marT="5346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Satin </a:t>
                      </a:r>
                    </a:p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Silver</a:t>
                      </a:r>
                    </a:p>
                  </a:txBody>
                  <a:tcPr marL="5346" marR="5346" marT="5346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BK</a:t>
                      </a:r>
                    </a:p>
                  </a:txBody>
                  <a:tcPr marL="5346" marR="5346" marT="5346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Dark Titan Silver</a:t>
                      </a:r>
                    </a:p>
                  </a:txBody>
                  <a:tcPr marL="5346" marR="5346" marT="5346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Umber </a:t>
                      </a:r>
                    </a:p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Brown</a:t>
                      </a:r>
                    </a:p>
                  </a:txBody>
                  <a:tcPr marL="5346" marR="5346" marT="5346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Charcoal </a:t>
                      </a:r>
                    </a:p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Black</a:t>
                      </a:r>
                    </a:p>
                  </a:txBody>
                  <a:tcPr marL="5346" marR="5346" marT="5346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97238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W6</a:t>
                      </a: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83/77</a:t>
                      </a: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9"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Wall Mount</a:t>
                      </a:r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4958035"/>
                  </a:ext>
                </a:extLst>
              </a:tr>
              <a:tr h="216000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G6</a:t>
                      </a: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97</a:t>
                      </a: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9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</a:rPr>
                        <a:t>Wall Mount</a:t>
                      </a:r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0134570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83</a:t>
                      </a: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$53.4</a:t>
                      </a:r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2643326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77</a:t>
                      </a: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$53.4</a:t>
                      </a:r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8926910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65/55</a:t>
                      </a: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  <a:cs typeface="+mn-cs"/>
                        </a:rPr>
                        <a:t>$24.7</a:t>
                      </a:r>
                      <a:endParaRPr lang="ko-KR" altLang="en-US" sz="1100" b="1" i="0" u="none" strike="noStrike" kern="12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2138208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48</a:t>
                      </a: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$15.2</a:t>
                      </a:r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1" i="0" u="none" strike="noStrike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8034766"/>
                  </a:ext>
                </a:extLst>
              </a:tr>
              <a:tr h="216000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C6</a:t>
                      </a: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83</a:t>
                      </a: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$30.1</a:t>
                      </a:r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1" i="0" u="none" strike="noStrike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1" i="0" u="none" strike="noStrike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042793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77</a:t>
                      </a: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kern="12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  <a:cs typeface="+mn-cs"/>
                        </a:rPr>
                        <a:t>$18.6</a:t>
                      </a:r>
                      <a:endParaRPr lang="ko-KR" altLang="en-US" sz="1100" b="1" i="0" u="none" strike="noStrike" kern="12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653935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65/55</a:t>
                      </a: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$15.3</a:t>
                      </a:r>
                      <a:endParaRPr lang="ko-KR" altLang="en-US" sz="1100" b="1" i="0" u="none" strike="noStrike" kern="12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1" i="0" u="none" strike="noStrike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8805985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48</a:t>
                      </a: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$15.2</a:t>
                      </a:r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0997279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42</a:t>
                      </a: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$2.0</a:t>
                      </a:r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1" i="0" u="none" strike="noStrike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1" i="0" u="none" strike="noStrike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113487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CS6</a:t>
                      </a: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65/55</a:t>
                      </a: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$4.99</a:t>
                      </a:r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1" i="0" u="none" strike="noStrike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1376264"/>
                  </a:ext>
                </a:extLst>
              </a:tr>
              <a:tr h="216000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B6</a:t>
                      </a: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83</a:t>
                      </a: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$13.7</a:t>
                      </a:r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430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020973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77</a:t>
                      </a: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$2.4</a:t>
                      </a:r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430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46348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65/55/48</a:t>
                      </a: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$2.0</a:t>
                      </a:r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$6.1</a:t>
                      </a:r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0202121"/>
                  </a:ext>
                </a:extLst>
              </a:tr>
              <a:tr h="216000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B6E</a:t>
                      </a: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83</a:t>
                      </a: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$13.7</a:t>
                      </a:r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430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274649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77</a:t>
                      </a: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$3.1</a:t>
                      </a:r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430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0165488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65/55/48</a:t>
                      </a: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$2.4</a:t>
                      </a:r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$6.1</a:t>
                      </a:r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4913984"/>
                  </a:ext>
                </a:extLst>
              </a:tr>
            </a:tbl>
          </a:graphicData>
        </a:graphic>
      </p:graphicFrame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D2C4C674-AA74-1C40-8500-48C1BC438E9E}"/>
              </a:ext>
            </a:extLst>
          </p:cNvPr>
          <p:cNvSpPr/>
          <p:nvPr/>
        </p:nvSpPr>
        <p:spPr>
          <a:xfrm>
            <a:off x="8122734" y="1976845"/>
            <a:ext cx="558000" cy="547200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17A958BB-FFC9-E98F-4B12-227AF36AE016}"/>
              </a:ext>
            </a:extLst>
          </p:cNvPr>
          <p:cNvSpPr/>
          <p:nvPr/>
        </p:nvSpPr>
        <p:spPr>
          <a:xfrm>
            <a:off x="8770070" y="1976845"/>
            <a:ext cx="558000" cy="547200"/>
          </a:xfrm>
          <a:prstGeom prst="round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F6DC5847-EE38-B838-9767-4242F6278209}"/>
              </a:ext>
            </a:extLst>
          </p:cNvPr>
          <p:cNvSpPr/>
          <p:nvPr/>
        </p:nvSpPr>
        <p:spPr>
          <a:xfrm>
            <a:off x="9417406" y="1976845"/>
            <a:ext cx="558000" cy="547200"/>
          </a:xfrm>
          <a:prstGeom prst="roundRect">
            <a:avLst/>
          </a:prstGeom>
          <a:solidFill>
            <a:schemeClr val="tx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F514BB3D-ED44-6C14-3B1F-3869D9CA4C79}"/>
              </a:ext>
            </a:extLst>
          </p:cNvPr>
          <p:cNvSpPr/>
          <p:nvPr/>
        </p:nvSpPr>
        <p:spPr>
          <a:xfrm>
            <a:off x="10064742" y="1976845"/>
            <a:ext cx="558000" cy="547200"/>
          </a:xfrm>
          <a:prstGeom prst="roundRect">
            <a:avLst/>
          </a:prstGeom>
          <a:solidFill>
            <a:srgbClr val="80808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09402CFB-B7B0-A976-7463-88E91D21E514}"/>
              </a:ext>
            </a:extLst>
          </p:cNvPr>
          <p:cNvSpPr/>
          <p:nvPr/>
        </p:nvSpPr>
        <p:spPr>
          <a:xfrm>
            <a:off x="10712078" y="1976845"/>
            <a:ext cx="558000" cy="547200"/>
          </a:xfrm>
          <a:prstGeom prst="roundRect">
            <a:avLst/>
          </a:prstGeom>
          <a:solidFill>
            <a:srgbClr val="94430D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F8F0E797-3D64-3241-52FF-A3308E417CB9}"/>
              </a:ext>
            </a:extLst>
          </p:cNvPr>
          <p:cNvSpPr/>
          <p:nvPr/>
        </p:nvSpPr>
        <p:spPr>
          <a:xfrm>
            <a:off x="11359417" y="1976845"/>
            <a:ext cx="558000" cy="547200"/>
          </a:xfrm>
          <a:prstGeom prst="roundRect">
            <a:avLst/>
          </a:prstGeom>
          <a:solidFill>
            <a:srgbClr val="525252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D7498E02-21D8-3E0E-270D-2A28EEA269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1894" y="1976845"/>
            <a:ext cx="557100" cy="548640"/>
          </a:xfrm>
          <a:prstGeom prst="roundRect">
            <a:avLst>
              <a:gd name="adj" fmla="val 16667"/>
            </a:avLst>
          </a:prstGeom>
          <a:ln w="12700">
            <a:solidFill>
              <a:sysClr val="window" lastClr="FFFFFF">
                <a:lumMod val="50000"/>
              </a:sysClr>
            </a:solidFill>
          </a:ln>
        </p:spPr>
      </p:pic>
      <p:pic>
        <p:nvPicPr>
          <p:cNvPr id="15" name="Picture 2">
            <a:extLst>
              <a:ext uri="{FF2B5EF4-FFF2-40B4-BE49-F238E27FC236}">
                <a16:creationId xmlns:a16="http://schemas.microsoft.com/office/drawing/2014/main" id="{4EED6859-CEF1-3038-D9B1-3A2B9136572C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4128" y="1976844"/>
            <a:ext cx="541912" cy="548640"/>
          </a:xfrm>
          <a:prstGeom prst="roundRect">
            <a:avLst>
              <a:gd name="adj" fmla="val 16667"/>
            </a:avLst>
          </a:prstGeom>
          <a:ln w="12700">
            <a:solidFill>
              <a:sysClr val="window" lastClr="FFFFFF">
                <a:lumMod val="50000"/>
              </a:sys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E76C9CBF-A9C0-3A0C-04B0-FB69A4EAA8AB}"/>
              </a:ext>
            </a:extLst>
          </p:cNvPr>
          <p:cNvPicPr preferRelativeResize="0"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4232366" y="1976844"/>
            <a:ext cx="564216" cy="548640"/>
          </a:xfrm>
          <a:prstGeom prst="roundRect">
            <a:avLst>
              <a:gd name="adj" fmla="val 16667"/>
            </a:avLst>
          </a:prstGeom>
          <a:ln w="12700">
            <a:solidFill>
              <a:sysClr val="window" lastClr="FFFFFF">
                <a:lumMod val="50000"/>
              </a:sysClr>
            </a:solidFill>
          </a:ln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21F2E89F-5747-4591-32FC-CB226319664F}"/>
              </a:ext>
            </a:extLst>
          </p:cNvPr>
          <p:cNvPicPr preferRelativeResize="0"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3571174" y="1976844"/>
            <a:ext cx="566057" cy="548640"/>
          </a:xfrm>
          <a:prstGeom prst="roundRect">
            <a:avLst>
              <a:gd name="adj" fmla="val 16667"/>
            </a:avLst>
          </a:prstGeom>
          <a:ln w="12700">
            <a:solidFill>
              <a:sysClr val="window" lastClr="FFFFFF">
                <a:lumMod val="50000"/>
              </a:sysClr>
            </a:solidFill>
          </a:ln>
        </p:spPr>
      </p:pic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7C809BB5-FC65-F73A-85E5-4E0E4F1DC908}"/>
              </a:ext>
            </a:extLst>
          </p:cNvPr>
          <p:cNvSpPr/>
          <p:nvPr/>
        </p:nvSpPr>
        <p:spPr>
          <a:xfrm>
            <a:off x="7475398" y="1976844"/>
            <a:ext cx="558000" cy="54720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59498340-03BF-C904-3853-573CA26FAC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6800" y="1976844"/>
            <a:ext cx="567255" cy="547200"/>
          </a:xfrm>
          <a:prstGeom prst="roundRect">
            <a:avLst>
              <a:gd name="adj" fmla="val 16667"/>
            </a:avLst>
          </a:prstGeom>
          <a:ln w="12700">
            <a:solidFill>
              <a:sysClr val="window" lastClr="FFFFFF">
                <a:lumMod val="50000"/>
              </a:sysClr>
            </a:solidFill>
          </a:ln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B6540114-3EC6-2074-3318-9AB23A702A01}"/>
              </a:ext>
            </a:extLst>
          </p:cNvPr>
          <p:cNvPicPr preferRelativeResize="0">
            <a:picLocks/>
          </p:cNvPicPr>
          <p:nvPr/>
        </p:nvPicPr>
        <p:blipFill>
          <a:blip r:embed="rId7"/>
          <a:stretch>
            <a:fillRect/>
          </a:stretch>
        </p:blipFill>
        <p:spPr>
          <a:xfrm>
            <a:off x="5524682" y="1976844"/>
            <a:ext cx="567255" cy="547200"/>
          </a:xfrm>
          <a:prstGeom prst="roundRect">
            <a:avLst>
              <a:gd name="adj" fmla="val 16667"/>
            </a:avLst>
          </a:prstGeom>
          <a:ln w="12700">
            <a:solidFill>
              <a:sysClr val="window" lastClr="FFFFFF">
                <a:lumMod val="50000"/>
              </a:sysClr>
            </a:solidFill>
          </a:ln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C6DC8834-2445-D8C7-79E2-32555A8F27AB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8"/>
          <a:srcRect l="22935" t="43564" r="56347" b="38763"/>
          <a:stretch/>
        </p:blipFill>
        <p:spPr>
          <a:xfrm>
            <a:off x="6818670" y="1976844"/>
            <a:ext cx="567255" cy="547200"/>
          </a:xfrm>
          <a:prstGeom prst="roundRect">
            <a:avLst>
              <a:gd name="adj" fmla="val 16667"/>
            </a:avLst>
          </a:prstGeom>
          <a:ln w="12700">
            <a:solidFill>
              <a:sysClr val="window" lastClr="FFFFFF">
                <a:lumMod val="50000"/>
              </a:sysClr>
            </a:solidFill>
          </a:ln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4A676299-67DF-1E21-39CF-6026CC7BFF61}"/>
              </a:ext>
            </a:extLst>
          </p:cNvPr>
          <p:cNvPicPr preferRelativeResize="0">
            <a:picLocks/>
          </p:cNvPicPr>
          <p:nvPr/>
        </p:nvPicPr>
        <p:blipFill>
          <a:blip r:embed="rId9"/>
          <a:stretch>
            <a:fillRect/>
          </a:stretch>
        </p:blipFill>
        <p:spPr>
          <a:xfrm>
            <a:off x="6180864" y="1976844"/>
            <a:ext cx="548333" cy="547200"/>
          </a:xfrm>
          <a:prstGeom prst="roundRect">
            <a:avLst>
              <a:gd name="adj" fmla="val 16667"/>
            </a:avLst>
          </a:prstGeom>
          <a:ln w="12700">
            <a:solidFill>
              <a:sysClr val="window" lastClr="FFFFFF">
                <a:lumMod val="50000"/>
              </a:sysClr>
            </a:solidFill>
          </a:ln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3A6AE361-5576-860D-F8E3-E2A8D706741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50410" y="1976844"/>
            <a:ext cx="536350" cy="547200"/>
          </a:xfrm>
          <a:prstGeom prst="roundRect">
            <a:avLst>
              <a:gd name="adj" fmla="val 16667"/>
            </a:avLst>
          </a:prstGeom>
          <a:ln w="12700">
            <a:solidFill>
              <a:sysClr val="window" lastClr="FFFFFF">
                <a:lumMod val="50000"/>
              </a:sysClr>
            </a:solidFill>
          </a:ln>
        </p:spPr>
      </p:pic>
      <p:sp>
        <p:nvSpPr>
          <p:cNvPr id="24" name="Text Box 2">
            <a:extLst>
              <a:ext uri="{FF2B5EF4-FFF2-40B4-BE49-F238E27FC236}">
                <a16:creationId xmlns:a16="http://schemas.microsoft.com/office/drawing/2014/main" id="{220914B2-4A14-C037-0FD4-5C8A842B1A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14664" y="108599"/>
            <a:ext cx="652534" cy="33845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91336" tIns="45671" rIns="91336" bIns="45671">
            <a:spAutoFit/>
          </a:bodyPr>
          <a:lstStyle>
            <a:defPPr>
              <a:defRPr lang="ko-KR"/>
            </a:defPPr>
            <a:lvl1pPr marL="342651" indent="-342651" defTabSz="913739" eaLnBrk="0" hangingPunct="0">
              <a:defRPr sz="2000" b="1">
                <a:solidFill>
                  <a:prstClr val="black">
                    <a:lumMod val="95000"/>
                    <a:lumOff val="5000"/>
                  </a:prstClr>
                </a:solidFill>
                <a:latin typeface="Arial Narrow"/>
                <a:ea typeface="LG스마트체 Regular" pitchFamily="50" charset="-127"/>
                <a:cs typeface="Arial" pitchFamily="34" charset="0"/>
              </a:defRPr>
            </a:lvl1pPr>
          </a:lstStyle>
          <a:p>
            <a:pPr marL="342651" marR="0" lvl="0" indent="-342651" algn="r" defTabSz="913739" rtl="0" eaLnBrk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/>
                <a:ea typeface="LG스마트체 Regular" pitchFamily="50" charset="-127"/>
                <a:cs typeface="Arial" pitchFamily="34" charset="0"/>
              </a:rPr>
              <a:t>OLED</a:t>
            </a:r>
          </a:p>
        </p:txBody>
      </p:sp>
      <p:sp>
        <p:nvSpPr>
          <p:cNvPr id="3" name="실행 단추: 앞으로 또는 다음으로 이동 2">
            <a:hlinkClick r:id="rId11" action="ppaction://hlinksldjump" highlightClick="1"/>
            <a:extLst>
              <a:ext uri="{FF2B5EF4-FFF2-40B4-BE49-F238E27FC236}">
                <a16:creationId xmlns:a16="http://schemas.microsoft.com/office/drawing/2014/main" id="{F65CB01C-50D7-4338-C337-3CFB016495E2}"/>
              </a:ext>
            </a:extLst>
          </p:cNvPr>
          <p:cNvSpPr/>
          <p:nvPr/>
        </p:nvSpPr>
        <p:spPr>
          <a:xfrm flipH="1">
            <a:off x="11875755" y="6604005"/>
            <a:ext cx="174171" cy="162773"/>
          </a:xfrm>
          <a:prstGeom prst="actionButtonForwardNext">
            <a:avLst/>
          </a:prstGeom>
          <a:solidFill>
            <a:schemeClr val="bg1">
              <a:lumMod val="85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929152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AC153B-4A4C-A393-DF45-C87609CE6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Text Box 2">
            <a:extLst>
              <a:ext uri="{FF2B5EF4-FFF2-40B4-BE49-F238E27FC236}">
                <a16:creationId xmlns:a16="http://schemas.microsoft.com/office/drawing/2014/main" id="{5816B2EE-65B9-14BE-F86D-ACCF92AB0A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474" y="77822"/>
            <a:ext cx="3856615" cy="4000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91336" tIns="45671" rIns="91336" bIns="45671">
            <a:spAutoFit/>
          </a:bodyPr>
          <a:lstStyle>
            <a:defPPr>
              <a:defRPr lang="ko-KR"/>
            </a:defPPr>
            <a:lvl1pPr marL="342651" indent="-342651" defTabSz="913739" eaLnBrk="0" hangingPunct="0">
              <a:defRPr sz="2000" b="1">
                <a:solidFill>
                  <a:prstClr val="black">
                    <a:lumMod val="95000"/>
                    <a:lumOff val="5000"/>
                  </a:prstClr>
                </a:solidFill>
                <a:latin typeface="Arial Narrow"/>
                <a:ea typeface="LG스마트체 Regular" pitchFamily="50" charset="-127"/>
                <a:cs typeface="Arial" pitchFamily="34" charset="0"/>
              </a:defRPr>
            </a:lvl1pPr>
          </a:lstStyle>
          <a:p>
            <a:pPr marL="342651" marR="0" lvl="0" indent="-342651" algn="l" defTabSz="913739" rtl="0" eaLnBrk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/>
                <a:ea typeface="LG스마트체 Regular" pitchFamily="50" charset="-127"/>
                <a:cs typeface="Arial" pitchFamily="34" charset="0"/>
              </a:rPr>
              <a:t>’26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/>
                <a:ea typeface="LG스마트체 Regular" pitchFamily="50" charset="-127"/>
                <a:cs typeface="Arial" pitchFamily="34" charset="0"/>
              </a:rPr>
              <a:t>년 디자인 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/>
                <a:ea typeface="LG스마트체 Regular" pitchFamily="50" charset="-127"/>
                <a:cs typeface="Arial" pitchFamily="34" charset="0"/>
              </a:rPr>
              <a:t>Color / Stand Variation  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9CDF9032-1FFB-5FDF-19C0-61F6A08E7FC0}"/>
              </a:ext>
            </a:extLst>
          </p:cNvPr>
          <p:cNvGraphicFramePr>
            <a:graphicFrameLocks noGrp="1"/>
          </p:cNvGraphicFramePr>
          <p:nvPr/>
        </p:nvGraphicFramePr>
        <p:xfrm>
          <a:off x="228000" y="792480"/>
          <a:ext cx="11736000" cy="5998320"/>
        </p:xfrm>
        <a:graphic>
          <a:graphicData uri="http://schemas.openxmlformats.org/drawingml/2006/table">
            <a:tbl>
              <a:tblPr/>
              <a:tblGrid>
                <a:gridCol w="684000">
                  <a:extLst>
                    <a:ext uri="{9D8B030D-6E8A-4147-A177-3AD203B41FA5}">
                      <a16:colId xmlns:a16="http://schemas.microsoft.com/office/drawing/2014/main" val="3879696720"/>
                    </a:ext>
                  </a:extLst>
                </a:gridCol>
                <a:gridCol w="684000">
                  <a:extLst>
                    <a:ext uri="{9D8B030D-6E8A-4147-A177-3AD203B41FA5}">
                      <a16:colId xmlns:a16="http://schemas.microsoft.com/office/drawing/2014/main" val="2279587811"/>
                    </a:ext>
                  </a:extLst>
                </a:gridCol>
                <a:gridCol w="864000">
                  <a:extLst>
                    <a:ext uri="{9D8B030D-6E8A-4147-A177-3AD203B41FA5}">
                      <a16:colId xmlns:a16="http://schemas.microsoft.com/office/drawing/2014/main" val="1280807693"/>
                    </a:ext>
                  </a:extLst>
                </a:gridCol>
                <a:gridCol w="864000">
                  <a:extLst>
                    <a:ext uri="{9D8B030D-6E8A-4147-A177-3AD203B41FA5}">
                      <a16:colId xmlns:a16="http://schemas.microsoft.com/office/drawing/2014/main" val="12390091"/>
                    </a:ext>
                  </a:extLst>
                </a:gridCol>
                <a:gridCol w="864000">
                  <a:extLst>
                    <a:ext uri="{9D8B030D-6E8A-4147-A177-3AD203B41FA5}">
                      <a16:colId xmlns:a16="http://schemas.microsoft.com/office/drawing/2014/main" val="2399211276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856185093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3561338904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1547481673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600740150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688985621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3877170782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4094691819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883850833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3930979485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680277313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1381153053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999144078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Series</a:t>
                      </a: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DDD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Inch</a:t>
                      </a: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DDD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  <a:cs typeface="+mn-cs"/>
                        </a:rPr>
                        <a:t>1Pole Stand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8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  <a:cs typeface="+mn-cs"/>
                        </a:rPr>
                        <a:t>2Pole Stand</a:t>
                      </a: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Front Color</a:t>
                      </a: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2028855"/>
                  </a:ext>
                </a:extLst>
              </a:tr>
              <a:tr h="1620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ODM</a:t>
                      </a:r>
                    </a:p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1Pole</a:t>
                      </a:r>
                    </a:p>
                  </a:txBody>
                  <a:tcPr marL="5346" marR="5346" marT="5346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</a:rPr>
                        <a:t>Essence </a:t>
                      </a:r>
                      <a:b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</a:rPr>
                      </a:br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</a:rPr>
                        <a:t>Square</a:t>
                      </a:r>
                    </a:p>
                  </a:txBody>
                  <a:tcPr marL="5346" marR="5346" marT="5346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26Y</a:t>
                      </a:r>
                    </a:p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New 1Pole</a:t>
                      </a:r>
                    </a:p>
                  </a:txBody>
                  <a:tcPr marL="5346" marR="5346" marT="5346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Shiny</a:t>
                      </a:r>
                    </a:p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Edge</a:t>
                      </a:r>
                    </a:p>
                  </a:txBody>
                  <a:tcPr marL="5346" marR="5346" marT="5346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Essence </a:t>
                      </a:r>
                    </a:p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Plate</a:t>
                      </a:r>
                    </a:p>
                  </a:txBody>
                  <a:tcPr marL="5346" marR="5346" marT="5346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ODM</a:t>
                      </a:r>
                    </a:p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2Pole</a:t>
                      </a:r>
                    </a:p>
                  </a:txBody>
                  <a:tcPr marL="5346" marR="5346" marT="5346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Die-</a:t>
                      </a:r>
                    </a:p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Casting</a:t>
                      </a:r>
                    </a:p>
                  </a:txBody>
                  <a:tcPr marL="5346" marR="5346" marT="5346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Core</a:t>
                      </a:r>
                    </a:p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Index</a:t>
                      </a:r>
                    </a:p>
                  </a:txBody>
                  <a:tcPr marL="5346" marR="5346" marT="5346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Mold</a:t>
                      </a:r>
                    </a:p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Edge</a:t>
                      </a:r>
                    </a:p>
                  </a:txBody>
                  <a:tcPr marL="5346" marR="5346" marT="5346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Linear</a:t>
                      </a:r>
                    </a:p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Stand</a:t>
                      </a:r>
                    </a:p>
                  </a:txBody>
                  <a:tcPr marL="5346" marR="5346" marT="5346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Semi</a:t>
                      </a:r>
                    </a:p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Linear</a:t>
                      </a:r>
                    </a:p>
                  </a:txBody>
                  <a:tcPr marL="5346" marR="5346" marT="5346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+mn-ea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</a:rPr>
                        <a:t>BK</a:t>
                      </a:r>
                    </a:p>
                  </a:txBody>
                  <a:tcPr marL="5346" marR="5346" marT="5346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Dark Titan Silver</a:t>
                      </a:r>
                    </a:p>
                  </a:txBody>
                  <a:tcPr marL="5346" marR="5346" marT="5346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Ashed</a:t>
                      </a:r>
                    </a:p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Blue</a:t>
                      </a:r>
                    </a:p>
                  </a:txBody>
                  <a:tcPr marL="5346" marR="5346" marT="5346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Charcoal </a:t>
                      </a:r>
                    </a:p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Black</a:t>
                      </a:r>
                    </a:p>
                  </a:txBody>
                  <a:tcPr marL="5346" marR="5346" marT="5346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972384"/>
                  </a:ext>
                </a:extLst>
              </a:tr>
              <a:tr h="21600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MRGB96/95</a:t>
                      </a: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$38.5</a:t>
                      </a:r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$27.2</a:t>
                      </a:r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0134570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pPr algn="ctr" fontAlgn="ctr"/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86/75</a:t>
                      </a: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$29.4</a:t>
                      </a:r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$14.0</a:t>
                      </a:r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$11.6</a:t>
                      </a:r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2643326"/>
                  </a:ext>
                </a:extLst>
              </a:tr>
              <a:tr h="21600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MRGB9M</a:t>
                      </a:r>
                    </a:p>
                  </a:txBody>
                  <a:tcPr marL="5346" marR="5346" marT="5346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86/75</a:t>
                      </a:r>
                    </a:p>
                  </a:txBody>
                  <a:tcPr marL="5346" marR="5346" marT="5346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$30.2</a:t>
                      </a:r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252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8926910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pPr algn="ctr" fontAlgn="ctr"/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65</a:t>
                      </a:r>
                    </a:p>
                  </a:txBody>
                  <a:tcPr marL="5346" marR="5346" marT="5346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$16.3</a:t>
                      </a:r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252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3394063"/>
                  </a:ext>
                </a:extLst>
              </a:tr>
              <a:tr h="216000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MRGB86/85</a:t>
                      </a: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  <a:cs typeface="+mn-cs"/>
                        </a:rPr>
                        <a:t>86</a:t>
                      </a: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$30.8</a:t>
                      </a:r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$11.6</a:t>
                      </a:r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$25.3</a:t>
                      </a:r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252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042793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  <a:cs typeface="+mn-cs"/>
                        </a:rPr>
                        <a:t>75</a:t>
                      </a: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$31.0</a:t>
                      </a:r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$11.6</a:t>
                      </a:r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$25.3</a:t>
                      </a:r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252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09417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  <a:cs typeface="+mn-cs"/>
                        </a:rPr>
                        <a:t>65</a:t>
                      </a: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$18.3</a:t>
                      </a:r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$5.7</a:t>
                      </a:r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$13.0</a:t>
                      </a:r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252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50553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55</a:t>
                      </a: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  <a:cs typeface="+mn-cs"/>
                        </a:rPr>
                        <a:t>$15.3</a:t>
                      </a:r>
                      <a:endParaRPr lang="ko-KR" altLang="en-US" sz="1100" b="1" i="0" u="none" strike="noStrike" kern="12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$5.7</a:t>
                      </a:r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252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653935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50</a:t>
                      </a: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  <a:cs typeface="+mn-cs"/>
                        </a:rPr>
                        <a:t>$15.3</a:t>
                      </a:r>
                      <a:endParaRPr lang="ko-KR" altLang="en-US" sz="1100" b="1" i="0" u="none" strike="noStrike" kern="12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$5.7</a:t>
                      </a:r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252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8484064"/>
                  </a:ext>
                </a:extLst>
              </a:tr>
              <a:tr h="21600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QNED91/90</a:t>
                      </a: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85/75/65/55</a:t>
                      </a: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TBD</a:t>
                      </a:r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TBD</a:t>
                      </a:r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7363917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115</a:t>
                      </a: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</a:rPr>
                        <a:t>TBD</a:t>
                      </a:r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6750609"/>
                  </a:ext>
                </a:extLst>
              </a:tr>
              <a:tr h="216000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QNED86/85</a:t>
                      </a: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  <a:cs typeface="+mn-cs"/>
                        </a:rPr>
                        <a:t>100</a:t>
                      </a: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$38.5</a:t>
                      </a:r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$27.2</a:t>
                      </a:r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47173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  <a:cs typeface="+mn-cs"/>
                        </a:rPr>
                        <a:t>86/75</a:t>
                      </a: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$30.8</a:t>
                      </a:r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$11.6</a:t>
                      </a:r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$25.3</a:t>
                      </a:r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252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6723517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  <a:cs typeface="+mn-cs"/>
                        </a:rPr>
                        <a:t>65/55</a:t>
                      </a: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$15.4</a:t>
                      </a:r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$5.7</a:t>
                      </a:r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$13.0</a:t>
                      </a:r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252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6406197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  <a:cs typeface="+mn-cs"/>
                        </a:rPr>
                        <a:t>50</a:t>
                      </a: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$15.4</a:t>
                      </a:r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$5.7</a:t>
                      </a:r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252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6758662"/>
                  </a:ext>
                </a:extLst>
              </a:tr>
              <a:tr h="216000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QNED83/82</a:t>
                      </a: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85</a:t>
                      </a: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$30.8</a:t>
                      </a:r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$14.0</a:t>
                      </a:r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$7.4</a:t>
                      </a:r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252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219740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75</a:t>
                      </a: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$30.8</a:t>
                      </a:r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$14.0</a:t>
                      </a:r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$2.2</a:t>
                      </a:r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252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75866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65</a:t>
                      </a: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$15.4</a:t>
                      </a:r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$8.6</a:t>
                      </a:r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$1.3</a:t>
                      </a:r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$3.6</a:t>
                      </a:r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$2.4</a:t>
                      </a:r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252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70935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55/50</a:t>
                      </a: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$1.0</a:t>
                      </a:r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$1.3</a:t>
                      </a:r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$1.0</a:t>
                      </a:r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252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494847"/>
                  </a:ext>
                </a:extLst>
              </a:tr>
            </a:tbl>
          </a:graphicData>
        </a:graphic>
      </p:graphicFrame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2F337C20-118C-5FED-CF39-3FA1F29DE1B6}"/>
              </a:ext>
            </a:extLst>
          </p:cNvPr>
          <p:cNvSpPr/>
          <p:nvPr/>
        </p:nvSpPr>
        <p:spPr>
          <a:xfrm>
            <a:off x="9405131" y="1976845"/>
            <a:ext cx="558000" cy="547200"/>
          </a:xfrm>
          <a:prstGeom prst="roundRect">
            <a:avLst/>
          </a:prstGeom>
          <a:solidFill>
            <a:schemeClr val="tx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E676F579-AF70-2415-500E-6E7041E772A1}"/>
              </a:ext>
            </a:extLst>
          </p:cNvPr>
          <p:cNvSpPr/>
          <p:nvPr/>
        </p:nvSpPr>
        <p:spPr>
          <a:xfrm>
            <a:off x="10052467" y="1976845"/>
            <a:ext cx="558000" cy="547200"/>
          </a:xfrm>
          <a:prstGeom prst="roundRect">
            <a:avLst/>
          </a:prstGeom>
          <a:solidFill>
            <a:srgbClr val="80808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6220BE49-11B4-C2FA-C1AD-C777E2F1A977}"/>
              </a:ext>
            </a:extLst>
          </p:cNvPr>
          <p:cNvSpPr/>
          <p:nvPr/>
        </p:nvSpPr>
        <p:spPr>
          <a:xfrm>
            <a:off x="10699803" y="1976845"/>
            <a:ext cx="558000" cy="5472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2A777CFB-489D-FEFE-F3E4-19291F33FBD8}"/>
              </a:ext>
            </a:extLst>
          </p:cNvPr>
          <p:cNvSpPr/>
          <p:nvPr/>
        </p:nvSpPr>
        <p:spPr>
          <a:xfrm>
            <a:off x="11347142" y="1976845"/>
            <a:ext cx="558000" cy="547200"/>
          </a:xfrm>
          <a:prstGeom prst="roundRect">
            <a:avLst/>
          </a:prstGeom>
          <a:solidFill>
            <a:srgbClr val="525252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20F74097-B807-34EC-7CB9-16ADBB971D4F}"/>
              </a:ext>
            </a:extLst>
          </p:cNvPr>
          <p:cNvPicPr preferRelativeResize="0"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2508687" y="1976844"/>
            <a:ext cx="755026" cy="548640"/>
          </a:xfrm>
          <a:prstGeom prst="roundRect">
            <a:avLst>
              <a:gd name="adj" fmla="val 16667"/>
            </a:avLst>
          </a:prstGeom>
          <a:ln w="12700">
            <a:solidFill>
              <a:sysClr val="window" lastClr="FFFFFF">
                <a:lumMod val="50000"/>
              </a:sysClr>
            </a:solidFill>
          </a:ln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CA03BEA0-A1E0-19D3-41AA-FFAFE27F072C}"/>
              </a:ext>
            </a:extLst>
          </p:cNvPr>
          <p:cNvPicPr preferRelativeResize="0"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4888430" y="1976844"/>
            <a:ext cx="567255" cy="547200"/>
          </a:xfrm>
          <a:prstGeom prst="roundRect">
            <a:avLst>
              <a:gd name="adj" fmla="val 16667"/>
            </a:avLst>
          </a:prstGeom>
          <a:ln w="12700">
            <a:solidFill>
              <a:sysClr val="window" lastClr="FFFFFF">
                <a:lumMod val="50000"/>
              </a:sysClr>
            </a:solidFill>
          </a:ln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8BD4097B-B789-C3B2-97F6-3B98D6647373}"/>
              </a:ext>
            </a:extLst>
          </p:cNvPr>
          <p:cNvPicPr preferRelativeResize="0"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5560915" y="1975403"/>
            <a:ext cx="532030" cy="548639"/>
          </a:xfrm>
          <a:prstGeom prst="roundRect">
            <a:avLst>
              <a:gd name="adj" fmla="val 16667"/>
            </a:avLst>
          </a:prstGeom>
          <a:ln w="12700">
            <a:solidFill>
              <a:sysClr val="window" lastClr="FFFFFF">
                <a:lumMod val="50000"/>
              </a:sysClr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8B7A092C-14C7-E933-C509-C270AC7049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50822" y="1975403"/>
            <a:ext cx="755026" cy="547200"/>
          </a:xfrm>
          <a:prstGeom prst="roundRect">
            <a:avLst>
              <a:gd name="adj" fmla="val 16667"/>
            </a:avLst>
          </a:prstGeom>
          <a:ln w="12700">
            <a:solidFill>
              <a:sysClr val="window" lastClr="FFFFFF">
                <a:lumMod val="50000"/>
              </a:sysClr>
            </a:solidFill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84F69B15-267C-E749-7FBD-711BE226A477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6"/>
          <a:srcRect l="10044" t="31948" r="64441" b="26109"/>
          <a:stretch/>
        </p:blipFill>
        <p:spPr>
          <a:xfrm>
            <a:off x="4249997" y="1975403"/>
            <a:ext cx="541912" cy="547200"/>
          </a:xfrm>
          <a:prstGeom prst="roundRect">
            <a:avLst>
              <a:gd name="adj" fmla="val 16667"/>
            </a:avLst>
          </a:prstGeom>
          <a:ln w="12700">
            <a:solidFill>
              <a:sysClr val="window" lastClr="FFFFFF">
                <a:lumMod val="50000"/>
              </a:sysClr>
            </a:solidFill>
          </a:ln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A909F9BE-1E04-1EE2-0925-99AE1D133CED}"/>
              </a:ext>
            </a:extLst>
          </p:cNvPr>
          <p:cNvPicPr preferRelativeResize="0">
            <a:picLocks/>
          </p:cNvPicPr>
          <p:nvPr/>
        </p:nvPicPr>
        <p:blipFill>
          <a:blip r:embed="rId7"/>
          <a:stretch>
            <a:fillRect/>
          </a:stretch>
        </p:blipFill>
        <p:spPr>
          <a:xfrm>
            <a:off x="6199363" y="1975403"/>
            <a:ext cx="532029" cy="547200"/>
          </a:xfrm>
          <a:prstGeom prst="roundRect">
            <a:avLst>
              <a:gd name="adj" fmla="val 16667"/>
            </a:avLst>
          </a:prstGeom>
          <a:ln w="12700">
            <a:solidFill>
              <a:sysClr val="window" lastClr="FFFFFF">
                <a:lumMod val="50000"/>
              </a:sysClr>
            </a:solidFill>
          </a:ln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0253659B-1E2C-E33D-E54D-7626090C01A0}"/>
              </a:ext>
            </a:extLst>
          </p:cNvPr>
          <p:cNvPicPr preferRelativeResize="0">
            <a:picLocks/>
          </p:cNvPicPr>
          <p:nvPr/>
        </p:nvPicPr>
        <p:blipFill>
          <a:blip r:embed="rId8"/>
          <a:stretch>
            <a:fillRect/>
          </a:stretch>
        </p:blipFill>
        <p:spPr>
          <a:xfrm>
            <a:off x="6861951" y="1975403"/>
            <a:ext cx="532028" cy="547200"/>
          </a:xfrm>
          <a:prstGeom prst="roundRect">
            <a:avLst>
              <a:gd name="adj" fmla="val 16667"/>
            </a:avLst>
          </a:prstGeom>
          <a:ln w="12700">
            <a:solidFill>
              <a:sysClr val="window" lastClr="FFFFFF">
                <a:lumMod val="50000"/>
              </a:sysClr>
            </a:solidFill>
          </a:ln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F9FE0B3D-7A09-CCD0-D604-17717485D8BE}"/>
              </a:ext>
            </a:extLst>
          </p:cNvPr>
          <p:cNvPicPr preferRelativeResize="0">
            <a:picLocks/>
          </p:cNvPicPr>
          <p:nvPr/>
        </p:nvPicPr>
        <p:blipFill>
          <a:blip r:embed="rId9"/>
          <a:stretch>
            <a:fillRect/>
          </a:stretch>
        </p:blipFill>
        <p:spPr>
          <a:xfrm>
            <a:off x="7490045" y="1975403"/>
            <a:ext cx="554433" cy="547200"/>
          </a:xfrm>
          <a:prstGeom prst="roundRect">
            <a:avLst>
              <a:gd name="adj" fmla="val 16667"/>
            </a:avLst>
          </a:prstGeom>
          <a:ln w="12700">
            <a:solidFill>
              <a:sysClr val="window" lastClr="FFFFFF">
                <a:lumMod val="50000"/>
              </a:sysClr>
            </a:solidFill>
          </a:ln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74D84587-DD89-69B0-8189-D82B79B5BF3F}"/>
              </a:ext>
            </a:extLst>
          </p:cNvPr>
          <p:cNvPicPr preferRelativeResize="0">
            <a:picLocks/>
          </p:cNvPicPr>
          <p:nvPr/>
        </p:nvPicPr>
        <p:blipFill>
          <a:blip r:embed="rId10"/>
          <a:stretch>
            <a:fillRect/>
          </a:stretch>
        </p:blipFill>
        <p:spPr>
          <a:xfrm>
            <a:off x="8143893" y="1975403"/>
            <a:ext cx="547921" cy="547200"/>
          </a:xfrm>
          <a:prstGeom prst="roundRect">
            <a:avLst>
              <a:gd name="adj" fmla="val 16667"/>
            </a:avLst>
          </a:prstGeom>
          <a:ln w="12700">
            <a:solidFill>
              <a:sysClr val="window" lastClr="FFFFFF">
                <a:lumMod val="50000"/>
              </a:sysClr>
            </a:solidFill>
          </a:ln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53F8D1B3-C80F-4E48-41F9-D9709F2905C8}"/>
              </a:ext>
            </a:extLst>
          </p:cNvPr>
          <p:cNvPicPr preferRelativeResize="0">
            <a:picLocks/>
          </p:cNvPicPr>
          <p:nvPr/>
        </p:nvPicPr>
        <p:blipFill>
          <a:blip r:embed="rId11"/>
          <a:stretch>
            <a:fillRect/>
          </a:stretch>
        </p:blipFill>
        <p:spPr>
          <a:xfrm>
            <a:off x="8763340" y="1975402"/>
            <a:ext cx="557999" cy="547199"/>
          </a:xfrm>
          <a:prstGeom prst="roundRect">
            <a:avLst>
              <a:gd name="adj" fmla="val 16667"/>
            </a:avLst>
          </a:prstGeom>
          <a:ln w="12700">
            <a:solidFill>
              <a:sysClr val="window" lastClr="FFFFFF">
                <a:lumMod val="50000"/>
              </a:sysClr>
            </a:solidFill>
          </a:ln>
        </p:spPr>
      </p:pic>
      <p:sp>
        <p:nvSpPr>
          <p:cNvPr id="27" name="Text Box 2">
            <a:extLst>
              <a:ext uri="{FF2B5EF4-FFF2-40B4-BE49-F238E27FC236}">
                <a16:creationId xmlns:a16="http://schemas.microsoft.com/office/drawing/2014/main" id="{C79F9788-F67A-66ED-D5DE-A5E31ED095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41403" y="108599"/>
            <a:ext cx="1325795" cy="33845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91336" tIns="45671" rIns="91336" bIns="45671">
            <a:spAutoFit/>
          </a:bodyPr>
          <a:lstStyle>
            <a:defPPr>
              <a:defRPr lang="ko-KR"/>
            </a:defPPr>
            <a:lvl1pPr marL="342651" indent="-342651" defTabSz="913739" eaLnBrk="0" hangingPunct="0">
              <a:defRPr sz="2000" b="1">
                <a:solidFill>
                  <a:prstClr val="black">
                    <a:lumMod val="95000"/>
                    <a:lumOff val="5000"/>
                  </a:prstClr>
                </a:solidFill>
                <a:latin typeface="Arial Narrow"/>
                <a:ea typeface="LG스마트체 Regular" pitchFamily="50" charset="-127"/>
                <a:cs typeface="Arial" pitchFamily="34" charset="0"/>
              </a:defRPr>
            </a:lvl1pPr>
          </a:lstStyle>
          <a:p>
            <a:pPr marL="342651" marR="0" lvl="0" indent="-342651" algn="r" defTabSz="913739" rtl="0" eaLnBrk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/>
                <a:ea typeface="LG스마트체 Regular" pitchFamily="50" charset="-127"/>
                <a:cs typeface="Arial" pitchFamily="34" charset="0"/>
              </a:rPr>
              <a:t>MRGB / QNED</a:t>
            </a:r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9B7F3E7A-A043-35EE-C6AE-16051A3D3F1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366552" y="1975402"/>
            <a:ext cx="776919" cy="547199"/>
          </a:xfrm>
          <a:prstGeom prst="roundRect">
            <a:avLst>
              <a:gd name="adj" fmla="val 16667"/>
            </a:avLst>
          </a:prstGeom>
          <a:ln w="12700">
            <a:solidFill>
              <a:sysClr val="window" lastClr="FFFFFF">
                <a:lumMod val="50000"/>
              </a:sysClr>
            </a:solidFill>
          </a:ln>
        </p:spPr>
      </p:pic>
      <p:sp>
        <p:nvSpPr>
          <p:cNvPr id="2" name="Text Box 2">
            <a:extLst>
              <a:ext uri="{FF2B5EF4-FFF2-40B4-BE49-F238E27FC236}">
                <a16:creationId xmlns:a16="http://schemas.microsoft.com/office/drawing/2014/main" id="{E09B0124-E671-6A70-063F-285DF83CD8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9558" y="4904918"/>
            <a:ext cx="1566991" cy="108000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wrap="none" lIns="0" tIns="45671" rIns="91336" bIns="45671" anchor="ctr" anchorCtr="0">
            <a:spAutoFit/>
          </a:bodyPr>
          <a:lstStyle>
            <a:defPPr>
              <a:defRPr lang="ko-KR"/>
            </a:defPPr>
            <a:lvl1pPr marL="342651" indent="-342651" defTabSz="913739" eaLnBrk="0" hangingPunct="0">
              <a:defRPr sz="2000" b="1">
                <a:solidFill>
                  <a:prstClr val="black">
                    <a:lumMod val="95000"/>
                    <a:lumOff val="5000"/>
                  </a:prstClr>
                </a:solidFill>
                <a:latin typeface="Arial Narrow"/>
                <a:ea typeface="LG스마트체 Regular" pitchFamily="50" charset="-127"/>
                <a:cs typeface="Arial" pitchFamily="34" charset="0"/>
              </a:defRPr>
            </a:lvl1pPr>
          </a:lstStyle>
          <a:p>
            <a:pPr marL="342651" marR="0" lvl="0" indent="-342651" algn="l" defTabSz="913739" rtl="0" eaLnBrk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itchFamily="50" charset="-127"/>
                <a:cs typeface="Arial" pitchFamily="34" charset="0"/>
              </a:rPr>
              <a:t>※ ’26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itchFamily="50" charset="-127"/>
                <a:cs typeface="Arial" pitchFamily="34" charset="0"/>
              </a:rPr>
              <a:t>년 신규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 pitchFamily="50" charset="-127"/>
                <a:cs typeface="Arial" pitchFamily="34" charset="0"/>
              </a:rPr>
              <a:t>Essence Plate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4E23D4-6838-E234-7F0A-6755E0CA2446}"/>
              </a:ext>
            </a:extLst>
          </p:cNvPr>
          <p:cNvSpPr txBox="1"/>
          <p:nvPr/>
        </p:nvSpPr>
        <p:spPr>
          <a:xfrm>
            <a:off x="2797999" y="4564439"/>
            <a:ext cx="1265090" cy="553998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※ 1Pole 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85” $31.04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75”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$19.24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65” $15.79 / 55” $14.45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E4CFE6-0964-228C-B6A1-E8A79C063E84}"/>
              </a:ext>
            </a:extLst>
          </p:cNvPr>
          <p:cNvSpPr txBox="1"/>
          <p:nvPr/>
        </p:nvSpPr>
        <p:spPr>
          <a:xfrm>
            <a:off x="6945369" y="4564439"/>
            <a:ext cx="1790875" cy="553998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※ 2Pole (ODM)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115” $51.67 / 85” $8.97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75”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$4.66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65” $3.03 / 55” $4.09</a:t>
            </a:r>
          </a:p>
        </p:txBody>
      </p:sp>
      <p:sp>
        <p:nvSpPr>
          <p:cNvPr id="7" name="실행 단추: 앞으로 또는 다음으로 이동 6">
            <a:hlinkClick r:id="rId13" action="ppaction://hlinksldjump" highlightClick="1"/>
            <a:extLst>
              <a:ext uri="{FF2B5EF4-FFF2-40B4-BE49-F238E27FC236}">
                <a16:creationId xmlns:a16="http://schemas.microsoft.com/office/drawing/2014/main" id="{0AEB6DEB-8573-8090-5A64-371B6C5DDB1F}"/>
              </a:ext>
            </a:extLst>
          </p:cNvPr>
          <p:cNvSpPr/>
          <p:nvPr/>
        </p:nvSpPr>
        <p:spPr>
          <a:xfrm flipH="1">
            <a:off x="11875755" y="6604005"/>
            <a:ext cx="174171" cy="162773"/>
          </a:xfrm>
          <a:prstGeom prst="actionButtonForwardNext">
            <a:avLst/>
          </a:prstGeom>
          <a:solidFill>
            <a:schemeClr val="bg1">
              <a:lumMod val="85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285545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84CA3A-149C-4665-5A7D-36E287467D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Text Box 2">
            <a:extLst>
              <a:ext uri="{FF2B5EF4-FFF2-40B4-BE49-F238E27FC236}">
                <a16:creationId xmlns:a16="http://schemas.microsoft.com/office/drawing/2014/main" id="{34688606-8BFA-166C-47CD-52991D44FA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474" y="77822"/>
            <a:ext cx="3856615" cy="4000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91336" tIns="45671" rIns="91336" bIns="45671">
            <a:spAutoFit/>
          </a:bodyPr>
          <a:lstStyle>
            <a:defPPr>
              <a:defRPr lang="ko-KR"/>
            </a:defPPr>
            <a:lvl1pPr marL="342651" indent="-342651" defTabSz="913739" eaLnBrk="0" hangingPunct="0">
              <a:defRPr sz="2000" b="1">
                <a:solidFill>
                  <a:prstClr val="black">
                    <a:lumMod val="95000"/>
                    <a:lumOff val="5000"/>
                  </a:prstClr>
                </a:solidFill>
                <a:latin typeface="Arial Narrow"/>
                <a:ea typeface="LG스마트체 Regular" pitchFamily="50" charset="-127"/>
                <a:cs typeface="Arial" pitchFamily="34" charset="0"/>
              </a:defRPr>
            </a:lvl1pPr>
          </a:lstStyle>
          <a:p>
            <a:pPr marL="342651" marR="0" lvl="0" indent="-342651" algn="l" defTabSz="913739" rtl="0" eaLnBrk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/>
                <a:ea typeface="LG스마트체 Regular" pitchFamily="50" charset="-127"/>
                <a:cs typeface="Arial" pitchFamily="34" charset="0"/>
              </a:rPr>
              <a:t>’26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/>
                <a:ea typeface="LG스마트체 Regular" pitchFamily="50" charset="-127"/>
                <a:cs typeface="Arial" pitchFamily="34" charset="0"/>
              </a:rPr>
              <a:t>년 디자인 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/>
                <a:ea typeface="LG스마트체 Regular" pitchFamily="50" charset="-127"/>
                <a:cs typeface="Arial" pitchFamily="34" charset="0"/>
              </a:rPr>
              <a:t>Color / Stand Variation  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ECE8095C-A853-C742-A80B-C865A328DA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0780017"/>
              </p:ext>
            </p:extLst>
          </p:nvPr>
        </p:nvGraphicFramePr>
        <p:xfrm>
          <a:off x="228000" y="792480"/>
          <a:ext cx="11736000" cy="5782320"/>
        </p:xfrm>
        <a:graphic>
          <a:graphicData uri="http://schemas.openxmlformats.org/drawingml/2006/table">
            <a:tbl>
              <a:tblPr/>
              <a:tblGrid>
                <a:gridCol w="684000">
                  <a:extLst>
                    <a:ext uri="{9D8B030D-6E8A-4147-A177-3AD203B41FA5}">
                      <a16:colId xmlns:a16="http://schemas.microsoft.com/office/drawing/2014/main" val="3879696720"/>
                    </a:ext>
                  </a:extLst>
                </a:gridCol>
                <a:gridCol w="684000">
                  <a:extLst>
                    <a:ext uri="{9D8B030D-6E8A-4147-A177-3AD203B41FA5}">
                      <a16:colId xmlns:a16="http://schemas.microsoft.com/office/drawing/2014/main" val="2279587811"/>
                    </a:ext>
                  </a:extLst>
                </a:gridCol>
                <a:gridCol w="827908">
                  <a:extLst>
                    <a:ext uri="{9D8B030D-6E8A-4147-A177-3AD203B41FA5}">
                      <a16:colId xmlns:a16="http://schemas.microsoft.com/office/drawing/2014/main" val="1280807693"/>
                    </a:ext>
                  </a:extLst>
                </a:gridCol>
                <a:gridCol w="36092">
                  <a:extLst>
                    <a:ext uri="{9D8B030D-6E8A-4147-A177-3AD203B41FA5}">
                      <a16:colId xmlns:a16="http://schemas.microsoft.com/office/drawing/2014/main" val="37340539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73196682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84275855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399211276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407499276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856185093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3561338904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1547481673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600740150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688985621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3877170782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4094691819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883850833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3930979485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680277313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1381153053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999144078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Series</a:t>
                      </a: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DDD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Inch</a:t>
                      </a: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DDD"/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  <a:cs typeface="+mn-cs"/>
                        </a:rPr>
                        <a:t>1Pole Stand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8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  <a:cs typeface="+mn-cs"/>
                        </a:rPr>
                        <a:t>2Pole Stand</a:t>
                      </a: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Front Color</a:t>
                      </a: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2028855"/>
                  </a:ext>
                </a:extLst>
              </a:tr>
              <a:tr h="1620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ODM</a:t>
                      </a:r>
                    </a:p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1Pole</a:t>
                      </a:r>
                    </a:p>
                  </a:txBody>
                  <a:tcPr marL="5346" marR="5346" marT="5346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</a:rPr>
                        <a:t>Essence </a:t>
                      </a:r>
                      <a:b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</a:rPr>
                      </a:br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</a:rPr>
                        <a:t>Square</a:t>
                      </a:r>
                    </a:p>
                    <a:p>
                      <a:pPr algn="ctr" fontAlgn="ctr"/>
                      <a:endParaRPr 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26Y</a:t>
                      </a:r>
                    </a:p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New 1Pole</a:t>
                      </a:r>
                    </a:p>
                  </a:txBody>
                  <a:tcPr marL="5346" marR="5346" marT="5346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5346" marR="5346" marT="5346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Shiny</a:t>
                      </a:r>
                    </a:p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Edge</a:t>
                      </a:r>
                    </a:p>
                  </a:txBody>
                  <a:tcPr marL="5346" marR="5346" marT="5346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Essence </a:t>
                      </a:r>
                    </a:p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Plate</a:t>
                      </a:r>
                    </a:p>
                  </a:txBody>
                  <a:tcPr marL="5346" marR="5346" marT="5346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ODM</a:t>
                      </a:r>
                    </a:p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2Pole</a:t>
                      </a:r>
                    </a:p>
                  </a:txBody>
                  <a:tcPr marL="5346" marR="5346" marT="5346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Die-</a:t>
                      </a:r>
                    </a:p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Casting</a:t>
                      </a:r>
                    </a:p>
                  </a:txBody>
                  <a:tcPr marL="5346" marR="5346" marT="5346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Core</a:t>
                      </a:r>
                    </a:p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Index</a:t>
                      </a:r>
                    </a:p>
                  </a:txBody>
                  <a:tcPr marL="5346" marR="5346" marT="5346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Mold</a:t>
                      </a:r>
                    </a:p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Edge</a:t>
                      </a:r>
                    </a:p>
                  </a:txBody>
                  <a:tcPr marL="5346" marR="5346" marT="5346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Linear</a:t>
                      </a:r>
                    </a:p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Stand</a:t>
                      </a:r>
                    </a:p>
                  </a:txBody>
                  <a:tcPr marL="5346" marR="5346" marT="5346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Semi</a:t>
                      </a:r>
                    </a:p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Linear</a:t>
                      </a:r>
                    </a:p>
                  </a:txBody>
                  <a:tcPr marL="5346" marR="5346" marT="5346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+mn-ea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</a:rPr>
                        <a:t>BK</a:t>
                      </a:r>
                    </a:p>
                  </a:txBody>
                  <a:tcPr marL="5346" marR="5346" marT="5346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Dark Titan Silver</a:t>
                      </a:r>
                    </a:p>
                  </a:txBody>
                  <a:tcPr marL="5346" marR="5346" marT="5346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Ashed</a:t>
                      </a:r>
                    </a:p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Blue</a:t>
                      </a:r>
                    </a:p>
                  </a:txBody>
                  <a:tcPr marL="5346" marR="5346" marT="5346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Charcoal </a:t>
                      </a:r>
                    </a:p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Black</a:t>
                      </a:r>
                    </a:p>
                  </a:txBody>
                  <a:tcPr marL="5346" marR="5346" marT="5346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972384"/>
                  </a:ext>
                </a:extLst>
              </a:tr>
              <a:tr h="216000">
                <a:tc rowSpan="6"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QNED8M</a:t>
                      </a: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85</a:t>
                      </a: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$7.4</a:t>
                      </a:r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252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95496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75</a:t>
                      </a: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$2.2</a:t>
                      </a:r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252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440174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65</a:t>
                      </a: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$1.3</a:t>
                      </a:r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$3.6</a:t>
                      </a:r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$2.4</a:t>
                      </a:r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252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8811049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55</a:t>
                      </a: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$1.0</a:t>
                      </a:r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$1.3</a:t>
                      </a:r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$1.0</a:t>
                      </a:r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252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7890477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50</a:t>
                      </a: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$1.0</a:t>
                      </a:r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$1.3</a:t>
                      </a:r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$1.0</a:t>
                      </a:r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252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355716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43</a:t>
                      </a: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$0.8</a:t>
                      </a:r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$1.1</a:t>
                      </a:r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$0.4</a:t>
                      </a:r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252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3633609"/>
                  </a:ext>
                </a:extLst>
              </a:tr>
              <a:tr h="216000">
                <a:tc rowSpan="6"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QNED81/80</a:t>
                      </a: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85</a:t>
                      </a: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$30.8</a:t>
                      </a:r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$14.0</a:t>
                      </a:r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$7.4</a:t>
                      </a:r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252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274649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spc="-100" baseline="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75</a:t>
                      </a: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$30.8</a:t>
                      </a:r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$14.0</a:t>
                      </a:r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$2.2</a:t>
                      </a:r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252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0165488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65</a:t>
                      </a:r>
                    </a:p>
                  </a:txBody>
                  <a:tcPr marL="5346" marR="5346" marT="5346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$15.4</a:t>
                      </a:r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$8.6</a:t>
                      </a:r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$1.3</a:t>
                      </a:r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$3.6</a:t>
                      </a:r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$2.4</a:t>
                      </a:r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252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491398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55</a:t>
                      </a: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$15.4</a:t>
                      </a:r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$8.6</a:t>
                      </a:r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$1.0</a:t>
                      </a:r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$1.3</a:t>
                      </a:r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$1.0</a:t>
                      </a:r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252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9902629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50</a:t>
                      </a: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$1.0</a:t>
                      </a:r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$1.3</a:t>
                      </a:r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$1.0</a:t>
                      </a:r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252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4657936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43</a:t>
                      </a: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$0.8</a:t>
                      </a:r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$1.1</a:t>
                      </a:r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$0.4</a:t>
                      </a:r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252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1479132"/>
                  </a:ext>
                </a:extLst>
              </a:tr>
              <a:tr h="216000">
                <a:tc rowSpan="6"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QNED71/70</a:t>
                      </a: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85</a:t>
                      </a: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$14.0</a:t>
                      </a:r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$7.4</a:t>
                      </a:r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252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2751680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75</a:t>
                      </a: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$14.0</a:t>
                      </a:r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$2.2</a:t>
                      </a:r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252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2104197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65</a:t>
                      </a: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$1.3</a:t>
                      </a:r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$3.6</a:t>
                      </a:r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$2.4</a:t>
                      </a:r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252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28173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55</a:t>
                      </a: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$1.0</a:t>
                      </a:r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$1.3</a:t>
                      </a:r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$1.0</a:t>
                      </a:r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252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060948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50</a:t>
                      </a: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$1.0</a:t>
                      </a:r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$1.3</a:t>
                      </a:r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$1.0</a:t>
                      </a:r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252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287322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43</a:t>
                      </a: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$0.8</a:t>
                      </a:r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$1.1</a:t>
                      </a:r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$0.4</a:t>
                      </a:r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252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6318187"/>
                  </a:ext>
                </a:extLst>
              </a:tr>
            </a:tbl>
          </a:graphicData>
        </a:graphic>
      </p:graphicFrame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BAEC9ED9-E33C-6416-7B10-61EFBEB319CB}"/>
              </a:ext>
            </a:extLst>
          </p:cNvPr>
          <p:cNvSpPr/>
          <p:nvPr/>
        </p:nvSpPr>
        <p:spPr>
          <a:xfrm>
            <a:off x="9405131" y="1976845"/>
            <a:ext cx="558000" cy="547200"/>
          </a:xfrm>
          <a:prstGeom prst="roundRect">
            <a:avLst/>
          </a:prstGeom>
          <a:solidFill>
            <a:schemeClr val="tx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1C6C52E7-C851-FBC3-230D-8830C6009A1C}"/>
              </a:ext>
            </a:extLst>
          </p:cNvPr>
          <p:cNvSpPr/>
          <p:nvPr/>
        </p:nvSpPr>
        <p:spPr>
          <a:xfrm>
            <a:off x="10052467" y="1976845"/>
            <a:ext cx="558000" cy="547200"/>
          </a:xfrm>
          <a:prstGeom prst="roundRect">
            <a:avLst/>
          </a:prstGeom>
          <a:solidFill>
            <a:srgbClr val="80808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B281743A-7A90-884A-E725-96F03D587873}"/>
              </a:ext>
            </a:extLst>
          </p:cNvPr>
          <p:cNvSpPr/>
          <p:nvPr/>
        </p:nvSpPr>
        <p:spPr>
          <a:xfrm>
            <a:off x="10699803" y="1976845"/>
            <a:ext cx="558000" cy="5472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11F63981-5A8A-9889-E7F0-D921B2139962}"/>
              </a:ext>
            </a:extLst>
          </p:cNvPr>
          <p:cNvSpPr/>
          <p:nvPr/>
        </p:nvSpPr>
        <p:spPr>
          <a:xfrm>
            <a:off x="11347142" y="1976845"/>
            <a:ext cx="558000" cy="547200"/>
          </a:xfrm>
          <a:prstGeom prst="roundRect">
            <a:avLst/>
          </a:prstGeom>
          <a:solidFill>
            <a:srgbClr val="525252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F193E3BF-9CCA-7335-2129-8DE538F01443}"/>
              </a:ext>
            </a:extLst>
          </p:cNvPr>
          <p:cNvPicPr preferRelativeResize="0"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4888430" y="1976844"/>
            <a:ext cx="567255" cy="547200"/>
          </a:xfrm>
          <a:prstGeom prst="roundRect">
            <a:avLst>
              <a:gd name="adj" fmla="val 16667"/>
            </a:avLst>
          </a:prstGeom>
          <a:ln w="12700">
            <a:solidFill>
              <a:sysClr val="window" lastClr="FFFFFF">
                <a:lumMod val="50000"/>
              </a:sysClr>
            </a:solidFill>
          </a:ln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52B502EE-BC23-794E-8B7B-A356BA9F1CFB}"/>
              </a:ext>
            </a:extLst>
          </p:cNvPr>
          <p:cNvPicPr preferRelativeResize="0"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5560915" y="1975403"/>
            <a:ext cx="532030" cy="548639"/>
          </a:xfrm>
          <a:prstGeom prst="roundRect">
            <a:avLst>
              <a:gd name="adj" fmla="val 16667"/>
            </a:avLst>
          </a:prstGeom>
          <a:ln w="12700">
            <a:solidFill>
              <a:sysClr val="window" lastClr="FFFFFF">
                <a:lumMod val="50000"/>
              </a:sysClr>
            </a:solidFill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99264FF7-3402-9740-D93F-0B6F3DF0C1D7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4"/>
          <a:srcRect l="10044" t="31948" r="64441" b="26109"/>
          <a:stretch/>
        </p:blipFill>
        <p:spPr>
          <a:xfrm>
            <a:off x="4249997" y="1975403"/>
            <a:ext cx="541912" cy="547200"/>
          </a:xfrm>
          <a:prstGeom prst="roundRect">
            <a:avLst>
              <a:gd name="adj" fmla="val 16667"/>
            </a:avLst>
          </a:prstGeom>
          <a:ln w="12700">
            <a:solidFill>
              <a:sysClr val="window" lastClr="FFFFFF">
                <a:lumMod val="50000"/>
              </a:sysClr>
            </a:solidFill>
          </a:ln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20F79358-9D37-BF4A-CA1D-9ED489C8C5A3}"/>
              </a:ext>
            </a:extLst>
          </p:cNvPr>
          <p:cNvPicPr preferRelativeResize="0"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6199363" y="1975403"/>
            <a:ext cx="532029" cy="547200"/>
          </a:xfrm>
          <a:prstGeom prst="roundRect">
            <a:avLst>
              <a:gd name="adj" fmla="val 16667"/>
            </a:avLst>
          </a:prstGeom>
          <a:ln w="12700">
            <a:solidFill>
              <a:sysClr val="window" lastClr="FFFFFF">
                <a:lumMod val="50000"/>
              </a:sysClr>
            </a:solidFill>
          </a:ln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7F7E1D5F-EC52-01EE-54EF-790E5CB36445}"/>
              </a:ext>
            </a:extLst>
          </p:cNvPr>
          <p:cNvPicPr preferRelativeResize="0"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6861951" y="1975403"/>
            <a:ext cx="532028" cy="547200"/>
          </a:xfrm>
          <a:prstGeom prst="roundRect">
            <a:avLst>
              <a:gd name="adj" fmla="val 16667"/>
            </a:avLst>
          </a:prstGeom>
          <a:ln w="12700">
            <a:solidFill>
              <a:sysClr val="window" lastClr="FFFFFF">
                <a:lumMod val="50000"/>
              </a:sysClr>
            </a:solidFill>
          </a:ln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1B385DD4-3E6F-6ED4-0E8B-E2CA4E0976EB}"/>
              </a:ext>
            </a:extLst>
          </p:cNvPr>
          <p:cNvPicPr preferRelativeResize="0">
            <a:picLocks/>
          </p:cNvPicPr>
          <p:nvPr/>
        </p:nvPicPr>
        <p:blipFill>
          <a:blip r:embed="rId7"/>
          <a:stretch>
            <a:fillRect/>
          </a:stretch>
        </p:blipFill>
        <p:spPr>
          <a:xfrm>
            <a:off x="7490045" y="1975403"/>
            <a:ext cx="554433" cy="547200"/>
          </a:xfrm>
          <a:prstGeom prst="roundRect">
            <a:avLst>
              <a:gd name="adj" fmla="val 16667"/>
            </a:avLst>
          </a:prstGeom>
          <a:ln w="12700">
            <a:solidFill>
              <a:sysClr val="window" lastClr="FFFFFF">
                <a:lumMod val="50000"/>
              </a:sysClr>
            </a:solidFill>
          </a:ln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3BFBE5D6-AF02-5CAA-270E-19E232B0F52D}"/>
              </a:ext>
            </a:extLst>
          </p:cNvPr>
          <p:cNvPicPr preferRelativeResize="0">
            <a:picLocks/>
          </p:cNvPicPr>
          <p:nvPr/>
        </p:nvPicPr>
        <p:blipFill>
          <a:blip r:embed="rId8"/>
          <a:stretch>
            <a:fillRect/>
          </a:stretch>
        </p:blipFill>
        <p:spPr>
          <a:xfrm>
            <a:off x="8143893" y="1975403"/>
            <a:ext cx="547921" cy="547200"/>
          </a:xfrm>
          <a:prstGeom prst="roundRect">
            <a:avLst>
              <a:gd name="adj" fmla="val 16667"/>
            </a:avLst>
          </a:prstGeom>
          <a:ln w="12700">
            <a:solidFill>
              <a:sysClr val="window" lastClr="FFFFFF">
                <a:lumMod val="50000"/>
              </a:sysClr>
            </a:solidFill>
          </a:ln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CD0E2E19-0E53-DF91-10A7-06F87CD3511F}"/>
              </a:ext>
            </a:extLst>
          </p:cNvPr>
          <p:cNvPicPr preferRelativeResize="0">
            <a:picLocks/>
          </p:cNvPicPr>
          <p:nvPr/>
        </p:nvPicPr>
        <p:blipFill>
          <a:blip r:embed="rId9"/>
          <a:stretch>
            <a:fillRect/>
          </a:stretch>
        </p:blipFill>
        <p:spPr>
          <a:xfrm>
            <a:off x="8763340" y="1975402"/>
            <a:ext cx="557999" cy="547199"/>
          </a:xfrm>
          <a:prstGeom prst="roundRect">
            <a:avLst>
              <a:gd name="adj" fmla="val 16667"/>
            </a:avLst>
          </a:prstGeom>
          <a:ln w="12700">
            <a:solidFill>
              <a:sysClr val="window" lastClr="FFFFFF">
                <a:lumMod val="50000"/>
              </a:sysClr>
            </a:solidFill>
          </a:ln>
        </p:spPr>
      </p:pic>
      <p:sp>
        <p:nvSpPr>
          <p:cNvPr id="4" name="Text Box 2">
            <a:extLst>
              <a:ext uri="{FF2B5EF4-FFF2-40B4-BE49-F238E27FC236}">
                <a16:creationId xmlns:a16="http://schemas.microsoft.com/office/drawing/2014/main" id="{03A5DC8E-E32B-0473-7FFB-E3A5CB41C5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95429" y="108599"/>
            <a:ext cx="671769" cy="33845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91336" tIns="45671" rIns="91336" bIns="45671">
            <a:spAutoFit/>
          </a:bodyPr>
          <a:lstStyle>
            <a:defPPr>
              <a:defRPr lang="ko-KR"/>
            </a:defPPr>
            <a:lvl1pPr marL="342651" indent="-342651" defTabSz="913739" eaLnBrk="0" hangingPunct="0">
              <a:defRPr sz="2000" b="1">
                <a:solidFill>
                  <a:prstClr val="black">
                    <a:lumMod val="95000"/>
                    <a:lumOff val="5000"/>
                  </a:prstClr>
                </a:solidFill>
                <a:latin typeface="Arial Narrow"/>
                <a:ea typeface="LG스마트체 Regular" pitchFamily="50" charset="-127"/>
                <a:cs typeface="Arial" pitchFamily="34" charset="0"/>
              </a:defRPr>
            </a:lvl1pPr>
          </a:lstStyle>
          <a:p>
            <a:pPr marL="342651" marR="0" lvl="0" indent="-342651" algn="r" defTabSz="913739" rtl="0" eaLnBrk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/>
                <a:ea typeface="LG스마트체 Regular" pitchFamily="50" charset="-127"/>
                <a:cs typeface="Arial" pitchFamily="34" charset="0"/>
              </a:rPr>
              <a:t>QNED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D3213850-EAE6-A8E1-BB96-96A5E6BF26BE}"/>
              </a:ext>
            </a:extLst>
          </p:cNvPr>
          <p:cNvPicPr preferRelativeResize="0">
            <a:picLocks/>
          </p:cNvPicPr>
          <p:nvPr/>
        </p:nvPicPr>
        <p:blipFill>
          <a:blip r:embed="rId10"/>
          <a:stretch>
            <a:fillRect/>
          </a:stretch>
        </p:blipFill>
        <p:spPr>
          <a:xfrm>
            <a:off x="2508687" y="1976844"/>
            <a:ext cx="755026" cy="548640"/>
          </a:xfrm>
          <a:prstGeom prst="roundRect">
            <a:avLst>
              <a:gd name="adj" fmla="val 16667"/>
            </a:avLst>
          </a:prstGeom>
          <a:ln w="12700">
            <a:solidFill>
              <a:sysClr val="window" lastClr="FFFFFF">
                <a:lumMod val="50000"/>
              </a:sysClr>
            </a:solidFill>
          </a:ln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B627FD18-A838-CF15-4578-347FDB46115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50822" y="1975403"/>
            <a:ext cx="755026" cy="547200"/>
          </a:xfrm>
          <a:prstGeom prst="roundRect">
            <a:avLst>
              <a:gd name="adj" fmla="val 16667"/>
            </a:avLst>
          </a:prstGeom>
          <a:ln w="12700">
            <a:solidFill>
              <a:sysClr val="window" lastClr="FFFFFF">
                <a:lumMod val="50000"/>
              </a:sysClr>
            </a:solidFill>
          </a:ln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8DFD58F1-1FD9-EEDF-5025-1BFC054BCEC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366552" y="1975402"/>
            <a:ext cx="776919" cy="547199"/>
          </a:xfrm>
          <a:prstGeom prst="roundRect">
            <a:avLst>
              <a:gd name="adj" fmla="val 16667"/>
            </a:avLst>
          </a:prstGeom>
          <a:ln w="12700">
            <a:solidFill>
              <a:sysClr val="window" lastClr="FFFFFF">
                <a:lumMod val="50000"/>
              </a:sysClr>
            </a:solidFill>
          </a:ln>
        </p:spPr>
      </p:pic>
      <p:sp>
        <p:nvSpPr>
          <p:cNvPr id="2" name="실행 단추: 앞으로 또는 다음으로 이동 1">
            <a:hlinkClick r:id="rId13" action="ppaction://hlinksldjump" highlightClick="1"/>
            <a:extLst>
              <a:ext uri="{FF2B5EF4-FFF2-40B4-BE49-F238E27FC236}">
                <a16:creationId xmlns:a16="http://schemas.microsoft.com/office/drawing/2014/main" id="{42F3CB5C-A27D-3644-12DD-31A0CB4207BB}"/>
              </a:ext>
            </a:extLst>
          </p:cNvPr>
          <p:cNvSpPr/>
          <p:nvPr/>
        </p:nvSpPr>
        <p:spPr>
          <a:xfrm flipH="1">
            <a:off x="11875755" y="6604005"/>
            <a:ext cx="174171" cy="162773"/>
          </a:xfrm>
          <a:prstGeom prst="actionButtonForwardNext">
            <a:avLst/>
          </a:prstGeom>
          <a:solidFill>
            <a:schemeClr val="bg1">
              <a:lumMod val="85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998750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86E36D-F881-3BC6-1C62-6795E885A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Text Box 2">
            <a:extLst>
              <a:ext uri="{FF2B5EF4-FFF2-40B4-BE49-F238E27FC236}">
                <a16:creationId xmlns:a16="http://schemas.microsoft.com/office/drawing/2014/main" id="{B3CFA6E7-748E-BD64-F5A9-5F4914B64D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474" y="77822"/>
            <a:ext cx="3856615" cy="4000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91336" tIns="45671" rIns="91336" bIns="45671">
            <a:spAutoFit/>
          </a:bodyPr>
          <a:lstStyle>
            <a:defPPr>
              <a:defRPr lang="ko-KR"/>
            </a:defPPr>
            <a:lvl1pPr marL="342651" indent="-342651" defTabSz="913739" eaLnBrk="0" hangingPunct="0">
              <a:defRPr sz="2000" b="1">
                <a:solidFill>
                  <a:prstClr val="black">
                    <a:lumMod val="95000"/>
                    <a:lumOff val="5000"/>
                  </a:prstClr>
                </a:solidFill>
                <a:latin typeface="Arial Narrow"/>
                <a:ea typeface="LG스마트체 Regular" pitchFamily="50" charset="-127"/>
                <a:cs typeface="Arial" pitchFamily="34" charset="0"/>
              </a:defRPr>
            </a:lvl1pPr>
          </a:lstStyle>
          <a:p>
            <a:pPr marL="342651" marR="0" lvl="0" indent="-342651" algn="l" defTabSz="913739" rtl="0" eaLnBrk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/>
                <a:ea typeface="LG스마트체 Regular" pitchFamily="50" charset="-127"/>
                <a:cs typeface="Arial" pitchFamily="34" charset="0"/>
              </a:rPr>
              <a:t>’26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/>
                <a:ea typeface="LG스마트체 Regular" pitchFamily="50" charset="-127"/>
                <a:cs typeface="Arial" pitchFamily="34" charset="0"/>
              </a:rPr>
              <a:t>년 디자인 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/>
                <a:ea typeface="LG스마트체 Regular" pitchFamily="50" charset="-127"/>
                <a:cs typeface="Arial" pitchFamily="34" charset="0"/>
              </a:rPr>
              <a:t>Color / Stand Variation  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7765165B-D44B-48A1-A31B-CC2EA44FE60B}"/>
              </a:ext>
            </a:extLst>
          </p:cNvPr>
          <p:cNvGraphicFramePr>
            <a:graphicFrameLocks noGrp="1"/>
          </p:cNvGraphicFramePr>
          <p:nvPr/>
        </p:nvGraphicFramePr>
        <p:xfrm>
          <a:off x="228000" y="792480"/>
          <a:ext cx="11736000" cy="4918320"/>
        </p:xfrm>
        <a:graphic>
          <a:graphicData uri="http://schemas.openxmlformats.org/drawingml/2006/table">
            <a:tbl>
              <a:tblPr/>
              <a:tblGrid>
                <a:gridCol w="684000">
                  <a:extLst>
                    <a:ext uri="{9D8B030D-6E8A-4147-A177-3AD203B41FA5}">
                      <a16:colId xmlns:a16="http://schemas.microsoft.com/office/drawing/2014/main" val="3879696720"/>
                    </a:ext>
                  </a:extLst>
                </a:gridCol>
                <a:gridCol w="684000">
                  <a:extLst>
                    <a:ext uri="{9D8B030D-6E8A-4147-A177-3AD203B41FA5}">
                      <a16:colId xmlns:a16="http://schemas.microsoft.com/office/drawing/2014/main" val="2279587811"/>
                    </a:ext>
                  </a:extLst>
                </a:gridCol>
                <a:gridCol w="827908">
                  <a:extLst>
                    <a:ext uri="{9D8B030D-6E8A-4147-A177-3AD203B41FA5}">
                      <a16:colId xmlns:a16="http://schemas.microsoft.com/office/drawing/2014/main" val="1280807693"/>
                    </a:ext>
                  </a:extLst>
                </a:gridCol>
                <a:gridCol w="36092">
                  <a:extLst>
                    <a:ext uri="{9D8B030D-6E8A-4147-A177-3AD203B41FA5}">
                      <a16:colId xmlns:a16="http://schemas.microsoft.com/office/drawing/2014/main" val="37340539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73196682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84275855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399211276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407499276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856185093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3561338904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1547481673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600740150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688985621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3877170782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4094691819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883850833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3930979485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680277313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1381153053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999144078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Series</a:t>
                      </a: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DDD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Inch</a:t>
                      </a: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DDD"/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  <a:cs typeface="+mn-cs"/>
                        </a:rPr>
                        <a:t>1Pole Stand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8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  <a:cs typeface="+mn-cs"/>
                        </a:rPr>
                        <a:t>2Pole Stand</a:t>
                      </a: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2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Front Color</a:t>
                      </a: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2028855"/>
                  </a:ext>
                </a:extLst>
              </a:tr>
              <a:tr h="1620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ODM</a:t>
                      </a:r>
                    </a:p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1Pole</a:t>
                      </a:r>
                    </a:p>
                  </a:txBody>
                  <a:tcPr marL="5346" marR="5346" marT="5346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</a:rPr>
                        <a:t>Essence </a:t>
                      </a:r>
                      <a:b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</a:rPr>
                      </a:br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</a:rPr>
                        <a:t>Square</a:t>
                      </a:r>
                    </a:p>
                    <a:p>
                      <a:pPr algn="ctr" fontAlgn="ctr"/>
                      <a:endParaRPr 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26Y</a:t>
                      </a:r>
                    </a:p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New 1Pole</a:t>
                      </a:r>
                    </a:p>
                  </a:txBody>
                  <a:tcPr marL="5346" marR="5346" marT="5346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5346" marR="5346" marT="5346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Shiny</a:t>
                      </a:r>
                    </a:p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Edge</a:t>
                      </a:r>
                    </a:p>
                  </a:txBody>
                  <a:tcPr marL="5346" marR="5346" marT="5346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Essence </a:t>
                      </a:r>
                    </a:p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Plate</a:t>
                      </a:r>
                    </a:p>
                  </a:txBody>
                  <a:tcPr marL="5346" marR="5346" marT="5346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ODM</a:t>
                      </a:r>
                    </a:p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2Pole</a:t>
                      </a:r>
                    </a:p>
                  </a:txBody>
                  <a:tcPr marL="5346" marR="5346" marT="5346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Die-</a:t>
                      </a:r>
                    </a:p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Casting</a:t>
                      </a:r>
                    </a:p>
                  </a:txBody>
                  <a:tcPr marL="5346" marR="5346" marT="5346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Core</a:t>
                      </a:r>
                    </a:p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Index</a:t>
                      </a:r>
                    </a:p>
                  </a:txBody>
                  <a:tcPr marL="5346" marR="5346" marT="5346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Mold</a:t>
                      </a:r>
                    </a:p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Edge</a:t>
                      </a:r>
                    </a:p>
                  </a:txBody>
                  <a:tcPr marL="5346" marR="5346" marT="5346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Linear</a:t>
                      </a:r>
                    </a:p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Stand</a:t>
                      </a:r>
                    </a:p>
                  </a:txBody>
                  <a:tcPr marL="5346" marR="5346" marT="5346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Semi</a:t>
                      </a:r>
                    </a:p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Linear</a:t>
                      </a:r>
                    </a:p>
                  </a:txBody>
                  <a:tcPr marL="5346" marR="5346" marT="5346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+mn-ea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</a:rPr>
                        <a:t>BK</a:t>
                      </a:r>
                    </a:p>
                  </a:txBody>
                  <a:tcPr marL="5346" marR="5346" marT="5346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Dark Titan Silver</a:t>
                      </a:r>
                    </a:p>
                  </a:txBody>
                  <a:tcPr marL="5346" marR="5346" marT="5346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Ashed</a:t>
                      </a:r>
                    </a:p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Blue</a:t>
                      </a:r>
                    </a:p>
                  </a:txBody>
                  <a:tcPr marL="5346" marR="5346" marT="5346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Charcoal </a:t>
                      </a:r>
                    </a:p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Black</a:t>
                      </a:r>
                    </a:p>
                  </a:txBody>
                  <a:tcPr marL="5346" marR="5346" marT="5346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972384"/>
                  </a:ext>
                </a:extLst>
              </a:tr>
              <a:tr h="216000">
                <a:tc rowSpan="7"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NU86/85</a:t>
                      </a: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98</a:t>
                      </a: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TBD</a:t>
                      </a:r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0392896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85</a:t>
                      </a: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$14.0</a:t>
                      </a:r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$7.4</a:t>
                      </a:r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252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9348280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75</a:t>
                      </a: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$14.0</a:t>
                      </a:r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$2.2</a:t>
                      </a:r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252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2710388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65</a:t>
                      </a: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$1.3</a:t>
                      </a:r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$3.6</a:t>
                      </a:r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$2.4</a:t>
                      </a:r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252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5668886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55</a:t>
                      </a: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$1.0</a:t>
                      </a:r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$1.3</a:t>
                      </a:r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$1.0</a:t>
                      </a:r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252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4967255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50</a:t>
                      </a: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$1.0</a:t>
                      </a:r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$1.3</a:t>
                      </a:r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$1.0</a:t>
                      </a:r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252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3243677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43</a:t>
                      </a: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$0.8</a:t>
                      </a:r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$1.1</a:t>
                      </a:r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$0.4</a:t>
                      </a:r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252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8040968"/>
                  </a:ext>
                </a:extLst>
              </a:tr>
              <a:tr h="21600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NU80</a:t>
                      </a: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85/75/70/</a:t>
                      </a: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맑은 고딕" panose="020B0503020000020004" pitchFamily="50" charset="-127"/>
                          <a:cs typeface="+mn-cs"/>
                        </a:rPr>
                        <a:t>TBD</a:t>
                      </a:r>
                      <a:endParaRPr kumimoji="0" lang="ko-KR" altLang="en-US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6999598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65/55/50/43</a:t>
                      </a: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맑은 고딕" panose="020B0503020000020004" pitchFamily="50" charset="-127"/>
                          <a:cs typeface="+mn-cs"/>
                        </a:rPr>
                        <a:t>TBD</a:t>
                      </a:r>
                      <a:endParaRPr kumimoji="0" lang="ko-KR" altLang="en-US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862555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LB70</a:t>
                      </a: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27/24</a:t>
                      </a: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252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1624476"/>
                  </a:ext>
                </a:extLst>
              </a:tr>
              <a:tr h="21600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LB65</a:t>
                      </a: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43</a:t>
                      </a: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TBD</a:t>
                      </a:r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TBD</a:t>
                      </a:r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252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8083345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32</a:t>
                      </a: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TBD</a:t>
                      </a:r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252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711091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LX7B</a:t>
                      </a: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65/55</a:t>
                      </a: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TBD</a:t>
                      </a:r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728816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LX6B</a:t>
                      </a: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맑은 고딕" panose="020B0503020000020004" pitchFamily="50" charset="-127"/>
                        </a:rPr>
                        <a:t>32</a:t>
                      </a: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346" marR="5346" marT="534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3355926"/>
                  </a:ext>
                </a:extLst>
              </a:tr>
            </a:tbl>
          </a:graphicData>
        </a:graphic>
      </p:graphicFrame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CB99A9D5-779F-0C7D-983E-114878B167A7}"/>
              </a:ext>
            </a:extLst>
          </p:cNvPr>
          <p:cNvSpPr/>
          <p:nvPr/>
        </p:nvSpPr>
        <p:spPr>
          <a:xfrm>
            <a:off x="9405131" y="1976845"/>
            <a:ext cx="558000" cy="547200"/>
          </a:xfrm>
          <a:prstGeom prst="roundRect">
            <a:avLst/>
          </a:prstGeom>
          <a:solidFill>
            <a:schemeClr val="tx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A2900688-9D70-30C9-0E4B-F1F2788D40E3}"/>
              </a:ext>
            </a:extLst>
          </p:cNvPr>
          <p:cNvSpPr/>
          <p:nvPr/>
        </p:nvSpPr>
        <p:spPr>
          <a:xfrm>
            <a:off x="10052467" y="1976845"/>
            <a:ext cx="558000" cy="547200"/>
          </a:xfrm>
          <a:prstGeom prst="roundRect">
            <a:avLst/>
          </a:prstGeom>
          <a:solidFill>
            <a:srgbClr val="80808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463FD179-3FFA-94CC-C9E0-CD144402CA6B}"/>
              </a:ext>
            </a:extLst>
          </p:cNvPr>
          <p:cNvSpPr/>
          <p:nvPr/>
        </p:nvSpPr>
        <p:spPr>
          <a:xfrm>
            <a:off x="10699803" y="1976845"/>
            <a:ext cx="558000" cy="5472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31E85F68-0654-20F2-01B8-167EE3A0FF7C}"/>
              </a:ext>
            </a:extLst>
          </p:cNvPr>
          <p:cNvSpPr/>
          <p:nvPr/>
        </p:nvSpPr>
        <p:spPr>
          <a:xfrm>
            <a:off x="11347142" y="1976845"/>
            <a:ext cx="558000" cy="547200"/>
          </a:xfrm>
          <a:prstGeom prst="roundRect">
            <a:avLst/>
          </a:prstGeom>
          <a:solidFill>
            <a:srgbClr val="525252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D3BDDBC0-5476-D1A3-C6F4-093733125692}"/>
              </a:ext>
            </a:extLst>
          </p:cNvPr>
          <p:cNvPicPr preferRelativeResize="0"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4888430" y="1976844"/>
            <a:ext cx="567255" cy="547200"/>
          </a:xfrm>
          <a:prstGeom prst="roundRect">
            <a:avLst>
              <a:gd name="adj" fmla="val 16667"/>
            </a:avLst>
          </a:prstGeom>
          <a:ln w="12700">
            <a:solidFill>
              <a:sysClr val="window" lastClr="FFFFFF">
                <a:lumMod val="50000"/>
              </a:sysClr>
            </a:solidFill>
          </a:ln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61A4F721-7FD2-29A4-B10C-DCA284A635FA}"/>
              </a:ext>
            </a:extLst>
          </p:cNvPr>
          <p:cNvPicPr preferRelativeResize="0"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5560915" y="1975403"/>
            <a:ext cx="532030" cy="548639"/>
          </a:xfrm>
          <a:prstGeom prst="roundRect">
            <a:avLst>
              <a:gd name="adj" fmla="val 16667"/>
            </a:avLst>
          </a:prstGeom>
          <a:ln w="12700">
            <a:solidFill>
              <a:sysClr val="window" lastClr="FFFFFF">
                <a:lumMod val="50000"/>
              </a:sysClr>
            </a:solidFill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8F8A4E5F-FBCA-389C-8CC7-F291EF4C5B4D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4"/>
          <a:srcRect l="10044" t="31948" r="64441" b="26109"/>
          <a:stretch/>
        </p:blipFill>
        <p:spPr>
          <a:xfrm>
            <a:off x="4249997" y="1975403"/>
            <a:ext cx="541912" cy="547200"/>
          </a:xfrm>
          <a:prstGeom prst="roundRect">
            <a:avLst>
              <a:gd name="adj" fmla="val 16667"/>
            </a:avLst>
          </a:prstGeom>
          <a:ln w="12700">
            <a:solidFill>
              <a:sysClr val="window" lastClr="FFFFFF">
                <a:lumMod val="50000"/>
              </a:sysClr>
            </a:solidFill>
          </a:ln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4807E46F-363A-AB4C-E10B-20A90AD8235E}"/>
              </a:ext>
            </a:extLst>
          </p:cNvPr>
          <p:cNvPicPr preferRelativeResize="0"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6199363" y="1975403"/>
            <a:ext cx="532029" cy="547200"/>
          </a:xfrm>
          <a:prstGeom prst="roundRect">
            <a:avLst>
              <a:gd name="adj" fmla="val 16667"/>
            </a:avLst>
          </a:prstGeom>
          <a:ln w="12700">
            <a:solidFill>
              <a:sysClr val="window" lastClr="FFFFFF">
                <a:lumMod val="50000"/>
              </a:sysClr>
            </a:solidFill>
          </a:ln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F2F6985F-E561-DED5-07D1-0C5E364DCE74}"/>
              </a:ext>
            </a:extLst>
          </p:cNvPr>
          <p:cNvPicPr preferRelativeResize="0"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6861951" y="1975403"/>
            <a:ext cx="532028" cy="547200"/>
          </a:xfrm>
          <a:prstGeom prst="roundRect">
            <a:avLst>
              <a:gd name="adj" fmla="val 16667"/>
            </a:avLst>
          </a:prstGeom>
          <a:ln w="12700">
            <a:solidFill>
              <a:sysClr val="window" lastClr="FFFFFF">
                <a:lumMod val="50000"/>
              </a:sysClr>
            </a:solidFill>
          </a:ln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3B702324-4756-1D0A-21DD-2C017D067AF3}"/>
              </a:ext>
            </a:extLst>
          </p:cNvPr>
          <p:cNvPicPr preferRelativeResize="0">
            <a:picLocks/>
          </p:cNvPicPr>
          <p:nvPr/>
        </p:nvPicPr>
        <p:blipFill>
          <a:blip r:embed="rId7"/>
          <a:stretch>
            <a:fillRect/>
          </a:stretch>
        </p:blipFill>
        <p:spPr>
          <a:xfrm>
            <a:off x="7490045" y="1975403"/>
            <a:ext cx="554433" cy="547200"/>
          </a:xfrm>
          <a:prstGeom prst="roundRect">
            <a:avLst>
              <a:gd name="adj" fmla="val 16667"/>
            </a:avLst>
          </a:prstGeom>
          <a:ln w="12700">
            <a:solidFill>
              <a:sysClr val="window" lastClr="FFFFFF">
                <a:lumMod val="50000"/>
              </a:sysClr>
            </a:solidFill>
          </a:ln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AED54C5A-EAD0-053A-19C1-228C5CDB77E0}"/>
              </a:ext>
            </a:extLst>
          </p:cNvPr>
          <p:cNvPicPr preferRelativeResize="0">
            <a:picLocks/>
          </p:cNvPicPr>
          <p:nvPr/>
        </p:nvPicPr>
        <p:blipFill>
          <a:blip r:embed="rId8"/>
          <a:stretch>
            <a:fillRect/>
          </a:stretch>
        </p:blipFill>
        <p:spPr>
          <a:xfrm>
            <a:off x="8143893" y="1975403"/>
            <a:ext cx="547921" cy="547200"/>
          </a:xfrm>
          <a:prstGeom prst="roundRect">
            <a:avLst>
              <a:gd name="adj" fmla="val 16667"/>
            </a:avLst>
          </a:prstGeom>
          <a:ln w="12700">
            <a:solidFill>
              <a:sysClr val="window" lastClr="FFFFFF">
                <a:lumMod val="50000"/>
              </a:sysClr>
            </a:solidFill>
          </a:ln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A9ECBEF7-27CD-94FB-AFFC-C913FEC8AD4A}"/>
              </a:ext>
            </a:extLst>
          </p:cNvPr>
          <p:cNvPicPr preferRelativeResize="0">
            <a:picLocks/>
          </p:cNvPicPr>
          <p:nvPr/>
        </p:nvPicPr>
        <p:blipFill>
          <a:blip r:embed="rId9"/>
          <a:stretch>
            <a:fillRect/>
          </a:stretch>
        </p:blipFill>
        <p:spPr>
          <a:xfrm>
            <a:off x="8763340" y="1975402"/>
            <a:ext cx="557999" cy="547199"/>
          </a:xfrm>
          <a:prstGeom prst="roundRect">
            <a:avLst>
              <a:gd name="adj" fmla="val 16667"/>
            </a:avLst>
          </a:prstGeom>
          <a:ln w="12700">
            <a:solidFill>
              <a:sysClr val="window" lastClr="FFFFFF">
                <a:lumMod val="50000"/>
              </a:sysClr>
            </a:solidFill>
          </a:ln>
        </p:spPr>
      </p:pic>
      <p:sp>
        <p:nvSpPr>
          <p:cNvPr id="4" name="Text Box 2">
            <a:extLst>
              <a:ext uri="{FF2B5EF4-FFF2-40B4-BE49-F238E27FC236}">
                <a16:creationId xmlns:a16="http://schemas.microsoft.com/office/drawing/2014/main" id="{B35501C9-CBDE-3ED3-E8A3-FD86B7D7B7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93177" y="108599"/>
            <a:ext cx="1874021" cy="33845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91336" tIns="45671" rIns="91336" bIns="45671">
            <a:spAutoFit/>
          </a:bodyPr>
          <a:lstStyle>
            <a:defPPr>
              <a:defRPr lang="ko-KR"/>
            </a:defPPr>
            <a:lvl1pPr marL="342651" indent="-342651" defTabSz="913739" eaLnBrk="0" hangingPunct="0">
              <a:defRPr sz="2000" b="1">
                <a:solidFill>
                  <a:prstClr val="black">
                    <a:lumMod val="95000"/>
                    <a:lumOff val="5000"/>
                  </a:prstClr>
                </a:solidFill>
                <a:latin typeface="Arial Narrow"/>
                <a:ea typeface="LG스마트체 Regular" pitchFamily="50" charset="-127"/>
                <a:cs typeface="Arial" pitchFamily="34" charset="0"/>
              </a:defRPr>
            </a:lvl1pPr>
          </a:lstStyle>
          <a:p>
            <a:pPr marL="342651" marR="0" lvl="0" indent="-342651" algn="r" defTabSz="913739" rtl="0" eaLnBrk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/>
                <a:ea typeface="LG스마트체 Regular" pitchFamily="50" charset="-127"/>
                <a:cs typeface="Arial" pitchFamily="34" charset="0"/>
              </a:rPr>
              <a:t>UHD / FHD / LifeStyle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AC0CF62B-04D6-E0E2-8CC9-4ECD85893BC0}"/>
              </a:ext>
            </a:extLst>
          </p:cNvPr>
          <p:cNvPicPr preferRelativeResize="0">
            <a:picLocks/>
          </p:cNvPicPr>
          <p:nvPr/>
        </p:nvPicPr>
        <p:blipFill>
          <a:blip r:embed="rId10"/>
          <a:stretch>
            <a:fillRect/>
          </a:stretch>
        </p:blipFill>
        <p:spPr>
          <a:xfrm>
            <a:off x="2508687" y="1976844"/>
            <a:ext cx="755026" cy="548640"/>
          </a:xfrm>
          <a:prstGeom prst="roundRect">
            <a:avLst>
              <a:gd name="adj" fmla="val 16667"/>
            </a:avLst>
          </a:prstGeom>
          <a:ln w="12700">
            <a:solidFill>
              <a:sysClr val="window" lastClr="FFFFFF">
                <a:lumMod val="50000"/>
              </a:sysClr>
            </a:solidFill>
          </a:ln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4BD0535F-DDB0-2E23-9ED7-60FAA9F7CB1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50822" y="1975403"/>
            <a:ext cx="755026" cy="547200"/>
          </a:xfrm>
          <a:prstGeom prst="roundRect">
            <a:avLst>
              <a:gd name="adj" fmla="val 16667"/>
            </a:avLst>
          </a:prstGeom>
          <a:ln w="12700">
            <a:solidFill>
              <a:sysClr val="window" lastClr="FFFFFF">
                <a:lumMod val="50000"/>
              </a:sysClr>
            </a:solidFill>
          </a:ln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C3B91301-1606-0F63-DA09-CB03EC80E88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366552" y="1975402"/>
            <a:ext cx="776919" cy="547199"/>
          </a:xfrm>
          <a:prstGeom prst="roundRect">
            <a:avLst>
              <a:gd name="adj" fmla="val 16667"/>
            </a:avLst>
          </a:prstGeom>
          <a:ln w="12700">
            <a:solidFill>
              <a:sysClr val="window" lastClr="FFFFFF">
                <a:lumMod val="50000"/>
              </a:sysClr>
            </a:solidFill>
          </a:ln>
        </p:spPr>
      </p:pic>
      <p:sp>
        <p:nvSpPr>
          <p:cNvPr id="2" name="실행 단추: 앞으로 또는 다음으로 이동 1">
            <a:hlinkClick r:id="rId13" action="ppaction://hlinksldjump" highlightClick="1"/>
            <a:extLst>
              <a:ext uri="{FF2B5EF4-FFF2-40B4-BE49-F238E27FC236}">
                <a16:creationId xmlns:a16="http://schemas.microsoft.com/office/drawing/2014/main" id="{5BC620B1-FFBA-C230-5D4B-F21907F23D1D}"/>
              </a:ext>
            </a:extLst>
          </p:cNvPr>
          <p:cNvSpPr/>
          <p:nvPr/>
        </p:nvSpPr>
        <p:spPr>
          <a:xfrm flipH="1">
            <a:off x="11875755" y="6604005"/>
            <a:ext cx="174171" cy="162773"/>
          </a:xfrm>
          <a:prstGeom prst="actionButtonForwardNext">
            <a:avLst/>
          </a:prstGeom>
          <a:solidFill>
            <a:schemeClr val="bg1">
              <a:lumMod val="85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17169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6881101-CADA-4033-9F7B-31E8DDFEE038}"/>
              </a:ext>
            </a:extLst>
          </p:cNvPr>
          <p:cNvSpPr txBox="1"/>
          <p:nvPr/>
        </p:nvSpPr>
        <p:spPr>
          <a:xfrm>
            <a:off x="203200" y="76200"/>
            <a:ext cx="9652000" cy="3937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2000" b="1">
                <a:solidFill>
                  <a:srgbClr val="0D0D0D"/>
                </a:solidFill>
                <a:latin typeface="Arial Narrow"/>
              </a:rPr>
              <a:t>해외영업 문의 답변서 </a:t>
            </a:r>
            <a:r>
              <a:rPr lang="en-US" altLang="ko-KR" sz="2000" b="1">
                <a:solidFill>
                  <a:srgbClr val="0D0D0D"/>
                </a:solidFill>
                <a:latin typeface="Arial Narrow"/>
              </a:rPr>
              <a:t>_ Micro RGB / Mini RGB </a:t>
            </a:r>
            <a:r>
              <a:rPr lang="ko-KR" altLang="en-US" sz="2000" b="1">
                <a:solidFill>
                  <a:srgbClr val="0D0D0D"/>
                </a:solidFill>
                <a:latin typeface="Arial Narrow"/>
              </a:rPr>
              <a:t>기술</a:t>
            </a:r>
            <a:r>
              <a:rPr lang="en-US" altLang="ko-KR" sz="2000" b="1">
                <a:solidFill>
                  <a:srgbClr val="0D0D0D"/>
                </a:solidFill>
                <a:latin typeface="Arial Narrow"/>
              </a:rPr>
              <a:t>·</a:t>
            </a:r>
            <a:r>
              <a:rPr lang="ko-KR" altLang="en-US" sz="2000" b="1">
                <a:solidFill>
                  <a:srgbClr val="0D0D0D"/>
                </a:solidFill>
                <a:latin typeface="Arial Narrow"/>
              </a:rPr>
              <a:t>시장 정리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405395-EF46-4605-92FE-D51BDAA0116E}"/>
              </a:ext>
            </a:extLst>
          </p:cNvPr>
          <p:cNvSpPr txBox="1"/>
          <p:nvPr/>
        </p:nvSpPr>
        <p:spPr>
          <a:xfrm>
            <a:off x="9994900" y="114300"/>
            <a:ext cx="1879600" cy="3429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600" b="1">
                <a:solidFill>
                  <a:srgbClr val="0D0D0D"/>
                </a:solidFill>
                <a:latin typeface="Arial Narrow"/>
              </a:rPr>
              <a:t>'26</a:t>
            </a:r>
            <a:r>
              <a:rPr lang="ko-KR" altLang="en-US" sz="1600" b="1">
                <a:solidFill>
                  <a:srgbClr val="0D0D0D"/>
                </a:solidFill>
                <a:latin typeface="Arial Narrow"/>
              </a:rPr>
              <a:t>년 </a:t>
            </a:r>
            <a:r>
              <a:rPr lang="en-US" altLang="ko-KR" sz="1600" b="1">
                <a:solidFill>
                  <a:srgbClr val="0D0D0D"/>
                </a:solidFill>
                <a:latin typeface="Arial Narrow"/>
              </a:rPr>
              <a:t>RGB LED TV</a:t>
            </a:r>
            <a:endParaRPr lang="ko-KR" altLang="en-US" sz="1600" b="1">
              <a:solidFill>
                <a:srgbClr val="0D0D0D"/>
              </a:solidFill>
              <a:latin typeface="Arial Narrow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7E09473-66C5-46E8-84C2-7E5460411133}"/>
              </a:ext>
            </a:extLst>
          </p:cNvPr>
          <p:cNvSpPr/>
          <p:nvPr/>
        </p:nvSpPr>
        <p:spPr>
          <a:xfrm>
            <a:off x="203200" y="533400"/>
            <a:ext cx="11734800" cy="25400"/>
          </a:xfrm>
          <a:prstGeom prst="rect">
            <a:avLst/>
          </a:prstGeom>
          <a:solidFill>
            <a:srgbClr val="A5003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4FD157-BA6B-46F9-A827-49B74EBCD999}"/>
              </a:ext>
            </a:extLst>
          </p:cNvPr>
          <p:cNvSpPr txBox="1"/>
          <p:nvPr/>
        </p:nvSpPr>
        <p:spPr>
          <a:xfrm>
            <a:off x="279400" y="711200"/>
            <a:ext cx="1143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300">
                <a:solidFill>
                  <a:srgbClr val="404040"/>
                </a:solidFill>
                <a:latin typeface="맑은 고딕"/>
                <a:ea typeface="맑은 고딕"/>
              </a:rPr>
              <a:t>해외영업 담당자 문의 </a:t>
            </a:r>
            <a:r>
              <a:rPr lang="en-US" altLang="ko-KR" sz="1300">
                <a:solidFill>
                  <a:srgbClr val="404040"/>
                </a:solidFill>
                <a:latin typeface="맑은 고딕"/>
                <a:ea typeface="맑은 고딕"/>
              </a:rPr>
              <a:t>5</a:t>
            </a:r>
            <a:r>
              <a:rPr lang="ko-KR" altLang="en-US" sz="1300">
                <a:solidFill>
                  <a:srgbClr val="404040"/>
                </a:solidFill>
                <a:latin typeface="맑은 고딕"/>
                <a:ea typeface="맑은 고딕"/>
              </a:rPr>
              <a:t>건에 대한 기술</a:t>
            </a:r>
            <a:r>
              <a:rPr lang="en-US" altLang="ko-KR" sz="1300">
                <a:solidFill>
                  <a:srgbClr val="404040"/>
                </a:solidFill>
                <a:latin typeface="맑은 고딕"/>
                <a:ea typeface="맑은 고딕"/>
              </a:rPr>
              <a:t>·</a:t>
            </a:r>
            <a:r>
              <a:rPr lang="ko-KR" altLang="en-US" sz="1300">
                <a:solidFill>
                  <a:srgbClr val="404040"/>
                </a:solidFill>
                <a:latin typeface="맑은 고딕"/>
                <a:ea typeface="맑은 고딕"/>
              </a:rPr>
              <a:t>경쟁구도</a:t>
            </a:r>
            <a:r>
              <a:rPr lang="en-US" altLang="ko-KR" sz="1300">
                <a:solidFill>
                  <a:srgbClr val="404040"/>
                </a:solidFill>
                <a:latin typeface="맑은 고딕"/>
                <a:ea typeface="맑은 고딕"/>
              </a:rPr>
              <a:t>·</a:t>
            </a:r>
            <a:r>
              <a:rPr lang="ko-KR" altLang="en-US" sz="1300">
                <a:solidFill>
                  <a:srgbClr val="404040"/>
                </a:solidFill>
                <a:latin typeface="맑은 고딕"/>
                <a:ea typeface="맑은 고딕"/>
              </a:rPr>
              <a:t>시장대응 답변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EF0ED316-DE2F-495C-BB5A-82BE8305DBFC}"/>
              </a:ext>
            </a:extLst>
          </p:cNvPr>
          <p:cNvSpPr/>
          <p:nvPr/>
        </p:nvSpPr>
        <p:spPr>
          <a:xfrm>
            <a:off x="279400" y="1206500"/>
            <a:ext cx="825500" cy="762000"/>
          </a:xfrm>
          <a:prstGeom prst="roundRect">
            <a:avLst/>
          </a:prstGeom>
          <a:solidFill>
            <a:srgbClr val="A5003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2200" b="1">
                <a:solidFill>
                  <a:srgbClr val="FFFFFF"/>
                </a:solidFill>
                <a:latin typeface="Arial Narrow"/>
              </a:rPr>
              <a:t>Q1</a:t>
            </a:r>
            <a:endParaRPr lang="ko-KR" altLang="en-US" sz="2200" b="1">
              <a:solidFill>
                <a:srgbClr val="FFFFFF"/>
              </a:solidFill>
              <a:latin typeface="Arial Narrow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AFCAE48-EAEE-4292-B5AC-FD751709144F}"/>
              </a:ext>
            </a:extLst>
          </p:cNvPr>
          <p:cNvSpPr/>
          <p:nvPr/>
        </p:nvSpPr>
        <p:spPr>
          <a:xfrm>
            <a:off x="1206500" y="1206500"/>
            <a:ext cx="10731500" cy="762000"/>
          </a:xfrm>
          <a:prstGeom prst="rect">
            <a:avLst/>
          </a:prstGeom>
          <a:solidFill>
            <a:srgbClr val="F5F5F5"/>
          </a:solidFill>
          <a:ln w="6350" cap="flat" cmpd="sng" algn="ctr">
            <a:solidFill>
              <a:srgbClr val="D9D9D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ko-KR" altLang="en-US" sz="1600">
                <a:solidFill>
                  <a:srgbClr val="1A1A1A"/>
                </a:solidFill>
                <a:latin typeface="맑은 고딕"/>
                <a:ea typeface="맑은 고딕"/>
              </a:rPr>
              <a:t>당사 </a:t>
            </a:r>
            <a:r>
              <a:rPr lang="en-US" altLang="ko-KR" sz="1600">
                <a:solidFill>
                  <a:srgbClr val="1A1A1A"/>
                </a:solidFill>
                <a:latin typeface="맑은 고딕"/>
                <a:ea typeface="맑은 고딕"/>
              </a:rPr>
              <a:t>Micro RGB</a:t>
            </a:r>
            <a:r>
              <a:rPr lang="ko-KR" altLang="en-US" sz="1600">
                <a:solidFill>
                  <a:srgbClr val="1A1A1A"/>
                </a:solidFill>
                <a:latin typeface="맑은 고딕"/>
                <a:ea typeface="맑은 고딕"/>
              </a:rPr>
              <a:t>와 </a:t>
            </a:r>
            <a:r>
              <a:rPr lang="en-US" altLang="ko-KR" sz="1600">
                <a:solidFill>
                  <a:srgbClr val="1A1A1A"/>
                </a:solidFill>
                <a:latin typeface="맑은 고딕"/>
                <a:ea typeface="맑은 고딕"/>
              </a:rPr>
              <a:t>Mini RGB</a:t>
            </a:r>
            <a:r>
              <a:rPr lang="ko-KR" altLang="en-US" sz="1600">
                <a:solidFill>
                  <a:srgbClr val="1A1A1A"/>
                </a:solidFill>
                <a:latin typeface="맑은 고딕"/>
                <a:ea typeface="맑은 고딕"/>
              </a:rPr>
              <a:t>는 무엇이 다른가</a:t>
            </a:r>
            <a:r>
              <a:rPr lang="en-US" altLang="ko-KR" sz="1600">
                <a:solidFill>
                  <a:srgbClr val="1A1A1A"/>
                </a:solidFill>
                <a:latin typeface="맑은 고딕"/>
                <a:ea typeface="맑은 고딕"/>
              </a:rPr>
              <a:t>?</a:t>
            </a:r>
            <a:endParaRPr lang="ko-KR" altLang="en-US" sz="1600">
              <a:solidFill>
                <a:srgbClr val="1A1A1A"/>
              </a:solidFill>
              <a:latin typeface="맑은 고딕"/>
              <a:ea typeface="맑은 고딕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BFB12F6C-13D8-47E9-93D6-BDF4F3C3DAB1}"/>
              </a:ext>
            </a:extLst>
          </p:cNvPr>
          <p:cNvSpPr/>
          <p:nvPr/>
        </p:nvSpPr>
        <p:spPr>
          <a:xfrm>
            <a:off x="279400" y="2159000"/>
            <a:ext cx="825500" cy="762000"/>
          </a:xfrm>
          <a:prstGeom prst="roundRect">
            <a:avLst/>
          </a:prstGeom>
          <a:solidFill>
            <a:srgbClr val="A5003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2200" b="1">
                <a:solidFill>
                  <a:srgbClr val="FFFFFF"/>
                </a:solidFill>
                <a:latin typeface="Arial Narrow"/>
              </a:rPr>
              <a:t>Q2</a:t>
            </a:r>
            <a:endParaRPr lang="ko-KR" altLang="en-US" sz="2200" b="1">
              <a:solidFill>
                <a:srgbClr val="FFFFFF"/>
              </a:solidFill>
              <a:latin typeface="Arial Narrow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962C5BB-32DB-40C1-BA07-1E2CBF9C0525}"/>
              </a:ext>
            </a:extLst>
          </p:cNvPr>
          <p:cNvSpPr/>
          <p:nvPr/>
        </p:nvSpPr>
        <p:spPr>
          <a:xfrm>
            <a:off x="1206500" y="2159000"/>
            <a:ext cx="10731500" cy="762000"/>
          </a:xfrm>
          <a:prstGeom prst="rect">
            <a:avLst/>
          </a:prstGeom>
          <a:solidFill>
            <a:srgbClr val="F5F5F5"/>
          </a:solidFill>
          <a:ln w="6350" cap="flat" cmpd="sng" algn="ctr">
            <a:solidFill>
              <a:srgbClr val="D9D9D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ko-KR" altLang="en-US" sz="1600">
                <a:solidFill>
                  <a:srgbClr val="1A1A1A"/>
                </a:solidFill>
                <a:latin typeface="맑은 고딕"/>
                <a:ea typeface="맑은 고딕"/>
              </a:rPr>
              <a:t>당사 </a:t>
            </a:r>
            <a:r>
              <a:rPr lang="en-US" altLang="ko-KR" sz="1600">
                <a:solidFill>
                  <a:srgbClr val="1A1A1A"/>
                </a:solidFill>
                <a:latin typeface="맑은 고딕"/>
                <a:ea typeface="맑은 고딕"/>
              </a:rPr>
              <a:t>Micro RGB</a:t>
            </a:r>
            <a:r>
              <a:rPr lang="ko-KR" altLang="en-US" sz="1600">
                <a:solidFill>
                  <a:srgbClr val="1A1A1A"/>
                </a:solidFill>
                <a:latin typeface="맑은 고딕"/>
                <a:ea typeface="맑은 고딕"/>
              </a:rPr>
              <a:t>는 </a:t>
            </a:r>
            <a:r>
              <a:rPr lang="en-US" altLang="ko-KR" sz="1600">
                <a:solidFill>
                  <a:srgbClr val="1A1A1A"/>
                </a:solidFill>
                <a:latin typeface="맑은 고딕"/>
                <a:ea typeface="맑은 고딕"/>
              </a:rPr>
              <a:t>Samsung Micro RGB</a:t>
            </a:r>
            <a:r>
              <a:rPr lang="ko-KR" altLang="en-US" sz="1600">
                <a:solidFill>
                  <a:srgbClr val="1A1A1A"/>
                </a:solidFill>
                <a:latin typeface="맑은 고딕"/>
                <a:ea typeface="맑은 고딕"/>
              </a:rPr>
              <a:t>와 동일한 기술인가</a:t>
            </a:r>
            <a:r>
              <a:rPr lang="en-US" altLang="ko-KR" sz="1600">
                <a:solidFill>
                  <a:srgbClr val="1A1A1A"/>
                </a:solidFill>
                <a:latin typeface="맑은 고딕"/>
                <a:ea typeface="맑은 고딕"/>
              </a:rPr>
              <a:t>?</a:t>
            </a:r>
            <a:endParaRPr lang="ko-KR" altLang="en-US" sz="1600">
              <a:solidFill>
                <a:srgbClr val="1A1A1A"/>
              </a:solidFill>
              <a:latin typeface="맑은 고딕"/>
              <a:ea typeface="맑은 고딕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7AB002CA-4ED9-4ACA-9653-E1F8FFBB9F3D}"/>
              </a:ext>
            </a:extLst>
          </p:cNvPr>
          <p:cNvSpPr/>
          <p:nvPr/>
        </p:nvSpPr>
        <p:spPr>
          <a:xfrm>
            <a:off x="279400" y="3111500"/>
            <a:ext cx="825500" cy="762000"/>
          </a:xfrm>
          <a:prstGeom prst="roundRect">
            <a:avLst/>
          </a:prstGeom>
          <a:solidFill>
            <a:srgbClr val="A5003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2200" b="1">
                <a:solidFill>
                  <a:srgbClr val="FFFFFF"/>
                </a:solidFill>
                <a:latin typeface="Arial Narrow"/>
              </a:rPr>
              <a:t>Q3</a:t>
            </a:r>
            <a:endParaRPr lang="ko-KR" altLang="en-US" sz="2200" b="1">
              <a:solidFill>
                <a:srgbClr val="FFFFFF"/>
              </a:solidFill>
              <a:latin typeface="Arial Narrow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DC019AB-B240-456A-8C38-9ECE9B0FBB14}"/>
              </a:ext>
            </a:extLst>
          </p:cNvPr>
          <p:cNvSpPr/>
          <p:nvPr/>
        </p:nvSpPr>
        <p:spPr>
          <a:xfrm>
            <a:off x="1206500" y="3111500"/>
            <a:ext cx="10731500" cy="762000"/>
          </a:xfrm>
          <a:prstGeom prst="rect">
            <a:avLst/>
          </a:prstGeom>
          <a:solidFill>
            <a:srgbClr val="F5F5F5"/>
          </a:solidFill>
          <a:ln w="6350" cap="flat" cmpd="sng" algn="ctr">
            <a:solidFill>
              <a:srgbClr val="D9D9D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altLang="ko-KR" sz="1600">
                <a:solidFill>
                  <a:srgbClr val="1A1A1A"/>
                </a:solidFill>
                <a:latin typeface="맑은 고딕"/>
                <a:ea typeface="맑은 고딕"/>
              </a:rPr>
              <a:t>Industry Standard </a:t>
            </a:r>
            <a:r>
              <a:rPr lang="ko-KR" altLang="en-US" sz="1600">
                <a:solidFill>
                  <a:srgbClr val="1A1A1A"/>
                </a:solidFill>
                <a:latin typeface="맑은 고딕"/>
                <a:ea typeface="맑은 고딕"/>
              </a:rPr>
              <a:t>명칭과 자사 </a:t>
            </a:r>
            <a:r>
              <a:rPr lang="en-US" altLang="ko-KR" sz="1600">
                <a:solidFill>
                  <a:srgbClr val="1A1A1A"/>
                </a:solidFill>
                <a:latin typeface="맑은 고딕"/>
                <a:ea typeface="맑은 고딕"/>
              </a:rPr>
              <a:t>Mini RGB </a:t>
            </a:r>
            <a:r>
              <a:rPr lang="ko-KR" altLang="en-US" sz="1600">
                <a:solidFill>
                  <a:srgbClr val="1A1A1A"/>
                </a:solidFill>
                <a:latin typeface="맑은 고딕"/>
                <a:ea typeface="맑은 고딕"/>
              </a:rPr>
              <a:t>비교 카테고리는</a:t>
            </a:r>
            <a:r>
              <a:rPr lang="en-US" altLang="ko-KR" sz="1600">
                <a:solidFill>
                  <a:srgbClr val="1A1A1A"/>
                </a:solidFill>
                <a:latin typeface="맑은 고딕"/>
                <a:ea typeface="맑은 고딕"/>
              </a:rPr>
              <a:t>?</a:t>
            </a:r>
            <a:endParaRPr lang="ko-KR" altLang="en-US" sz="1600">
              <a:solidFill>
                <a:srgbClr val="1A1A1A"/>
              </a:solidFill>
              <a:latin typeface="맑은 고딕"/>
              <a:ea typeface="맑은 고딕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824FD13D-B4D3-4EA7-83B9-21AABDA28979}"/>
              </a:ext>
            </a:extLst>
          </p:cNvPr>
          <p:cNvSpPr/>
          <p:nvPr/>
        </p:nvSpPr>
        <p:spPr>
          <a:xfrm>
            <a:off x="279400" y="4064000"/>
            <a:ext cx="825500" cy="762000"/>
          </a:xfrm>
          <a:prstGeom prst="roundRect">
            <a:avLst/>
          </a:prstGeom>
          <a:solidFill>
            <a:srgbClr val="A5003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2200" b="1">
                <a:solidFill>
                  <a:srgbClr val="FFFFFF"/>
                </a:solidFill>
                <a:latin typeface="Arial Narrow"/>
              </a:rPr>
              <a:t>Q4</a:t>
            </a:r>
            <a:endParaRPr lang="ko-KR" altLang="en-US" sz="2200" b="1">
              <a:solidFill>
                <a:srgbClr val="FFFFFF"/>
              </a:solidFill>
              <a:latin typeface="Arial Narrow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F727581-3F52-4C85-A32E-F77D840068AF}"/>
              </a:ext>
            </a:extLst>
          </p:cNvPr>
          <p:cNvSpPr/>
          <p:nvPr/>
        </p:nvSpPr>
        <p:spPr>
          <a:xfrm>
            <a:off x="1206500" y="4064000"/>
            <a:ext cx="10731500" cy="762000"/>
          </a:xfrm>
          <a:prstGeom prst="rect">
            <a:avLst/>
          </a:prstGeom>
          <a:solidFill>
            <a:srgbClr val="F5F5F5"/>
          </a:solidFill>
          <a:ln w="6350" cap="flat" cmpd="sng" algn="ctr">
            <a:solidFill>
              <a:srgbClr val="D9D9D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altLang="ko-KR" sz="1600">
                <a:solidFill>
                  <a:srgbClr val="1A1A1A"/>
                </a:solidFill>
                <a:latin typeface="맑은 고딕"/>
                <a:ea typeface="맑은 고딕"/>
              </a:rPr>
              <a:t>Sony 2026</a:t>
            </a:r>
            <a:r>
              <a:rPr lang="ko-KR" altLang="en-US" sz="1600">
                <a:solidFill>
                  <a:srgbClr val="1A1A1A"/>
                </a:solidFill>
                <a:latin typeface="맑은 고딕"/>
                <a:ea typeface="맑은 고딕"/>
              </a:rPr>
              <a:t>년 </a:t>
            </a:r>
            <a:r>
              <a:rPr lang="en-US" altLang="ko-KR" sz="1600">
                <a:solidFill>
                  <a:srgbClr val="1A1A1A"/>
                </a:solidFill>
                <a:latin typeface="맑은 고딕"/>
                <a:ea typeface="맑은 고딕"/>
              </a:rPr>
              <a:t>RGB TV </a:t>
            </a:r>
            <a:r>
              <a:rPr lang="ko-KR" altLang="en-US" sz="1600">
                <a:solidFill>
                  <a:srgbClr val="1A1A1A"/>
                </a:solidFill>
                <a:latin typeface="맑은 고딕"/>
                <a:ea typeface="맑은 고딕"/>
              </a:rPr>
              <a:t>대응 현황은</a:t>
            </a:r>
            <a:r>
              <a:rPr lang="en-US" altLang="ko-KR" sz="1600">
                <a:solidFill>
                  <a:srgbClr val="1A1A1A"/>
                </a:solidFill>
                <a:latin typeface="맑은 고딕"/>
                <a:ea typeface="맑은 고딕"/>
              </a:rPr>
              <a:t>?</a:t>
            </a:r>
            <a:endParaRPr lang="ko-KR" altLang="en-US" sz="1600">
              <a:solidFill>
                <a:srgbClr val="1A1A1A"/>
              </a:solidFill>
              <a:latin typeface="맑은 고딕"/>
              <a:ea typeface="맑은 고딕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BC3EB0DD-C5FA-4D12-91DB-46F2D36ECF80}"/>
              </a:ext>
            </a:extLst>
          </p:cNvPr>
          <p:cNvSpPr/>
          <p:nvPr/>
        </p:nvSpPr>
        <p:spPr>
          <a:xfrm>
            <a:off x="279400" y="5016500"/>
            <a:ext cx="825500" cy="762000"/>
          </a:xfrm>
          <a:prstGeom prst="roundRect">
            <a:avLst/>
          </a:prstGeom>
          <a:solidFill>
            <a:srgbClr val="A5003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2200" b="1">
                <a:solidFill>
                  <a:srgbClr val="FFFFFF"/>
                </a:solidFill>
                <a:latin typeface="Arial Narrow"/>
              </a:rPr>
              <a:t>Q5</a:t>
            </a:r>
            <a:endParaRPr lang="ko-KR" altLang="en-US" sz="2200" b="1">
              <a:solidFill>
                <a:srgbClr val="FFFFFF"/>
              </a:solidFill>
              <a:latin typeface="Arial Narrow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D536256-2D90-4CE8-BDF8-3D39A7491CE5}"/>
              </a:ext>
            </a:extLst>
          </p:cNvPr>
          <p:cNvSpPr/>
          <p:nvPr/>
        </p:nvSpPr>
        <p:spPr>
          <a:xfrm>
            <a:off x="1206500" y="5016500"/>
            <a:ext cx="10731500" cy="762000"/>
          </a:xfrm>
          <a:prstGeom prst="rect">
            <a:avLst/>
          </a:prstGeom>
          <a:solidFill>
            <a:srgbClr val="F5F5F5"/>
          </a:solidFill>
          <a:ln w="6350" cap="flat" cmpd="sng" algn="ctr">
            <a:solidFill>
              <a:srgbClr val="D9D9D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ko-KR" altLang="en-US" sz="1600">
                <a:solidFill>
                  <a:srgbClr val="1A1A1A"/>
                </a:solidFill>
                <a:latin typeface="맑은 고딕"/>
                <a:ea typeface="맑은 고딕"/>
              </a:rPr>
              <a:t>거래선</a:t>
            </a:r>
            <a:r>
              <a:rPr lang="en-US" altLang="ko-KR" sz="1600">
                <a:solidFill>
                  <a:srgbClr val="1A1A1A"/>
                </a:solidFill>
                <a:latin typeface="맑은 고딕"/>
                <a:ea typeface="맑은 고딕"/>
              </a:rPr>
              <a:t>·</a:t>
            </a:r>
            <a:r>
              <a:rPr lang="ko-KR" altLang="en-US" sz="1600">
                <a:solidFill>
                  <a:srgbClr val="1A1A1A"/>
                </a:solidFill>
                <a:latin typeface="맑은 고딕"/>
                <a:ea typeface="맑은 고딕"/>
              </a:rPr>
              <a:t>시장에 어떻게 소구할 것인가</a:t>
            </a:r>
            <a:r>
              <a:rPr lang="en-US" altLang="ko-KR" sz="1600">
                <a:solidFill>
                  <a:srgbClr val="1A1A1A"/>
                </a:solidFill>
                <a:latin typeface="맑은 고딕"/>
                <a:ea typeface="맑은 고딕"/>
              </a:rPr>
              <a:t>?</a:t>
            </a:r>
            <a:endParaRPr lang="ko-KR" altLang="en-US" sz="1600">
              <a:solidFill>
                <a:srgbClr val="1A1A1A"/>
              </a:solidFill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6397636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744A4CC-784D-415B-A734-F917AF8FC9E2}"/>
              </a:ext>
            </a:extLst>
          </p:cNvPr>
          <p:cNvSpPr txBox="1"/>
          <p:nvPr/>
        </p:nvSpPr>
        <p:spPr>
          <a:xfrm>
            <a:off x="203200" y="76200"/>
            <a:ext cx="9652000" cy="3937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2000" b="1">
                <a:solidFill>
                  <a:srgbClr val="0D0D0D"/>
                </a:solidFill>
                <a:latin typeface="Arial Narrow"/>
              </a:rPr>
              <a:t>Q1. </a:t>
            </a:r>
            <a:r>
              <a:rPr lang="ko-KR" altLang="en-US" sz="2000" b="1">
                <a:solidFill>
                  <a:srgbClr val="0D0D0D"/>
                </a:solidFill>
                <a:latin typeface="Arial Narrow"/>
              </a:rPr>
              <a:t>당사 </a:t>
            </a:r>
            <a:r>
              <a:rPr lang="en-US" altLang="ko-KR" sz="2000" b="1">
                <a:solidFill>
                  <a:srgbClr val="0D0D0D"/>
                </a:solidFill>
                <a:latin typeface="Arial Narrow"/>
              </a:rPr>
              <a:t>Micro RGB vs Mini RGB _ </a:t>
            </a:r>
            <a:r>
              <a:rPr lang="ko-KR" altLang="en-US" sz="2000" b="1">
                <a:solidFill>
                  <a:srgbClr val="0D0D0D"/>
                </a:solidFill>
                <a:latin typeface="Arial Narrow"/>
              </a:rPr>
              <a:t>기술 구분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A82F80-8A2B-4A4A-B2EC-7E854455D202}"/>
              </a:ext>
            </a:extLst>
          </p:cNvPr>
          <p:cNvSpPr txBox="1"/>
          <p:nvPr/>
        </p:nvSpPr>
        <p:spPr>
          <a:xfrm>
            <a:off x="9994900" y="114300"/>
            <a:ext cx="1879600" cy="3429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600" b="1">
                <a:solidFill>
                  <a:srgbClr val="0D0D0D"/>
                </a:solidFill>
                <a:latin typeface="Arial Narrow"/>
              </a:rPr>
              <a:t>'26</a:t>
            </a:r>
            <a:r>
              <a:rPr lang="ko-KR" altLang="en-US" sz="1600" b="1">
                <a:solidFill>
                  <a:srgbClr val="0D0D0D"/>
                </a:solidFill>
                <a:latin typeface="Arial Narrow"/>
              </a:rPr>
              <a:t>년 </a:t>
            </a:r>
            <a:r>
              <a:rPr lang="en-US" altLang="ko-KR" sz="1600" b="1">
                <a:solidFill>
                  <a:srgbClr val="0D0D0D"/>
                </a:solidFill>
                <a:latin typeface="Arial Narrow"/>
              </a:rPr>
              <a:t>RGB LED TV</a:t>
            </a:r>
            <a:endParaRPr lang="ko-KR" altLang="en-US" sz="1600" b="1">
              <a:solidFill>
                <a:srgbClr val="0D0D0D"/>
              </a:solidFill>
              <a:latin typeface="Arial Narrow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C0AA3CD-F0B9-4FF6-A8E9-8420E4CA83DD}"/>
              </a:ext>
            </a:extLst>
          </p:cNvPr>
          <p:cNvSpPr/>
          <p:nvPr/>
        </p:nvSpPr>
        <p:spPr>
          <a:xfrm>
            <a:off x="203200" y="533400"/>
            <a:ext cx="11734800" cy="25400"/>
          </a:xfrm>
          <a:prstGeom prst="rect">
            <a:avLst/>
          </a:prstGeom>
          <a:solidFill>
            <a:srgbClr val="A5003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71742B3-7D6B-499B-B53A-C02AD2D53BC7}"/>
              </a:ext>
            </a:extLst>
          </p:cNvPr>
          <p:cNvSpPr/>
          <p:nvPr/>
        </p:nvSpPr>
        <p:spPr>
          <a:xfrm>
            <a:off x="279400" y="711200"/>
            <a:ext cx="11658600" cy="635000"/>
          </a:xfrm>
          <a:prstGeom prst="rect">
            <a:avLst/>
          </a:prstGeom>
          <a:solidFill>
            <a:srgbClr val="FDF2F5"/>
          </a:solidFill>
          <a:ln w="12700" cap="flat" cmpd="sng" algn="ctr">
            <a:solidFill>
              <a:srgbClr val="A5003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>
              <a:lnSpc>
                <a:spcPts val="1700"/>
              </a:lnSpc>
              <a:buNone/>
            </a:pPr>
            <a:r>
              <a:rPr lang="ko-KR" sz="1400" b="1" dirty="0">
                <a:solidFill>
                  <a:srgbClr val="A50034"/>
                </a:solidFill>
                <a:latin typeface="맑은 고딕"/>
              </a:rPr>
              <a:t>[답] </a:t>
            </a:r>
            <a:r>
              <a:rPr lang="ko-KR" sz="1400" dirty="0">
                <a:solidFill>
                  <a:srgbClr val="A50034"/>
                </a:solidFill>
                <a:latin typeface="맑은 고딕"/>
              </a:rPr>
              <a:t>색재현·디밍·프로세서 등급 차이로 구분 — </a:t>
            </a:r>
            <a:r>
              <a:rPr lang="ko-KR" sz="1400" b="1" dirty="0">
                <a:solidFill>
                  <a:srgbClr val="A50034"/>
                </a:solidFill>
                <a:latin typeface="맑은 고딕"/>
              </a:rPr>
              <a:t>Micro RGB evo (MRGB95B)</a:t>
            </a:r>
            <a:r>
              <a:rPr lang="ko-KR" sz="1400" dirty="0">
                <a:solidFill>
                  <a:srgbClr val="A50034"/>
                </a:solidFill>
                <a:latin typeface="맑은 고딕"/>
              </a:rPr>
              <a:t>=Ultra 등급 플래그십, </a:t>
            </a:r>
            <a:r>
              <a:rPr lang="ko-KR" sz="1400" b="1" dirty="0">
                <a:solidFill>
                  <a:srgbClr val="A50034"/>
                </a:solidFill>
                <a:latin typeface="맑은 고딕"/>
              </a:rPr>
              <a:t>Mini RGB evo (MRGB9MB/85B)</a:t>
            </a:r>
            <a:r>
              <a:rPr lang="ko-KR" sz="1400" dirty="0">
                <a:solidFill>
                  <a:srgbClr val="A50034"/>
                </a:solidFill>
                <a:latin typeface="맑은 고딕"/>
              </a:rPr>
              <a:t>=Pro 등급 보급형 (Zero Connect 차별)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CAA4D89-B37F-47C3-BE5C-085C904D889F}"/>
              </a:ext>
            </a:extLst>
          </p:cNvPr>
          <p:cNvSpPr/>
          <p:nvPr/>
        </p:nvSpPr>
        <p:spPr>
          <a:xfrm>
            <a:off x="279400" y="1498600"/>
            <a:ext cx="5816600" cy="482600"/>
          </a:xfrm>
          <a:prstGeom prst="rect">
            <a:avLst/>
          </a:prstGeom>
          <a:solidFill>
            <a:srgbClr val="A5003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>
              <a:buNone/>
            </a:pPr>
            <a:r>
              <a:rPr lang="ko-KR" sz="1600" b="1" dirty="0">
                <a:solidFill>
                  <a:srgbClr val="FFFFFF"/>
                </a:solidFill>
                <a:latin typeface="맑은 고딕"/>
              </a:rPr>
              <a:t>Micro RGB evo (MRGB95B) _ 플래그십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E601FC9-C52F-400B-83E9-8A6D7FB56685}"/>
              </a:ext>
            </a:extLst>
          </p:cNvPr>
          <p:cNvSpPr/>
          <p:nvPr/>
        </p:nvSpPr>
        <p:spPr>
          <a:xfrm>
            <a:off x="6121400" y="1498600"/>
            <a:ext cx="5816600" cy="482600"/>
          </a:xfrm>
          <a:prstGeom prst="rect">
            <a:avLst/>
          </a:prstGeom>
          <a:solidFill>
            <a:srgbClr val="40404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>
              <a:buNone/>
            </a:pPr>
            <a:r>
              <a:rPr lang="ko-KR" sz="1600" b="1" dirty="0">
                <a:solidFill>
                  <a:srgbClr val="FFFFFF"/>
                </a:solidFill>
                <a:latin typeface="맑은 고딕"/>
              </a:rPr>
              <a:t>Mini RGB evo (MRGB9MB / MRGB85B)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80C31B1-1408-40A0-8867-237FE80A6EC8}"/>
              </a:ext>
            </a:extLst>
          </p:cNvPr>
          <p:cNvSpPr txBox="1"/>
          <p:nvPr/>
        </p:nvSpPr>
        <p:spPr>
          <a:xfrm>
            <a:off x="279400" y="1981200"/>
            <a:ext cx="5816600" cy="4064000"/>
          </a:xfrm>
          <a:prstGeom prst="rect">
            <a:avLst/>
          </a:prstGeom>
          <a:solidFill>
            <a:srgbClr val="FDF2F5"/>
          </a:solidFill>
          <a:ln w="6350">
            <a:solidFill>
              <a:srgbClr val="A50034"/>
            </a:solidFill>
          </a:ln>
        </p:spPr>
        <p:txBody>
          <a:bodyPr vertOverflow="overflow" vert="horz" wrap="square" rtlCol="0" anchor="t">
            <a:noAutofit/>
          </a:bodyPr>
          <a:lstStyle/>
          <a:p>
            <a:pPr marL="171450" indent="-171450">
              <a:lnSpc>
                <a:spcPts val="1800"/>
              </a:lnSpc>
              <a:spcAft>
                <a:spcPts val="400"/>
              </a:spcAft>
              <a:buFont typeface="Arial"/>
              <a:buChar char="•"/>
            </a:pPr>
            <a:r>
              <a:rPr lang="ko-KR" sz="1300" b="1" dirty="0">
                <a:solidFill>
                  <a:srgbClr val="A50034"/>
                </a:solidFill>
                <a:latin typeface="맑은 고딕"/>
              </a:rPr>
              <a:t>RGB Primary Color Ultra</a:t>
            </a:r>
            <a:r>
              <a:rPr lang="ko-KR" sz="1300" dirty="0">
                <a:solidFill>
                  <a:srgbClr val="0D0D0D"/>
                </a:solidFill>
                <a:latin typeface="맑은 고딕"/>
              </a:rPr>
              <a:t> (DCI 99% / BT2020 90%↑)</a:t>
            </a:r>
          </a:p>
          <a:p>
            <a:pPr marL="171450" indent="-171450">
              <a:lnSpc>
                <a:spcPts val="1800"/>
              </a:lnSpc>
              <a:spcAft>
                <a:spcPts val="400"/>
              </a:spcAft>
              <a:buFont typeface="Arial"/>
              <a:buChar char="•"/>
            </a:pPr>
            <a:r>
              <a:rPr lang="ko-KR" sz="1300" b="1" dirty="0">
                <a:solidFill>
                  <a:srgbClr val="A50034"/>
                </a:solidFill>
                <a:latin typeface="맑은 고딕"/>
              </a:rPr>
              <a:t>Triple 100% Color Coverage</a:t>
            </a:r>
            <a:r>
              <a:rPr lang="ko-KR" sz="1300" dirty="0">
                <a:solidFill>
                  <a:srgbClr val="0D0D0D"/>
                </a:solidFill>
                <a:latin typeface="맑은 고딕"/>
              </a:rPr>
              <a:t> 패널 인증 (BT2020·DCI-P3·Adobe RGB, Intertek)</a:t>
            </a:r>
          </a:p>
          <a:p>
            <a:pPr marL="171450" indent="-171450">
              <a:lnSpc>
                <a:spcPts val="1800"/>
              </a:lnSpc>
              <a:spcAft>
                <a:spcPts val="400"/>
              </a:spcAft>
              <a:buFont typeface="Arial"/>
              <a:buChar char="•"/>
            </a:pPr>
            <a:r>
              <a:rPr lang="ko-KR" sz="1300" b="1" dirty="0">
                <a:solidFill>
                  <a:srgbClr val="A50034"/>
                </a:solidFill>
                <a:latin typeface="맑은 고딕"/>
              </a:rPr>
              <a:t>Micro RGB Ultra Fine Color Control</a:t>
            </a:r>
            <a:r>
              <a:rPr lang="ko-KR" sz="1300" dirty="0">
                <a:solidFill>
                  <a:srgbClr val="0D0D0D"/>
                </a:solidFill>
                <a:latin typeface="맑은 고딕"/>
              </a:rPr>
              <a:t> 인증 (Intertek, IDMS ch.6)</a:t>
            </a:r>
          </a:p>
          <a:p>
            <a:pPr marL="171450" indent="-171450">
              <a:lnSpc>
                <a:spcPts val="1800"/>
              </a:lnSpc>
              <a:spcAft>
                <a:spcPts val="400"/>
              </a:spcAft>
              <a:buFont typeface="Arial"/>
              <a:buChar char="•"/>
            </a:pPr>
            <a:r>
              <a:rPr lang="ko-KR" sz="1300" b="1" dirty="0">
                <a:solidFill>
                  <a:srgbClr val="A50034"/>
                </a:solidFill>
                <a:latin typeface="맑은 고딕"/>
              </a:rPr>
              <a:t>Micro Dimming Ultra</a:t>
            </a:r>
            <a:r>
              <a:rPr lang="ko-KR" sz="1300" dirty="0">
                <a:solidFill>
                  <a:srgbClr val="0D0D0D"/>
                </a:solidFill>
                <a:latin typeface="맑은 고딕"/>
              </a:rPr>
              <a:t> (1,000+ blocks)</a:t>
            </a:r>
          </a:p>
          <a:p>
            <a:pPr marL="171450" indent="-171450">
              <a:lnSpc>
                <a:spcPts val="1800"/>
              </a:lnSpc>
              <a:spcAft>
                <a:spcPts val="400"/>
              </a:spcAft>
              <a:buFont typeface="Arial"/>
              <a:buChar char="•"/>
            </a:pPr>
            <a:r>
              <a:rPr lang="ko-KR" sz="1300" b="1" dirty="0">
                <a:solidFill>
                  <a:srgbClr val="A50034"/>
                </a:solidFill>
                <a:latin typeface="맑은 고딕"/>
              </a:rPr>
              <a:t>α11 AI Processor</a:t>
            </a:r>
            <a:r>
              <a:rPr lang="ko-KR" sz="1300" dirty="0">
                <a:solidFill>
                  <a:srgbClr val="0D0D0D"/>
                </a:solidFill>
                <a:latin typeface="맑은 고딕"/>
              </a:rPr>
              <a:t> + webOS 26</a:t>
            </a:r>
          </a:p>
          <a:p>
            <a:pPr marL="171450" indent="-171450">
              <a:lnSpc>
                <a:spcPts val="1800"/>
              </a:lnSpc>
              <a:spcAft>
                <a:spcPts val="400"/>
              </a:spcAft>
              <a:buFont typeface="Arial"/>
              <a:buChar char="•"/>
            </a:pPr>
            <a:r>
              <a:rPr lang="ko-KR" sz="1300" dirty="0">
                <a:solidFill>
                  <a:srgbClr val="0D0D0D"/>
                </a:solidFill>
                <a:latin typeface="맑은 고딕"/>
              </a:rPr>
              <a:t>Dolby Vision/Atmos, FreeSync Premium, VRR 165Hz</a:t>
            </a:r>
          </a:p>
          <a:p>
            <a:pPr marL="171450" indent="-171450">
              <a:lnSpc>
                <a:spcPts val="1800"/>
              </a:lnSpc>
              <a:spcAft>
                <a:spcPts val="400"/>
              </a:spcAft>
              <a:buFont typeface="Arial"/>
              <a:buChar char="•"/>
            </a:pPr>
            <a:r>
              <a:rPr lang="ko-KR" sz="1300" dirty="0">
                <a:solidFill>
                  <a:srgbClr val="0D0D0D"/>
                </a:solidFill>
                <a:latin typeface="맑은 고딕"/>
              </a:rPr>
              <a:t>Slim Design / Gallery Design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4E8F341-2DBD-476D-9DCB-A963AEBD9581}"/>
              </a:ext>
            </a:extLst>
          </p:cNvPr>
          <p:cNvSpPr txBox="1"/>
          <p:nvPr/>
        </p:nvSpPr>
        <p:spPr>
          <a:xfrm>
            <a:off x="6121400" y="1981200"/>
            <a:ext cx="5816600" cy="4064000"/>
          </a:xfrm>
          <a:prstGeom prst="rect">
            <a:avLst/>
          </a:prstGeom>
          <a:solidFill>
            <a:srgbClr val="F5F5F5"/>
          </a:solidFill>
          <a:ln w="6350">
            <a:solidFill>
              <a:srgbClr val="D9D9D9"/>
            </a:solidFill>
          </a:ln>
        </p:spPr>
        <p:txBody>
          <a:bodyPr vertOverflow="overflow" vert="horz" wrap="square" rtlCol="0" anchor="t">
            <a:noAutofit/>
          </a:bodyPr>
          <a:lstStyle/>
          <a:p>
            <a:pPr marL="171450" indent="-171450">
              <a:lnSpc>
                <a:spcPts val="1800"/>
              </a:lnSpc>
              <a:spcAft>
                <a:spcPts val="400"/>
              </a:spcAft>
              <a:buFont typeface="Arial"/>
              <a:buChar char="•"/>
            </a:pPr>
            <a:r>
              <a:rPr lang="ko-KR" sz="1300" b="1" dirty="0">
                <a:solidFill>
                  <a:srgbClr val="404040"/>
                </a:solidFill>
                <a:latin typeface="맑은 고딕"/>
              </a:rPr>
              <a:t>RGB Primary Color Pro</a:t>
            </a:r>
            <a:r>
              <a:rPr lang="ko-KR" sz="1300" dirty="0">
                <a:solidFill>
                  <a:srgbClr val="0D0D0D"/>
                </a:solidFill>
                <a:latin typeface="맑은 고딕"/>
              </a:rPr>
              <a:t> (DCI 97% / BT2020 75%↑)</a:t>
            </a:r>
          </a:p>
          <a:p>
            <a:pPr marL="171450" indent="-171450">
              <a:lnSpc>
                <a:spcPts val="1800"/>
              </a:lnSpc>
              <a:spcAft>
                <a:spcPts val="400"/>
              </a:spcAft>
              <a:buFont typeface="Arial"/>
              <a:buChar char="•"/>
            </a:pPr>
            <a:r>
              <a:rPr lang="ko-KR" sz="1300" b="1" dirty="0">
                <a:solidFill>
                  <a:srgbClr val="404040"/>
                </a:solidFill>
                <a:latin typeface="맑은 고딕"/>
              </a:rPr>
              <a:t>Micro Dimming</a:t>
            </a:r>
            <a:r>
              <a:rPr lang="ko-KR" sz="1300" dirty="0">
                <a:solidFill>
                  <a:srgbClr val="0D0D0D"/>
                </a:solidFill>
                <a:latin typeface="맑은 고딕"/>
              </a:rPr>
              <a:t> (~99 blocks)</a:t>
            </a:r>
          </a:p>
          <a:p>
            <a:pPr marL="171450" indent="-171450">
              <a:lnSpc>
                <a:spcPts val="1700"/>
              </a:lnSpc>
              <a:spcAft>
                <a:spcPts val="200"/>
              </a:spcAft>
              <a:buFont typeface="Arial"/>
              <a:buChar char="•"/>
            </a:pPr>
            <a:r>
              <a:rPr lang="ko-KR" sz="1300" b="1" dirty="0">
                <a:solidFill>
                  <a:srgbClr val="A50034"/>
                </a:solidFill>
                <a:latin typeface="맑은 고딕"/>
              </a:rPr>
              <a:t>MRGB9MB 차별: Zero Connect Box</a:t>
            </a:r>
          </a:p>
          <a:p>
            <a:pPr marL="342900" lvl="1" indent="-171450">
              <a:lnSpc>
                <a:spcPts val="1500"/>
              </a:lnSpc>
              <a:spcAft>
                <a:spcPts val="100"/>
              </a:spcAft>
              <a:buFont typeface="Arial"/>
              <a:buChar char="‒"/>
            </a:pPr>
            <a:r>
              <a:rPr lang="ko-KR" sz="1100" dirty="0">
                <a:solidFill>
                  <a:srgbClr val="404040"/>
                </a:solidFill>
                <a:latin typeface="맑은 고딕"/>
              </a:rPr>
              <a:t>4K 144Hz 무선전송 (60GHz / 15Gbps / &lt;4ms)</a:t>
            </a:r>
          </a:p>
          <a:p>
            <a:pPr marL="342900" lvl="1" indent="-171450">
              <a:lnSpc>
                <a:spcPts val="1500"/>
              </a:lnSpc>
              <a:spcAft>
                <a:spcPts val="300"/>
              </a:spcAft>
              <a:buFont typeface="Arial"/>
              <a:buChar char="‒"/>
            </a:pPr>
            <a:r>
              <a:rPr lang="ko-KR" sz="1100" dirty="0">
                <a:solidFill>
                  <a:srgbClr val="404040"/>
                </a:solidFill>
                <a:latin typeface="맑은 고딕"/>
              </a:rPr>
              <a:t>世界 최초 4K 144Hz Wireless Transmit TV</a:t>
            </a:r>
          </a:p>
          <a:p>
            <a:pPr marL="171450" indent="-171450">
              <a:lnSpc>
                <a:spcPts val="1800"/>
              </a:lnSpc>
              <a:spcAft>
                <a:spcPts val="400"/>
              </a:spcAft>
              <a:buFont typeface="Arial"/>
              <a:buChar char="•"/>
            </a:pPr>
            <a:r>
              <a:rPr lang="ko-KR" sz="1300" b="1" dirty="0">
                <a:solidFill>
                  <a:srgbClr val="A50034"/>
                </a:solidFill>
                <a:latin typeface="맑은 고딕"/>
              </a:rPr>
              <a:t>MRGB85B 차별: AI Local Contrast Enhancer</a:t>
            </a:r>
          </a:p>
          <a:p>
            <a:pPr marL="171450" indent="-171450">
              <a:lnSpc>
                <a:spcPts val="1800"/>
              </a:lnSpc>
              <a:spcAft>
                <a:spcPts val="400"/>
              </a:spcAft>
              <a:buFont typeface="Arial"/>
              <a:buChar char="•"/>
            </a:pPr>
            <a:r>
              <a:rPr lang="ko-KR" sz="1300" dirty="0">
                <a:solidFill>
                  <a:srgbClr val="0D0D0D"/>
                </a:solidFill>
                <a:latin typeface="맑은 고딕"/>
              </a:rPr>
              <a:t>α8 AI Processor + Dolby Vision/Atmos, VRR 144Hz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A0EA75A-F3F0-4A62-A819-4C37A98C4B41}"/>
              </a:ext>
            </a:extLst>
          </p:cNvPr>
          <p:cNvSpPr txBox="1"/>
          <p:nvPr/>
        </p:nvSpPr>
        <p:spPr>
          <a:xfrm>
            <a:off x="279400" y="6197600"/>
            <a:ext cx="11658600" cy="457200"/>
          </a:xfrm>
          <a:prstGeom prst="rect">
            <a:avLst/>
          </a:prstGeom>
          <a:solidFill>
            <a:srgbClr val="1A1A1E"/>
          </a:solidFill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>
              <a:buNone/>
            </a:pPr>
            <a:r>
              <a:rPr lang="ko-KR" sz="1100" dirty="0">
                <a:solidFill>
                  <a:srgbClr val="FFFFFF"/>
                </a:solidFill>
                <a:latin typeface="맑은 고딕"/>
              </a:rPr>
              <a:t>∗ MRGB95B = 4K Micro RGB evo TV with High Color and Contrast / MRGB9MB·85B = 4K Mini RGB evo TV with high performance (출처: 2026 TV Product Profile v1.4)</a:t>
            </a:r>
          </a:p>
        </p:txBody>
      </p:sp>
    </p:spTree>
    <p:extLst>
      <p:ext uri="{BB962C8B-B14F-4D97-AF65-F5344CB8AC3E}">
        <p14:creationId xmlns:p14="http://schemas.microsoft.com/office/powerpoint/2010/main" val="14180847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4958D09-BCE8-4873-82DE-312F2090E9BD}"/>
              </a:ext>
            </a:extLst>
          </p:cNvPr>
          <p:cNvSpPr txBox="1"/>
          <p:nvPr/>
        </p:nvSpPr>
        <p:spPr>
          <a:xfrm>
            <a:off x="203200" y="76200"/>
            <a:ext cx="9652000" cy="3937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ko-KR" altLang="en-US" sz="2000" b="1" dirty="0">
                <a:solidFill>
                  <a:srgbClr val="0D0D0D"/>
                </a:solidFill>
                <a:latin typeface="Arial Narrow"/>
                <a:ea typeface="맑은 고딕"/>
              </a:rPr>
              <a:t>Q2. 당사 Micro RGB vs SS Micro RGB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57F029-A678-454C-8535-47F4C5BD2270}"/>
              </a:ext>
            </a:extLst>
          </p:cNvPr>
          <p:cNvSpPr txBox="1"/>
          <p:nvPr/>
        </p:nvSpPr>
        <p:spPr>
          <a:xfrm>
            <a:off x="9994900" y="114300"/>
            <a:ext cx="1879600" cy="3429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600" b="1">
                <a:solidFill>
                  <a:srgbClr val="0D0D0D"/>
                </a:solidFill>
                <a:latin typeface="Arial Narrow"/>
              </a:rPr>
              <a:t>'26</a:t>
            </a:r>
            <a:r>
              <a:rPr lang="ko-KR" altLang="en-US" sz="1600" b="1">
                <a:solidFill>
                  <a:srgbClr val="0D0D0D"/>
                </a:solidFill>
                <a:latin typeface="Arial Narrow"/>
              </a:rPr>
              <a:t>년 </a:t>
            </a:r>
            <a:r>
              <a:rPr lang="en-US" altLang="ko-KR" sz="1600" b="1">
                <a:solidFill>
                  <a:srgbClr val="0D0D0D"/>
                </a:solidFill>
                <a:latin typeface="Arial Narrow"/>
              </a:rPr>
              <a:t>RGB LED TV</a:t>
            </a:r>
            <a:endParaRPr lang="ko-KR" altLang="en-US" sz="1600" b="1">
              <a:solidFill>
                <a:srgbClr val="0D0D0D"/>
              </a:solidFill>
              <a:latin typeface="Arial Narrow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425645F-FB53-4901-AFCC-4EE13AD4BBD1}"/>
              </a:ext>
            </a:extLst>
          </p:cNvPr>
          <p:cNvSpPr/>
          <p:nvPr/>
        </p:nvSpPr>
        <p:spPr>
          <a:xfrm>
            <a:off x="203200" y="533400"/>
            <a:ext cx="11734800" cy="25400"/>
          </a:xfrm>
          <a:prstGeom prst="rect">
            <a:avLst/>
          </a:prstGeom>
          <a:solidFill>
            <a:srgbClr val="A5003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7DC5922-374F-434B-9078-AA33AD5793DF}"/>
              </a:ext>
            </a:extLst>
          </p:cNvPr>
          <p:cNvSpPr/>
          <p:nvPr/>
        </p:nvSpPr>
        <p:spPr>
          <a:xfrm>
            <a:off x="279400" y="711200"/>
            <a:ext cx="11658600" cy="635000"/>
          </a:xfrm>
          <a:prstGeom prst="rect">
            <a:avLst/>
          </a:prstGeom>
          <a:solidFill>
            <a:srgbClr val="FDF2F5"/>
          </a:solidFill>
          <a:ln w="12700" cap="flat" cmpd="sng" algn="ctr">
            <a:solidFill>
              <a:srgbClr val="A5003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>
              <a:lnSpc>
                <a:spcPts val="1700"/>
              </a:lnSpc>
              <a:buNone/>
            </a:pPr>
            <a:r>
              <a:rPr lang="ko-KR" sz="1400" b="1" dirty="0">
                <a:solidFill>
                  <a:srgbClr val="A50034"/>
                </a:solidFill>
                <a:latin typeface="맑은 고딕"/>
              </a:rPr>
              <a:t>[답] </a:t>
            </a:r>
            <a:r>
              <a:rPr lang="ko-KR" sz="1400" dirty="0">
                <a:solidFill>
                  <a:srgbClr val="A50034"/>
                </a:solidFill>
                <a:latin typeface="맑은 고딕"/>
              </a:rPr>
              <a:t>RGB Mini-LED 카테고리 동일 / 구현은 분리 — 당사 MRGB95B는 </a:t>
            </a:r>
            <a:r>
              <a:rPr lang="ko-KR" sz="1400" b="1" dirty="0">
                <a:solidFill>
                  <a:srgbClr val="A50034"/>
                </a:solidFill>
                <a:latin typeface="맑은 고딕"/>
              </a:rPr>
              <a:t>RGB Primary Color Ultra + Triple 100% 패널 인증</a:t>
            </a:r>
            <a:r>
              <a:rPr lang="ko-KR" sz="1400" dirty="0">
                <a:solidFill>
                  <a:srgbClr val="A50034"/>
                </a:solidFill>
                <a:latin typeface="맑은 고딕"/>
              </a:rPr>
              <a:t>으로 색재현 우위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6AFB681-0298-4AB6-BBB1-EBF6E63159BB}"/>
              </a:ext>
            </a:extLst>
          </p:cNvPr>
          <p:cNvSpPr/>
          <p:nvPr/>
        </p:nvSpPr>
        <p:spPr>
          <a:xfrm>
            <a:off x="279400" y="1524000"/>
            <a:ext cx="1651000" cy="533400"/>
          </a:xfrm>
          <a:prstGeom prst="rect">
            <a:avLst/>
          </a:prstGeom>
          <a:solidFill>
            <a:srgbClr val="A50034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ctr"/>
            <a:r>
              <a:rPr lang="ko-KR" sz="1200" b="1" dirty="0">
                <a:solidFill>
                  <a:srgbClr val="FFFFFF"/>
                </a:solidFill>
                <a:latin typeface="맑은 고딕"/>
              </a:rPr>
              <a:t>구분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82FD6FD-E360-4364-8488-B2D8CA86C88F}"/>
              </a:ext>
            </a:extLst>
          </p:cNvPr>
          <p:cNvSpPr/>
          <p:nvPr/>
        </p:nvSpPr>
        <p:spPr>
          <a:xfrm>
            <a:off x="1930400" y="1524000"/>
            <a:ext cx="3556000" cy="533400"/>
          </a:xfrm>
          <a:prstGeom prst="rect">
            <a:avLst/>
          </a:prstGeom>
          <a:solidFill>
            <a:srgbClr val="A50034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ctr"/>
            <a:r>
              <a:rPr lang="ko-KR" sz="1200" b="1" dirty="0">
                <a:solidFill>
                  <a:srgbClr val="FFFFFF"/>
                </a:solidFill>
                <a:latin typeface="맑은 고딕"/>
              </a:rPr>
              <a:t>당사 Micro RGB evo (MRGB95B)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B151069-6971-492D-94AC-AF9C39D4FDB6}"/>
              </a:ext>
            </a:extLst>
          </p:cNvPr>
          <p:cNvSpPr/>
          <p:nvPr/>
        </p:nvSpPr>
        <p:spPr>
          <a:xfrm>
            <a:off x="5486400" y="1524000"/>
            <a:ext cx="3225800" cy="533400"/>
          </a:xfrm>
          <a:prstGeom prst="rect">
            <a:avLst/>
          </a:prstGeom>
          <a:solidFill>
            <a:srgbClr val="A50034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ctr"/>
            <a:r>
              <a:rPr lang="ko-KR" sz="1200" b="1" dirty="0">
                <a:solidFill>
                  <a:srgbClr val="FFFFFF"/>
                </a:solidFill>
                <a:latin typeface="맑은 고딕"/>
              </a:rPr>
              <a:t>Samsung R95H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033A124-F2E0-44DB-9330-0BB513DB4414}"/>
              </a:ext>
            </a:extLst>
          </p:cNvPr>
          <p:cNvSpPr/>
          <p:nvPr/>
        </p:nvSpPr>
        <p:spPr>
          <a:xfrm>
            <a:off x="8712200" y="1524000"/>
            <a:ext cx="3225800" cy="533400"/>
          </a:xfrm>
          <a:prstGeom prst="rect">
            <a:avLst/>
          </a:prstGeom>
          <a:solidFill>
            <a:srgbClr val="A50034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ctr"/>
            <a:r>
              <a:rPr lang="ko-KR" sz="1200" b="1" dirty="0">
                <a:solidFill>
                  <a:srgbClr val="FFFFFF"/>
                </a:solidFill>
                <a:latin typeface="맑은 고딕"/>
              </a:rPr>
              <a:t>Samsung R85H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D218727-2374-4BCC-AF82-0EB5103C4F09}"/>
              </a:ext>
            </a:extLst>
          </p:cNvPr>
          <p:cNvSpPr/>
          <p:nvPr/>
        </p:nvSpPr>
        <p:spPr>
          <a:xfrm>
            <a:off x="279400" y="2057400"/>
            <a:ext cx="1651000" cy="533400"/>
          </a:xfrm>
          <a:prstGeom prst="rect">
            <a:avLst/>
          </a:prstGeom>
          <a:solidFill>
            <a:srgbClr val="404040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ctr"/>
            <a:r>
              <a:rPr lang="ko-KR" sz="1200" b="1" dirty="0">
                <a:solidFill>
                  <a:srgbClr val="FFFFFF"/>
                </a:solidFill>
                <a:latin typeface="맑은 고딕"/>
              </a:rPr>
              <a:t>LED 백라이트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8E5BEC4-C282-4E25-B30C-772A2DADA755}"/>
              </a:ext>
            </a:extLst>
          </p:cNvPr>
          <p:cNvSpPr/>
          <p:nvPr/>
        </p:nvSpPr>
        <p:spPr>
          <a:xfrm>
            <a:off x="1930400" y="2057400"/>
            <a:ext cx="3556000" cy="533400"/>
          </a:xfrm>
          <a:prstGeom prst="rect">
            <a:avLst/>
          </a:prstGeom>
          <a:solidFill>
            <a:srgbClr val="FDF2F5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ko-KR" sz="1100" b="1" dirty="0">
                <a:solidFill>
                  <a:srgbClr val="A50034"/>
                </a:solidFill>
                <a:latin typeface="맑은 고딕"/>
              </a:rPr>
              <a:t>RGB LED &lt;100㎛ / 직하형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E1270CD-2EA8-4974-9424-5429EDE3D080}"/>
              </a:ext>
            </a:extLst>
          </p:cNvPr>
          <p:cNvSpPr/>
          <p:nvPr/>
        </p:nvSpPr>
        <p:spPr>
          <a:xfrm>
            <a:off x="5486400" y="2057400"/>
            <a:ext cx="3225800" cy="533400"/>
          </a:xfrm>
          <a:prstGeom prst="rect">
            <a:avLst/>
          </a:prstGeom>
          <a:solidFill>
            <a:srgbClr val="F5F5F5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ko-KR" sz="1100" dirty="0">
                <a:solidFill>
                  <a:srgbClr val="0D0D0D"/>
                </a:solidFill>
                <a:latin typeface="맑은 고딕"/>
              </a:rPr>
              <a:t>RGB LED &lt;100㎛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F2EE7D8-C526-4753-A136-832007DEC522}"/>
              </a:ext>
            </a:extLst>
          </p:cNvPr>
          <p:cNvSpPr/>
          <p:nvPr/>
        </p:nvSpPr>
        <p:spPr>
          <a:xfrm>
            <a:off x="8712200" y="2057400"/>
            <a:ext cx="3225800" cy="533400"/>
          </a:xfrm>
          <a:prstGeom prst="rect">
            <a:avLst/>
          </a:prstGeom>
          <a:solidFill>
            <a:srgbClr val="F5F5F5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ko-KR" sz="1100" dirty="0">
                <a:solidFill>
                  <a:srgbClr val="0D0D0D"/>
                </a:solidFill>
                <a:latin typeface="맑은 고딕"/>
              </a:rPr>
              <a:t>RGB LED &lt;100㎛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62BC5ED-2549-416A-AAED-0725E9327090}"/>
              </a:ext>
            </a:extLst>
          </p:cNvPr>
          <p:cNvSpPr/>
          <p:nvPr/>
        </p:nvSpPr>
        <p:spPr>
          <a:xfrm>
            <a:off x="279400" y="2590800"/>
            <a:ext cx="1651000" cy="533400"/>
          </a:xfrm>
          <a:prstGeom prst="rect">
            <a:avLst/>
          </a:prstGeom>
          <a:solidFill>
            <a:srgbClr val="404040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ctr"/>
            <a:r>
              <a:rPr lang="ko-KR" sz="1200" b="1" dirty="0">
                <a:solidFill>
                  <a:srgbClr val="FFFFFF"/>
                </a:solidFill>
                <a:latin typeface="맑은 고딕"/>
              </a:rPr>
              <a:t>색재현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0262E66-5D4A-4D1B-935F-996E116002A2}"/>
              </a:ext>
            </a:extLst>
          </p:cNvPr>
          <p:cNvSpPr/>
          <p:nvPr/>
        </p:nvSpPr>
        <p:spPr>
          <a:xfrm>
            <a:off x="1930400" y="2590800"/>
            <a:ext cx="3556000" cy="533400"/>
          </a:xfrm>
          <a:prstGeom prst="rect">
            <a:avLst/>
          </a:prstGeom>
          <a:solidFill>
            <a:srgbClr val="FDF2F5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ko-KR" sz="1100" b="1" dirty="0">
                <a:solidFill>
                  <a:srgbClr val="A50034"/>
                </a:solidFill>
                <a:latin typeface="맑은 고딕"/>
              </a:rPr>
              <a:t>RGB Primary Color Ultra (DCI 99% / BT2020 90%↑) + 패널 Triple 100% (Intertek)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82800B9-9F25-4343-B173-94CB701FF86D}"/>
              </a:ext>
            </a:extLst>
          </p:cNvPr>
          <p:cNvSpPr/>
          <p:nvPr/>
        </p:nvSpPr>
        <p:spPr>
          <a:xfrm>
            <a:off x="5486400" y="2590800"/>
            <a:ext cx="3225800" cy="533400"/>
          </a:xfrm>
          <a:prstGeom prst="rect">
            <a:avLst/>
          </a:prstGeom>
          <a:solidFill>
            <a:srgbClr val="F5F5F5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ko-KR" sz="1100" dirty="0">
                <a:solidFill>
                  <a:srgbClr val="0D0D0D"/>
                </a:solidFill>
                <a:latin typeface="맑은 고딕"/>
              </a:rPr>
              <a:t>BT.2020 100% (VDE 인증)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1D1AC9A-951C-439B-A868-E3CFB633078E}"/>
              </a:ext>
            </a:extLst>
          </p:cNvPr>
          <p:cNvSpPr/>
          <p:nvPr/>
        </p:nvSpPr>
        <p:spPr>
          <a:xfrm>
            <a:off x="8712200" y="2590800"/>
            <a:ext cx="3225800" cy="533400"/>
          </a:xfrm>
          <a:prstGeom prst="rect">
            <a:avLst/>
          </a:prstGeom>
          <a:solidFill>
            <a:srgbClr val="F5F5F5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ko-KR" sz="1100" dirty="0">
                <a:solidFill>
                  <a:srgbClr val="0D0D0D"/>
                </a:solidFill>
                <a:latin typeface="맑은 고딕"/>
              </a:rPr>
              <a:t>BT.2020 100% (VDE 인증)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4E2E363-AC34-4F1F-8145-7380D90A0DB5}"/>
              </a:ext>
            </a:extLst>
          </p:cNvPr>
          <p:cNvSpPr/>
          <p:nvPr/>
        </p:nvSpPr>
        <p:spPr>
          <a:xfrm>
            <a:off x="279400" y="3124200"/>
            <a:ext cx="1651000" cy="533400"/>
          </a:xfrm>
          <a:prstGeom prst="rect">
            <a:avLst/>
          </a:prstGeom>
          <a:solidFill>
            <a:srgbClr val="404040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ctr"/>
            <a:r>
              <a:rPr lang="ko-KR" sz="1200" b="1" dirty="0">
                <a:solidFill>
                  <a:srgbClr val="FFFFFF"/>
                </a:solidFill>
                <a:latin typeface="맑은 고딕"/>
              </a:rPr>
              <a:t>Dimming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2E2FF5E-90AA-49E8-A636-22DA81C72CF7}"/>
              </a:ext>
            </a:extLst>
          </p:cNvPr>
          <p:cNvSpPr/>
          <p:nvPr/>
        </p:nvSpPr>
        <p:spPr>
          <a:xfrm>
            <a:off x="1930400" y="3124200"/>
            <a:ext cx="3556000" cy="533400"/>
          </a:xfrm>
          <a:prstGeom prst="rect">
            <a:avLst/>
          </a:prstGeom>
          <a:solidFill>
            <a:srgbClr val="FDF2F5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ko-KR" sz="1100" b="1" dirty="0">
                <a:solidFill>
                  <a:srgbClr val="A50034"/>
                </a:solidFill>
                <a:latin typeface="맑은 고딕"/>
              </a:rPr>
              <a:t>Micro Dimming Ultra (1,000+ blocks)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C28BCAB0-B18C-43AA-9E9A-77C9F5F5C0D8}"/>
              </a:ext>
            </a:extLst>
          </p:cNvPr>
          <p:cNvSpPr/>
          <p:nvPr/>
        </p:nvSpPr>
        <p:spPr>
          <a:xfrm>
            <a:off x="5486400" y="3124200"/>
            <a:ext cx="3225800" cy="533400"/>
          </a:xfrm>
          <a:prstGeom prst="rect">
            <a:avLst/>
          </a:prstGeom>
          <a:solidFill>
            <a:srgbClr val="F5F5F5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ko-KR" sz="1100" dirty="0">
                <a:solidFill>
                  <a:srgbClr val="0D0D0D"/>
                </a:solidFill>
                <a:latin typeface="맑은 고딕"/>
              </a:rPr>
              <a:t>Micro RGB AI Engine Pro 기반 Local Dimming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45C3EA93-E8C8-403A-BB04-0B748A3E4A04}"/>
              </a:ext>
            </a:extLst>
          </p:cNvPr>
          <p:cNvSpPr/>
          <p:nvPr/>
        </p:nvSpPr>
        <p:spPr>
          <a:xfrm>
            <a:off x="8712200" y="3124200"/>
            <a:ext cx="3225800" cy="533400"/>
          </a:xfrm>
          <a:prstGeom prst="rect">
            <a:avLst/>
          </a:prstGeom>
          <a:solidFill>
            <a:srgbClr val="F5F5F5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ko-KR" sz="1100" dirty="0">
                <a:solidFill>
                  <a:srgbClr val="0D0D0D"/>
                </a:solidFill>
                <a:latin typeface="맑은 고딕"/>
              </a:rPr>
              <a:t>Micro RGB AI Engine Pro 기반 Local Dimming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9A0977A5-9EFA-4CCA-87EF-C41E61EC84A2}"/>
              </a:ext>
            </a:extLst>
          </p:cNvPr>
          <p:cNvSpPr/>
          <p:nvPr/>
        </p:nvSpPr>
        <p:spPr>
          <a:xfrm>
            <a:off x="279400" y="3657600"/>
            <a:ext cx="1651000" cy="533400"/>
          </a:xfrm>
          <a:prstGeom prst="rect">
            <a:avLst/>
          </a:prstGeom>
          <a:solidFill>
            <a:srgbClr val="404040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ctr"/>
            <a:r>
              <a:rPr lang="ko-KR" sz="1200" b="1" dirty="0">
                <a:solidFill>
                  <a:srgbClr val="FFFFFF"/>
                </a:solidFill>
                <a:latin typeface="맑은 고딕"/>
              </a:rPr>
              <a:t>Processor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198671DB-7C41-49C6-9AF8-3B8F9BCEBC67}"/>
              </a:ext>
            </a:extLst>
          </p:cNvPr>
          <p:cNvSpPr/>
          <p:nvPr/>
        </p:nvSpPr>
        <p:spPr>
          <a:xfrm>
            <a:off x="1930400" y="3657600"/>
            <a:ext cx="3556000" cy="533400"/>
          </a:xfrm>
          <a:prstGeom prst="rect">
            <a:avLst/>
          </a:prstGeom>
          <a:solidFill>
            <a:srgbClr val="FDF2F5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ko-KR" sz="1100" b="1" dirty="0">
                <a:solidFill>
                  <a:srgbClr val="A50034"/>
                </a:solidFill>
                <a:latin typeface="맑은 고딕"/>
              </a:rPr>
              <a:t>α11 AI Processor + webOS 26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2E25DDA0-69CD-4FEF-A501-9E4BEB2D56F4}"/>
              </a:ext>
            </a:extLst>
          </p:cNvPr>
          <p:cNvSpPr/>
          <p:nvPr/>
        </p:nvSpPr>
        <p:spPr>
          <a:xfrm>
            <a:off x="5486400" y="3657600"/>
            <a:ext cx="3225800" cy="533400"/>
          </a:xfrm>
          <a:prstGeom prst="rect">
            <a:avLst/>
          </a:prstGeom>
          <a:solidFill>
            <a:srgbClr val="F5F5F5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ko-KR" sz="1100" dirty="0">
                <a:solidFill>
                  <a:srgbClr val="0D0D0D"/>
                </a:solidFill>
                <a:latin typeface="맑은 고딕"/>
              </a:rPr>
              <a:t>Micro RGB AI Engine Pro / Tizen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3180C4D-30CD-4CD3-A76F-81473E5C1F1E}"/>
              </a:ext>
            </a:extLst>
          </p:cNvPr>
          <p:cNvSpPr/>
          <p:nvPr/>
        </p:nvSpPr>
        <p:spPr>
          <a:xfrm>
            <a:off x="8712200" y="3657600"/>
            <a:ext cx="3225800" cy="533400"/>
          </a:xfrm>
          <a:prstGeom prst="rect">
            <a:avLst/>
          </a:prstGeom>
          <a:solidFill>
            <a:srgbClr val="F5F5F5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ko-KR" sz="1100" dirty="0">
                <a:solidFill>
                  <a:srgbClr val="0D0D0D"/>
                </a:solidFill>
                <a:latin typeface="맑은 고딕"/>
              </a:rPr>
              <a:t>Micro RGB AI Engine Pro / Tizen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B637EA12-5778-4AD6-9A32-0D10E1367F27}"/>
              </a:ext>
            </a:extLst>
          </p:cNvPr>
          <p:cNvSpPr/>
          <p:nvPr/>
        </p:nvSpPr>
        <p:spPr>
          <a:xfrm>
            <a:off x="279400" y="4191000"/>
            <a:ext cx="1651000" cy="533400"/>
          </a:xfrm>
          <a:prstGeom prst="rect">
            <a:avLst/>
          </a:prstGeom>
          <a:solidFill>
            <a:srgbClr val="404040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ctr"/>
            <a:r>
              <a:rPr lang="ko-KR" sz="1200" b="1" dirty="0">
                <a:solidFill>
                  <a:srgbClr val="FFFFFF"/>
                </a:solidFill>
                <a:latin typeface="맑은 고딕"/>
              </a:rPr>
              <a:t>차별 기능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7A24536D-031A-4857-840A-0FB97429052D}"/>
              </a:ext>
            </a:extLst>
          </p:cNvPr>
          <p:cNvSpPr/>
          <p:nvPr/>
        </p:nvSpPr>
        <p:spPr>
          <a:xfrm>
            <a:off x="1930400" y="4191000"/>
            <a:ext cx="3556000" cy="533400"/>
          </a:xfrm>
          <a:prstGeom prst="rect">
            <a:avLst/>
          </a:prstGeom>
          <a:solidFill>
            <a:srgbClr val="FDF2F5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ko-KR" sz="1100" b="1" dirty="0">
                <a:solidFill>
                  <a:srgbClr val="A50034"/>
                </a:solidFill>
                <a:latin typeface="맑은 고딕"/>
              </a:rPr>
              <a:t>Triple 100% Color Coverage + Ultra Fine Color Control 인증, Slim/Gallery Design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0876C72D-EA40-48A1-A96D-C4181A862B16}"/>
              </a:ext>
            </a:extLst>
          </p:cNvPr>
          <p:cNvSpPr/>
          <p:nvPr/>
        </p:nvSpPr>
        <p:spPr>
          <a:xfrm>
            <a:off x="5486400" y="4191000"/>
            <a:ext cx="3225800" cy="533400"/>
          </a:xfrm>
          <a:prstGeom prst="rect">
            <a:avLst/>
          </a:prstGeom>
          <a:solidFill>
            <a:srgbClr val="F5F5F5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ko-KR" sz="1100" dirty="0">
                <a:solidFill>
                  <a:srgbClr val="0D0D0D"/>
                </a:solidFill>
                <a:latin typeface="맑은 고딕"/>
              </a:rPr>
              <a:t>Glare Free 코팅, Wireless One Connect Ready, HDR10+ Advanced, 165Hz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79D02AB8-82FC-44C8-ACA2-5432DE55D4B4}"/>
              </a:ext>
            </a:extLst>
          </p:cNvPr>
          <p:cNvSpPr/>
          <p:nvPr/>
        </p:nvSpPr>
        <p:spPr>
          <a:xfrm>
            <a:off x="8712200" y="4191000"/>
            <a:ext cx="3225800" cy="533400"/>
          </a:xfrm>
          <a:prstGeom prst="rect">
            <a:avLst/>
          </a:prstGeom>
          <a:solidFill>
            <a:srgbClr val="F5F5F5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ko-KR" sz="1100" dirty="0">
                <a:solidFill>
                  <a:srgbClr val="0D0D0D"/>
                </a:solidFill>
                <a:latin typeface="맑은 고딕"/>
              </a:rPr>
              <a:t>HDR10+ Advanced 미지원, 144Hz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B04E57A8-1F24-489E-BF36-71838A605870}"/>
              </a:ext>
            </a:extLst>
          </p:cNvPr>
          <p:cNvSpPr/>
          <p:nvPr/>
        </p:nvSpPr>
        <p:spPr>
          <a:xfrm>
            <a:off x="279400" y="4724400"/>
            <a:ext cx="1651000" cy="533400"/>
          </a:xfrm>
          <a:prstGeom prst="rect">
            <a:avLst/>
          </a:prstGeom>
          <a:solidFill>
            <a:srgbClr val="404040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ctr"/>
            <a:r>
              <a:rPr lang="ko-KR" sz="1200" b="1" dirty="0">
                <a:solidFill>
                  <a:srgbClr val="FFFFFF"/>
                </a:solidFill>
                <a:latin typeface="맑은 고딕"/>
              </a:rPr>
              <a:t>사이즈 / 포지션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2A9A521B-B9F4-4F51-AC6A-0BA764714A17}"/>
              </a:ext>
            </a:extLst>
          </p:cNvPr>
          <p:cNvSpPr/>
          <p:nvPr/>
        </p:nvSpPr>
        <p:spPr>
          <a:xfrm>
            <a:off x="1930400" y="4724400"/>
            <a:ext cx="3556000" cy="533400"/>
          </a:xfrm>
          <a:prstGeom prst="rect">
            <a:avLst/>
          </a:prstGeom>
          <a:solidFill>
            <a:srgbClr val="FDF2F5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ko-KR" sz="1100" b="1" dirty="0">
                <a:solidFill>
                  <a:srgbClr val="A50034"/>
                </a:solidFill>
                <a:latin typeface="맑은 고딕"/>
              </a:rPr>
              <a:t>75" 이상 / Premium Flagship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E450655-C0E8-4A7D-A491-5A9154FF05A9}"/>
              </a:ext>
            </a:extLst>
          </p:cNvPr>
          <p:cNvSpPr/>
          <p:nvPr/>
        </p:nvSpPr>
        <p:spPr>
          <a:xfrm>
            <a:off x="5486400" y="4724400"/>
            <a:ext cx="3225800" cy="533400"/>
          </a:xfrm>
          <a:prstGeom prst="rect">
            <a:avLst/>
          </a:prstGeom>
          <a:solidFill>
            <a:srgbClr val="F5F5F5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ko-KR" sz="1100" dirty="0">
                <a:solidFill>
                  <a:srgbClr val="0D0D0D"/>
                </a:solidFill>
                <a:latin typeface="맑은 고딕"/>
              </a:rPr>
              <a:t>65/75/85/130" / Flagship ($3,200~)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BBE78B20-6967-4CF6-9F1E-D86583B15683}"/>
              </a:ext>
            </a:extLst>
          </p:cNvPr>
          <p:cNvSpPr/>
          <p:nvPr/>
        </p:nvSpPr>
        <p:spPr>
          <a:xfrm>
            <a:off x="8712200" y="4724400"/>
            <a:ext cx="3225800" cy="533400"/>
          </a:xfrm>
          <a:prstGeom prst="rect">
            <a:avLst/>
          </a:prstGeom>
          <a:solidFill>
            <a:srgbClr val="F5F5F5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ko-KR" sz="1100" dirty="0">
                <a:solidFill>
                  <a:srgbClr val="0D0D0D"/>
                </a:solidFill>
                <a:latin typeface="맑은 고딕"/>
              </a:rPr>
              <a:t>55/65/75/85/100" / QN90F 대체 ($1,599~)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5137CFD-B880-4F98-9DAC-EBD21D9061D2}"/>
              </a:ext>
            </a:extLst>
          </p:cNvPr>
          <p:cNvSpPr txBox="1"/>
          <p:nvPr/>
        </p:nvSpPr>
        <p:spPr>
          <a:xfrm>
            <a:off x="279400" y="5334000"/>
            <a:ext cx="11658600" cy="1270000"/>
          </a:xfrm>
          <a:prstGeom prst="rect">
            <a:avLst/>
          </a:prstGeom>
          <a:solidFill>
            <a:srgbClr val="1A1A1E"/>
          </a:solidFill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ts val="1500"/>
              </a:lnSpc>
              <a:spcAft>
                <a:spcPts val="200"/>
              </a:spcAft>
              <a:buNone/>
            </a:pPr>
            <a:r>
              <a:rPr lang="ko-KR" sz="1400" b="1" dirty="0">
                <a:solidFill>
                  <a:srgbClr val="FFFFFF"/>
                </a:solidFill>
                <a:latin typeface="맑은 고딕"/>
              </a:rPr>
              <a:t>핵심 訴求 포인트 (vs SS)</a:t>
            </a:r>
          </a:p>
          <a:p>
            <a:pPr marL="171450" indent="-171450">
              <a:lnSpc>
                <a:spcPts val="1400"/>
              </a:lnSpc>
              <a:spcAft>
                <a:spcPts val="100"/>
              </a:spcAft>
              <a:buFont typeface="Arial"/>
              <a:buChar char="•"/>
            </a:pPr>
            <a:r>
              <a:rPr lang="ko-KR" sz="1200" dirty="0">
                <a:solidFill>
                  <a:srgbClr val="FFFFFF"/>
                </a:solidFill>
                <a:latin typeface="맑은 고딕"/>
              </a:rPr>
              <a:t>색재현: 당사 </a:t>
            </a:r>
            <a:r>
              <a:rPr lang="ko-KR" sz="1200" b="1" dirty="0">
                <a:solidFill>
                  <a:srgbClr val="FFFFFF"/>
                </a:solidFill>
                <a:latin typeface="맑은 고딕"/>
              </a:rPr>
              <a:t>Triple 100% (BT.2020·DCI-P3·Adobe RGB) + Ultra Fine Color Control</a:t>
            </a:r>
            <a:r>
              <a:rPr lang="ko-KR" sz="1200" dirty="0">
                <a:solidFill>
                  <a:srgbClr val="FFFFFF"/>
                </a:solidFill>
                <a:latin typeface="맑은 고딕"/>
              </a:rPr>
              <a:t> 인증 vs SS BT.2020 단일 표준</a:t>
            </a:r>
          </a:p>
          <a:p>
            <a:pPr marL="171450" indent="-171450">
              <a:lnSpc>
                <a:spcPts val="1400"/>
              </a:lnSpc>
              <a:spcAft>
                <a:spcPts val="100"/>
              </a:spcAft>
              <a:buFont typeface="Arial"/>
              <a:buChar char="•"/>
            </a:pPr>
            <a:r>
              <a:rPr lang="ko-KR" sz="1200" dirty="0">
                <a:solidFill>
                  <a:srgbClr val="FFFFFF"/>
                </a:solidFill>
                <a:latin typeface="맑은 고딕"/>
              </a:rPr>
              <a:t>Dimming: 당사 </a:t>
            </a:r>
            <a:r>
              <a:rPr lang="ko-KR" sz="1200" b="1" dirty="0">
                <a:solidFill>
                  <a:srgbClr val="FFFFFF"/>
                </a:solidFill>
                <a:latin typeface="맑은 고딕"/>
              </a:rPr>
              <a:t>Micro Dimming Ultra (1,000+ blocks)</a:t>
            </a:r>
            <a:r>
              <a:rPr lang="ko-KR" sz="1200" dirty="0">
                <a:solidFill>
                  <a:srgbClr val="FFFFFF"/>
                </a:solidFill>
                <a:latin typeface="맑은 고딕"/>
              </a:rPr>
              <a:t> 정량 명시 / 라인업: Mini RGB evo 보급형(MRGB9MB/85B)으로 가격대 포지션 확대</a:t>
            </a:r>
          </a:p>
        </p:txBody>
      </p:sp>
    </p:spTree>
    <p:extLst>
      <p:ext uri="{BB962C8B-B14F-4D97-AF65-F5344CB8AC3E}">
        <p14:creationId xmlns:p14="http://schemas.microsoft.com/office/powerpoint/2010/main" val="15376843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D6DB3D0-3169-47A7-8F17-2DB011A59A80}"/>
              </a:ext>
            </a:extLst>
          </p:cNvPr>
          <p:cNvSpPr txBox="1"/>
          <p:nvPr/>
        </p:nvSpPr>
        <p:spPr>
          <a:xfrm>
            <a:off x="203200" y="76200"/>
            <a:ext cx="9652000" cy="3937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2000" b="1">
                <a:solidFill>
                  <a:srgbClr val="0D0D0D"/>
                </a:solidFill>
                <a:latin typeface="Arial Narrow"/>
              </a:rPr>
              <a:t>Q3. </a:t>
            </a:r>
            <a:r>
              <a:rPr lang="ko-KR" altLang="en-US" sz="2000" b="1">
                <a:solidFill>
                  <a:srgbClr val="0D0D0D"/>
                </a:solidFill>
                <a:latin typeface="Arial Narrow"/>
              </a:rPr>
              <a:t>업계 명칭 </a:t>
            </a:r>
            <a:r>
              <a:rPr lang="en-US" altLang="ko-KR" sz="2000" b="1">
                <a:solidFill>
                  <a:srgbClr val="0D0D0D"/>
                </a:solidFill>
                <a:latin typeface="Arial Narrow"/>
              </a:rPr>
              <a:t>/ Mini RGB </a:t>
            </a:r>
            <a:r>
              <a:rPr lang="ko-KR" altLang="en-US" sz="2000" b="1">
                <a:solidFill>
                  <a:srgbClr val="0D0D0D"/>
                </a:solidFill>
                <a:latin typeface="Arial Narrow"/>
              </a:rPr>
              <a:t>비교 카테고리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EB6F17-4111-4669-A3E4-4A000156E3BA}"/>
              </a:ext>
            </a:extLst>
          </p:cNvPr>
          <p:cNvSpPr txBox="1"/>
          <p:nvPr/>
        </p:nvSpPr>
        <p:spPr>
          <a:xfrm>
            <a:off x="9994900" y="114300"/>
            <a:ext cx="1879600" cy="3429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600" b="1">
                <a:solidFill>
                  <a:srgbClr val="0D0D0D"/>
                </a:solidFill>
                <a:latin typeface="Arial Narrow"/>
              </a:rPr>
              <a:t>'26</a:t>
            </a:r>
            <a:r>
              <a:rPr lang="ko-KR" altLang="en-US" sz="1600" b="1">
                <a:solidFill>
                  <a:srgbClr val="0D0D0D"/>
                </a:solidFill>
                <a:latin typeface="Arial Narrow"/>
              </a:rPr>
              <a:t>년 </a:t>
            </a:r>
            <a:r>
              <a:rPr lang="en-US" altLang="ko-KR" sz="1600" b="1">
                <a:solidFill>
                  <a:srgbClr val="0D0D0D"/>
                </a:solidFill>
                <a:latin typeface="Arial Narrow"/>
              </a:rPr>
              <a:t>RGB LED TV</a:t>
            </a:r>
            <a:endParaRPr lang="ko-KR" altLang="en-US" sz="1600" b="1">
              <a:solidFill>
                <a:srgbClr val="0D0D0D"/>
              </a:solidFill>
              <a:latin typeface="Arial Narrow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0ABA4D6-28C6-4B90-85FE-203B8CB58EA8}"/>
              </a:ext>
            </a:extLst>
          </p:cNvPr>
          <p:cNvSpPr/>
          <p:nvPr/>
        </p:nvSpPr>
        <p:spPr>
          <a:xfrm>
            <a:off x="203200" y="533400"/>
            <a:ext cx="11734800" cy="25400"/>
          </a:xfrm>
          <a:prstGeom prst="rect">
            <a:avLst/>
          </a:prstGeom>
          <a:solidFill>
            <a:srgbClr val="A5003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86214BC-5901-4630-A32E-3EC20BE23A20}"/>
              </a:ext>
            </a:extLst>
          </p:cNvPr>
          <p:cNvSpPr/>
          <p:nvPr/>
        </p:nvSpPr>
        <p:spPr>
          <a:xfrm>
            <a:off x="279400" y="711200"/>
            <a:ext cx="11658600" cy="635000"/>
          </a:xfrm>
          <a:prstGeom prst="rect">
            <a:avLst/>
          </a:prstGeom>
          <a:solidFill>
            <a:srgbClr val="FDF2F5"/>
          </a:solidFill>
          <a:ln w="12700" cap="flat" cmpd="sng" algn="ctr">
            <a:solidFill>
              <a:srgbClr val="A5003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altLang="ko-KR" sz="1400" b="1">
                <a:solidFill>
                  <a:srgbClr val="A50034"/>
                </a:solidFill>
                <a:latin typeface="맑은 고딕"/>
                <a:ea typeface="맑은 고딕"/>
              </a:rPr>
              <a:t>[</a:t>
            </a:r>
            <a:r>
              <a:rPr lang="ko-KR" altLang="en-US" sz="1400" b="1">
                <a:solidFill>
                  <a:srgbClr val="A50034"/>
                </a:solidFill>
                <a:latin typeface="맑은 고딕"/>
                <a:ea typeface="맑은 고딕"/>
              </a:rPr>
              <a:t>답</a:t>
            </a:r>
            <a:r>
              <a:rPr lang="en-US" altLang="ko-KR" sz="1400" b="1">
                <a:solidFill>
                  <a:srgbClr val="A50034"/>
                </a:solidFill>
                <a:latin typeface="맑은 고딕"/>
                <a:ea typeface="맑은 고딕"/>
              </a:rPr>
              <a:t>] </a:t>
            </a:r>
            <a:r>
              <a:rPr lang="ko-KR" altLang="en-US" sz="1400" b="1">
                <a:solidFill>
                  <a:srgbClr val="A50034"/>
                </a:solidFill>
                <a:latin typeface="맑은 고딕"/>
                <a:ea typeface="맑은 고딕"/>
              </a:rPr>
              <a:t>업계 표준 명칭은 </a:t>
            </a:r>
            <a:r>
              <a:rPr lang="en-US" altLang="ko-KR" sz="1400" b="1">
                <a:solidFill>
                  <a:srgbClr val="A50034"/>
                </a:solidFill>
                <a:latin typeface="맑은 고딕"/>
                <a:ea typeface="맑은 고딕"/>
              </a:rPr>
              <a:t>'RGB Mini-LED'(Hisense </a:t>
            </a:r>
            <a:r>
              <a:rPr lang="ko-KR" altLang="en-US" sz="1400" b="1">
                <a:solidFill>
                  <a:srgbClr val="A50034"/>
                </a:solidFill>
                <a:latin typeface="맑은 고딕"/>
                <a:ea typeface="맑은 고딕"/>
              </a:rPr>
              <a:t>통칭</a:t>
            </a:r>
            <a:r>
              <a:rPr lang="en-US" altLang="ko-KR" sz="1400" b="1">
                <a:solidFill>
                  <a:srgbClr val="A50034"/>
                </a:solidFill>
                <a:latin typeface="맑은 고딕"/>
                <a:ea typeface="맑은 고딕"/>
              </a:rPr>
              <a:t>). Micro RGB</a:t>
            </a:r>
            <a:r>
              <a:rPr lang="ko-KR" altLang="en-US" sz="1400" b="1">
                <a:solidFill>
                  <a:srgbClr val="A50034"/>
                </a:solidFill>
                <a:latin typeface="맑은 고딕"/>
                <a:ea typeface="맑은 고딕"/>
              </a:rPr>
              <a:t>는 그 中 </a:t>
            </a:r>
            <a:r>
              <a:rPr lang="en-US" altLang="ko-KR" sz="1400" b="1">
                <a:solidFill>
                  <a:srgbClr val="A50034"/>
                </a:solidFill>
                <a:latin typeface="맑은 고딕"/>
                <a:ea typeface="맑은 고딕"/>
              </a:rPr>
              <a:t>LED &lt;100㎛ </a:t>
            </a:r>
            <a:r>
              <a:rPr lang="ko-KR" altLang="en-US" sz="1400" b="1">
                <a:solidFill>
                  <a:srgbClr val="A50034"/>
                </a:solidFill>
                <a:latin typeface="맑은 고딕"/>
                <a:ea typeface="맑은 고딕"/>
              </a:rPr>
              <a:t>소형 칩 적용한 프리미엄 </a:t>
            </a:r>
            <a:r>
              <a:rPr lang="en-US" altLang="ko-KR" sz="1400" b="1">
                <a:solidFill>
                  <a:srgbClr val="A50034"/>
                </a:solidFill>
                <a:latin typeface="맑은 고딕"/>
                <a:ea typeface="맑은 고딕"/>
              </a:rPr>
              <a:t>sub-category </a:t>
            </a:r>
            <a:r>
              <a:rPr lang="ko-KR" altLang="en-US" sz="1400" b="1">
                <a:solidFill>
                  <a:srgbClr val="A50034"/>
                </a:solidFill>
                <a:latin typeface="맑은 고딕"/>
                <a:ea typeface="맑은 고딕"/>
              </a:rPr>
              <a:t>입니다</a:t>
            </a:r>
            <a:r>
              <a:rPr lang="en-US" altLang="ko-KR" sz="1400" b="1">
                <a:solidFill>
                  <a:srgbClr val="A50034"/>
                </a:solidFill>
                <a:latin typeface="맑은 고딕"/>
                <a:ea typeface="맑은 고딕"/>
              </a:rPr>
              <a:t>.</a:t>
            </a:r>
            <a:endParaRPr lang="ko-KR" altLang="en-US" sz="1400" b="1">
              <a:solidFill>
                <a:srgbClr val="A50034"/>
              </a:solidFill>
              <a:latin typeface="맑은 고딕"/>
              <a:ea typeface="맑은 고딕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46D971B3-C8DA-4E5D-89F3-91F317B27B7F}"/>
              </a:ext>
            </a:extLst>
          </p:cNvPr>
          <p:cNvSpPr/>
          <p:nvPr/>
        </p:nvSpPr>
        <p:spPr>
          <a:xfrm>
            <a:off x="279400" y="1524000"/>
            <a:ext cx="11658600" cy="711200"/>
          </a:xfrm>
          <a:prstGeom prst="roundRect">
            <a:avLst/>
          </a:prstGeom>
          <a:solidFill>
            <a:srgbClr val="1A1A1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altLang="ko-KR" sz="1500" b="1">
                <a:solidFill>
                  <a:srgbClr val="FFFFFF"/>
                </a:solidFill>
                <a:latin typeface="맑은 고딕"/>
                <a:ea typeface="맑은 고딕"/>
              </a:rPr>
              <a:t>RGB Mini-LED (</a:t>
            </a:r>
            <a:r>
              <a:rPr lang="ko-KR" altLang="en-US" sz="1500" b="1">
                <a:solidFill>
                  <a:srgbClr val="FFFFFF"/>
                </a:solidFill>
                <a:latin typeface="맑은 고딕"/>
                <a:ea typeface="맑은 고딕"/>
              </a:rPr>
              <a:t>업계 표준 명칭</a:t>
            </a:r>
            <a:r>
              <a:rPr lang="en-US" altLang="ko-KR" sz="1500" b="1">
                <a:solidFill>
                  <a:srgbClr val="FFFFFF"/>
                </a:solidFill>
                <a:latin typeface="맑은 고딕"/>
                <a:ea typeface="맑은 고딕"/>
              </a:rPr>
              <a:t>) _ </a:t>
            </a:r>
            <a:r>
              <a:rPr lang="ko-KR" altLang="en-US" sz="1500" b="1">
                <a:solidFill>
                  <a:srgbClr val="FFFFFF"/>
                </a:solidFill>
                <a:latin typeface="맑은 고딕"/>
                <a:ea typeface="맑은 고딕"/>
              </a:rPr>
              <a:t>백라이트 화이트</a:t>
            </a:r>
            <a:r>
              <a:rPr lang="en-US" altLang="ko-KR" sz="1500" b="1">
                <a:solidFill>
                  <a:srgbClr val="FFFFFF"/>
                </a:solidFill>
                <a:latin typeface="맑은 고딕"/>
                <a:ea typeface="맑은 고딕"/>
              </a:rPr>
              <a:t>/</a:t>
            </a:r>
            <a:r>
              <a:rPr lang="ko-KR" altLang="en-US" sz="1500" b="1">
                <a:solidFill>
                  <a:srgbClr val="FFFFFF"/>
                </a:solidFill>
                <a:latin typeface="맑은 고딕"/>
                <a:ea typeface="맑은 고딕"/>
              </a:rPr>
              <a:t>블루 </a:t>
            </a:r>
            <a:r>
              <a:rPr lang="en-US" altLang="ko-KR" sz="1500" b="1">
                <a:solidFill>
                  <a:srgbClr val="FFFFFF"/>
                </a:solidFill>
                <a:latin typeface="맑은 고딕"/>
                <a:ea typeface="맑은 고딕"/>
              </a:rPr>
              <a:t>LED + </a:t>
            </a:r>
            <a:r>
              <a:rPr lang="ko-KR" altLang="en-US" sz="1500" b="1">
                <a:solidFill>
                  <a:srgbClr val="FFFFFF"/>
                </a:solidFill>
                <a:latin typeface="맑은 고딕"/>
                <a:ea typeface="맑은 고딕"/>
              </a:rPr>
              <a:t>컬러필터를 독립 제어 </a:t>
            </a:r>
            <a:r>
              <a:rPr lang="en-US" altLang="ko-KR" sz="1500" b="1">
                <a:solidFill>
                  <a:srgbClr val="FFFFFF"/>
                </a:solidFill>
                <a:latin typeface="맑은 고딕"/>
                <a:ea typeface="맑은 고딕"/>
              </a:rPr>
              <a:t>R·G·B LED</a:t>
            </a:r>
            <a:r>
              <a:rPr lang="ko-KR" altLang="en-US" sz="1500" b="1">
                <a:solidFill>
                  <a:srgbClr val="FFFFFF"/>
                </a:solidFill>
                <a:latin typeface="맑은 고딕"/>
                <a:ea typeface="맑은 고딕"/>
              </a:rPr>
              <a:t>로 대체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DAA6ADE-CB45-4705-A95C-718E93493613}"/>
              </a:ext>
            </a:extLst>
          </p:cNvPr>
          <p:cNvSpPr/>
          <p:nvPr/>
        </p:nvSpPr>
        <p:spPr>
          <a:xfrm>
            <a:off x="279400" y="2438400"/>
            <a:ext cx="5816600" cy="3124200"/>
          </a:xfrm>
          <a:prstGeom prst="rect">
            <a:avLst/>
          </a:prstGeom>
          <a:solidFill>
            <a:srgbClr val="FDF2F5"/>
          </a:solidFill>
          <a:ln w="19050" cap="flat" cmpd="sng" algn="ctr">
            <a:solidFill>
              <a:srgbClr val="A5003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>
            <a:noAutofit/>
          </a:bodyPr>
          <a:lstStyle/>
          <a:p>
            <a:pPr>
              <a:lnSpc>
                <a:spcPts val="1900"/>
              </a:lnSpc>
              <a:spcAft>
                <a:spcPts val="500"/>
              </a:spcAft>
              <a:buNone/>
            </a:pPr>
            <a:r>
              <a:rPr lang="ko-KR" sz="1500" b="1" dirty="0">
                <a:solidFill>
                  <a:srgbClr val="A50034"/>
                </a:solidFill>
                <a:latin typeface="맑은 고딕"/>
                <a:ea typeface="맑은 고딕"/>
              </a:rPr>
              <a:t>① Micro RGB (프리미엄 sub-category)</a:t>
            </a:r>
          </a:p>
          <a:p>
            <a:pPr marL="171450" indent="-171450">
              <a:lnSpc>
                <a:spcPts val="1700"/>
              </a:lnSpc>
              <a:spcAft>
                <a:spcPts val="200"/>
              </a:spcAft>
              <a:buFont typeface="Arial"/>
              <a:buChar char="•"/>
            </a:pPr>
            <a:r>
              <a:rPr lang="ko-KR" sz="1200" b="1" dirty="0">
                <a:solidFill>
                  <a:srgbClr val="A50034"/>
                </a:solidFill>
                <a:latin typeface="맑은 고딕"/>
                <a:ea typeface="맑은 고딕"/>
              </a:rPr>
              <a:t>LED size : </a:t>
            </a:r>
            <a:r>
              <a:rPr lang="ko-KR" sz="1200" dirty="0">
                <a:solidFill>
                  <a:srgbClr val="262626"/>
                </a:solidFill>
                <a:latin typeface="맑은 고딕"/>
                <a:ea typeface="맑은 고딕"/>
              </a:rPr>
              <a:t>&lt; 100㎛ ('Micro' = LED 크기를 의미)</a:t>
            </a:r>
          </a:p>
          <a:p>
            <a:pPr marL="171450" indent="-171450">
              <a:lnSpc>
                <a:spcPts val="1700"/>
              </a:lnSpc>
              <a:spcAft>
                <a:spcPts val="200"/>
              </a:spcAft>
              <a:buFont typeface="Arial"/>
              <a:buChar char="•"/>
            </a:pPr>
            <a:r>
              <a:rPr lang="ko-KR" sz="1200" b="1" dirty="0">
                <a:solidFill>
                  <a:srgbClr val="A50034"/>
                </a:solidFill>
                <a:latin typeface="맑은 고딕"/>
                <a:ea typeface="맑은 고딕"/>
              </a:rPr>
              <a:t>채택사 : </a:t>
            </a:r>
            <a:r>
              <a:rPr lang="ko-KR" sz="1200" dirty="0">
                <a:solidFill>
                  <a:srgbClr val="262626"/>
                </a:solidFill>
                <a:latin typeface="맑은 고딕"/>
                <a:ea typeface="맑은 고딕"/>
              </a:rPr>
              <a:t>LG / Samsung (마케팅 명칭)</a:t>
            </a:r>
          </a:p>
          <a:p>
            <a:pPr marL="171450" indent="-171450">
              <a:lnSpc>
                <a:spcPts val="1700"/>
              </a:lnSpc>
              <a:spcAft>
                <a:spcPts val="200"/>
              </a:spcAft>
              <a:buFont typeface="Arial"/>
              <a:buChar char="•"/>
            </a:pPr>
            <a:r>
              <a:rPr lang="ko-KR" sz="1200" b="1" dirty="0">
                <a:solidFill>
                  <a:srgbClr val="A50034"/>
                </a:solidFill>
                <a:latin typeface="맑은 고딕"/>
                <a:ea typeface="맑은 고딕"/>
              </a:rPr>
              <a:t>경쟁 모델 : </a:t>
            </a:r>
            <a:r>
              <a:rPr lang="ko-KR" sz="1200" dirty="0">
                <a:solidFill>
                  <a:srgbClr val="262626"/>
                </a:solidFill>
                <a:latin typeface="맑은 고딕"/>
                <a:ea typeface="맑은 고딕"/>
              </a:rPr>
              <a:t>SS R95H, Hisense UX/116UXS, Sony Bravia 9 II</a:t>
            </a:r>
          </a:p>
          <a:p>
            <a:pPr marL="171450" indent="-171450">
              <a:lnSpc>
                <a:spcPts val="1700"/>
              </a:lnSpc>
              <a:spcAft>
                <a:spcPts val="200"/>
              </a:spcAft>
              <a:buFont typeface="Arial"/>
              <a:buChar char="•"/>
            </a:pPr>
            <a:r>
              <a:rPr lang="ko-KR" sz="1200" b="1" dirty="0">
                <a:solidFill>
                  <a:srgbClr val="A50034"/>
                </a:solidFill>
                <a:latin typeface="맑은 고딕"/>
                <a:ea typeface="맑은 고딕"/>
              </a:rPr>
              <a:t>가격대 : </a:t>
            </a:r>
            <a:r>
              <a:rPr lang="ko-KR" sz="1200" dirty="0">
                <a:solidFill>
                  <a:srgbClr val="262626"/>
                </a:solidFill>
                <a:latin typeface="맑은 고딕"/>
                <a:ea typeface="맑은 고딕"/>
              </a:rPr>
              <a:t>$3,200~ (75" 기준), Top-end</a:t>
            </a:r>
          </a:p>
          <a:p>
            <a:pPr marL="171450" indent="-171450">
              <a:lnSpc>
                <a:spcPts val="1700"/>
              </a:lnSpc>
              <a:spcAft>
                <a:spcPts val="200"/>
              </a:spcAft>
              <a:buFont typeface="Arial"/>
              <a:buChar char="•"/>
            </a:pPr>
            <a:r>
              <a:rPr lang="ko-KR" sz="1200" b="1" dirty="0">
                <a:solidFill>
                  <a:srgbClr val="A50034"/>
                </a:solidFill>
                <a:latin typeface="맑은 고딕"/>
                <a:ea typeface="맑은 고딕"/>
              </a:rPr>
              <a:t>당사 모델 : </a:t>
            </a:r>
            <a:r>
              <a:rPr lang="ko-KR" sz="1200" b="1" dirty="0">
                <a:solidFill>
                  <a:srgbClr val="262626"/>
                </a:solidFill>
                <a:latin typeface="맑은 고딕"/>
                <a:ea typeface="맑은 고딕"/>
              </a:rPr>
              <a:t>Micro RGB evo (MRGB95)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944052A-4B3B-4EFB-8663-8092E476A0AE}"/>
              </a:ext>
            </a:extLst>
          </p:cNvPr>
          <p:cNvSpPr/>
          <p:nvPr/>
        </p:nvSpPr>
        <p:spPr>
          <a:xfrm>
            <a:off x="6121400" y="2438400"/>
            <a:ext cx="5816600" cy="3124200"/>
          </a:xfrm>
          <a:prstGeom prst="rect">
            <a:avLst/>
          </a:prstGeom>
          <a:solidFill>
            <a:srgbClr val="F5F5F5"/>
          </a:solidFill>
          <a:ln w="12700" cap="flat" cmpd="sng" algn="ctr">
            <a:solidFill>
              <a:srgbClr val="40404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>
            <a:noAutofit/>
          </a:bodyPr>
          <a:lstStyle/>
          <a:p>
            <a:pPr>
              <a:lnSpc>
                <a:spcPts val="1900"/>
              </a:lnSpc>
              <a:spcAft>
                <a:spcPts val="500"/>
              </a:spcAft>
              <a:buNone/>
            </a:pPr>
            <a:r>
              <a:rPr lang="ko-KR" sz="1500" b="1" dirty="0">
                <a:solidFill>
                  <a:srgbClr val="262626"/>
                </a:solidFill>
                <a:latin typeface="맑은 고딕"/>
                <a:ea typeface="맑은 고딕"/>
              </a:rPr>
              <a:t>② Mini RGB / RGB Mini-LED (mainstream)</a:t>
            </a:r>
          </a:p>
          <a:p>
            <a:pPr marL="171450" indent="-171450">
              <a:lnSpc>
                <a:spcPts val="1700"/>
              </a:lnSpc>
              <a:spcAft>
                <a:spcPts val="200"/>
              </a:spcAft>
              <a:buFont typeface="Arial"/>
              <a:buChar char="•"/>
            </a:pPr>
            <a:r>
              <a:rPr lang="ko-KR" sz="1200" b="1" dirty="0">
                <a:solidFill>
                  <a:srgbClr val="262626"/>
                </a:solidFill>
                <a:latin typeface="맑은 고딕"/>
                <a:ea typeface="맑은 고딕"/>
              </a:rPr>
              <a:t>LED size : </a:t>
            </a:r>
            <a:r>
              <a:rPr lang="ko-KR" sz="1200" dirty="0">
                <a:solidFill>
                  <a:srgbClr val="262626"/>
                </a:solidFill>
                <a:latin typeface="맑은 고딕"/>
                <a:ea typeface="맑은 고딕"/>
              </a:rPr>
              <a:t>100~200㎛ (기존 Mini-LED 크기)</a:t>
            </a:r>
          </a:p>
          <a:p>
            <a:pPr marL="171450" indent="-171450">
              <a:lnSpc>
                <a:spcPts val="1700"/>
              </a:lnSpc>
              <a:spcAft>
                <a:spcPts val="200"/>
              </a:spcAft>
              <a:buFont typeface="Arial"/>
              <a:buChar char="•"/>
            </a:pPr>
            <a:r>
              <a:rPr lang="ko-KR" sz="1200" b="1" dirty="0">
                <a:solidFill>
                  <a:srgbClr val="262626"/>
                </a:solidFill>
                <a:latin typeface="맑은 고딕"/>
                <a:ea typeface="맑은 고딕"/>
              </a:rPr>
              <a:t>채택사 : </a:t>
            </a:r>
            <a:r>
              <a:rPr lang="ko-KR" sz="1200" dirty="0">
                <a:solidFill>
                  <a:srgbClr val="262626"/>
                </a:solidFill>
                <a:latin typeface="맑은 고딕"/>
                <a:ea typeface="맑은 고딕"/>
              </a:rPr>
              <a:t>Hisense, TCL, Sony 등 大多 적용</a:t>
            </a:r>
          </a:p>
          <a:p>
            <a:pPr marL="171450" indent="-171450">
              <a:lnSpc>
                <a:spcPts val="1700"/>
              </a:lnSpc>
              <a:spcAft>
                <a:spcPts val="200"/>
              </a:spcAft>
              <a:buFont typeface="Arial"/>
              <a:buChar char="•"/>
            </a:pPr>
            <a:r>
              <a:rPr lang="ko-KR" sz="1200" b="1" dirty="0">
                <a:solidFill>
                  <a:srgbClr val="262626"/>
                </a:solidFill>
                <a:latin typeface="맑은 고딕"/>
                <a:ea typeface="맑은 고딕"/>
              </a:rPr>
              <a:t>경쟁 모델 : </a:t>
            </a:r>
            <a:r>
              <a:rPr lang="ko-KR" sz="1200" dirty="0">
                <a:solidFill>
                  <a:srgbClr val="262626"/>
                </a:solidFill>
                <a:latin typeface="맑은 고딕"/>
                <a:ea typeface="맑은 고딕"/>
              </a:rPr>
              <a:t>SS R85H, Hisense U7/U8/UR8, Sony Bravia 7 II, TCL RM9L</a:t>
            </a:r>
          </a:p>
          <a:p>
            <a:pPr marL="171450" indent="-171450">
              <a:lnSpc>
                <a:spcPts val="1700"/>
              </a:lnSpc>
              <a:spcAft>
                <a:spcPts val="200"/>
              </a:spcAft>
              <a:buFont typeface="Arial"/>
              <a:buChar char="•"/>
            </a:pPr>
            <a:r>
              <a:rPr lang="ko-KR" sz="1200" b="1" dirty="0">
                <a:solidFill>
                  <a:srgbClr val="262626"/>
                </a:solidFill>
                <a:latin typeface="맑은 고딕"/>
                <a:ea typeface="맑은 고딕"/>
              </a:rPr>
              <a:t>가격대 : </a:t>
            </a:r>
            <a:r>
              <a:rPr lang="ko-KR" sz="1200" dirty="0">
                <a:solidFill>
                  <a:srgbClr val="262626"/>
                </a:solidFill>
                <a:latin typeface="맑은 고딕"/>
                <a:ea typeface="맑은 고딕"/>
              </a:rPr>
              <a:t>$1,599~ (55" 기준), Mid-Premium</a:t>
            </a:r>
          </a:p>
          <a:p>
            <a:pPr marL="171450" indent="-171450">
              <a:lnSpc>
                <a:spcPts val="1700"/>
              </a:lnSpc>
              <a:spcAft>
                <a:spcPts val="200"/>
              </a:spcAft>
              <a:buFont typeface="Arial"/>
              <a:buChar char="•"/>
            </a:pPr>
            <a:r>
              <a:rPr lang="ko-KR" sz="1200" b="1" dirty="0">
                <a:solidFill>
                  <a:srgbClr val="262626"/>
                </a:solidFill>
                <a:latin typeface="맑은 고딕"/>
                <a:ea typeface="맑은 고딕"/>
              </a:rPr>
              <a:t>당사 모델 : MRGB9M, MRGB85B (엣지형)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ED2EFE5-2EB8-4465-9ED6-B22AEB176D0D}"/>
              </a:ext>
            </a:extLst>
          </p:cNvPr>
          <p:cNvSpPr/>
          <p:nvPr/>
        </p:nvSpPr>
        <p:spPr>
          <a:xfrm>
            <a:off x="279400" y="5715000"/>
            <a:ext cx="11658600" cy="952500"/>
          </a:xfrm>
          <a:prstGeom prst="rect">
            <a:avLst/>
          </a:prstGeom>
          <a:solidFill>
            <a:srgbClr val="A5003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>
            <a:noAutofit/>
          </a:bodyPr>
          <a:lstStyle/>
          <a:p>
            <a:pPr>
              <a:lnSpc>
                <a:spcPts val="1700"/>
              </a:lnSpc>
              <a:spcAft>
                <a:spcPts val="200"/>
              </a:spcAft>
              <a:buNone/>
            </a:pPr>
            <a:r>
              <a:rPr lang="ko-KR" sz="1300" b="1" dirty="0">
                <a:solidFill>
                  <a:srgbClr val="FFFFFF"/>
                </a:solidFill>
                <a:latin typeface="맑은 고딕"/>
                <a:ea typeface="맑은 고딕"/>
              </a:rPr>
              <a:t>▶ 비교 카테고리 가이드</a:t>
            </a:r>
          </a:p>
          <a:p>
            <a:pPr marL="171450" indent="-171450">
              <a:lnSpc>
                <a:spcPts val="1700"/>
              </a:lnSpc>
              <a:spcAft>
                <a:spcPts val="100"/>
              </a:spcAft>
              <a:buFont typeface="Arial"/>
              <a:buChar char="•"/>
            </a:pPr>
            <a:r>
              <a:rPr lang="ko-KR" sz="1200" dirty="0">
                <a:solidFill>
                  <a:srgbClr val="FFFFFF"/>
                </a:solidFill>
                <a:latin typeface="맑은 고딕"/>
                <a:ea typeface="맑은 고딕"/>
              </a:rPr>
              <a:t>당사 </a:t>
            </a:r>
            <a:r>
              <a:rPr lang="ko-KR" sz="1200" b="1" dirty="0">
                <a:solidFill>
                  <a:srgbClr val="FFFFFF"/>
                </a:solidFill>
                <a:latin typeface="맑은 고딕"/>
                <a:ea typeface="맑은 고딕"/>
              </a:rPr>
              <a:t>Micro RGB evo (MRGB95)</a:t>
            </a:r>
            <a:r>
              <a:rPr lang="ko-KR" sz="1200" dirty="0">
                <a:solidFill>
                  <a:srgbClr val="FFFFFF"/>
                </a:solidFill>
                <a:latin typeface="맑은 고딕"/>
                <a:ea typeface="맑은 고딕"/>
              </a:rPr>
              <a:t> ↔ Samsung R95H, Hisense UX/116UXS, Sony Bravia 9 II</a:t>
            </a:r>
          </a:p>
          <a:p>
            <a:pPr marL="171450" indent="-171450">
              <a:lnSpc>
                <a:spcPts val="1700"/>
              </a:lnSpc>
              <a:spcAft>
                <a:spcPts val="100"/>
              </a:spcAft>
              <a:buFont typeface="Arial"/>
              <a:buChar char="•"/>
            </a:pPr>
            <a:r>
              <a:rPr lang="ko-KR" sz="1200" dirty="0">
                <a:solidFill>
                  <a:srgbClr val="FFFFFF"/>
                </a:solidFill>
                <a:latin typeface="맑은 고딕"/>
                <a:ea typeface="맑은 고딕"/>
              </a:rPr>
              <a:t>당사 </a:t>
            </a:r>
            <a:r>
              <a:rPr lang="ko-KR" sz="1200" b="1" dirty="0">
                <a:solidFill>
                  <a:srgbClr val="FFFFFF"/>
                </a:solidFill>
                <a:latin typeface="맑은 고딕"/>
                <a:ea typeface="맑은 고딕"/>
              </a:rPr>
              <a:t>Mini RGB (MRGB9M / MRGB85B)</a:t>
            </a:r>
            <a:r>
              <a:rPr lang="ko-KR" sz="1200" dirty="0">
                <a:solidFill>
                  <a:srgbClr val="FFFFFF"/>
                </a:solidFill>
                <a:latin typeface="맑은 고딕"/>
                <a:ea typeface="맑은 고딕"/>
              </a:rPr>
              <a:t> ↔ Samsung R85H, Hisense U7/U8, Sony Bravia 7 II, TCL RM9L</a:t>
            </a:r>
          </a:p>
        </p:txBody>
      </p:sp>
    </p:spTree>
    <p:extLst>
      <p:ext uri="{BB962C8B-B14F-4D97-AF65-F5344CB8AC3E}">
        <p14:creationId xmlns:p14="http://schemas.microsoft.com/office/powerpoint/2010/main" val="6751919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8695845-CC54-4913-8AB8-0511AE6D0A22}"/>
              </a:ext>
            </a:extLst>
          </p:cNvPr>
          <p:cNvSpPr txBox="1"/>
          <p:nvPr/>
        </p:nvSpPr>
        <p:spPr>
          <a:xfrm>
            <a:off x="203200" y="76200"/>
            <a:ext cx="9652000" cy="3937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2000" b="1">
                <a:solidFill>
                  <a:srgbClr val="0D0D0D"/>
                </a:solidFill>
                <a:latin typeface="Arial Narrow"/>
              </a:rPr>
              <a:t>Q4. Sony 2026 RGB LED TV </a:t>
            </a:r>
            <a:r>
              <a:rPr lang="ko-KR" altLang="en-US" sz="2000" b="1">
                <a:solidFill>
                  <a:srgbClr val="0D0D0D"/>
                </a:solidFill>
                <a:latin typeface="Arial Narrow"/>
              </a:rPr>
              <a:t>대응 </a:t>
            </a:r>
            <a:r>
              <a:rPr lang="en-US" altLang="ko-KR" sz="2000" b="1">
                <a:solidFill>
                  <a:srgbClr val="0D0D0D"/>
                </a:solidFill>
                <a:latin typeface="Arial Narrow"/>
              </a:rPr>
              <a:t>_ 'True RGB'</a:t>
            </a:r>
            <a:endParaRPr lang="ko-KR" altLang="en-US" sz="2000" b="1">
              <a:solidFill>
                <a:srgbClr val="0D0D0D"/>
              </a:solidFill>
              <a:latin typeface="Arial Narrow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309314-13DF-48D5-98A9-3A93930A0180}"/>
              </a:ext>
            </a:extLst>
          </p:cNvPr>
          <p:cNvSpPr txBox="1"/>
          <p:nvPr/>
        </p:nvSpPr>
        <p:spPr>
          <a:xfrm>
            <a:off x="9994900" y="114300"/>
            <a:ext cx="1879600" cy="3429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600" b="1">
                <a:solidFill>
                  <a:srgbClr val="0D0D0D"/>
                </a:solidFill>
                <a:latin typeface="Arial Narrow"/>
              </a:rPr>
              <a:t>'26</a:t>
            </a:r>
            <a:r>
              <a:rPr lang="ko-KR" altLang="en-US" sz="1600" b="1">
                <a:solidFill>
                  <a:srgbClr val="0D0D0D"/>
                </a:solidFill>
                <a:latin typeface="Arial Narrow"/>
              </a:rPr>
              <a:t>년 </a:t>
            </a:r>
            <a:r>
              <a:rPr lang="en-US" altLang="ko-KR" sz="1600" b="1">
                <a:solidFill>
                  <a:srgbClr val="0D0D0D"/>
                </a:solidFill>
                <a:latin typeface="Arial Narrow"/>
              </a:rPr>
              <a:t>RGB LED TV</a:t>
            </a:r>
            <a:endParaRPr lang="ko-KR" altLang="en-US" sz="1600" b="1">
              <a:solidFill>
                <a:srgbClr val="0D0D0D"/>
              </a:solidFill>
              <a:latin typeface="Arial Narrow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B500BCB-E01E-4486-B0D6-47520C0C867A}"/>
              </a:ext>
            </a:extLst>
          </p:cNvPr>
          <p:cNvSpPr/>
          <p:nvPr/>
        </p:nvSpPr>
        <p:spPr>
          <a:xfrm>
            <a:off x="203200" y="533400"/>
            <a:ext cx="11734800" cy="25400"/>
          </a:xfrm>
          <a:prstGeom prst="rect">
            <a:avLst/>
          </a:prstGeom>
          <a:solidFill>
            <a:srgbClr val="A5003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38CF563-7A83-47FE-B1B6-BBB197038599}"/>
              </a:ext>
            </a:extLst>
          </p:cNvPr>
          <p:cNvSpPr/>
          <p:nvPr/>
        </p:nvSpPr>
        <p:spPr>
          <a:xfrm>
            <a:off x="279400" y="711200"/>
            <a:ext cx="11658600" cy="635000"/>
          </a:xfrm>
          <a:prstGeom prst="rect">
            <a:avLst/>
          </a:prstGeom>
          <a:solidFill>
            <a:srgbClr val="FDF2F5"/>
          </a:solidFill>
          <a:ln w="12700" cap="flat" cmpd="sng" algn="ctr">
            <a:solidFill>
              <a:srgbClr val="A5003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altLang="ko-KR" sz="1400" b="1">
                <a:solidFill>
                  <a:srgbClr val="A50034"/>
                </a:solidFill>
                <a:latin typeface="맑은 고딕"/>
                <a:ea typeface="맑은 고딕"/>
              </a:rPr>
              <a:t>[</a:t>
            </a:r>
            <a:r>
              <a:rPr lang="ko-KR" altLang="en-US" sz="1400" b="1">
                <a:solidFill>
                  <a:srgbClr val="A50034"/>
                </a:solidFill>
                <a:latin typeface="맑은 고딕"/>
                <a:ea typeface="맑은 고딕"/>
              </a:rPr>
              <a:t>답</a:t>
            </a:r>
            <a:r>
              <a:rPr lang="en-US" altLang="ko-KR" sz="1400" b="1">
                <a:solidFill>
                  <a:srgbClr val="A50034"/>
                </a:solidFill>
                <a:latin typeface="맑은 고딕"/>
                <a:ea typeface="맑은 고딕"/>
              </a:rPr>
              <a:t>] Sony 'True RGB' </a:t>
            </a:r>
            <a:r>
              <a:rPr lang="ko-KR" altLang="en-US" sz="1400" b="1">
                <a:solidFill>
                  <a:srgbClr val="A50034"/>
                </a:solidFill>
                <a:latin typeface="맑은 고딕"/>
                <a:ea typeface="맑은 고딕"/>
              </a:rPr>
              <a:t>트레이드마크 등록 </a:t>
            </a:r>
            <a:r>
              <a:rPr lang="en-US" altLang="ko-KR" sz="1400" b="1">
                <a:solidFill>
                  <a:srgbClr val="A50034"/>
                </a:solidFill>
                <a:latin typeface="맑은 고딕"/>
                <a:ea typeface="맑은 고딕"/>
              </a:rPr>
              <a:t>('25.10) / Bravia 9 II·7 II 2</a:t>
            </a:r>
            <a:r>
              <a:rPr lang="ko-KR" altLang="en-US" sz="1400" b="1">
                <a:solidFill>
                  <a:srgbClr val="A50034"/>
                </a:solidFill>
                <a:latin typeface="맑은 고딕"/>
                <a:ea typeface="맑은 고딕"/>
              </a:rPr>
              <a:t>종 출시 예정 </a:t>
            </a:r>
            <a:r>
              <a:rPr lang="en-US" altLang="ko-KR" sz="1400" b="1">
                <a:solidFill>
                  <a:srgbClr val="A50034"/>
                </a:solidFill>
                <a:latin typeface="맑은 고딕"/>
                <a:ea typeface="맑은 고딕"/>
              </a:rPr>
              <a:t>('26</a:t>
            </a:r>
            <a:r>
              <a:rPr lang="ko-KR" altLang="en-US" sz="1400" b="1">
                <a:solidFill>
                  <a:srgbClr val="A50034"/>
                </a:solidFill>
                <a:latin typeface="맑은 고딕"/>
                <a:ea typeface="맑은 고딕"/>
              </a:rPr>
              <a:t>년 </a:t>
            </a:r>
            <a:r>
              <a:rPr lang="en-US" altLang="ko-KR" sz="1400" b="1">
                <a:solidFill>
                  <a:srgbClr val="A50034"/>
                </a:solidFill>
                <a:latin typeface="맑은 고딕"/>
                <a:ea typeface="맑은 고딕"/>
              </a:rPr>
              <a:t>5~6</a:t>
            </a:r>
            <a:r>
              <a:rPr lang="ko-KR" altLang="en-US" sz="1400" b="1">
                <a:solidFill>
                  <a:srgbClr val="A50034"/>
                </a:solidFill>
                <a:latin typeface="맑은 고딕"/>
                <a:ea typeface="맑은 고딕"/>
              </a:rPr>
              <a:t>월</a:t>
            </a:r>
            <a:r>
              <a:rPr lang="en-US" altLang="ko-KR" sz="1400" b="1">
                <a:solidFill>
                  <a:srgbClr val="A50034"/>
                </a:solidFill>
                <a:latin typeface="맑은 고딕"/>
                <a:ea typeface="맑은 고딕"/>
              </a:rPr>
              <a:t>) → </a:t>
            </a:r>
            <a:r>
              <a:rPr lang="ko-KR" altLang="en-US" sz="1400" b="1">
                <a:solidFill>
                  <a:srgbClr val="A50034"/>
                </a:solidFill>
                <a:latin typeface="맑은 고딕"/>
                <a:ea typeface="맑은 고딕"/>
              </a:rPr>
              <a:t>당사 </a:t>
            </a:r>
            <a:r>
              <a:rPr lang="en-US" altLang="ko-KR" sz="1400" b="1">
                <a:solidFill>
                  <a:srgbClr val="A50034"/>
                </a:solidFill>
                <a:latin typeface="맑은 고딕"/>
                <a:ea typeface="맑은 고딕"/>
              </a:rPr>
              <a:t>1~4</a:t>
            </a:r>
            <a:r>
              <a:rPr lang="ko-KR" altLang="en-US" sz="1400" b="1">
                <a:solidFill>
                  <a:srgbClr val="A50034"/>
                </a:solidFill>
                <a:latin typeface="맑은 고딕"/>
                <a:ea typeface="맑은 고딕"/>
              </a:rPr>
              <a:t>월 선출시 효과 활용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647340A-023B-488B-8AF2-A137C13C391A}"/>
              </a:ext>
            </a:extLst>
          </p:cNvPr>
          <p:cNvSpPr/>
          <p:nvPr/>
        </p:nvSpPr>
        <p:spPr>
          <a:xfrm>
            <a:off x="279400" y="1524000"/>
            <a:ext cx="5816600" cy="3048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1A1A1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>
            <a:noAutofit/>
          </a:bodyPr>
          <a:lstStyle/>
          <a:p>
            <a:pPr>
              <a:lnSpc>
                <a:spcPts val="19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A1A1E"/>
                </a:solidFill>
                <a:latin typeface="맑은 고딕"/>
                <a:ea typeface="맑은 고딕"/>
              </a:rPr>
              <a:t>Bravia 9 II (XR9M2) _ 플래그십</a:t>
            </a:r>
          </a:p>
          <a:p>
            <a:pPr marL="171450" indent="-171450">
              <a:lnSpc>
                <a:spcPts val="1700"/>
              </a:lnSpc>
              <a:spcAft>
                <a:spcPts val="200"/>
              </a:spcAft>
              <a:buFont typeface="Arial"/>
              <a:buChar char="•"/>
            </a:pPr>
            <a:r>
              <a:rPr lang="ko-KR" sz="1200" b="1" dirty="0">
                <a:solidFill>
                  <a:srgbClr val="1A1A1E"/>
                </a:solidFill>
                <a:latin typeface="맑은 고딕"/>
                <a:ea typeface="맑은 고딕"/>
              </a:rPr>
              <a:t>사이즈 : </a:t>
            </a:r>
            <a:r>
              <a:rPr lang="ko-KR" sz="1200" dirty="0">
                <a:solidFill>
                  <a:srgbClr val="262626"/>
                </a:solidFill>
                <a:latin typeface="맑은 고딕"/>
                <a:ea typeface="맑은 고딕"/>
              </a:rPr>
              <a:t>65 / 75 / 85 / 98 / 115" (5개 사이즈)</a:t>
            </a:r>
          </a:p>
          <a:p>
            <a:pPr marL="171450" indent="-171450">
              <a:lnSpc>
                <a:spcPts val="1700"/>
              </a:lnSpc>
              <a:spcAft>
                <a:spcPts val="200"/>
              </a:spcAft>
              <a:buFont typeface="Arial"/>
              <a:buChar char="•"/>
            </a:pPr>
            <a:r>
              <a:rPr lang="ko-KR" sz="1200" b="1" dirty="0">
                <a:solidFill>
                  <a:srgbClr val="1A1A1E"/>
                </a:solidFill>
                <a:latin typeface="맑은 고딕"/>
                <a:ea typeface="맑은 고딕"/>
              </a:rPr>
              <a:t>백라이트 : </a:t>
            </a:r>
            <a:r>
              <a:rPr lang="ko-KR" sz="1200" dirty="0">
                <a:solidFill>
                  <a:srgbClr val="262626"/>
                </a:solidFill>
                <a:latin typeface="맑은 고딕"/>
                <a:ea typeface="맑은 고딕"/>
              </a:rPr>
              <a:t>~4,000 zones (75" 기준), 4,000 nits</a:t>
            </a:r>
          </a:p>
          <a:p>
            <a:pPr marL="171450" indent="-171450">
              <a:lnSpc>
                <a:spcPts val="1700"/>
              </a:lnSpc>
              <a:spcAft>
                <a:spcPts val="200"/>
              </a:spcAft>
              <a:buFont typeface="Arial"/>
              <a:buChar char="•"/>
            </a:pPr>
            <a:r>
              <a:rPr lang="ko-KR" sz="1200" b="1" dirty="0">
                <a:solidFill>
                  <a:srgbClr val="1A1A1E"/>
                </a:solidFill>
                <a:latin typeface="맑은 고딕"/>
                <a:ea typeface="맑은 고딕"/>
              </a:rPr>
              <a:t>패널 : </a:t>
            </a:r>
            <a:r>
              <a:rPr lang="ko-KR" sz="1200" dirty="0">
                <a:solidFill>
                  <a:srgbClr val="262626"/>
                </a:solidFill>
                <a:latin typeface="맑은 고딕"/>
                <a:ea typeface="맑은 고딕"/>
              </a:rPr>
              <a:t>Pro VA + AG47LR 무광 코팅</a:t>
            </a:r>
          </a:p>
          <a:p>
            <a:pPr marL="171450" indent="-171450">
              <a:lnSpc>
                <a:spcPts val="1700"/>
              </a:lnSpc>
              <a:spcAft>
                <a:spcPts val="200"/>
              </a:spcAft>
              <a:buFont typeface="Arial"/>
              <a:buChar char="•"/>
            </a:pPr>
            <a:r>
              <a:rPr lang="ko-KR" sz="1200" b="1" dirty="0">
                <a:solidFill>
                  <a:srgbClr val="1A1A1E"/>
                </a:solidFill>
                <a:latin typeface="맑은 고딕"/>
                <a:ea typeface="맑은 고딕"/>
              </a:rPr>
              <a:t>프로세서 : </a:t>
            </a:r>
            <a:r>
              <a:rPr lang="ko-KR" sz="1200" dirty="0">
                <a:solidFill>
                  <a:srgbClr val="262626"/>
                </a:solidFill>
                <a:latin typeface="맑은 고딕"/>
                <a:ea typeface="맑은 고딕"/>
              </a:rPr>
              <a:t>Sony XR Processor (AI 화질 처리)</a:t>
            </a:r>
          </a:p>
          <a:p>
            <a:pPr marL="171450" indent="-171450">
              <a:lnSpc>
                <a:spcPts val="1700"/>
              </a:lnSpc>
              <a:spcAft>
                <a:spcPts val="200"/>
              </a:spcAft>
              <a:buFont typeface="Arial"/>
              <a:buChar char="•"/>
            </a:pPr>
            <a:r>
              <a:rPr lang="ko-KR" sz="1200" b="1" dirty="0">
                <a:solidFill>
                  <a:srgbClr val="1A1A1E"/>
                </a:solidFill>
                <a:latin typeface="맑은 고딕"/>
                <a:ea typeface="맑은 고딕"/>
              </a:rPr>
              <a:t>HDR : </a:t>
            </a:r>
            <a:r>
              <a:rPr lang="ko-KR" sz="1200" dirty="0">
                <a:solidFill>
                  <a:srgbClr val="C00000"/>
                </a:solidFill>
                <a:latin typeface="맑은 고딕"/>
                <a:ea typeface="맑은 고딕"/>
              </a:rPr>
              <a:t>Dolby Vision 2 미지원</a:t>
            </a:r>
          </a:p>
          <a:p>
            <a:pPr marL="171450" indent="-171450">
              <a:lnSpc>
                <a:spcPts val="1700"/>
              </a:lnSpc>
              <a:spcAft>
                <a:spcPts val="200"/>
              </a:spcAft>
              <a:buFont typeface="Arial"/>
              <a:buChar char="•"/>
            </a:pPr>
            <a:r>
              <a:rPr lang="ko-KR" sz="1200" b="1" dirty="0">
                <a:solidFill>
                  <a:srgbClr val="1A1A1E"/>
                </a:solidFill>
                <a:latin typeface="맑은 고딕"/>
                <a:ea typeface="맑은 고딕"/>
              </a:rPr>
              <a:t>가격 : </a:t>
            </a:r>
            <a:r>
              <a:rPr lang="ko-KR" sz="1200" dirty="0">
                <a:solidFill>
                  <a:srgbClr val="262626"/>
                </a:solidFill>
                <a:latin typeface="맑은 고딕"/>
                <a:ea typeface="맑은 고딕"/>
              </a:rPr>
              <a:t>85" CNY 39,999 (~$5,656), 115" 推 $12,999</a:t>
            </a:r>
          </a:p>
          <a:p>
            <a:pPr marL="171450" indent="-171450">
              <a:lnSpc>
                <a:spcPts val="1700"/>
              </a:lnSpc>
              <a:buFont typeface="Arial"/>
              <a:buChar char="•"/>
            </a:pPr>
            <a:r>
              <a:rPr lang="ko-KR" sz="1200" b="1" dirty="0">
                <a:solidFill>
                  <a:srgbClr val="1A1A1E"/>
                </a:solidFill>
                <a:latin typeface="맑은 고딕"/>
                <a:ea typeface="맑은 고딕"/>
              </a:rPr>
              <a:t>출시 : </a:t>
            </a:r>
            <a:r>
              <a:rPr lang="ko-KR" sz="1200" dirty="0">
                <a:solidFill>
                  <a:srgbClr val="262626"/>
                </a:solidFill>
                <a:latin typeface="맑은 고딕"/>
                <a:ea typeface="맑은 고딕"/>
              </a:rPr>
              <a:t>'26년 5~6월 (Sony는 CES 발표 X, 봄 별도 발표)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5E8593F-D3A4-4654-928C-CF23177E2BBA}"/>
              </a:ext>
            </a:extLst>
          </p:cNvPr>
          <p:cNvSpPr/>
          <p:nvPr/>
        </p:nvSpPr>
        <p:spPr>
          <a:xfrm>
            <a:off x="6121400" y="1524000"/>
            <a:ext cx="5816600" cy="3048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80808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>
            <a:noAutofit/>
          </a:bodyPr>
          <a:lstStyle/>
          <a:p>
            <a:pPr>
              <a:lnSpc>
                <a:spcPts val="19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404040"/>
                </a:solidFill>
                <a:latin typeface="맑은 고딕"/>
                <a:ea typeface="맑은 고딕"/>
              </a:rPr>
              <a:t>Bravia 7 II (XR7M2) _ Mid-Premium</a:t>
            </a:r>
          </a:p>
          <a:p>
            <a:pPr marL="171450" indent="-171450">
              <a:lnSpc>
                <a:spcPts val="1700"/>
              </a:lnSpc>
              <a:spcAft>
                <a:spcPts val="200"/>
              </a:spcAft>
              <a:buFont typeface="Arial"/>
              <a:buChar char="•"/>
            </a:pPr>
            <a:r>
              <a:rPr lang="ko-KR" sz="1200" b="1" dirty="0">
                <a:solidFill>
                  <a:srgbClr val="404040"/>
                </a:solidFill>
                <a:latin typeface="맑은 고딕"/>
                <a:ea typeface="맑은 고딕"/>
              </a:rPr>
              <a:t>사이즈 : </a:t>
            </a:r>
            <a:r>
              <a:rPr lang="ko-KR" sz="1200" dirty="0">
                <a:solidFill>
                  <a:srgbClr val="262626"/>
                </a:solidFill>
                <a:latin typeface="맑은 고딕"/>
                <a:ea typeface="맑은 고딕"/>
              </a:rPr>
              <a:t>65 / 75 / 98" (3개 사이즈)</a:t>
            </a:r>
          </a:p>
          <a:p>
            <a:pPr marL="171450" indent="-171450">
              <a:lnSpc>
                <a:spcPts val="1700"/>
              </a:lnSpc>
              <a:spcAft>
                <a:spcPts val="200"/>
              </a:spcAft>
              <a:buFont typeface="Arial"/>
              <a:buChar char="•"/>
            </a:pPr>
            <a:r>
              <a:rPr lang="ko-KR" sz="1200" b="1" dirty="0">
                <a:solidFill>
                  <a:srgbClr val="404040"/>
                </a:solidFill>
                <a:latin typeface="맑은 고딕"/>
                <a:ea typeface="맑은 고딕"/>
              </a:rPr>
              <a:t>백라이트 : </a:t>
            </a:r>
            <a:r>
              <a:rPr lang="ko-KR" sz="1200" dirty="0">
                <a:solidFill>
                  <a:srgbClr val="262626"/>
                </a:solidFill>
                <a:latin typeface="맑은 고딕"/>
                <a:ea typeface="맑은 고딕"/>
              </a:rPr>
              <a:t>5,100 RGB color zones / 1,700 dimming zones (75")</a:t>
            </a:r>
          </a:p>
          <a:p>
            <a:pPr marL="171450" indent="-171450">
              <a:lnSpc>
                <a:spcPts val="1700"/>
              </a:lnSpc>
              <a:spcAft>
                <a:spcPts val="200"/>
              </a:spcAft>
              <a:buFont typeface="Arial"/>
              <a:buChar char="•"/>
            </a:pPr>
            <a:r>
              <a:rPr lang="ko-KR" sz="1200" b="1" dirty="0">
                <a:solidFill>
                  <a:srgbClr val="404040"/>
                </a:solidFill>
                <a:latin typeface="맑은 고딕"/>
                <a:ea typeface="맑은 고딕"/>
              </a:rPr>
              <a:t>휘도 : </a:t>
            </a:r>
            <a:r>
              <a:rPr lang="ko-KR" sz="1200" dirty="0">
                <a:solidFill>
                  <a:srgbClr val="262626"/>
                </a:solidFill>
                <a:latin typeface="맑은 고딕"/>
                <a:ea typeface="맑은 고딕"/>
              </a:rPr>
              <a:t>2,000~2,500 nits (B9II 對比 1/2 수준)</a:t>
            </a:r>
          </a:p>
          <a:p>
            <a:pPr marL="171450" indent="-171450">
              <a:lnSpc>
                <a:spcPts val="1700"/>
              </a:lnSpc>
              <a:spcAft>
                <a:spcPts val="200"/>
              </a:spcAft>
              <a:buFont typeface="Arial"/>
              <a:buChar char="•"/>
            </a:pPr>
            <a:r>
              <a:rPr lang="ko-KR" sz="1200" b="1" dirty="0">
                <a:solidFill>
                  <a:srgbClr val="404040"/>
                </a:solidFill>
                <a:latin typeface="맑은 고딕"/>
                <a:ea typeface="맑은 고딕"/>
              </a:rPr>
              <a:t>패널 : </a:t>
            </a:r>
            <a:r>
              <a:rPr lang="ko-KR" sz="1200" dirty="0">
                <a:solidFill>
                  <a:srgbClr val="262626"/>
                </a:solidFill>
                <a:latin typeface="맑은 고딕"/>
                <a:ea typeface="맑은 고딕"/>
              </a:rPr>
              <a:t>Pro VA + AG47LR 코팅 (B9II와 동일)</a:t>
            </a:r>
          </a:p>
          <a:p>
            <a:pPr marL="171450" indent="-171450">
              <a:lnSpc>
                <a:spcPts val="1700"/>
              </a:lnSpc>
              <a:spcAft>
                <a:spcPts val="200"/>
              </a:spcAft>
              <a:buFont typeface="Arial"/>
              <a:buChar char="•"/>
            </a:pPr>
            <a:r>
              <a:rPr lang="ko-KR" sz="1200" b="1" dirty="0">
                <a:solidFill>
                  <a:srgbClr val="404040"/>
                </a:solidFill>
                <a:latin typeface="맑은 고딕"/>
                <a:ea typeface="맑은 고딕"/>
              </a:rPr>
              <a:t>대응 모델 : </a:t>
            </a:r>
            <a:r>
              <a:rPr lang="ko-KR" sz="1200" b="1" dirty="0">
                <a:solidFill>
                  <a:srgbClr val="A50034"/>
                </a:solidFill>
                <a:latin typeface="맑은 고딕"/>
                <a:ea typeface="맑은 고딕"/>
              </a:rPr>
              <a:t>당사 Mini RGB (MRGB9M / MRGB85B)와 정면 경쟁</a:t>
            </a:r>
          </a:p>
          <a:p>
            <a:pPr marL="171450" indent="-171450">
              <a:lnSpc>
                <a:spcPts val="1700"/>
              </a:lnSpc>
              <a:buFont typeface="Arial"/>
              <a:buChar char="•"/>
            </a:pPr>
            <a:r>
              <a:rPr lang="ko-KR" sz="1200" b="1" dirty="0">
                <a:solidFill>
                  <a:srgbClr val="404040"/>
                </a:solidFill>
                <a:latin typeface="맑은 고딕"/>
                <a:ea typeface="맑은 고딕"/>
              </a:rPr>
              <a:t>출시 : </a:t>
            </a:r>
            <a:r>
              <a:rPr lang="ko-KR" sz="1200" dirty="0">
                <a:solidFill>
                  <a:srgbClr val="262626"/>
                </a:solidFill>
                <a:latin typeface="맑은 고딕"/>
                <a:ea typeface="맑은 고딕"/>
              </a:rPr>
              <a:t>'26년 5~6월 동시 발매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AB8F943-D9C0-41AE-A10C-4AF5D91F53B7}"/>
              </a:ext>
            </a:extLst>
          </p:cNvPr>
          <p:cNvSpPr/>
          <p:nvPr/>
        </p:nvSpPr>
        <p:spPr>
          <a:xfrm>
            <a:off x="279400" y="4724400"/>
            <a:ext cx="11658600" cy="1930400"/>
          </a:xfrm>
          <a:prstGeom prst="rect">
            <a:avLst/>
          </a:prstGeom>
          <a:solidFill>
            <a:srgbClr val="A5003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>
            <a:noAutofit/>
          </a:bodyPr>
          <a:lstStyle/>
          <a:p>
            <a:pPr>
              <a:lnSpc>
                <a:spcPts val="2000"/>
              </a:lnSpc>
              <a:spcAft>
                <a:spcPts val="400"/>
              </a:spcAft>
              <a:buNone/>
            </a:pPr>
            <a:r>
              <a:rPr lang="ko-KR" sz="1500" b="1" dirty="0">
                <a:solidFill>
                  <a:srgbClr val="FFFFFF"/>
                </a:solidFill>
                <a:latin typeface="맑은 고딕"/>
                <a:ea typeface="맑은 고딕"/>
              </a:rPr>
              <a:t>▶ Sony 對 당사 訴求 포인트</a:t>
            </a:r>
          </a:p>
          <a:p>
            <a:pPr marL="228600" indent="-228600">
              <a:lnSpc>
                <a:spcPts val="1800"/>
              </a:lnSpc>
              <a:spcAft>
                <a:spcPts val="200"/>
              </a:spcAft>
              <a:buFont typeface="Arial"/>
              <a:buChar char="①"/>
            </a:pPr>
            <a:r>
              <a:rPr lang="ko-KR" sz="1300" b="1" dirty="0">
                <a:solidFill>
                  <a:srgbClr val="FFFFFF"/>
                </a:solidFill>
                <a:latin typeface="맑은 고딕"/>
                <a:ea typeface="맑은 고딕"/>
              </a:rPr>
              <a:t>출시 시점 우위 : </a:t>
            </a:r>
            <a:r>
              <a:rPr lang="ko-KR" sz="1300" dirty="0">
                <a:solidFill>
                  <a:srgbClr val="FFFFFF"/>
                </a:solidFill>
                <a:latin typeface="맑은 고딕"/>
                <a:ea typeface="맑은 고딕"/>
              </a:rPr>
              <a:t>당사 1~4월 선출시 → Sony 5~6월 _ 고객 락인 (Lock-in) 4~5개월 확보</a:t>
            </a:r>
          </a:p>
          <a:p>
            <a:pPr marL="228600" indent="-228600">
              <a:lnSpc>
                <a:spcPts val="1800"/>
              </a:lnSpc>
              <a:spcAft>
                <a:spcPts val="200"/>
              </a:spcAft>
              <a:buFont typeface="Arial"/>
              <a:buChar char="②"/>
            </a:pPr>
            <a:r>
              <a:rPr lang="ko-KR" sz="1300" b="1" dirty="0">
                <a:solidFill>
                  <a:srgbClr val="FFFFFF"/>
                </a:solidFill>
                <a:latin typeface="맑은 고딕"/>
                <a:ea typeface="맑은 고딕"/>
              </a:rPr>
              <a:t>라인업 폭 우위 : </a:t>
            </a:r>
            <a:r>
              <a:rPr lang="ko-KR" sz="1300" dirty="0">
                <a:solidFill>
                  <a:srgbClr val="FFFFFF"/>
                </a:solidFill>
                <a:latin typeface="맑은 고딕"/>
                <a:ea typeface="맑은 고딕"/>
              </a:rPr>
              <a:t>당사 Micro RGB + Mini RGB 2-Tier vs Sony Bravia 9 II + 7 II 2종 (가격 접근성)</a:t>
            </a:r>
          </a:p>
          <a:p>
            <a:pPr marL="228600" indent="-228600">
              <a:lnSpc>
                <a:spcPts val="1800"/>
              </a:lnSpc>
              <a:buFont typeface="Arial"/>
              <a:buChar char="③"/>
            </a:pPr>
            <a:r>
              <a:rPr lang="ko-KR" sz="1300" b="1" dirty="0">
                <a:solidFill>
                  <a:srgbClr val="FFFFFF"/>
                </a:solidFill>
                <a:latin typeface="맑은 고딕"/>
                <a:ea typeface="맑은 고딕"/>
              </a:rPr>
              <a:t>색재현 우위 : </a:t>
            </a:r>
            <a:r>
              <a:rPr lang="ko-KR" sz="1300" dirty="0">
                <a:solidFill>
                  <a:srgbClr val="FFFFFF"/>
                </a:solidFill>
                <a:latin typeface="맑은 고딕"/>
                <a:ea typeface="맑은 고딕"/>
              </a:rPr>
              <a:t>Triple 100% (BT.2020 + DCI-P3 + Adobe RGB) Intertek 인증 _ Sony 미공개</a:t>
            </a:r>
          </a:p>
        </p:txBody>
      </p:sp>
    </p:spTree>
    <p:extLst>
      <p:ext uri="{BB962C8B-B14F-4D97-AF65-F5344CB8AC3E}">
        <p14:creationId xmlns:p14="http://schemas.microsoft.com/office/powerpoint/2010/main" val="21321070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6479508-293A-4E87-88F4-4E4F8C2011F0}"/>
              </a:ext>
            </a:extLst>
          </p:cNvPr>
          <p:cNvSpPr txBox="1"/>
          <p:nvPr/>
        </p:nvSpPr>
        <p:spPr>
          <a:xfrm>
            <a:off x="203200" y="76200"/>
            <a:ext cx="9652000" cy="3937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2000" b="1">
                <a:solidFill>
                  <a:srgbClr val="0D0D0D"/>
                </a:solidFill>
                <a:latin typeface="Arial Narrow"/>
              </a:rPr>
              <a:t>Q5. </a:t>
            </a:r>
            <a:r>
              <a:rPr lang="ko-KR" altLang="en-US" sz="2000" b="1">
                <a:solidFill>
                  <a:srgbClr val="0D0D0D"/>
                </a:solidFill>
                <a:latin typeface="Arial Narrow"/>
              </a:rPr>
              <a:t>거래선 </a:t>
            </a:r>
            <a:r>
              <a:rPr lang="en-US" altLang="ko-KR" sz="2000" b="1">
                <a:solidFill>
                  <a:srgbClr val="0D0D0D"/>
                </a:solidFill>
                <a:latin typeface="Arial Narrow"/>
              </a:rPr>
              <a:t>/ </a:t>
            </a:r>
            <a:r>
              <a:rPr lang="ko-KR" altLang="en-US" sz="2000" b="1">
                <a:solidFill>
                  <a:srgbClr val="0D0D0D"/>
                </a:solidFill>
                <a:latin typeface="Arial Narrow"/>
              </a:rPr>
              <a:t>시장 訴求 메시지 </a:t>
            </a:r>
            <a:r>
              <a:rPr lang="en-US" altLang="ko-KR" sz="2000" b="1">
                <a:solidFill>
                  <a:srgbClr val="0D0D0D"/>
                </a:solidFill>
                <a:latin typeface="Arial Narrow"/>
              </a:rPr>
              <a:t>_ </a:t>
            </a:r>
            <a:r>
              <a:rPr lang="ko-KR" altLang="en-US" sz="2000" b="1">
                <a:solidFill>
                  <a:srgbClr val="0D0D0D"/>
                </a:solidFill>
                <a:latin typeface="Arial Narrow"/>
              </a:rPr>
              <a:t>종합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13376D-299A-4F56-946F-5DAAB900F668}"/>
              </a:ext>
            </a:extLst>
          </p:cNvPr>
          <p:cNvSpPr txBox="1"/>
          <p:nvPr/>
        </p:nvSpPr>
        <p:spPr>
          <a:xfrm>
            <a:off x="9994900" y="114300"/>
            <a:ext cx="1879600" cy="3429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600" b="1">
                <a:solidFill>
                  <a:srgbClr val="0D0D0D"/>
                </a:solidFill>
                <a:latin typeface="Arial Narrow"/>
              </a:rPr>
              <a:t>'26</a:t>
            </a:r>
            <a:r>
              <a:rPr lang="ko-KR" altLang="en-US" sz="1600" b="1">
                <a:solidFill>
                  <a:srgbClr val="0D0D0D"/>
                </a:solidFill>
                <a:latin typeface="Arial Narrow"/>
              </a:rPr>
              <a:t>년 </a:t>
            </a:r>
            <a:r>
              <a:rPr lang="en-US" altLang="ko-KR" sz="1600" b="1">
                <a:solidFill>
                  <a:srgbClr val="0D0D0D"/>
                </a:solidFill>
                <a:latin typeface="Arial Narrow"/>
              </a:rPr>
              <a:t>RGB LED TV</a:t>
            </a:r>
            <a:endParaRPr lang="ko-KR" altLang="en-US" sz="1600" b="1">
              <a:solidFill>
                <a:srgbClr val="0D0D0D"/>
              </a:solidFill>
              <a:latin typeface="Arial Narrow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2F26140-76BA-44EF-BDF5-E0AE5C02D22E}"/>
              </a:ext>
            </a:extLst>
          </p:cNvPr>
          <p:cNvSpPr/>
          <p:nvPr/>
        </p:nvSpPr>
        <p:spPr>
          <a:xfrm>
            <a:off x="203200" y="533400"/>
            <a:ext cx="11734800" cy="25400"/>
          </a:xfrm>
          <a:prstGeom prst="rect">
            <a:avLst/>
          </a:prstGeom>
          <a:solidFill>
            <a:srgbClr val="A5003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A5EFC5A-5E0F-4138-B5A1-0D2FFF23D565}"/>
              </a:ext>
            </a:extLst>
          </p:cNvPr>
          <p:cNvSpPr/>
          <p:nvPr/>
        </p:nvSpPr>
        <p:spPr>
          <a:xfrm>
            <a:off x="279400" y="762000"/>
            <a:ext cx="3784600" cy="482600"/>
          </a:xfrm>
          <a:prstGeom prst="rect">
            <a:avLst/>
          </a:prstGeom>
          <a:solidFill>
            <a:srgbClr val="A5003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맑은 고딕"/>
                <a:ea typeface="맑은 고딕"/>
              </a:rPr>
              <a:t>vs Samsung</a:t>
            </a:r>
            <a:endParaRPr lang="ko-KR" altLang="en-US" sz="1600" b="1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AFB18B4-E04F-4F0C-B228-E7BF2949B651}"/>
              </a:ext>
            </a:extLst>
          </p:cNvPr>
          <p:cNvSpPr txBox="1"/>
          <p:nvPr/>
        </p:nvSpPr>
        <p:spPr>
          <a:xfrm>
            <a:off x="279400" y="1244600"/>
            <a:ext cx="3784600" cy="424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A50034"/>
            </a:solidFill>
          </a:ln>
        </p:spPr>
        <p:txBody>
          <a:bodyPr vertOverflow="overflow" vert="horz" wrap="square" rtlCol="0" anchor="t">
            <a:noAutofit/>
          </a:bodyPr>
          <a:lstStyle/>
          <a:p>
            <a:pPr marL="171450" indent="-171450">
              <a:lnSpc>
                <a:spcPts val="1500"/>
              </a:lnSpc>
              <a:spcAft>
                <a:spcPts val="400"/>
              </a:spcAft>
              <a:buFont typeface="Arial"/>
              <a:buChar char="•"/>
            </a:pPr>
            <a:r>
              <a:rPr lang="ko-KR" sz="1200" b="1" dirty="0">
                <a:solidFill>
                  <a:srgbClr val="A50034"/>
                </a:solidFill>
                <a:latin typeface="맑은 고딕"/>
              </a:rPr>
              <a:t>색재현 우위</a:t>
            </a:r>
          </a:p>
          <a:p>
            <a:pPr marL="171450" indent="-171450">
              <a:lnSpc>
                <a:spcPts val="1400"/>
              </a:lnSpc>
              <a:spcAft>
                <a:spcPts val="400"/>
              </a:spcAft>
              <a:buFont typeface="Arial"/>
              <a:buChar char="‒"/>
            </a:pPr>
            <a:r>
              <a:rPr lang="ko-KR" sz="1100" dirty="0">
                <a:solidFill>
                  <a:srgbClr val="0D0D0D"/>
                </a:solidFill>
                <a:latin typeface="맑은 고딕"/>
              </a:rPr>
              <a:t>당사 Triple 100% (BT.2020 + DCI-P3 + Adobe RGB) Intertek 인증 vs SS BT.2020 단일 표준</a:t>
            </a:r>
          </a:p>
          <a:p>
            <a:pPr marL="171450" indent="-171450">
              <a:lnSpc>
                <a:spcPts val="1500"/>
              </a:lnSpc>
              <a:spcAft>
                <a:spcPts val="400"/>
              </a:spcAft>
              <a:buFont typeface="Arial"/>
              <a:buChar char="•"/>
            </a:pPr>
            <a:r>
              <a:rPr lang="ko-KR" sz="1200" b="1" dirty="0">
                <a:solidFill>
                  <a:srgbClr val="A50034"/>
                </a:solidFill>
                <a:latin typeface="맑은 고딕"/>
              </a:rPr>
              <a:t>Ultra Fine Color Control 인증</a:t>
            </a:r>
          </a:p>
          <a:p>
            <a:pPr marL="171450" indent="-171450">
              <a:lnSpc>
                <a:spcPts val="1400"/>
              </a:lnSpc>
              <a:spcAft>
                <a:spcPts val="400"/>
              </a:spcAft>
              <a:buFont typeface="Arial"/>
              <a:buChar char="‒"/>
            </a:pPr>
            <a:r>
              <a:rPr lang="ko-KR" sz="1100" dirty="0">
                <a:solidFill>
                  <a:srgbClr val="0D0D0D"/>
                </a:solidFill>
                <a:latin typeface="맑은 고딕"/>
              </a:rPr>
              <a:t>Intertek 정량 인증 (IDMS ch.6) — SS 미보유</a:t>
            </a:r>
          </a:p>
          <a:p>
            <a:pPr marL="171450" indent="-171450">
              <a:lnSpc>
                <a:spcPts val="1500"/>
              </a:lnSpc>
              <a:spcAft>
                <a:spcPts val="400"/>
              </a:spcAft>
              <a:buFont typeface="Arial"/>
              <a:buChar char="•"/>
            </a:pPr>
            <a:r>
              <a:rPr lang="ko-KR" sz="1200" b="1" dirty="0">
                <a:solidFill>
                  <a:srgbClr val="A50034"/>
                </a:solidFill>
                <a:latin typeface="맑은 고딕"/>
              </a:rPr>
              <a:t>듀얼 트랙 라인업</a:t>
            </a:r>
          </a:p>
          <a:p>
            <a:pPr marL="171450" indent="-171450">
              <a:lnSpc>
                <a:spcPts val="1400"/>
              </a:lnSpc>
              <a:spcAft>
                <a:spcPts val="400"/>
              </a:spcAft>
              <a:buFont typeface="Arial"/>
              <a:buChar char="‒"/>
            </a:pPr>
            <a:r>
              <a:rPr lang="ko-KR" sz="1100" dirty="0">
                <a:solidFill>
                  <a:srgbClr val="0D0D0D"/>
                </a:solidFill>
                <a:latin typeface="맑은 고딕"/>
              </a:rPr>
              <a:t>Tandem OLED + Micro RGB evo + Mini RGB evo + QNED — SS는 Neo QLED 플래그십 단종(QN90F 후속 X)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601E5F4-4EF3-4435-9081-2D67F7D91F31}"/>
              </a:ext>
            </a:extLst>
          </p:cNvPr>
          <p:cNvSpPr/>
          <p:nvPr/>
        </p:nvSpPr>
        <p:spPr>
          <a:xfrm>
            <a:off x="4216400" y="762000"/>
            <a:ext cx="3784600" cy="482600"/>
          </a:xfrm>
          <a:prstGeom prst="rect">
            <a:avLst/>
          </a:prstGeom>
          <a:solidFill>
            <a:srgbClr val="1A1A1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맑은 고딕"/>
                <a:ea typeface="맑은 고딕"/>
              </a:rPr>
              <a:t>vs Sony</a:t>
            </a:r>
            <a:endParaRPr lang="ko-KR" altLang="en-US" sz="1600" b="1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86BBEB-104A-4957-8AD8-F7FA7FBA112F}"/>
              </a:ext>
            </a:extLst>
          </p:cNvPr>
          <p:cNvSpPr txBox="1"/>
          <p:nvPr/>
        </p:nvSpPr>
        <p:spPr>
          <a:xfrm>
            <a:off x="4216400" y="1244600"/>
            <a:ext cx="3784600" cy="424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E"/>
            </a:solidFill>
          </a:ln>
        </p:spPr>
        <p:txBody>
          <a:bodyPr vertOverflow="overflow" vert="horz" wrap="square" rtlCol="0" anchor="t">
            <a:noAutofit/>
          </a:bodyPr>
          <a:lstStyle/>
          <a:p>
            <a:pPr marL="171450" indent="-171450">
              <a:lnSpc>
                <a:spcPts val="1500"/>
              </a:lnSpc>
              <a:spcAft>
                <a:spcPts val="400"/>
              </a:spcAft>
              <a:buFont typeface="Arial"/>
              <a:buChar char="•"/>
            </a:pPr>
            <a:r>
              <a:rPr lang="ko-KR" sz="1200" b="1" dirty="0">
                <a:solidFill>
                  <a:srgbClr val="1A1A1E"/>
                </a:solidFill>
                <a:latin typeface="맑은 고딕"/>
              </a:rPr>
              <a:t>출시 시점 우위</a:t>
            </a:r>
          </a:p>
          <a:p>
            <a:pPr marL="171450" indent="-171450">
              <a:lnSpc>
                <a:spcPts val="1400"/>
              </a:lnSpc>
              <a:spcAft>
                <a:spcPts val="400"/>
              </a:spcAft>
              <a:buFont typeface="Arial"/>
              <a:buChar char="‒"/>
            </a:pPr>
            <a:r>
              <a:rPr lang="ko-KR" sz="1100" dirty="0">
                <a:solidFill>
                  <a:srgbClr val="0D0D0D"/>
                </a:solidFill>
                <a:latin typeface="맑은 고딕"/>
              </a:rPr>
              <a:t>Sony 'True RGB' (B9II/B7II) 5~6월 출시 → 당사 1~4월 선출시 Q1~Q2 시장 선점</a:t>
            </a:r>
          </a:p>
          <a:p>
            <a:pPr marL="171450" indent="-171450">
              <a:lnSpc>
                <a:spcPts val="1500"/>
              </a:lnSpc>
              <a:spcAft>
                <a:spcPts val="400"/>
              </a:spcAft>
              <a:buFont typeface="Arial"/>
              <a:buChar char="•"/>
            </a:pPr>
            <a:r>
              <a:rPr lang="ko-KR" sz="1200" b="1" dirty="0">
                <a:solidFill>
                  <a:srgbClr val="1A1A1E"/>
                </a:solidFill>
                <a:latin typeface="맑은 고딕"/>
              </a:rPr>
              <a:t>차세대 표준 색재현</a:t>
            </a:r>
          </a:p>
          <a:p>
            <a:pPr marL="171450" indent="-171450">
              <a:lnSpc>
                <a:spcPts val="1400"/>
              </a:lnSpc>
              <a:spcAft>
                <a:spcPts val="400"/>
              </a:spcAft>
              <a:buFont typeface="Arial"/>
              <a:buChar char="‒"/>
            </a:pPr>
            <a:r>
              <a:rPr lang="ko-KR" sz="1100" dirty="0">
                <a:solidFill>
                  <a:srgbClr val="0D0D0D"/>
                </a:solidFill>
                <a:latin typeface="맑은 고딕"/>
              </a:rPr>
              <a:t>당사 Adobe RGB 100% 추가 인증 (디지털 편집/HDR Cinema 호소) — Sony 자료 미공개</a:t>
            </a:r>
          </a:p>
          <a:p>
            <a:pPr marL="171450" indent="-171450">
              <a:lnSpc>
                <a:spcPts val="1500"/>
              </a:lnSpc>
              <a:spcAft>
                <a:spcPts val="400"/>
              </a:spcAft>
              <a:buFont typeface="Arial"/>
              <a:buChar char="•"/>
            </a:pPr>
            <a:r>
              <a:rPr lang="ko-KR" sz="1200" b="1" dirty="0">
                <a:solidFill>
                  <a:srgbClr val="1A1A1E"/>
                </a:solidFill>
                <a:latin typeface="맑은 고딕"/>
              </a:rPr>
              <a:t>가격 / 사이즈 라인업 폭</a:t>
            </a:r>
          </a:p>
          <a:p>
            <a:pPr marL="171450" indent="-171450">
              <a:lnSpc>
                <a:spcPts val="1400"/>
              </a:lnSpc>
              <a:spcAft>
                <a:spcPts val="400"/>
              </a:spcAft>
              <a:buFont typeface="Arial"/>
              <a:buChar char="‒"/>
            </a:pPr>
            <a:r>
              <a:rPr lang="ko-KR" sz="1100" dirty="0">
                <a:solidFill>
                  <a:srgbClr val="0D0D0D"/>
                </a:solidFill>
                <a:latin typeface="맑은 고딕"/>
              </a:rPr>
              <a:t>Sony 2종(B9II/B7II) vs 당사 Micro RGB evo + Mini RGB evo (MRGB9MB/85B) Full Catalog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DC64761-8B22-42DF-A5D9-D811818C9E41}"/>
              </a:ext>
            </a:extLst>
          </p:cNvPr>
          <p:cNvSpPr/>
          <p:nvPr/>
        </p:nvSpPr>
        <p:spPr>
          <a:xfrm>
            <a:off x="8153400" y="762000"/>
            <a:ext cx="3784600" cy="482600"/>
          </a:xfrm>
          <a:prstGeom prst="rect">
            <a:avLst/>
          </a:prstGeom>
          <a:solidFill>
            <a:srgbClr val="40404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맑은 고딕"/>
                <a:ea typeface="맑은 고딕"/>
              </a:rPr>
              <a:t>vs Hisense / TCL</a:t>
            </a:r>
            <a:endParaRPr lang="ko-KR" altLang="en-US" sz="1600" b="1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050803C-1BCA-46A3-96E1-6AB58FD634B0}"/>
              </a:ext>
            </a:extLst>
          </p:cNvPr>
          <p:cNvSpPr txBox="1"/>
          <p:nvPr/>
        </p:nvSpPr>
        <p:spPr>
          <a:xfrm>
            <a:off x="8153400" y="1244600"/>
            <a:ext cx="3784600" cy="424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</p:spPr>
        <p:txBody>
          <a:bodyPr vertOverflow="overflow" vert="horz" wrap="square" rtlCol="0" anchor="t">
            <a:noAutofit/>
          </a:bodyPr>
          <a:lstStyle/>
          <a:p>
            <a:pPr marL="171450" indent="-171450">
              <a:lnSpc>
                <a:spcPts val="1500"/>
              </a:lnSpc>
              <a:spcAft>
                <a:spcPts val="400"/>
              </a:spcAft>
              <a:buFont typeface="Arial"/>
              <a:buChar char="•"/>
            </a:pPr>
            <a:r>
              <a:rPr lang="ko-KR" sz="1200" b="1" dirty="0">
                <a:solidFill>
                  <a:srgbClr val="404040"/>
                </a:solidFill>
                <a:latin typeface="맑은 고딕"/>
              </a:rPr>
              <a:t>無線 차별 (MRGB9MB)</a:t>
            </a:r>
          </a:p>
          <a:p>
            <a:pPr marL="171450" indent="-171450">
              <a:lnSpc>
                <a:spcPts val="1400"/>
              </a:lnSpc>
              <a:spcAft>
                <a:spcPts val="400"/>
              </a:spcAft>
              <a:buFont typeface="Arial"/>
              <a:buChar char="‒"/>
            </a:pPr>
            <a:r>
              <a:rPr lang="ko-KR" sz="1100" dirty="0">
                <a:solidFill>
                  <a:srgbClr val="0D0D0D"/>
                </a:solidFill>
                <a:latin typeface="맑은 고딕"/>
              </a:rPr>
              <a:t>世界 최초 4K 144Hz 無線 전송 Zero Connect Box (60GHz/15Gbps/&lt;4ms) — 경쟁사 미보유 차별점</a:t>
            </a:r>
          </a:p>
          <a:p>
            <a:pPr marL="171450" indent="-171450">
              <a:lnSpc>
                <a:spcPts val="1500"/>
              </a:lnSpc>
              <a:spcAft>
                <a:spcPts val="400"/>
              </a:spcAft>
              <a:buFont typeface="Arial"/>
              <a:buChar char="•"/>
            </a:pPr>
            <a:r>
              <a:rPr lang="ko-KR" sz="1200" b="1" dirty="0">
                <a:solidFill>
                  <a:srgbClr val="404040"/>
                </a:solidFill>
                <a:latin typeface="맑은 고딕"/>
              </a:rPr>
              <a:t>브랜드 신뢰 / 인증</a:t>
            </a:r>
          </a:p>
          <a:p>
            <a:pPr marL="171450" indent="-171450">
              <a:lnSpc>
                <a:spcPts val="1400"/>
              </a:lnSpc>
              <a:spcAft>
                <a:spcPts val="400"/>
              </a:spcAft>
              <a:buFont typeface="Arial"/>
              <a:buChar char="‒"/>
            </a:pPr>
            <a:r>
              <a:rPr lang="ko-KR" sz="1100" dirty="0">
                <a:solidFill>
                  <a:srgbClr val="0D0D0D"/>
                </a:solidFill>
                <a:latin typeface="맑은 고딕"/>
              </a:rPr>
              <a:t>Intertek 인증 (Triple 100% + Ultra Fine Color Control) 정량 근거 vs 중국계 자체 명칭 (TriChroma, RGB Mini-LED evo)</a:t>
            </a:r>
          </a:p>
          <a:p>
            <a:pPr marL="171450" indent="-171450">
              <a:lnSpc>
                <a:spcPts val="1500"/>
              </a:lnSpc>
              <a:spcAft>
                <a:spcPts val="400"/>
              </a:spcAft>
              <a:buFont typeface="Arial"/>
              <a:buChar char="•"/>
            </a:pPr>
            <a:r>
              <a:rPr lang="ko-KR" sz="1200" b="1" dirty="0">
                <a:solidFill>
                  <a:srgbClr val="404040"/>
                </a:solidFill>
                <a:latin typeface="맑은 고딕"/>
              </a:rPr>
              <a:t>OLED + RGB LED 통합 가치</a:t>
            </a:r>
          </a:p>
          <a:p>
            <a:pPr marL="171450" indent="-171450">
              <a:lnSpc>
                <a:spcPts val="1400"/>
              </a:lnSpc>
              <a:spcAft>
                <a:spcPts val="400"/>
              </a:spcAft>
              <a:buFont typeface="Arial"/>
              <a:buChar char="‒"/>
            </a:pPr>
            <a:r>
              <a:rPr lang="ko-KR" sz="1100" dirty="0">
                <a:solidFill>
                  <a:srgbClr val="0D0D0D"/>
                </a:solidFill>
                <a:latin typeface="맑은 고딕"/>
              </a:rPr>
              <a:t>13년 OLED 노하우 기반 Multi-color chip 적용, α11/α8 동급 처리능력으로 가격 외 차별 가능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50C6F53-2774-4E7B-8210-E52806477EE1}"/>
              </a:ext>
            </a:extLst>
          </p:cNvPr>
          <p:cNvSpPr/>
          <p:nvPr/>
        </p:nvSpPr>
        <p:spPr>
          <a:xfrm>
            <a:off x="279400" y="5588000"/>
            <a:ext cx="11658600" cy="1066800"/>
          </a:xfrm>
          <a:prstGeom prst="rect">
            <a:avLst/>
          </a:prstGeom>
          <a:solidFill>
            <a:srgbClr val="A5003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>
            <a:noAutofit/>
          </a:bodyPr>
          <a:lstStyle/>
          <a:p>
            <a:pPr algn="ctr">
              <a:lnSpc>
                <a:spcPts val="1700"/>
              </a:lnSpc>
              <a:spcAft>
                <a:spcPts val="200"/>
              </a:spcAft>
              <a:buNone/>
            </a:pPr>
            <a:r>
              <a:rPr lang="ko-KR" sz="1500" b="1" dirty="0">
                <a:solidFill>
                  <a:srgbClr val="FFFFFF"/>
                </a:solidFill>
                <a:latin typeface="맑은 고딕"/>
              </a:rPr>
              <a:t>ONE-LINE _ "</a:t>
            </a:r>
            <a:r>
              <a:rPr lang="ko-KR" sz="1500" b="1" dirty="0">
                <a:solidFill>
                  <a:srgbClr val="FFD700"/>
                </a:solidFill>
                <a:latin typeface="맑은 고딕"/>
              </a:rPr>
              <a:t>Triple 100% 인증 색재현 + 듀얼 트랙(Micro RGB evo + Mini RGB evo) + 무선 차별</a:t>
            </a:r>
            <a:r>
              <a:rPr lang="ko-KR" sz="1500" b="1" dirty="0">
                <a:solidFill>
                  <a:srgbClr val="FFFFFF"/>
                </a:solidFill>
                <a:latin typeface="맑은 고딕"/>
              </a:rPr>
              <a:t>"</a:t>
            </a:r>
          </a:p>
          <a:p>
            <a:pPr algn="ctr">
              <a:lnSpc>
                <a:spcPts val="1500"/>
              </a:lnSpc>
              <a:buNone/>
            </a:pPr>
            <a:r>
              <a:rPr lang="ko-KR" sz="1200" dirty="0">
                <a:solidFill>
                  <a:srgbClr val="FFFFFF"/>
                </a:solidFill>
                <a:latin typeface="맑은 고딕"/>
              </a:rPr>
              <a:t>현장 활용 _ ① 색재현 인증 차이 강조 ② Q1~Q2 선출시 windowing ③ MRGB9MB Zero Connect 시연</a:t>
            </a:r>
          </a:p>
        </p:txBody>
      </p:sp>
    </p:spTree>
    <p:extLst>
      <p:ext uri="{BB962C8B-B14F-4D97-AF65-F5344CB8AC3E}">
        <p14:creationId xmlns:p14="http://schemas.microsoft.com/office/powerpoint/2010/main" val="88042212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gko_H75MEeSIiJn0JxHDA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gko_H75MEeSIiJn0JxHDA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8I3zBg3pS0S6Tfhtvoj3k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8I3zBg3pS0S6Tfhtvoj3kA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8I3zBg3pS0S6Tfhtvoj3kA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8I3zBg3pS0S6Tfhtvoj3kA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8I3zBg3pS0S6Tfhtvoj3kA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8I3zBg3pS0S6Tfhtvoj3k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8I3zBg3pS0S6Tfhtvoj3kA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gko_H75MEeSIiJn0JxHDA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gko_H75MEeSIiJn0JxHDA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gko_H75MEeSIiJn0JxHDA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gko_H75MEeSIiJn0JxHDA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gko_H75MEeSIiJn0JxHDA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Ygvq1M2.EyBUP7tLxyS1w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DsgNafC9kur6omI9wIrRQ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8I3zBg3pS0S6Tfhtvoj3kA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8I3zBg3pS0S6Tfhtvoj3kA"/>
</p:tagLst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0_기본 디자인">
  <a:themeElements>
    <a:clrScheme name="7_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사용자 지정 3">
      <a:majorFont>
        <a:latin typeface="Arial Narrow"/>
        <a:ea typeface="LG스마트체2.0 Regular"/>
        <a:cs typeface=""/>
      </a:majorFont>
      <a:minorFont>
        <a:latin typeface="Arial Narrow"/>
        <a:ea typeface="LG스마트체2.0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 w="3175">
          <a:solidFill>
            <a:schemeClr val="bg1">
              <a:lumMod val="50000"/>
            </a:schemeClr>
          </a:solidFill>
        </a:ln>
      </a:spPr>
      <a:bodyPr rtlCol="0" anchor="ctr"/>
      <a:lstStyle>
        <a:defPPr algn="ctr">
          <a:defRPr>
            <a:solidFill>
              <a:prstClr val="white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tx1">
              <a:lumMod val="50000"/>
              <a:lumOff val="50000"/>
            </a:schemeClr>
          </a:solidFill>
          <a:prstDash val="dash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r">
          <a:lnSpc>
            <a:spcPct val="120000"/>
          </a:lnSpc>
          <a:defRPr sz="1200" i="1" u="sng" smtClean="0">
            <a:solidFill>
              <a:prstClr val="white">
                <a:lumMod val="50000"/>
              </a:prstClr>
            </a:solidFill>
            <a:ea typeface="LG스마트체 Regular" panose="020B0600000101010101" pitchFamily="50" charset="-127"/>
          </a:defRPr>
        </a:defPPr>
      </a:lstStyle>
    </a:txDef>
  </a:objectDefaults>
  <a:extraClrSchemeLst>
    <a:extraClrScheme>
      <a:clrScheme name="7_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7_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7_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7_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7_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7_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7_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7_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7_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7_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7_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7_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3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769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93166767-4409-41BF-ACA5-6351E05C1261}">
  <we:reference id="wa200010001" version="1.0.0.1" store="ko-KR" storeType="OMEX"/>
  <we:alternateReferences>
    <we:reference id="wa200010001" version="1.0.0.1" store="wa200010001" storeType="OMEX"/>
  </we:alternateReferences>
  <we:properties>
    <we:property name="claude.fileId" value="&quot;fecd0781-88fb-4c89-a020-1a83b667a811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498</TotalTime>
  <Words>5242</Words>
  <Application>Microsoft Office PowerPoint</Application>
  <PresentationFormat>와이드스크린</PresentationFormat>
  <Paragraphs>2266</Paragraphs>
  <Slides>17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3</vt:i4>
      </vt:variant>
      <vt:variant>
        <vt:lpstr>슬라이드 제목</vt:lpstr>
      </vt:variant>
      <vt:variant>
        <vt:i4>17</vt:i4>
      </vt:variant>
    </vt:vector>
  </HeadingPairs>
  <TitlesOfParts>
    <vt:vector size="28" baseType="lpstr">
      <vt:lpstr>LG Smart_H Regular</vt:lpstr>
      <vt:lpstr>LG스마트체 Regular</vt:lpstr>
      <vt:lpstr>굴림</vt:lpstr>
      <vt:lpstr>맑은 고딕</vt:lpstr>
      <vt:lpstr>Arial</vt:lpstr>
      <vt:lpstr>Arial Narrow</vt:lpstr>
      <vt:lpstr>Calibri</vt:lpstr>
      <vt:lpstr>Wingdings</vt:lpstr>
      <vt:lpstr>1_Office 테마</vt:lpstr>
      <vt:lpstr>50_기본 디자인</vt:lpstr>
      <vt:lpstr>3_Office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김영주/선임/TV상품기획2팀</dc:creator>
  <cp:lastModifiedBy>박대호/책임/TV유럽영업2팀</cp:lastModifiedBy>
  <cp:revision>36</cp:revision>
  <dcterms:created xsi:type="dcterms:W3CDTF">2026-03-05T04:48:33Z</dcterms:created>
  <dcterms:modified xsi:type="dcterms:W3CDTF">2026-04-29T04:57:00Z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c6ed9fc-fefc-4a0c-a6d6-10cf236c0d4f_Enabled">
    <vt:lpwstr>true</vt:lpwstr>
  </property>
  <property fmtid="{D5CDD505-2E9C-101B-9397-08002B2CF9AE}" pid="3" name="MSIP_Label_cc6ed9fc-fefc-4a0c-a6d6-10cf236c0d4f_SetDate">
    <vt:lpwstr>2026-03-05T04:48:39Z</vt:lpwstr>
  </property>
  <property fmtid="{D5CDD505-2E9C-101B-9397-08002B2CF9AE}" pid="4" name="MSIP_Label_cc6ed9fc-fefc-4a0c-a6d6-10cf236c0d4f_Method">
    <vt:lpwstr>Standard</vt:lpwstr>
  </property>
  <property fmtid="{D5CDD505-2E9C-101B-9397-08002B2CF9AE}" pid="5" name="MSIP_Label_cc6ed9fc-fefc-4a0c-a6d6-10cf236c0d4f_Name">
    <vt:lpwstr>Internal use only</vt:lpwstr>
  </property>
  <property fmtid="{D5CDD505-2E9C-101B-9397-08002B2CF9AE}" pid="6" name="MSIP_Label_cc6ed9fc-fefc-4a0c-a6d6-10cf236c0d4f_SiteId">
    <vt:lpwstr>5069cde4-642a-45c0-8094-d0c2dec10be3</vt:lpwstr>
  </property>
  <property fmtid="{D5CDD505-2E9C-101B-9397-08002B2CF9AE}" pid="7" name="MSIP_Label_cc6ed9fc-fefc-4a0c-a6d6-10cf236c0d4f_ActionId">
    <vt:lpwstr>c22becbb-7ccf-4726-862c-b5abc3a70dac</vt:lpwstr>
  </property>
  <property fmtid="{D5CDD505-2E9C-101B-9397-08002B2CF9AE}" pid="8" name="MSIP_Label_cc6ed9fc-fefc-4a0c-a6d6-10cf236c0d4f_ContentBits">
    <vt:lpwstr>1</vt:lpwstr>
  </property>
  <property fmtid="{D5CDD505-2E9C-101B-9397-08002B2CF9AE}" pid="9" name="ClassificationContentMarkingHeaderLocations">
    <vt:lpwstr>Office 테마:8</vt:lpwstr>
  </property>
  <property fmtid="{D5CDD505-2E9C-101B-9397-08002B2CF9AE}" pid="10" name="ClassificationContentMarkingHeaderText">
    <vt:lpwstr>LGE Internal Use Only</vt:lpwstr>
  </property>
</Properties>
</file>